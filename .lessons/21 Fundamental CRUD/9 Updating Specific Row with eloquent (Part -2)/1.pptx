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  <p:sldId id="404" r:id="rId6"/>
    <p:sldId id="405" r:id="rId7"/>
    <p:sldId id="406" r:id="rId8"/>
    <p:sldId id="408" r:id="rId9"/>
    <p:sldId id="407" r:id="rId10"/>
    <p:sldId id="409" r:id="rId11"/>
    <p:sldId id="411" r:id="rId12"/>
    <p:sldId id="412" r:id="rId13"/>
    <p:sldId id="413" r:id="rId14"/>
    <p:sldId id="414" r:id="rId15"/>
    <p:sldId id="410" r:id="rId16"/>
    <p:sldId id="415" r:id="rId17"/>
    <p:sldId id="416" r:id="rId18"/>
    <p:sldId id="417" r:id="rId19"/>
    <p:sldId id="418" r:id="rId20"/>
    <p:sldId id="419" r:id="rId21"/>
    <p:sldId id="420" r:id="rId22"/>
    <p:sldId id="421" r:id="rId23"/>
    <p:sldId id="42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5321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200" b="1">
                <a:latin typeface="Arial" panose="020B0604020202020204" pitchFamily="34" charset="0"/>
              </a:rPr>
              <a:t>Post</a:t>
            </a:r>
            <a:r>
              <a:rPr lang="en-US" altLang="en-US" sz="1200">
                <a:latin typeface="Arial" panose="020B0604020202020204" pitchFamily="34" charset="0"/>
              </a:rPr>
              <a:t> -u </a:t>
            </a:r>
            <a:r>
              <a:rPr lang="en-US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update</a:t>
            </a:r>
            <a:r>
              <a:rPr lang="en-US" altLang="en-US" sz="1200">
                <a:latin typeface="Arial" panose="020B0604020202020204" pitchFamily="34" charset="0"/>
              </a:rPr>
              <a:t> </a:t>
            </a:r>
            <a:r>
              <a:rPr lang="az-Latn-AZ" altLang="en-US" sz="1200">
                <a:latin typeface="Arial" panose="020B0604020202020204" pitchFamily="34" charset="0"/>
              </a:rPr>
              <a:t>etmək üçün </a:t>
            </a:r>
            <a:r>
              <a:rPr lang="az-Latn-AZ" altLang="en-US" sz="1200" b="1">
                <a:latin typeface="Arial" panose="020B0604020202020204" pitchFamily="34" charset="0"/>
              </a:rPr>
              <a:t>FORM</a:t>
            </a:r>
            <a:r>
              <a:rPr lang="az-Latn-AZ" altLang="en-US" sz="1200">
                <a:latin typeface="Arial" panose="020B0604020202020204" pitchFamily="34" charset="0"/>
              </a:rPr>
              <a:t> elementinə uyğun </a:t>
            </a:r>
            <a:r>
              <a:rPr lang="az-Latn-AZ" altLang="en-US" sz="1200" b="1">
                <a:latin typeface="Arial" panose="020B0604020202020204" pitchFamily="34" charset="0"/>
              </a:rPr>
              <a:t>route</a:t>
            </a:r>
            <a:r>
              <a:rPr lang="az-Latn-AZ" altLang="en-US" sz="1200">
                <a:latin typeface="Arial" panose="020B0604020202020204" pitchFamily="34" charset="0"/>
              </a:rPr>
              <a:t> -u vermək lazımdır. </a:t>
            </a:r>
            <a:r>
              <a:rPr lang="az-Latn-AZ" altLang="en-US" sz="1200" b="1">
                <a:latin typeface="Arial" panose="020B0604020202020204" pitchFamily="34" charset="0"/>
              </a:rPr>
              <a:t>Route</a:t>
            </a:r>
            <a:r>
              <a:rPr lang="az-Latn-AZ" altLang="en-US" sz="1200">
                <a:latin typeface="Arial" panose="020B0604020202020204" pitchFamily="34" charset="0"/>
              </a:rPr>
              <a:t> ilə birlikdə hansı </a:t>
            </a:r>
            <a:r>
              <a:rPr lang="az-Latn-AZ" altLang="en-US" sz="1200" b="1">
                <a:latin typeface="Arial" panose="020B0604020202020204" pitchFamily="34" charset="0"/>
              </a:rPr>
              <a:t>postu</a:t>
            </a:r>
            <a:r>
              <a:rPr lang="az-Latn-AZ" altLang="en-US" sz="1200">
                <a:latin typeface="Arial" panose="020B0604020202020204" pitchFamily="34" charset="0"/>
              </a:rPr>
              <a:t> dəyişdirəcəyini başa düşsün deyə </a:t>
            </a:r>
            <a:r>
              <a:rPr lang="az-Latn-AZ" altLang="en-US" sz="1200" b="1">
                <a:latin typeface="Arial" panose="020B0604020202020204" pitchFamily="34" charset="0"/>
              </a:rPr>
              <a:t>postun identifikatorunuda </a:t>
            </a:r>
            <a:r>
              <a:rPr lang="az-Latn-AZ" altLang="en-US" sz="1200">
                <a:latin typeface="Arial" panose="020B0604020202020204" pitchFamily="34" charset="0"/>
              </a:rPr>
              <a:t>yazmaq lazımdır: </a:t>
            </a:r>
            <a:r>
              <a:rPr lang="en-US" altLang="en-US" sz="1200" b="1">
                <a:solidFill>
                  <a:srgbClr val="00B050"/>
                </a:solidFill>
                <a:latin typeface="Arial" panose="020B0604020202020204" pitchFamily="34" charset="0"/>
              </a:rPr>
              <a:t>$post-&gt;id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>
                <a:latin typeface="Arial" panose="020B0604020202020204" pitchFamily="34" charset="0"/>
              </a:rPr>
              <a:t>Əlavə olaraq </a:t>
            </a:r>
            <a:r>
              <a:rPr lang="az-Latn-AZ" altLang="en-US" sz="1200" b="1">
                <a:latin typeface="Arial" panose="020B0604020202020204" pitchFamily="34" charset="0"/>
              </a:rPr>
              <a:t>UPDATE</a:t>
            </a:r>
            <a:r>
              <a:rPr lang="az-Latn-AZ" altLang="en-US" sz="1200">
                <a:latin typeface="Arial" panose="020B0604020202020204" pitchFamily="34" charset="0"/>
              </a:rPr>
              <a:t> proseslərində </a:t>
            </a:r>
            <a:r>
              <a:rPr lang="az-Latn-AZ" altLang="en-US" sz="1200" b="1">
                <a:solidFill>
                  <a:srgbClr val="FF0000"/>
                </a:solidFill>
                <a:latin typeface="Arial" panose="020B0604020202020204" pitchFamily="34" charset="0"/>
              </a:rPr>
              <a:t>PUT</a:t>
            </a:r>
            <a:r>
              <a:rPr lang="az-Latn-AZ" altLang="en-US" sz="1200">
                <a:latin typeface="Arial" panose="020B0604020202020204" pitchFamily="34" charset="0"/>
              </a:rPr>
              <a:t>  metodundan istifadə edilir. Bunu </a:t>
            </a:r>
            <a:r>
              <a:rPr lang="az-Latn-AZ" altLang="en-US" sz="1200" b="1">
                <a:latin typeface="Arial" panose="020B0604020202020204" pitchFamily="34" charset="0"/>
              </a:rPr>
              <a:t>ROUTE</a:t>
            </a:r>
            <a:r>
              <a:rPr lang="az-Latn-AZ" altLang="en-US" sz="1200">
                <a:latin typeface="Arial" panose="020B0604020202020204" pitchFamily="34" charset="0"/>
              </a:rPr>
              <a:t> -a baxaraq başa düşürük. Soldakı şəkil. Şəkil tam </a:t>
            </a:r>
            <a:r>
              <a:rPr lang="az-Latn-AZ" altLang="en-US" sz="1200" b="1">
                <a:latin typeface="Arial" panose="020B0604020202020204" pitchFamily="34" charset="0"/>
              </a:rPr>
              <a:t>SS</a:t>
            </a:r>
            <a:r>
              <a:rPr lang="az-Latn-AZ" altLang="en-US" sz="1200">
                <a:latin typeface="Arial" panose="020B0604020202020204" pitchFamily="34" charset="0"/>
              </a:rPr>
              <a:t> etmədim ancaq bunu artıq dəfələrlə görmüşük deyə özünüzdə terminalda </a:t>
            </a:r>
            <a:r>
              <a:rPr lang="az-Latn-AZ" altLang="en-US" sz="1200" b="1">
                <a:latin typeface="Arial" panose="020B0604020202020204" pitchFamily="34" charset="0"/>
              </a:rPr>
              <a:t>route listinə </a:t>
            </a:r>
            <a:r>
              <a:rPr lang="az-Latn-AZ" altLang="en-US" sz="1200">
                <a:latin typeface="Arial" panose="020B0604020202020204" pitchFamily="34" charset="0"/>
              </a:rPr>
              <a:t>baxa bilərsiz.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NOT</a:t>
            </a:r>
            <a:r>
              <a:rPr lang="az-Latn-AZ" altLang="en-US" sz="1200">
                <a:latin typeface="Arial" panose="020B0604020202020204" pitchFamily="34" charset="0"/>
              </a:rPr>
              <a:t>: </a:t>
            </a:r>
            <a:r>
              <a:rPr lang="az-Latn-AZ" altLang="en-US" sz="1200" b="1">
                <a:solidFill>
                  <a:srgbClr val="0070C0"/>
                </a:solidFill>
                <a:latin typeface="Arial" panose="020B0604020202020204" pitchFamily="34" charset="0"/>
              </a:rPr>
              <a:t>name</a:t>
            </a:r>
            <a:r>
              <a:rPr lang="az-Latn-AZ" altLang="en-US" sz="1200">
                <a:latin typeface="Arial" panose="020B0604020202020204" pitchFamily="34" charset="0"/>
              </a:rPr>
              <a:t> atributlarına </a:t>
            </a:r>
            <a:r>
              <a:rPr lang="az-Latn-AZ" altLang="en-US" sz="1200" b="1">
                <a:latin typeface="Arial" panose="020B0604020202020204" pitchFamily="34" charset="0"/>
              </a:rPr>
              <a:t>7ci </a:t>
            </a:r>
            <a:r>
              <a:rPr lang="az-Latn-AZ" altLang="en-US" sz="1200">
                <a:latin typeface="Arial" panose="020B0604020202020204" pitchFamily="34" charset="0"/>
              </a:rPr>
              <a:t>slaydda dəyər veririk.</a:t>
            </a:r>
            <a:endParaRPr lang="en-US" altLang="en-US" sz="12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5A5490-4545-CE7F-46E0-42E519F72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5196"/>
            <a:ext cx="4820323" cy="2629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4DFBE94-4657-6661-6D3B-66B0BB4CB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571" y="1973520"/>
            <a:ext cx="6833021" cy="488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1) </a:t>
            </a:r>
            <a:r>
              <a:rPr lang="az-Latn-AZ" altLang="en-US" sz="1300" b="1">
                <a:latin typeface="Arial" panose="020B0604020202020204" pitchFamily="34" charset="0"/>
              </a:rPr>
              <a:t>1-ci form</a:t>
            </a:r>
            <a:r>
              <a:rPr lang="az-Latn-AZ" altLang="en-US" sz="1300"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2)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2-ci form (DÜZGÜN OLAN)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iki form arasında nə fərq var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HTML Standartı baxımından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formaları yalnız bu metodları düzgün olaraq dəstəkləyir: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 səviyyəsində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PATCH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DELETE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kimi metodlar İCAZƏ VERİLMİR.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65B9C2-8363-3541-3236-FDAEDB590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7" y="696307"/>
            <a:ext cx="7287642" cy="695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1967E7-C74D-63E3-74BB-A12D76E3F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79962"/>
            <a:ext cx="7268589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1-ci formdakı: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HTML üçün yanlışdır – brauzer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metodunu tanımır.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buna görə 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formu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heç cür qəbul edə bilməz, çünki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request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ümumiyyətlə göndərilmir və ya düzgün tanınmır.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2-ci form nə edir?</a:t>
            </a: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method="POST"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yazılır → bu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-də keçərlidir.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@method('PUT')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isə Laravel-ə "bu əslində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metodudur" deyir.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Bu, Laravel-in </a:t>
            </a:r>
            <a:r>
              <a:rPr kumimoji="0" lang="az-Latn-AZ" altLang="en-US" sz="1300" b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form spoofing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funksiyasıdır: Bu gizli input, Laravel-ə bildirir ki, baxmayaraq ki, POST sorğusu kimi gəlib, biz onu PUT kimi qəbul etməliyik.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79FAA8-5CF1-5531-2A43-6B1C37F57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0620"/>
            <a:ext cx="2353003" cy="552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C70633-7C2A-9139-3064-5C510CFD6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45785"/>
            <a:ext cx="4191585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8EF4BF-6694-6A3A-6C7E-658D32DC5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067312"/>
              </p:ext>
            </p:extLst>
          </p:nvPr>
        </p:nvGraphicFramePr>
        <p:xfrm>
          <a:off x="217714" y="978640"/>
          <a:ext cx="11840852" cy="2280728"/>
        </p:xfrm>
        <a:graphic>
          <a:graphicData uri="http://schemas.openxmlformats.org/drawingml/2006/table">
            <a:tbl>
              <a:tblPr/>
              <a:tblGrid>
                <a:gridCol w="891500">
                  <a:extLst>
                    <a:ext uri="{9D8B030D-6E8A-4147-A177-3AD203B41FA5}">
                      <a16:colId xmlns:a16="http://schemas.microsoft.com/office/drawing/2014/main" val="2544907840"/>
                    </a:ext>
                  </a:extLst>
                </a:gridCol>
                <a:gridCol w="3532389">
                  <a:extLst>
                    <a:ext uri="{9D8B030D-6E8A-4147-A177-3AD203B41FA5}">
                      <a16:colId xmlns:a16="http://schemas.microsoft.com/office/drawing/2014/main" val="951725435"/>
                    </a:ext>
                  </a:extLst>
                </a:gridCol>
                <a:gridCol w="2635351">
                  <a:extLst>
                    <a:ext uri="{9D8B030D-6E8A-4147-A177-3AD203B41FA5}">
                      <a16:colId xmlns:a16="http://schemas.microsoft.com/office/drawing/2014/main" val="1086841334"/>
                    </a:ext>
                  </a:extLst>
                </a:gridCol>
                <a:gridCol w="4781612">
                  <a:extLst>
                    <a:ext uri="{9D8B030D-6E8A-4147-A177-3AD203B41FA5}">
                      <a16:colId xmlns:a16="http://schemas.microsoft.com/office/drawing/2014/main" val="3929436834"/>
                    </a:ext>
                  </a:extLst>
                </a:gridCol>
              </a:tblGrid>
              <a:tr h="506828">
                <a:tc>
                  <a:txBody>
                    <a:bodyPr/>
                    <a:lstStyle/>
                    <a:p>
                      <a:r>
                        <a:rPr lang="en-US" b="1"/>
                        <a:t>Nömrə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Düzgün?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9413977"/>
                  </a:ext>
                </a:extLst>
              </a:tr>
              <a:tr h="886950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method="PUT"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❌ Yanlışdır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HTML PUT dəstəkləmir. Laravel bu request-i qəbul edə bilməz.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2294891"/>
                  </a:ext>
                </a:extLst>
              </a:tr>
              <a:tr h="886950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method="POST" + @method('PUT')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✅ Doğrudur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HTML uyğundur və Laravel üçün PUT request kimi işləyir.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0505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357AC-3FE1-D8A4-A91B-83279316A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7C1E44-FEF6-CF29-1013-2FA6448CD8A7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3)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PATCH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arasındakı fərq nədir?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 və ümumiyyətlə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RESTful API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dizaynı baxımından bu iki metodun fərqləri bunlardır: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40FD1A-2BC5-1F0E-16A8-5535B3901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45505"/>
              </p:ext>
            </p:extLst>
          </p:nvPr>
        </p:nvGraphicFramePr>
        <p:xfrm>
          <a:off x="217714" y="1585204"/>
          <a:ext cx="11136086" cy="2232651"/>
        </p:xfrm>
        <a:graphic>
          <a:graphicData uri="http://schemas.openxmlformats.org/drawingml/2006/table">
            <a:tbl>
              <a:tblPr/>
              <a:tblGrid>
                <a:gridCol w="876487">
                  <a:extLst>
                    <a:ext uri="{9D8B030D-6E8A-4147-A177-3AD203B41FA5}">
                      <a16:colId xmlns:a16="http://schemas.microsoft.com/office/drawing/2014/main" val="1088881649"/>
                    </a:ext>
                  </a:extLst>
                </a:gridCol>
                <a:gridCol w="3998371">
                  <a:extLst>
                    <a:ext uri="{9D8B030D-6E8A-4147-A177-3AD203B41FA5}">
                      <a16:colId xmlns:a16="http://schemas.microsoft.com/office/drawing/2014/main" val="2935960637"/>
                    </a:ext>
                  </a:extLst>
                </a:gridCol>
                <a:gridCol w="6261228">
                  <a:extLst>
                    <a:ext uri="{9D8B030D-6E8A-4147-A177-3AD203B41FA5}">
                      <a16:colId xmlns:a16="http://schemas.microsoft.com/office/drawing/2014/main" val="4133180798"/>
                    </a:ext>
                  </a:extLst>
                </a:gridCol>
              </a:tblGrid>
              <a:tr h="744217">
                <a:tc>
                  <a:txBody>
                    <a:bodyPr/>
                    <a:lstStyle/>
                    <a:p>
                      <a:r>
                        <a:rPr lang="en-US" b="1"/>
                        <a:t>Metod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Nə iş görür?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Əsas fərq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261809"/>
                  </a:ext>
                </a:extLst>
              </a:tr>
              <a:tr h="744217">
                <a:tc>
                  <a:txBody>
                    <a:bodyPr/>
                    <a:lstStyle/>
                    <a:p>
                      <a:r>
                        <a:rPr lang="en-US"/>
                        <a:t>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Mövcud resursu </a:t>
                      </a:r>
                      <a:r>
                        <a:rPr lang="en-US" b="1"/>
                        <a:t>tamamilə əvəz edir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Yəni </a:t>
                      </a:r>
                      <a:r>
                        <a:rPr lang="en-US" b="1"/>
                        <a:t>bütün sahələri</a:t>
                      </a:r>
                      <a:r>
                        <a:rPr lang="en-US"/>
                        <a:t> yeniləməlisən (və ya default qoyulacaq).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253286"/>
                  </a:ext>
                </a:extLst>
              </a:tr>
              <a:tr h="744217">
                <a:tc>
                  <a:txBody>
                    <a:bodyPr/>
                    <a:lstStyle/>
                    <a:p>
                      <a:r>
                        <a:rPr lang="en-US"/>
                        <a:t>PATCH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Mövcud resursu </a:t>
                      </a:r>
                      <a:r>
                        <a:rPr lang="en-US" b="1"/>
                        <a:t>qismən yeniləyir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Yalnız </a:t>
                      </a:r>
                      <a:r>
                        <a:rPr lang="en-US" b="1"/>
                        <a:t>dəyişiklik olan sahələri</a:t>
                      </a:r>
                      <a:r>
                        <a:rPr lang="en-US"/>
                        <a:t> göndərmək kifayətdir.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478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525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2F7AD-F58F-B72E-A718-D86E20BF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07CD7-9A57-4D9E-DF88-9FD52002FE9A}"/>
              </a:ext>
            </a:extLst>
          </p:cNvPr>
          <p:cNvSpPr txBox="1"/>
          <p:nvPr/>
        </p:nvSpPr>
        <p:spPr>
          <a:xfrm>
            <a:off x="217714" y="255046"/>
            <a:ext cx="11756571" cy="4256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Məsələn,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posts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cədvəlində belə sahələr var:</a:t>
            </a: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PUT ilə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Sən bütün bu sahələri göndərməlisən. Əks halda, göndərmədiyin sahələr boş və ya null ola bilər.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PATCH ilə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Sən yalnız dəyişmək istədiyin sahəni göndərə bilərsən (məsələn, təkcə title).</a:t>
            </a: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hissəyə o qədərdə indilik fikir vermirik.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7E52E-E0BA-D4EA-9A43-846832DCC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5638"/>
            <a:ext cx="3210373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783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74471-345D-8E89-3D16-CB71CE29F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DC8C90-BBF0-A719-1B34-22CE79A04AD8}"/>
              </a:ext>
            </a:extLst>
          </p:cNvPr>
          <p:cNvSpPr txBox="1"/>
          <p:nvPr/>
        </p:nvSpPr>
        <p:spPr>
          <a:xfrm>
            <a:off x="217714" y="255046"/>
            <a:ext cx="11756571" cy="698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400" b="1">
                <a:solidFill>
                  <a:srgbClr val="0070C0"/>
                </a:solidFill>
                <a:latin typeface="Arial" panose="020B0604020202020204" pitchFamily="34" charset="0"/>
              </a:rPr>
              <a:t>name</a:t>
            </a:r>
            <a:r>
              <a:rPr lang="az-Latn-AZ" altLang="en-US" sz="1400">
                <a:latin typeface="Arial" panose="020B0604020202020204" pitchFamily="34" charset="0"/>
              </a:rPr>
              <a:t> atributlarına </a:t>
            </a:r>
          </a:p>
          <a:p>
            <a:pPr>
              <a:lnSpc>
                <a:spcPct val="150000"/>
              </a:lnSpc>
              <a:buNone/>
            </a:pPr>
            <a:r>
              <a:rPr lang="az-Latn-AZ" altLang="en-US" sz="1400">
                <a:latin typeface="Arial" panose="020B0604020202020204" pitchFamily="34" charset="0"/>
              </a:rPr>
              <a:t>dəyər veririk.</a:t>
            </a:r>
            <a:endParaRPr lang="en-US" altLang="en-US" sz="1400"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D2CEE8-8497-F715-B9AA-00F8F570E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176" y="0"/>
            <a:ext cx="97918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82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4EABA-CF1B-F961-AEF9-910646A7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8BA917-8D33-F386-86F9-A805B5F0239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Controller -d</a:t>
            </a:r>
            <a:r>
              <a:rPr lang="az-Latn-AZ" altLang="en-US" sz="1300">
                <a:latin typeface="Arial" panose="020B0604020202020204" pitchFamily="34" charset="0"/>
              </a:rPr>
              <a:t>ə gələn dəyərləri </a:t>
            </a:r>
            <a:r>
              <a:rPr lang="az-Latn-AZ" altLang="en-US" sz="1300" b="1">
                <a:latin typeface="Arial" panose="020B0604020202020204" pitchFamily="34" charset="0"/>
              </a:rPr>
              <a:t>return</a:t>
            </a:r>
            <a:r>
              <a:rPr lang="az-Latn-AZ" altLang="en-US" sz="1300">
                <a:latin typeface="Arial" panose="020B0604020202020204" pitchFamily="34" charset="0"/>
              </a:rPr>
              <a:t> edirik.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451152-FDDB-7C80-F5E8-487F7C74B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203" y="332464"/>
            <a:ext cx="5534797" cy="652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37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B5F81-707E-7B54-1F61-669C4B414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B9EC61-7C74-350C-0467-65BF2B39FDC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 bu cür olmalıdır.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12019B-7D82-3218-325B-1B2AAFDE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66" y="1911725"/>
            <a:ext cx="5718058" cy="365480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2EC5CD-4B39-D344-3878-8D052D752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0375" y="1911725"/>
            <a:ext cx="5946459" cy="36548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66814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B7449-16FF-57FB-C7B0-73B380F14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2A4115-E2A1-0E8C-2A32-96DFDE2F3492}"/>
              </a:ext>
            </a:extLst>
          </p:cNvPr>
          <p:cNvSpPr txBox="1"/>
          <p:nvPr/>
        </p:nvSpPr>
        <p:spPr>
          <a:xfrm>
            <a:off x="217715" y="255046"/>
            <a:ext cx="6135952" cy="3956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İndi </a:t>
            </a:r>
            <a:r>
              <a:rPr lang="az-Latn-AZ" altLang="en-US" sz="1300" b="1">
                <a:latin typeface="Arial" panose="020B0604020202020204" pitchFamily="34" charset="0"/>
              </a:rPr>
              <a:t>PostController</a:t>
            </a:r>
            <a:r>
              <a:rPr lang="az-Latn-AZ" altLang="en-US" sz="1300">
                <a:latin typeface="Arial" panose="020B0604020202020204" pitchFamily="34" charset="0"/>
              </a:rPr>
              <a:t> -in </a:t>
            </a:r>
            <a:r>
              <a:rPr lang="az-Latn-AZ" altLang="en-US" sz="1300" b="1">
                <a:latin typeface="Arial" panose="020B0604020202020204" pitchFamily="34" charset="0"/>
              </a:rPr>
              <a:t>store()</a:t>
            </a:r>
            <a:r>
              <a:rPr lang="az-Latn-AZ" altLang="en-US" sz="1300">
                <a:latin typeface="Arial" panose="020B0604020202020204" pitchFamily="34" charset="0"/>
              </a:rPr>
              <a:t> funksiyasında yazılan kodları </a:t>
            </a:r>
            <a:r>
              <a:rPr lang="az-Latn-AZ" altLang="en-US" sz="1300" b="1">
                <a:latin typeface="Arial" panose="020B0604020202020204" pitchFamily="34" charset="0"/>
              </a:rPr>
              <a:t>update() </a:t>
            </a:r>
            <a:r>
              <a:rPr lang="az-Latn-AZ" altLang="en-US" sz="1300">
                <a:latin typeface="Arial" panose="020B0604020202020204" pitchFamily="34" charset="0"/>
              </a:rPr>
              <a:t>metodu içində yazırıq. copy past yəni.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validate() </a:t>
            </a:r>
            <a:r>
              <a:rPr lang="az-Latn-AZ" altLang="en-US" sz="1300">
                <a:latin typeface="Arial" panose="020B0604020202020204" pitchFamily="34" charset="0"/>
              </a:rPr>
              <a:t>funksiyasındakı </a:t>
            </a:r>
            <a:r>
              <a:rPr lang="az-Latn-AZ" altLang="en-US" sz="1300" b="1">
                <a:latin typeface="Arial" panose="020B0604020202020204" pitchFamily="34" charset="0"/>
              </a:rPr>
              <a:t>İMAGE</a:t>
            </a:r>
            <a:r>
              <a:rPr lang="az-Latn-AZ" altLang="en-US" sz="1300">
                <a:latin typeface="Arial" panose="020B0604020202020204" pitchFamily="34" charset="0"/>
              </a:rPr>
              <a:t> olan hissəni çıxarmaq lazımdır. Əks halda xəbərdarlıq mesajı görəcəyik və postu yeniləmək mümkün olmayacaq. Çünki şəkli post yaradan zaman əlavə edirik və sonradan bəlkə dəyişmək istəmirik ? Bəlkə eyni şəkil qalacaq və biz sadəcə TİTLE olan hissəni dəyişəcəyik ?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Bunun üçün əgər </a:t>
            </a:r>
            <a:r>
              <a:rPr lang="az-Latn-AZ" altLang="en-US" sz="1300" b="1">
                <a:latin typeface="Arial" panose="020B0604020202020204" pitchFamily="34" charset="0"/>
              </a:rPr>
              <a:t>İMAGE</a:t>
            </a:r>
            <a:r>
              <a:rPr lang="az-Latn-AZ" altLang="en-US" sz="1300">
                <a:latin typeface="Arial" panose="020B0604020202020204" pitchFamily="34" charset="0"/>
              </a:rPr>
              <a:t> olan hissəni </a:t>
            </a:r>
            <a:r>
              <a:rPr lang="az-Latn-AZ" altLang="en-US" sz="1300" b="1">
                <a:latin typeface="Arial" panose="020B0604020202020204" pitchFamily="34" charset="0"/>
              </a:rPr>
              <a:t>validate() </a:t>
            </a:r>
            <a:r>
              <a:rPr lang="az-Latn-AZ" altLang="en-US" sz="1300">
                <a:latin typeface="Arial" panose="020B0604020202020204" pitchFamily="34" charset="0"/>
              </a:rPr>
              <a:t>funksiyasından çıxarmasaq aşağıdakı kimi xəta mesajı görəcəyik.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Xəbərdarlıq mesajlarını görə bilməmiz üçün </a:t>
            </a:r>
            <a:r>
              <a:rPr lang="az-Latn-AZ" altLang="en-US" sz="1300" b="1">
                <a:latin typeface="Arial" panose="020B0604020202020204" pitchFamily="34" charset="0"/>
              </a:rPr>
              <a:t>create.blade.php </a:t>
            </a:r>
            <a:r>
              <a:rPr lang="az-Latn-AZ" altLang="en-US" sz="1300">
                <a:latin typeface="Arial" panose="020B0604020202020204" pitchFamily="34" charset="0"/>
              </a:rPr>
              <a:t>faylındakı ALERT olan </a:t>
            </a:r>
            <a:r>
              <a:rPr lang="az-Latn-AZ" altLang="en-US" sz="1300" b="1">
                <a:latin typeface="Arial" panose="020B0604020202020204" pitchFamily="34" charset="0"/>
              </a:rPr>
              <a:t>div</a:t>
            </a:r>
            <a:r>
              <a:rPr lang="az-Latn-AZ" altLang="en-US" sz="1300">
                <a:latin typeface="Arial" panose="020B0604020202020204" pitchFamily="34" charset="0"/>
              </a:rPr>
              <a:t> tag -ini </a:t>
            </a:r>
            <a:r>
              <a:rPr lang="az-Latn-AZ" altLang="en-US" sz="1300" b="1">
                <a:latin typeface="Arial" panose="020B0604020202020204" pitchFamily="34" charset="0"/>
              </a:rPr>
              <a:t>edit.blade.php </a:t>
            </a:r>
            <a:r>
              <a:rPr lang="az-Latn-AZ" altLang="en-US" sz="1300">
                <a:latin typeface="Arial" panose="020B0604020202020204" pitchFamily="34" charset="0"/>
              </a:rPr>
              <a:t>faylına köçürmək lazımdır. Növbəti slayd....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904B20-FA49-8396-28F0-681DF2158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787" y="0"/>
            <a:ext cx="565921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A98455-0286-3AAB-2A35-9C9597D06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656840"/>
            <a:ext cx="3452624" cy="22011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580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972FA-83ED-B930-3C9E-56818712F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A35EBD-69C0-1881-AAD8-93D516FA9AE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Növbəti slaydda, şəkil ilə əlaqəli hissəni redaktə edərək ətraflı məlumat verəcəm....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6F3604-2CE5-E487-341B-E98A1893F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959" y="2013814"/>
            <a:ext cx="6992326" cy="47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238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C5FA9-1422-E6D4-EC60-7C1B2BD11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CEA6E8-C28B-6D91-B700-97B03CAB6B46}"/>
              </a:ext>
            </a:extLst>
          </p:cNvPr>
          <p:cNvSpPr txBox="1"/>
          <p:nvPr/>
        </p:nvSpPr>
        <p:spPr>
          <a:xfrm>
            <a:off x="217714" y="255046"/>
            <a:ext cx="7182327" cy="6296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update()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 bir postun məlumatlarını (başlıq, kateqoriya, açıqlama və şəkil) yeniləyir. Əgər yeni şəkil yüklənibsə, əvvəlki şəkil silinir və yeni şəkil yadda saxlanılır.</a:t>
            </a:r>
            <a:endParaRPr kumimoji="0" lang="az-Latn-AZ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Niyə image üçün validation ayrıca yazılıb və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hasFile()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ilə yoxlanılıb?</a:t>
            </a:r>
            <a:endParaRPr lang="az-Latn-AZ" altLang="en-US" sz="1000" b="1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Səbəb 1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ŞƏKİL göndərilməyə də bilər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 sahəsi formda opsional ola bilər (yəni istifadəçi şəkil dəyişmək istəməyə bilər).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image validation-u əsas validasiyaya daxil etsək və formda şəkil göndərilməsə, o zaman validation uğursuz olacaq.</a:t>
            </a:r>
            <a:endParaRPr kumimoji="0" lang="az-Latn-AZ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kumimoji="0" lang="az-Latn-AZ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000">
                <a:latin typeface="Arial" panose="020B0604020202020204" pitchFamily="34" charset="0"/>
              </a:rPr>
              <a:t>✅ </a:t>
            </a:r>
            <a:r>
              <a:rPr lang="az-Latn-AZ" altLang="en-US" sz="1000" b="1">
                <a:solidFill>
                  <a:srgbClr val="0070C0"/>
                </a:solidFill>
                <a:latin typeface="Arial" panose="020B0604020202020204" pitchFamily="34" charset="0"/>
              </a:rPr>
              <a:t>Səbəb 2</a:t>
            </a:r>
            <a:r>
              <a:rPr lang="az-Latn-AZ" altLang="en-US" sz="1000">
                <a:latin typeface="Arial" panose="020B0604020202020204" pitchFamily="34" charset="0"/>
              </a:rPr>
              <a:t>: hasFile('image') yoxlayır: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000">
                <a:latin typeface="Arial" panose="020B0604020202020204" pitchFamily="34" charset="0"/>
              </a:rPr>
              <a:t>image input sahəsinə fayl əlavə olunub-olunmadığını yoxlayır.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000">
                <a:latin typeface="Arial" panose="020B0604020202020204" pitchFamily="34" charset="0"/>
              </a:rPr>
              <a:t>Yalnız fayl varsa, validation və şəkil yükləmə əməliyyatı aparılır.</a:t>
            </a:r>
          </a:p>
          <a:p>
            <a:pPr>
              <a:lnSpc>
                <a:spcPct val="150000"/>
              </a:lnSpc>
            </a:pPr>
            <a:endParaRPr lang="az-Latn-AZ" altLang="en-US" sz="10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az-Latn-AZ" altLang="en-US" sz="1000">
                <a:latin typeface="Arial" panose="020B0604020202020204" pitchFamily="34" charset="0"/>
              </a:rPr>
              <a:t>✅ </a:t>
            </a:r>
            <a:r>
              <a:rPr lang="az-Latn-AZ" altLang="en-US" sz="1000" b="1">
                <a:solidFill>
                  <a:srgbClr val="0070C0"/>
                </a:solidFill>
                <a:latin typeface="Arial" panose="020B0604020202020204" pitchFamily="34" charset="0"/>
              </a:rPr>
              <a:t>Beləliklə</a:t>
            </a:r>
            <a:r>
              <a:rPr lang="az-Latn-AZ" altLang="en-US" sz="1000">
                <a:latin typeface="Arial" panose="020B0604020202020204" pitchFamily="34" charset="0"/>
              </a:rPr>
              <a:t>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000">
                <a:latin typeface="Arial" panose="020B0604020202020204" pitchFamily="34" charset="0"/>
              </a:rPr>
              <a:t>Əgər istifadəçi şəkil yükləyibsə — heç bir şəkil prosesi işləmir.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000">
                <a:latin typeface="Arial" panose="020B0604020202020204" pitchFamily="34" charset="0"/>
              </a:rPr>
              <a:t>Əgər şəkil varsa, həm doğrulama (validate()), həm də şəkil yeniləmə baş verir.</a:t>
            </a:r>
          </a:p>
          <a:p>
            <a:pPr>
              <a:lnSpc>
                <a:spcPct val="150000"/>
              </a:lnSpc>
            </a:pPr>
            <a:endParaRPr kumimoji="0" lang="az-Latn-AZ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az-Latn-AZ" altLang="en-US" sz="10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Niyə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$post = Post::findOrFail($id);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 if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şərtindən əvvəl yazılıb?</a:t>
            </a:r>
            <a:endParaRPr kumimoji="0" lang="az-Latn-AZ" altLang="en-US" sz="10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Səbəb 1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$post 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obyektinə əvvəlcədən ehtiyacımız var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 obyekt olmadan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$post-&gt;image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$post-&gt;title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$post-&gt;description 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və s. dəyişmək mümkün deyil.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hasFile() 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şərtinin içində də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$post-&gt;image 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istifadə olunur (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File::delete(...)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).</a:t>
            </a:r>
          </a:p>
          <a:p>
            <a:pPr>
              <a:lnSpc>
                <a:spcPct val="150000"/>
              </a:lnSpc>
            </a:pPr>
            <a:endParaRPr kumimoji="0" lang="en-US" altLang="en-US" sz="100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Səbəb 2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findOrFail() 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nə edir?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posts cədvəlindən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id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ilə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post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tapmağa çalışır.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Əgər tapılmazsa → avtomatik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404 Not Found 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səhifəsi göstərilir.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 kodun davam etməsinin mənası yoxdur əgər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$post 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mövcud deyilsə.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Nəticə: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$post </a:t>
            </a:r>
            <a:r>
              <a:rPr kumimoji="0" lang="en-US" altLang="en-US" sz="100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dəyişəni ilk olaraq gətirilməlidir ki, kodun növbəti hissəsində ona istinad edə bilək.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482C48-0BE3-60E6-5D35-7EB3DDB50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609" y="0"/>
            <a:ext cx="47113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322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C7A70-4EA1-71B2-49B0-82E3D9AE7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B0DB7F-19F9-FA86-7F5C-77637B83EDD2}"/>
              </a:ext>
            </a:extLst>
          </p:cNvPr>
          <p:cNvSpPr txBox="1"/>
          <p:nvPr/>
        </p:nvSpPr>
        <p:spPr>
          <a:xfrm>
            <a:off x="217714" y="255046"/>
            <a:ext cx="11756571" cy="4556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Niyə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File::delete(public_path($post-&gt;image));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yazılıb?</a:t>
            </a:r>
            <a:endParaRPr kumimoji="0" lang="az-Latn-AZ" altLang="en-US" sz="1300" b="1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kod, əvvəlki şəkli serverin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public/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qovluğundan silir.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$post-&gt;image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bazada saxlanılan şəkilin nisbətən yolu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(məsələn,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storage/uploads/abc.jpg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public_path()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bu yolu fiziki sistem yoluna çevirir, məsələn: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/var/www/project/public/storage/uploads/abc.jpg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File::delete(...)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→ həmin faylı sistemdən silir.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Niyə silirik?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istifadəçi yeni şəkil yükləyibsə, artıq köhnə şəkil istifadə olunmur.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Serverin yaddaşında boş yer tutmaması üçün köhnə şəkli silmək düzgün praktika hesab olunur.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217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4B025-D792-BBE7-31E4-3EE7B1EA9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30200F-95A0-BBA6-251A-F28D568744A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Nəticə olaraq, bu metod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0358F1D-2AE4-31B5-44C0-BF169F250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323583"/>
              </p:ext>
            </p:extLst>
          </p:nvPr>
        </p:nvGraphicFramePr>
        <p:xfrm>
          <a:off x="217713" y="874423"/>
          <a:ext cx="11756571" cy="4480002"/>
        </p:xfrm>
        <a:graphic>
          <a:graphicData uri="http://schemas.openxmlformats.org/drawingml/2006/table">
            <a:tbl>
              <a:tblPr/>
              <a:tblGrid>
                <a:gridCol w="878338">
                  <a:extLst>
                    <a:ext uri="{9D8B030D-6E8A-4147-A177-3AD203B41FA5}">
                      <a16:colId xmlns:a16="http://schemas.microsoft.com/office/drawing/2014/main" val="2578183930"/>
                    </a:ext>
                  </a:extLst>
                </a:gridCol>
                <a:gridCol w="10878233">
                  <a:extLst>
                    <a:ext uri="{9D8B030D-6E8A-4147-A177-3AD203B41FA5}">
                      <a16:colId xmlns:a16="http://schemas.microsoft.com/office/drawing/2014/main" val="905761042"/>
                    </a:ext>
                  </a:extLst>
                </a:gridCol>
              </a:tblGrid>
              <a:tr h="497778">
                <a:tc>
                  <a:txBody>
                    <a:bodyPr/>
                    <a:lstStyle/>
                    <a:p>
                      <a:r>
                        <a:rPr lang="en-US" b="1"/>
                        <a:t>Addım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Görülən iş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702669"/>
                  </a:ext>
                </a:extLst>
              </a:tr>
              <a:tr h="497778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Gələn məlumatlar (başlıq, açıqlama, kateqoriya) validate olunur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439021"/>
                  </a:ext>
                </a:extLst>
              </a:tr>
              <a:tr h="497778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İD ilə post tapılır. Əgər yoxdursa, səhifə 404 olur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962252"/>
                  </a:ext>
                </a:extLst>
              </a:tr>
              <a:tr h="497778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Əgər istifadəçi yeni şəkil yükləyibsə: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087612"/>
                  </a:ext>
                </a:extLst>
              </a:tr>
              <a:tr h="497778">
                <a:tc>
                  <a:txBody>
                    <a:bodyPr/>
                    <a:lstStyle/>
                    <a:p>
                      <a:r>
                        <a:rPr lang="en-US"/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 Şəkil validasiyası aparılır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194742"/>
                  </a:ext>
                </a:extLst>
              </a:tr>
              <a:tr h="497778">
                <a:tc>
                  <a:txBody>
                    <a:bodyPr/>
                    <a:lstStyle/>
                    <a:p>
                      <a:r>
                        <a:rPr lang="en-US"/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 Köhnə şəkil serverdən silinir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958629"/>
                  </a:ext>
                </a:extLst>
              </a:tr>
              <a:tr h="497778">
                <a:tc>
                  <a:txBody>
                    <a:bodyPr/>
                    <a:lstStyle/>
                    <a:p>
                      <a:r>
                        <a:rPr lang="en-US"/>
                        <a:t>→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- Yeni şəkil storage/uploads/ qovluğuna yüklənir və yol post obyektinə yazılır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2729374"/>
                  </a:ext>
                </a:extLst>
              </a:tr>
              <a:tr h="497778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Qalan məlumatlar yenilənir və save() edilir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17220"/>
                  </a:ext>
                </a:extLst>
              </a:tr>
              <a:tr h="497778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İstifadəçi posts.index səhifəsinə yönləndirilir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7538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628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BC8B5-836C-8260-8EAC-E5F351FB0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9A0289-DA16-1A43-8F30-524997770174}"/>
              </a:ext>
            </a:extLst>
          </p:cNvPr>
          <p:cNvSpPr txBox="1"/>
          <p:nvPr/>
        </p:nvSpPr>
        <p:spPr>
          <a:xfrm>
            <a:off x="217714" y="255046"/>
            <a:ext cx="11756571" cy="21558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Hal haz</a:t>
            </a:r>
            <a:r>
              <a:rPr lang="az-Latn-AZ" altLang="en-US" sz="1300">
                <a:latin typeface="Arial" panose="020B0604020202020204" pitchFamily="34" charset="0"/>
              </a:rPr>
              <a:t>ırda aşağıdakı kimi məlumatlar əlavə etdim cədvələ. Şəkillərin adlarını image1, image2, image3 olaraq qeyd etmişəm. İndi bunları </a:t>
            </a:r>
            <a:r>
              <a:rPr lang="az-Latn-AZ" altLang="en-US" sz="1300" b="1">
                <a:latin typeface="Arial" panose="020B0604020202020204" pitchFamily="34" charset="0"/>
              </a:rPr>
              <a:t>UPDATE</a:t>
            </a:r>
            <a:r>
              <a:rPr lang="az-Latn-AZ" altLang="en-US" sz="1300">
                <a:latin typeface="Arial" panose="020B0604020202020204" pitchFamily="34" charset="0"/>
              </a:rPr>
              <a:t> edəcəyik.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</a:t>
            </a:r>
            <a:r>
              <a:rPr lang="az-Latn-AZ" altLang="en-US" sz="1300">
                <a:latin typeface="Arial" panose="020B0604020202020204" pitchFamily="34" charset="0"/>
              </a:rPr>
              <a:t>ndi </a:t>
            </a:r>
            <a:r>
              <a:rPr lang="az-Latn-AZ" altLang="en-US" sz="1300" b="1">
                <a:latin typeface="Arial" panose="020B0604020202020204" pitchFamily="34" charset="0"/>
              </a:rPr>
              <a:t>EDİT</a:t>
            </a:r>
            <a:r>
              <a:rPr lang="az-Latn-AZ" altLang="en-US" sz="1300">
                <a:latin typeface="Arial" panose="020B0604020202020204" pitchFamily="34" charset="0"/>
              </a:rPr>
              <a:t> düyməsini klikləyərk postu yeniləyək və burada bir səhf ilə qarşılaşacağıq. </a:t>
            </a:r>
            <a:r>
              <a:rPr lang="az-Latn-AZ" altLang="en-US" sz="1300" b="1">
                <a:latin typeface="Arial" panose="020B0604020202020204" pitchFamily="34" charset="0"/>
              </a:rPr>
              <a:t>Title</a:t>
            </a:r>
            <a:r>
              <a:rPr lang="az-Latn-AZ" altLang="en-US" sz="1300">
                <a:latin typeface="Arial" panose="020B0604020202020204" pitchFamily="34" charset="0"/>
              </a:rPr>
              <a:t> sahəsində bütün yazılar yox sadəcə birinci söz görsənəcəkdir. Növbəti 4 slaydı izləyə bilərsiz.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səhfin nə olduğu ən sonda deyəcəm.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E6D56A-D939-EF3D-B016-D335DA82B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94489"/>
            <a:ext cx="12192000" cy="40708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5416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4E1F6-F81C-6DB9-24CB-B4C6AD6EB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6805A3-32C0-7DA6-FD0E-486D6056E87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186720-3749-E429-3A85-A1472BE5B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89" y="0"/>
            <a:ext cx="10980019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2548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D72B6-D940-CF00-E343-F12C99170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BE3753-05AE-FE3A-B85B-80F6977CA97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4DD4C-9812-1473-8589-DC85185AE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55" y="1161733"/>
            <a:ext cx="11393490" cy="45345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139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1D48C-3FD5-3B8C-3036-E8932FE2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C9D28C-F927-D4D6-8596-6838360A551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3CEC2-521A-C543-B714-EF99D8E7C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30" y="0"/>
            <a:ext cx="10577739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6188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493AC-2B79-2117-1C77-21610C3A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45C333-7AD8-6C77-DB13-E3B867AB1BB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Verilənlər bazasında da hər şey qaydasındadır.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74A8B8-B1B8-1F9F-94FA-EEC838224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9226"/>
            <a:ext cx="12192000" cy="28028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6260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541D6-3968-54F1-6A24-ED20BEBCF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4716D9-BC13-DCD1-7EDD-C3B48CE3D05E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problem Laravel ya da PHP ilə deyil, HTML ilə bağlı bir sintaksis səhvidir. input sahəsindəki bu sətirə baxaq:</a:t>
            </a: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 nədir? 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HTML-də bir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 atributuna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dəyər təyin edərkən dəyər qoşa tırnaq (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içində olmalıdır. Əgər dəyərin içində boşluq (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space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varsa və sən </a:t>
            </a: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value={{ $post-&gt;title }}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yazırsansa, HTML təkcə ilk sözü götürür. Bu HTML spesifikasiyasıdır. Eyni qayda textarea, select, alt, placeholder və s. atributlara da aiddir: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Sənin kodun HTML-də belə çevrilir: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DÜZGÜN YAZILIŞ: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C6E05C-2D77-817D-E43E-6F04983198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473"/>
            <a:ext cx="6439799" cy="552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D43F9F-330D-6B77-8E0B-7DD7384BA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66758"/>
            <a:ext cx="6820852" cy="5525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8C8240-5B88-4A15-2068-7A1DEA7B8B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84961"/>
            <a:ext cx="6792273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227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A0DB-298D-57A7-183D-77E2C42E4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B55711-6BC0-C768-5CF1-DBCF55813DB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C81DE8-D7F8-88BC-169A-762B11A34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141" y="0"/>
            <a:ext cx="93237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2691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9F1C-B120-6EFF-2066-719EC7FAC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C04EE2-76C4-3619-AA01-58D70D4C666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AC28A6-4ED9-B568-B12E-2C28DD53B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94" y="0"/>
            <a:ext cx="10531011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7534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D17C9-62AD-5949-BAB5-1DF33841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457A51-95BD-2A90-6A6F-21DDC865088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5198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4614</TotalTime>
  <Words>1156</Words>
  <Application>Microsoft Office PowerPoint</Application>
  <PresentationFormat>Widescreen</PresentationFormat>
  <Paragraphs>188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363</cp:revision>
  <dcterms:created xsi:type="dcterms:W3CDTF">2025-04-12T11:00:44Z</dcterms:created>
  <dcterms:modified xsi:type="dcterms:W3CDTF">2025-05-20T06:08:17Z</dcterms:modified>
</cp:coreProperties>
</file>