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3" r:id="rId2"/>
    <p:sldId id="414" r:id="rId3"/>
    <p:sldId id="415" r:id="rId4"/>
    <p:sldId id="416" r:id="rId5"/>
    <p:sldId id="417" r:id="rId6"/>
    <p:sldId id="419" r:id="rId7"/>
    <p:sldId id="400" r:id="rId8"/>
    <p:sldId id="418" r:id="rId9"/>
    <p:sldId id="420" r:id="rId10"/>
    <p:sldId id="421" r:id="rId11"/>
    <p:sldId id="42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5CBA-29A4-BFD2-CEA7-3290D85E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27ABBC-76D0-B81B-760F-26FC272AF479}"/>
              </a:ext>
            </a:extLst>
          </p:cNvPr>
          <p:cNvSpPr txBox="1"/>
          <p:nvPr/>
        </p:nvSpPr>
        <p:spPr>
          <a:xfrm>
            <a:off x="217714" y="255046"/>
            <a:ext cx="4400939" cy="655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Şifrə yeniləmək üçün istifadə ediləcək sahələri əlavə edirik.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75E846-D5B6-EE03-00B6-02B3122101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8991" y="0"/>
            <a:ext cx="744300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838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23C97-7391-808C-8F93-F1A247B54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BA728D-9AF8-6C25-DF35-1494919186BC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Şifrəni yeniləyəcək </a:t>
            </a:r>
            <a:r>
              <a:rPr lang="az-Latn-AZ" altLang="en-US" sz="1300" b="1">
                <a:latin typeface="Arial" panose="020B0604020202020204" pitchFamily="34" charset="0"/>
              </a:rPr>
              <a:t>ROUTE</a:t>
            </a:r>
            <a:r>
              <a:rPr lang="az-Latn-AZ" altLang="en-US" sz="1300">
                <a:latin typeface="Arial" panose="020B0604020202020204" pitchFamily="34" charset="0"/>
              </a:rPr>
              <a:t> -u əlavə edirik.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AF64DB-F0EB-9F9A-9192-123AB95B03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7092" y="1723308"/>
            <a:ext cx="9554908" cy="513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252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0B5C9-C5B7-1394-299C-CBF7480C6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4B72B5A-AB55-2CA0-4552-C8CD08C8DE00}"/>
              </a:ext>
            </a:extLst>
          </p:cNvPr>
          <p:cNvSpPr txBox="1"/>
          <p:nvPr/>
        </p:nvSpPr>
        <p:spPr>
          <a:xfrm>
            <a:off x="217714" y="255046"/>
            <a:ext cx="4494245" cy="655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Şablonda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FORM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elementi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submit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edildikdə, bu route işə düşəcək deyirik. 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B138790-1843-EFCA-C997-C8E0C7911A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353" y="0"/>
            <a:ext cx="743764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3947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C7E021-5D1A-64CD-F057-1B3B77984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52AA659-A858-B124-F630-BA5E0BF966F1}"/>
              </a:ext>
            </a:extLst>
          </p:cNvPr>
          <p:cNvSpPr txBox="1"/>
          <p:nvPr/>
        </p:nvSpPr>
        <p:spPr>
          <a:xfrm>
            <a:off x="217714" y="255046"/>
            <a:ext cx="4979437" cy="655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K</a:t>
            </a:r>
            <a:r>
              <a:rPr lang="az-Latn-AZ" altLang="en-US" sz="1300">
                <a:latin typeface="Arial" panose="020B0604020202020204" pitchFamily="34" charset="0"/>
              </a:rPr>
              <a:t>ontrollerdə</a:t>
            </a:r>
            <a:r>
              <a:rPr lang="en-US" altLang="en-US" sz="1300">
                <a:latin typeface="Arial" panose="020B0604020202020204" pitchFamily="34" charset="0"/>
              </a:rPr>
              <a:t>,</a:t>
            </a:r>
            <a:r>
              <a:rPr lang="az-Latn-AZ" altLang="en-US" sz="1300">
                <a:latin typeface="Arial" panose="020B0604020202020204" pitchFamily="34" charset="0"/>
              </a:rPr>
              <a:t> </a:t>
            </a:r>
            <a:r>
              <a:rPr lang="en-US" altLang="en-US" sz="1300" b="1">
                <a:latin typeface="Arial" panose="020B0604020202020204" pitchFamily="34" charset="0"/>
              </a:rPr>
              <a:t>ROUTE</a:t>
            </a:r>
            <a:r>
              <a:rPr lang="en-US" altLang="en-US" sz="1300">
                <a:latin typeface="Arial" panose="020B0604020202020204" pitchFamily="34" charset="0"/>
              </a:rPr>
              <a:t> i</a:t>
            </a:r>
            <a:r>
              <a:rPr lang="az-Latn-AZ" altLang="en-US" sz="1300">
                <a:latin typeface="Arial" panose="020B0604020202020204" pitchFamily="34" charset="0"/>
              </a:rPr>
              <a:t>şə düşdük</a:t>
            </a:r>
            <a:r>
              <a:rPr lang="en-US" altLang="en-US" sz="1300">
                <a:latin typeface="Arial" panose="020B0604020202020204" pitchFamily="34" charset="0"/>
              </a:rPr>
              <a:t>d</a:t>
            </a:r>
            <a:r>
              <a:rPr lang="az-Latn-AZ" altLang="en-US" sz="1300">
                <a:latin typeface="Arial" panose="020B0604020202020204" pitchFamily="34" charset="0"/>
              </a:rPr>
              <a:t>ə çağrılacaq </a:t>
            </a:r>
            <a:r>
              <a:rPr lang="az-Latn-AZ" altLang="en-US" sz="1300" b="1">
                <a:latin typeface="Arial" panose="020B0604020202020204" pitchFamily="34" charset="0"/>
              </a:rPr>
              <a:t>metodu</a:t>
            </a:r>
            <a:r>
              <a:rPr lang="az-Latn-AZ" altLang="en-US" sz="1300">
                <a:latin typeface="Arial" panose="020B0604020202020204" pitchFamily="34" charset="0"/>
              </a:rPr>
              <a:t> yaradırıq.</a:t>
            </a:r>
            <a:r>
              <a:rPr lang="en-US" altLang="en-US" sz="1300">
                <a:latin typeface="Arial" panose="020B0604020202020204" pitchFamily="34" charset="0"/>
              </a:rPr>
              <a:t> Bu kod, </a:t>
            </a:r>
            <a:r>
              <a:rPr lang="az-Latn-AZ" altLang="en-US" sz="1300">
                <a:latin typeface="Arial" panose="020B0604020202020204" pitchFamily="34" charset="0"/>
              </a:rPr>
              <a:t>şifrəni yeniləmək üçündür.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9131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C71D3-7EEC-87EC-44DF-40A96EA9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C5828D1-9A4E-5FA3-4049-8FFF636971B2}"/>
              </a:ext>
            </a:extLst>
          </p:cNvPr>
          <p:cNvSpPr txBox="1"/>
          <p:nvPr/>
        </p:nvSpPr>
        <p:spPr>
          <a:xfrm>
            <a:off x="217714" y="255046"/>
            <a:ext cx="3029339" cy="955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Əgər xəta varsa, həmin xətanı görmək üçün </a:t>
            </a:r>
            <a:r>
              <a:rPr lang="en-US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$errors </a:t>
            </a:r>
            <a:r>
              <a:rPr lang="az-Latn-AZ" altLang="en-US" sz="1300">
                <a:latin typeface="Arial" panose="020B0604020202020204" pitchFamily="34" charset="0"/>
              </a:rPr>
              <a:t>variable -ını əlavə edirik şablona.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614916-97FE-3314-568C-6BEA8EFC06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1831" y="1399592"/>
            <a:ext cx="8910169" cy="5458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1518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CF7FB-8870-52A8-B73E-38CE72D0E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6CAF1AC-8FAB-1F8B-2541-CFE75C73EA7C}"/>
              </a:ext>
            </a:extLst>
          </p:cNvPr>
          <p:cNvSpPr txBox="1"/>
          <p:nvPr/>
        </p:nvSpPr>
        <p:spPr>
          <a:xfrm>
            <a:off x="217715" y="255046"/>
            <a:ext cx="6024466" cy="6056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'current_password' =&gt; ['required', 'current_password’]</a:t>
            </a:r>
            <a:endParaRPr lang="az-Latn-AZ" altLang="en-US" sz="1300" b="1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 b="1">
              <a:latin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 b="1">
                <a:latin typeface="Arial" panose="020B0604020202020204" pitchFamily="34" charset="0"/>
              </a:rPr>
              <a:t>'required' </a:t>
            </a:r>
            <a:r>
              <a:rPr lang="en-US" altLang="en-US" sz="1300">
                <a:latin typeface="Arial" panose="020B0604020202020204" pitchFamily="34" charset="0"/>
              </a:rPr>
              <a:t>– Bu sahə boş buraxıla bilməz.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 b="1">
                <a:latin typeface="Arial" panose="020B0604020202020204" pitchFamily="34" charset="0"/>
              </a:rPr>
              <a:t>'current_password' </a:t>
            </a:r>
            <a:r>
              <a:rPr lang="en-US" altLang="en-US" sz="1300">
                <a:latin typeface="Arial" panose="020B0604020202020204" pitchFamily="34" charset="0"/>
              </a:rPr>
              <a:t>– Laravel 8.43+ versiyasından etibarən əlavə olunan xüsusi bir validasiya qaydasıdır. Bu, istifadəçinin daxil etdiyi </a:t>
            </a:r>
            <a:r>
              <a:rPr lang="en-US" altLang="en-US" sz="1300" b="1">
                <a:latin typeface="Arial" panose="020B0604020202020204" pitchFamily="34" charset="0"/>
              </a:rPr>
              <a:t>current_password </a:t>
            </a:r>
            <a:r>
              <a:rPr lang="en-US" altLang="en-US" sz="1300">
                <a:latin typeface="Arial" panose="020B0604020202020204" pitchFamily="34" charset="0"/>
              </a:rPr>
              <a:t>dəyərinin mövcud (hazırki) şifrəsi ilə uyğun olub olmadığını yoxlayır.</a:t>
            </a:r>
            <a:endParaRPr lang="az-Latn-AZ" altLang="en-US" sz="1300">
              <a:latin typeface="Arial" panose="020B0604020202020204" pitchFamily="34" charset="0"/>
            </a:endParaRPr>
          </a:p>
          <a:p>
            <a:pPr marL="0" lvl="1">
              <a:lnSpc>
                <a:spcPct val="150000"/>
              </a:lnSpc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1">
              <a:lnSpc>
                <a:spcPct val="150000"/>
              </a:lnSpc>
            </a:pPr>
            <a:endParaRPr lang="az-Latn-AZ" altLang="en-US" sz="1300">
              <a:latin typeface="Arial" panose="020B0604020202020204" pitchFamily="34" charset="0"/>
            </a:endParaRPr>
          </a:p>
          <a:p>
            <a:pPr marL="0" lvl="1">
              <a:lnSpc>
                <a:spcPct val="150000"/>
              </a:lnSpc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1">
              <a:lnSpc>
                <a:spcPct val="150000"/>
              </a:lnSpc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1">
              <a:lnSpc>
                <a:spcPct val="150000"/>
              </a:lnSpc>
            </a:pPr>
            <a:r>
              <a:rPr lang="en-US" altLang="en-US" sz="1300" b="1">
                <a:latin typeface="Arial" panose="020B0604020202020204" pitchFamily="34" charset="0"/>
              </a:rPr>
              <a:t>'password' =&gt; ['required', 'confirmed', 'min:8’]</a:t>
            </a:r>
            <a:endParaRPr lang="az-Latn-AZ" altLang="en-US" sz="1300" b="1">
              <a:latin typeface="Arial" panose="020B0604020202020204" pitchFamily="34" charset="0"/>
            </a:endParaRPr>
          </a:p>
          <a:p>
            <a:pPr marL="0" lvl="1">
              <a:lnSpc>
                <a:spcPct val="150000"/>
              </a:lnSpc>
            </a:pPr>
            <a:endParaRPr lang="en-US" altLang="en-US" sz="1300" b="1">
              <a:latin typeface="Arial" panose="020B0604020202020204" pitchFamily="34" charset="0"/>
            </a:endParaRPr>
          </a:p>
          <a:p>
            <a:pPr marL="742950" lvl="2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 b="1">
                <a:latin typeface="Arial" panose="020B0604020202020204" pitchFamily="34" charset="0"/>
              </a:rPr>
              <a:t>'required'</a:t>
            </a:r>
            <a:r>
              <a:rPr lang="en-US" altLang="en-US" sz="1300">
                <a:latin typeface="Arial" panose="020B0604020202020204" pitchFamily="34" charset="0"/>
              </a:rPr>
              <a:t> – Yeni parol mütləq daxil edilməlidir.</a:t>
            </a:r>
          </a:p>
          <a:p>
            <a:pPr marL="742950" lvl="2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 b="1">
                <a:latin typeface="Arial" panose="020B0604020202020204" pitchFamily="34" charset="0"/>
              </a:rPr>
              <a:t>'confirmed' </a:t>
            </a:r>
            <a:r>
              <a:rPr lang="en-US" altLang="en-US" sz="1300">
                <a:latin typeface="Arial" panose="020B0604020202020204" pitchFamily="34" charset="0"/>
              </a:rPr>
              <a:t>– Bu, o deməkdir ki, istifadəçi </a:t>
            </a:r>
            <a:r>
              <a:rPr lang="en-US" altLang="en-US" sz="1300" b="1">
                <a:latin typeface="Arial" panose="020B0604020202020204" pitchFamily="34" charset="0"/>
              </a:rPr>
              <a:t>password</a:t>
            </a:r>
            <a:r>
              <a:rPr lang="en-US" altLang="en-US" sz="1300">
                <a:latin typeface="Arial" panose="020B0604020202020204" pitchFamily="34" charset="0"/>
              </a:rPr>
              <a:t> sahəsinin doğrulamasını da etməlidir.</a:t>
            </a:r>
          </a:p>
          <a:p>
            <a:pPr marL="742950" lvl="2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Laravel avtomatik olaraq </a:t>
            </a:r>
            <a:r>
              <a:rPr lang="en-US" altLang="en-US" sz="1300" b="1">
                <a:latin typeface="Arial" panose="020B0604020202020204" pitchFamily="34" charset="0"/>
              </a:rPr>
              <a:t>password_confirmation </a:t>
            </a:r>
            <a:r>
              <a:rPr lang="en-US" altLang="en-US" sz="1300">
                <a:latin typeface="Arial" panose="020B0604020202020204" pitchFamily="34" charset="0"/>
              </a:rPr>
              <a:t>adlı sahəni axtarır və onu </a:t>
            </a:r>
            <a:r>
              <a:rPr lang="en-US" altLang="en-US" sz="1300" b="1">
                <a:latin typeface="Arial" panose="020B0604020202020204" pitchFamily="34" charset="0"/>
              </a:rPr>
              <a:t>password</a:t>
            </a:r>
            <a:r>
              <a:rPr lang="en-US" altLang="en-US" sz="1300">
                <a:latin typeface="Arial" panose="020B0604020202020204" pitchFamily="34" charset="0"/>
              </a:rPr>
              <a:t> ilə eyni olub-olmadığını yoxlayır.</a:t>
            </a:r>
            <a:r>
              <a:rPr lang="az-Latn-AZ" altLang="en-US" sz="1300">
                <a:latin typeface="Arial" panose="020B0604020202020204" pitchFamily="34" charset="0"/>
              </a:rPr>
              <a:t> </a:t>
            </a:r>
            <a:r>
              <a:rPr lang="en-US" altLang="en-US" sz="1300">
                <a:latin typeface="Arial" panose="020B0604020202020204" pitchFamily="34" charset="0"/>
              </a:rPr>
              <a:t>Əgər </a:t>
            </a:r>
            <a:r>
              <a:rPr lang="en-US" altLang="en-US" sz="1300" b="1">
                <a:latin typeface="Arial" panose="020B0604020202020204" pitchFamily="34" charset="0"/>
              </a:rPr>
              <a:t>password</a:t>
            </a:r>
            <a:r>
              <a:rPr lang="en-US" altLang="en-US" sz="1300">
                <a:latin typeface="Arial" panose="020B0604020202020204" pitchFamily="34" charset="0"/>
              </a:rPr>
              <a:t> və </a:t>
            </a:r>
            <a:r>
              <a:rPr lang="en-US" altLang="en-US" sz="1300" b="1">
                <a:latin typeface="Arial" panose="020B0604020202020204" pitchFamily="34" charset="0"/>
              </a:rPr>
              <a:t>password_confirmation </a:t>
            </a:r>
            <a:r>
              <a:rPr lang="en-US" altLang="en-US" sz="1300">
                <a:latin typeface="Arial" panose="020B0604020202020204" pitchFamily="34" charset="0"/>
              </a:rPr>
              <a:t>sahələri fərqli olsa → xəta verəcək.</a:t>
            </a:r>
          </a:p>
          <a:p>
            <a:pPr marL="742950" lvl="2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 b="1">
                <a:latin typeface="Arial" panose="020B0604020202020204" pitchFamily="34" charset="0"/>
              </a:rPr>
              <a:t>'min:8'</a:t>
            </a:r>
            <a:r>
              <a:rPr lang="en-US" altLang="en-US" sz="1300">
                <a:latin typeface="Arial" panose="020B0604020202020204" pitchFamily="34" charset="0"/>
              </a:rPr>
              <a:t> – Parol ən azı 8 simvoldan ibarət olmalıdır.</a:t>
            </a:r>
            <a:endParaRPr lang="az-Latn-AZ" altLang="en-US" sz="1300"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9BF01A-6952-1FC2-E836-056560F982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2360" y="361043"/>
            <a:ext cx="5839640" cy="6496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0855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4023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400" b="1">
                <a:latin typeface="Arial" panose="020B0604020202020204" pitchFamily="34" charset="0"/>
                <a:cs typeface="Arial" panose="020B0604020202020204" pitchFamily="34" charset="0"/>
              </a:rPr>
              <a:t>Parolun yenilənməsi</a:t>
            </a:r>
            <a:r>
              <a:rPr lang="az-Latn-AZ" sz="140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altLang="en-US" sz="1300" b="1">
                <a:latin typeface="Arial" panose="020B0604020202020204" pitchFamily="34" charset="0"/>
                <a:cs typeface="Arial" panose="020B0604020202020204" pitchFamily="34" charset="0"/>
              </a:rPr>
              <a:t>$request-&gt;user() </a:t>
            </a:r>
            <a:r>
              <a:rPr lang="en-US" altLang="en-US" sz="1300">
                <a:latin typeface="Arial" panose="020B0604020202020204" pitchFamily="34" charset="0"/>
                <a:cs typeface="Arial" panose="020B0604020202020204" pitchFamily="34" charset="0"/>
              </a:rPr>
              <a:t>– Hal-hazırda login olmuş istifadəçini alır.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altLang="en-US" sz="1300" b="1">
                <a:latin typeface="Arial" panose="020B0604020202020204" pitchFamily="34" charset="0"/>
                <a:cs typeface="Arial" panose="020B0604020202020204" pitchFamily="34" charset="0"/>
              </a:rPr>
              <a:t>update([...]) </a:t>
            </a:r>
            <a:r>
              <a:rPr lang="en-US" altLang="en-US" sz="1300">
                <a:latin typeface="Arial" panose="020B0604020202020204" pitchFamily="34" charset="0"/>
                <a:cs typeface="Arial" panose="020B0604020202020204" pitchFamily="34" charset="0"/>
              </a:rPr>
              <a:t>– Yeni parolu DB-yə yazır.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altLang="en-US" sz="1300" b="1">
                <a:latin typeface="Arial" panose="020B0604020202020204" pitchFamily="34" charset="0"/>
                <a:cs typeface="Arial" panose="020B0604020202020204" pitchFamily="34" charset="0"/>
              </a:rPr>
              <a:t>bcrypt(...) </a:t>
            </a:r>
            <a:r>
              <a:rPr lang="en-US" altLang="en-US" sz="1300">
                <a:latin typeface="Arial" panose="020B0604020202020204" pitchFamily="34" charset="0"/>
                <a:cs typeface="Arial" panose="020B0604020202020204" pitchFamily="34" charset="0"/>
              </a:rPr>
              <a:t>– Gələn parolu </a:t>
            </a:r>
            <a:r>
              <a:rPr lang="en-US" altLang="en-US" sz="1300" b="1">
                <a:latin typeface="Arial" panose="020B0604020202020204" pitchFamily="34" charset="0"/>
                <a:cs typeface="Arial" panose="020B0604020202020204" pitchFamily="34" charset="0"/>
              </a:rPr>
              <a:t>hash</a:t>
            </a:r>
            <a:r>
              <a:rPr lang="en-US" altLang="en-US" sz="1300">
                <a:latin typeface="Arial" panose="020B0604020202020204" pitchFamily="34" charset="0"/>
                <a:cs typeface="Arial" panose="020B0604020202020204" pitchFamily="34" charset="0"/>
              </a:rPr>
              <a:t>-ləyir. Çünki Laravel-də şifrələr mütləq hash edilmiş şəkildə saxlanmalıdır.</a:t>
            </a:r>
            <a:endParaRPr lang="az-Latn-AZ" altLang="en-US" sz="13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DD6788-F0F4-FC7B-A859-94B67B0EAC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55888"/>
            <a:ext cx="3553321" cy="79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CC8CF-C9E4-86AA-B58E-D186B88BB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E688F93-3232-D56E-A1F6-AAE6E4985AC2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 edin...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F9C559-8F4E-0BA4-FD88-E4E9CCE3A7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5978" y="1716831"/>
            <a:ext cx="7009928" cy="498254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764723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C0C8C-BCCE-3284-753F-C342F154E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E366273-E15F-CCC9-9FD7-7D62A25F10C6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144677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DBBEC-47E5-801E-0960-CB2CE9067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433476C-6A7E-93DC-146E-A45CE435360D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98102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D8405-FC2D-4761-25E1-77FF66F87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112AD62-D2AB-7185-BB53-C1724FCA233D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15374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5071</TotalTime>
  <Words>249</Words>
  <Application>Microsoft Office PowerPoint</Application>
  <PresentationFormat>Widescreen</PresentationFormat>
  <Paragraphs>31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373</cp:revision>
  <dcterms:created xsi:type="dcterms:W3CDTF">2025-04-12T11:00:44Z</dcterms:created>
  <dcterms:modified xsi:type="dcterms:W3CDTF">2025-07-27T18:35:02Z</dcterms:modified>
</cp:coreProperties>
</file>