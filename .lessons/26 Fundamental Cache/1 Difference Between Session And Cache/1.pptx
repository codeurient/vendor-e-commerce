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4902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İndi izah edəcəyimiz mövzu Laravel-də çox vacib və real tətbiq sahəsinə malikdir: "</a:t>
            </a:r>
            <a:r>
              <a:rPr lang="en-US" sz="1400" b="1">
                <a:solidFill>
                  <a:srgbClr val="FF0000"/>
                </a:solidFill>
              </a:rPr>
              <a:t>Difference Between Session and Cache</a:t>
            </a:r>
            <a:r>
              <a:rPr lang="en-US" sz="1400"/>
              <a:t>«</a:t>
            </a:r>
            <a:endParaRPr lang="az-Latn-AZ" sz="1400"/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Cache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nədir?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Session nədir?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 istifadəçi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müvəqqəti məlumat saxlamaq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olunur.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 yalnız həmin istifadəçiyə aiddir.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Əsasən giriş məlumatları, form ötürmələri, müvəqqəti istifadəçi məlumatları üçün istifadə olunur.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Cache nədir?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Cache, vaxt qazanmaq və performansı artırmaq üçün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məlumatın müvəqqəti saxlanılması üsuludur.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 global-dır, yəni bütün istifadəçilər üçün keçərlidir.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məqsəd: eyni sorğunun nəticəsini bir dəfədən artıq hesablamağa ehtiyac olmasın.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Ətraflı Müqayisə: Laravel Session vs Cache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791112-4E4B-92CB-EABA-B51B9052C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48559"/>
              </p:ext>
            </p:extLst>
          </p:nvPr>
        </p:nvGraphicFramePr>
        <p:xfrm>
          <a:off x="217713" y="904942"/>
          <a:ext cx="11756571" cy="3751897"/>
        </p:xfrm>
        <a:graphic>
          <a:graphicData uri="http://schemas.openxmlformats.org/drawingml/2006/table">
            <a:tbl>
              <a:tblPr/>
              <a:tblGrid>
                <a:gridCol w="2404457">
                  <a:extLst>
                    <a:ext uri="{9D8B030D-6E8A-4147-A177-3AD203B41FA5}">
                      <a16:colId xmlns:a16="http://schemas.microsoft.com/office/drawing/2014/main" val="1961301194"/>
                    </a:ext>
                  </a:extLst>
                </a:gridCol>
                <a:gridCol w="4676057">
                  <a:extLst>
                    <a:ext uri="{9D8B030D-6E8A-4147-A177-3AD203B41FA5}">
                      <a16:colId xmlns:a16="http://schemas.microsoft.com/office/drawing/2014/main" val="1240456796"/>
                    </a:ext>
                  </a:extLst>
                </a:gridCol>
                <a:gridCol w="4676057">
                  <a:extLst>
                    <a:ext uri="{9D8B030D-6E8A-4147-A177-3AD203B41FA5}">
                      <a16:colId xmlns:a16="http://schemas.microsoft.com/office/drawing/2014/main" val="3938903428"/>
                    </a:ext>
                  </a:extLst>
                </a:gridCol>
              </a:tblGrid>
              <a:tr h="278921">
                <a:tc>
                  <a:txBody>
                    <a:bodyPr/>
                    <a:lstStyle/>
                    <a:p>
                      <a:r>
                        <a:rPr lang="en-US" sz="1100" b="1"/>
                        <a:t>Mövzu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Session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Cache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895303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Scope (Əhatə dairəsi)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Hər istifadəçiyə </a:t>
                      </a:r>
                      <a:r>
                        <a:rPr lang="en-US" sz="1100" b="1"/>
                        <a:t>xüsusi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Qlobal</a:t>
                      </a:r>
                      <a:r>
                        <a:rPr lang="en-US" sz="1100"/>
                        <a:t> – bütün istifadəçilər üçün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566178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Məqsəd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İstifadəçi ilə bağlı müvəqqəti məlumatlar (giriş, flash mesaj, istifadəçi ID və s.)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Sistem səviyyəli performans artırmaq, nəticə saxlamaq (məs: SQL sorğular)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04916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Məlumatın Görünüşü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Yalnız istifadəçi özü görə bilər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Hər kəs görə bilər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56916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Saxlanma yeri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Disk, fayl, cookie, database, Redis və s.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Redis, Memcached, fayl, database və s.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385679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Sürət və Performans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Orta – çünki sessiya yazılır və oxunur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Çox sürətli</a:t>
                      </a:r>
                      <a:r>
                        <a:rPr lang="en-US" sz="1100"/>
                        <a:t> – RAM üzərində işləyə bilər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008781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Yaşam müddəti (lifetime)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.env faylındakı SESSION_LIFETIME ilə tənzimlənir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İstənilən vaxt – dəqiqə/saniyə/daimi saxlamaq olar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45338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Laravel Faylları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config/session.php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config/cache.php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10671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n-US" sz="1100" b="1"/>
                        <a:t>Misal Məlumatlar</a:t>
                      </a:r>
                      <a:endParaRPr lang="en-US" sz="11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user_id, is_logged_in, flash_message, CSRF token və s.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popular_posts, all_categories, top_products, API nəticələri və s.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86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2F8D-43FC-E741-50CB-729420EE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8894A5-604E-7EE0-5DC8-D960C6FA9117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ache istifadə olunur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Tez-tez istifadə olunan məlumatlar üçün (bütün kateqoriyalar):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nəticələrini bir neçə dəqiqə yadda saxlamaq: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STORİNG</a:t>
            </a:r>
            <a:r>
              <a:rPr lang="az-Latn-AZ" altLang="en-US" sz="1300">
                <a:latin typeface="Arial" panose="020B0604020202020204" pitchFamily="34" charset="0"/>
              </a:rPr>
              <a:t> haqqında növbəti dərsdə.....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B9BA9-9389-67A8-1C5C-AC5C1B239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316"/>
            <a:ext cx="5601482" cy="96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C16654-EC00-D5EF-B572-E5C18A64C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4814"/>
            <a:ext cx="5934903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82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9782-DD1C-10A9-BAF7-1CF3EDA5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0B671-D1BB-AF15-3C1C-2F25E478DAC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Təhlükəsizlik və Məqsəd Fərqi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68436B-7133-C36B-98D7-689AEC6A3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081624"/>
              </p:ext>
            </p:extLst>
          </p:nvPr>
        </p:nvGraphicFramePr>
        <p:xfrm>
          <a:off x="217712" y="889034"/>
          <a:ext cx="11756570" cy="3070223"/>
        </p:xfrm>
        <a:graphic>
          <a:graphicData uri="http://schemas.openxmlformats.org/drawingml/2006/table">
            <a:tbl>
              <a:tblPr/>
              <a:tblGrid>
                <a:gridCol w="2989334">
                  <a:extLst>
                    <a:ext uri="{9D8B030D-6E8A-4147-A177-3AD203B41FA5}">
                      <a16:colId xmlns:a16="http://schemas.microsoft.com/office/drawing/2014/main" val="2409546842"/>
                    </a:ext>
                  </a:extLst>
                </a:gridCol>
                <a:gridCol w="4383618">
                  <a:extLst>
                    <a:ext uri="{9D8B030D-6E8A-4147-A177-3AD203B41FA5}">
                      <a16:colId xmlns:a16="http://schemas.microsoft.com/office/drawing/2014/main" val="2590963272"/>
                    </a:ext>
                  </a:extLst>
                </a:gridCol>
                <a:gridCol w="4383618">
                  <a:extLst>
                    <a:ext uri="{9D8B030D-6E8A-4147-A177-3AD203B41FA5}">
                      <a16:colId xmlns:a16="http://schemas.microsoft.com/office/drawing/2014/main" val="1433019532"/>
                    </a:ext>
                  </a:extLst>
                </a:gridCol>
              </a:tblGrid>
              <a:tr h="613849"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92975"/>
                  </a:ext>
                </a:extLst>
              </a:tr>
              <a:tr h="768291">
                <a:tc>
                  <a:txBody>
                    <a:bodyPr/>
                    <a:lstStyle/>
                    <a:p>
                      <a:r>
                        <a:rPr lang="en-US" b="1"/>
                        <a:t>Şəxsi Məlumat Saxlamaq</a:t>
                      </a:r>
                      <a:r>
                        <a:rPr lang="az-Latn-AZ" b="1"/>
                        <a:t> (məxfi yox şəxsi)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Uyğun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118514"/>
                  </a:ext>
                </a:extLst>
              </a:tr>
              <a:tr h="613849">
                <a:tc>
                  <a:txBody>
                    <a:bodyPr/>
                    <a:lstStyle/>
                    <a:p>
                      <a:r>
                        <a:rPr lang="en-US" b="1"/>
                        <a:t>Performans üçün saxlama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Tövsiyə olunmur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Ən yaxşı seçimdir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824716"/>
                  </a:ext>
                </a:extLst>
              </a:tr>
              <a:tr h="1074234">
                <a:tc>
                  <a:txBody>
                    <a:bodyPr/>
                    <a:lstStyle/>
                    <a:p>
                      <a:r>
                        <a:rPr lang="en-US" b="1"/>
                        <a:t>Təhlükəsizlik baxımından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Güvənlidir, hər istifadəçi</a:t>
                      </a:r>
                      <a:r>
                        <a:rPr lang="az-Latn-AZ"/>
                        <a:t>nin</a:t>
                      </a:r>
                      <a:r>
                        <a:rPr lang="en-US"/>
                        <a:t> öz sessiyası 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Qlobal olduğuna görə </a:t>
                      </a:r>
                      <a:r>
                        <a:rPr lang="en-US" b="1"/>
                        <a:t>kritik məlumat saxlamaq olmaz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2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66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FA261-4D4E-10EE-638D-F0D4E1DB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D03E7-4F78-0A9A-95D0-02875047201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230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2542</TotalTime>
  <Words>353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334</cp:revision>
  <dcterms:created xsi:type="dcterms:W3CDTF">2025-04-12T11:00:44Z</dcterms:created>
  <dcterms:modified xsi:type="dcterms:W3CDTF">2025-05-27T18:27:41Z</dcterms:modified>
</cp:coreProperties>
</file>