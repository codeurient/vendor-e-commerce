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6" r:id="rId6"/>
    <p:sldId id="405" r:id="rId7"/>
    <p:sldId id="407" r:id="rId8"/>
    <p:sldId id="408" r:id="rId9"/>
    <p:sldId id="409" r:id="rId10"/>
    <p:sldId id="410" r:id="rId11"/>
    <p:sldId id="4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5" y="255046"/>
            <a:ext cx="7898764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dərsi izah etməyə başlamadan əvvəl, </a:t>
            </a:r>
            <a:r>
              <a:rPr lang="az-Latn-AZ" altLang="en-US" sz="1300" b="1" i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-in </a:t>
            </a:r>
            <a:r>
              <a:rPr lang="az-Latn-AZ" altLang="en-US" sz="1300" b="1">
                <a:latin typeface="Arial" panose="020B0604020202020204" pitchFamily="34" charset="0"/>
              </a:rPr>
              <a:t>index() </a:t>
            </a:r>
            <a:r>
              <a:rPr lang="az-Latn-AZ" altLang="en-US" sz="1300">
                <a:latin typeface="Arial" panose="020B0604020202020204" pitchFamily="34" charset="0"/>
              </a:rPr>
              <a:t>metoduna, sorğunu azaltmaq üçün yazdığımız </a:t>
            </a:r>
            <a:r>
              <a:rPr lang="en-US" altLang="en-US" sz="1300" b="1">
                <a:latin typeface="Arial" panose="020B0604020202020204" pitchFamily="34" charset="0"/>
              </a:rPr>
              <a:t>with() </a:t>
            </a:r>
            <a:r>
              <a:rPr lang="az-Latn-AZ" altLang="en-US" sz="1300">
                <a:latin typeface="Arial" panose="020B0604020202020204" pitchFamily="34" charset="0"/>
              </a:rPr>
              <a:t>funksiyasını silirik.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isə, səhifəni yenilədikdə,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-sə birdən çox sorğunun daxil olduğunu görəcəyik ( 6 dənə ).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C1F70-426D-AA61-DF2A-CE123C634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18" y="0"/>
            <a:ext cx="383738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4DFE54-FBF0-DD7A-068C-A9ED5EB7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1095106"/>
            <a:ext cx="4610743" cy="1047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D9EC4-498E-A4DE-B64C-D5D634547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97787"/>
            <a:ext cx="5998517" cy="306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 </a:t>
            </a:r>
            <a:r>
              <a:rPr lang="az-Latn-AZ" altLang="en-US" sz="1300" b="1">
                <a:latin typeface="Arial" panose="020B0604020202020204" pitchFamily="34" charset="0"/>
              </a:rPr>
              <a:t>index() </a:t>
            </a:r>
            <a:r>
              <a:rPr lang="az-Latn-AZ" altLang="en-US" sz="1300">
                <a:latin typeface="Arial" panose="020B0604020202020204" pitchFamily="34" charset="0"/>
              </a:rPr>
              <a:t>meotduna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CACHE</a:t>
            </a:r>
            <a:r>
              <a:rPr lang="az-Latn-AZ" altLang="en-US" sz="1300">
                <a:latin typeface="Arial" panose="020B0604020202020204" pitchFamily="34" charset="0"/>
              </a:rPr>
              <a:t> klasını əlavə edərək, yüklənən </a:t>
            </a:r>
            <a:r>
              <a:rPr lang="az-Latn-AZ" altLang="en-US" sz="1300" b="1">
                <a:latin typeface="Arial" panose="020B0604020202020204" pitchFamily="34" charset="0"/>
              </a:rPr>
              <a:t>postların</a:t>
            </a:r>
            <a:r>
              <a:rPr lang="az-Latn-AZ" altLang="en-US" sz="1300">
                <a:latin typeface="Arial" panose="020B0604020202020204" pitchFamily="34" charset="0"/>
              </a:rPr>
              <a:t> keşlənməsini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təmin edirik. Səhifə </a:t>
            </a:r>
            <a:r>
              <a:rPr lang="az-Latn-AZ" altLang="en-US" sz="1300">
                <a:latin typeface="Arial" panose="020B0604020202020204" pitchFamily="34" charset="0"/>
              </a:rPr>
              <a:t>ilk dəfə yükləndikdə ağır yüklənsədə sonrakı yüklənmələrdə </a:t>
            </a:r>
            <a:r>
              <a:rPr lang="az-Latn-AZ" altLang="en-US" sz="1300" b="1">
                <a:latin typeface="Arial" panose="020B0604020202020204" pitchFamily="34" charset="0"/>
              </a:rPr>
              <a:t>datalar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keşləndiyi üçün sorğu daha sürətli baş verəcək.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Burada sadəcə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postları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keşləmişik,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kateqoriyaları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yox.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913B51-0054-AF4D-C254-B178783F60A1}"/>
              </a:ext>
            </a:extLst>
          </p:cNvPr>
          <p:cNvGrpSpPr/>
          <p:nvPr/>
        </p:nvGrpSpPr>
        <p:grpSpPr>
          <a:xfrm>
            <a:off x="7543150" y="35940"/>
            <a:ext cx="4648850" cy="1779707"/>
            <a:chOff x="7543150" y="35940"/>
            <a:chExt cx="4648850" cy="17797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7375D9C-9C7D-36FB-4EFB-25101D1FC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3150" y="461959"/>
              <a:ext cx="4648850" cy="135368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1330C9-CE4B-93C9-7178-4552BE957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3151" y="35940"/>
              <a:ext cx="4648849" cy="219106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4510ABE-99D9-AD5E-E07C-B36B1A809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61674"/>
            <a:ext cx="7203913" cy="359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Postlarla</a:t>
            </a:r>
            <a:r>
              <a:rPr lang="az-Latn-AZ" altLang="en-US" sz="1300">
                <a:latin typeface="Arial" panose="020B0604020202020204" pitchFamily="34" charset="0"/>
              </a:rPr>
              <a:t> birlikdə </a:t>
            </a:r>
            <a:r>
              <a:rPr lang="az-Latn-AZ" altLang="en-US" sz="1300" b="1">
                <a:latin typeface="Arial" panose="020B0604020202020204" pitchFamily="34" charset="0"/>
              </a:rPr>
              <a:t>kateqoriyalarıda</a:t>
            </a:r>
            <a:r>
              <a:rPr lang="az-Latn-AZ" altLang="en-US" sz="1300">
                <a:latin typeface="Arial" panose="020B0604020202020204" pitchFamily="34" charset="0"/>
              </a:rPr>
              <a:t> keşləmək üçün </a:t>
            </a:r>
            <a:r>
              <a:rPr lang="en-US" altLang="en-US" sz="1300" b="1">
                <a:latin typeface="Arial" panose="020B0604020202020204" pitchFamily="34" charset="0"/>
              </a:rPr>
              <a:t>WITH() </a:t>
            </a:r>
            <a:r>
              <a:rPr lang="en-US" altLang="en-US" sz="1300">
                <a:latin typeface="Arial" panose="020B0604020202020204" pitchFamily="34" charset="0"/>
              </a:rPr>
              <a:t>metodunu </a:t>
            </a:r>
            <a:r>
              <a:rPr lang="az-Latn-AZ" altLang="en-US" sz="1300">
                <a:latin typeface="Arial" panose="020B0604020202020204" pitchFamily="34" charset="0"/>
              </a:rPr>
              <a:t>əlavə edə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EA455-920A-FE2E-317B-46BCE661D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309" y="0"/>
            <a:ext cx="4953691" cy="1276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C8DA17-5393-B5FA-177D-FEAE02151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2987"/>
            <a:ext cx="12192000" cy="530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FC61B-A369-1401-167E-92684EEE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0D4BF1-EB67-45D0-2C54-214985C58D65}"/>
              </a:ext>
            </a:extLst>
          </p:cNvPr>
          <p:cNvSpPr txBox="1"/>
          <p:nvPr/>
        </p:nvSpPr>
        <p:spPr>
          <a:xfrm>
            <a:off x="217714" y="255046"/>
            <a:ext cx="8370105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Datalar keşləndikdə sağ şəkildə görüldüyü kimi </a:t>
            </a:r>
            <a:r>
              <a:rPr lang="az-Latn-AZ" altLang="en-US" sz="1300" b="1">
                <a:latin typeface="Arial" panose="020B0604020202020204" pitchFamily="34" charset="0"/>
              </a:rPr>
              <a:t>CACHE</a:t>
            </a:r>
            <a:r>
              <a:rPr lang="az-Latn-AZ" altLang="en-US" sz="1300">
                <a:latin typeface="Arial" panose="020B0604020202020204" pitchFamily="34" charset="0"/>
              </a:rPr>
              <a:t> adında bir qovluq yaradılır. O qədərdə vacib deyil, sadəcə bilin deyə qeyd etdim bunu. Bu qovluğu silib yükü azalda bilərik sadəcə.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4A1DA-DC2F-2AFD-0B07-E45C1A34C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942" y="0"/>
            <a:ext cx="3458058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73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6D43-7E63-4047-01D7-F77906A3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E5B51-7753-F0EC-8AB8-CDD0C5267D37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Addım-addım nə baş verir?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Cache::remember('posts', 60*60, function(){ ... }):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– bu cache üçün istifadə olunan açar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)-dır.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60*60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bu məlumat 3600 saniyə = 1 saat yadda saxlanılacaq.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function(){ ... }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əgər cache-də posts açarı ilə məlumat tapılmasa, bu funksiya işə salınacaq və nəticə cache-də saxlanılacaq.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BAA64-2F46-0CB0-95E4-2BC3F9B35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413" y="0"/>
            <a:ext cx="5639587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0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297F-7B4E-B023-C2AD-AFF83878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D6A886-EB1E-530B-552D-7BECE1633CC6}"/>
              </a:ext>
            </a:extLst>
          </p:cNvPr>
          <p:cNvSpPr txBox="1"/>
          <p:nvPr/>
        </p:nvSpPr>
        <p:spPr>
          <a:xfrm>
            <a:off x="217714" y="255046"/>
            <a:ext cx="11726047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cache yaddaşını müxtəlif yerlərdə saxlaya bilir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(default) → storage/framework/cache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memcached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.env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tənzimlənir: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Nəticə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  <a:r>
              <a:rPr lang="az-Latn-AZ" altLang="en-US" sz="1300" b="1">
                <a:latin typeface="Arial" panose="020B0604020202020204" pitchFamily="34" charset="0"/>
              </a:rPr>
              <a:t>Cache::remember() </a:t>
            </a:r>
            <a:r>
              <a:rPr lang="az-Latn-AZ" altLang="en-US" sz="1300">
                <a:latin typeface="Arial" panose="020B0604020202020204" pitchFamily="34" charset="0"/>
              </a:rPr>
              <a:t>Laravel-də məlumatı cache-də təkrar sorğu etmədən saxlamaq üçün ən praktik və performanslı üsuldur.</a:t>
            </a: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Cache açarı unikal olmalıdır (məs: posts, user_35_products)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Müddət saniyə ilə verilir.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Funksiya yalnız ilk dəfə çalışır, sonra nəticə istifadə olunur.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9377E1-124D-28E6-8A5D-F595693C2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6292"/>
            <a:ext cx="2076740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5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B0F5-52C4-9074-DA79-845D2CA4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CCB02-846D-332B-5000-9CE8F687073B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Cache::put()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Əl ilə məlumat saxlamaq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 forması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 məqsədi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Məlumatı əl ilə cache-ə yazırsan.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Məlumatın olub-olmamasına nəzarət etmirsən.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 yoxdur – sən özün əvvəl məlumatı hazırlayırsan, sonra cache-ə yazırsan.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Misal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4EE9A-E3FF-2D39-A81F-A336E0A79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209"/>
            <a:ext cx="4848902" cy="514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39A1FB-B782-F50E-9EA1-90C20463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15080"/>
            <a:ext cx="4782217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17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9696-4CCD-9767-F1BE-9EB69E77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D28ECC-3584-769E-8DC8-22C63660CD34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Cache::remember()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Ağıllı və təhlükəsiz yadda saxlamaq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 forması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 məqsədi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əvvəlcə yoxlayır: cache-də key varmı?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varsa → birbaşa onu qaytarır.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yoxdursa → function()-ı işə salır, nəticəni qaytarır və həm də cache-ə yazır.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2CCF7-0891-5D38-848B-F1C1BDC3D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0627"/>
            <a:ext cx="3496163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1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4643-E1BB-2BC4-21E9-130B0EC9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AFB1EB-B69F-432C-735D-27A2D913229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Müqayisə Cədvəli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D55159-3F5A-10D7-00FD-4C76A2144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036837"/>
              </p:ext>
            </p:extLst>
          </p:nvPr>
        </p:nvGraphicFramePr>
        <p:xfrm>
          <a:off x="217714" y="805136"/>
          <a:ext cx="11756571" cy="3644316"/>
        </p:xfrm>
        <a:graphic>
          <a:graphicData uri="http://schemas.openxmlformats.org/drawingml/2006/table">
            <a:tbl>
              <a:tblPr/>
              <a:tblGrid>
                <a:gridCol w="3918857">
                  <a:extLst>
                    <a:ext uri="{9D8B030D-6E8A-4147-A177-3AD203B41FA5}">
                      <a16:colId xmlns:a16="http://schemas.microsoft.com/office/drawing/2014/main" val="583751998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3506220658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335611518"/>
                    </a:ext>
                  </a:extLst>
                </a:gridCol>
              </a:tblGrid>
              <a:tr h="607386">
                <a:tc>
                  <a:txBody>
                    <a:bodyPr/>
                    <a:lstStyle/>
                    <a:p>
                      <a:r>
                        <a:rPr lang="en-US" sz="1400" b="1"/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Cache::put()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Cache::remember()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297306"/>
                  </a:ext>
                </a:extLst>
              </a:tr>
              <a:tr h="607386">
                <a:tc>
                  <a:txBody>
                    <a:bodyPr/>
                    <a:lstStyle/>
                    <a:p>
                      <a:r>
                        <a:rPr lang="en-US" sz="1400"/>
                        <a:t>Cache-də varsa yoxlayır?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Yox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897896"/>
                  </a:ext>
                </a:extLst>
              </a:tr>
              <a:tr h="607386">
                <a:tc>
                  <a:txBody>
                    <a:bodyPr/>
                    <a:lstStyle/>
                    <a:p>
                      <a:r>
                        <a:rPr lang="en-US" sz="1400"/>
                        <a:t>Yeni məlumatı yaratmaq üçün function() işlənir?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Yox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163829"/>
                  </a:ext>
                </a:extLst>
              </a:tr>
              <a:tr h="607386">
                <a:tc>
                  <a:txBody>
                    <a:bodyPr/>
                    <a:lstStyle/>
                    <a:p>
                      <a:r>
                        <a:rPr lang="en-US" sz="1400"/>
                        <a:t>Lazımsız məlumat yenidən yazıla bilər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Qismən – əvvəlcə yoxlayır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508841"/>
                  </a:ext>
                </a:extLst>
              </a:tr>
              <a:tr h="607386">
                <a:tc>
                  <a:txBody>
                    <a:bodyPr/>
                    <a:lstStyle/>
                    <a:p>
                      <a:r>
                        <a:rPr lang="en-US" sz="1400"/>
                        <a:t>Qısa yol funksiyası?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Yox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336069"/>
                  </a:ext>
                </a:extLst>
              </a:tr>
              <a:tr h="607386">
                <a:tc>
                  <a:txBody>
                    <a:bodyPr/>
                    <a:lstStyle/>
                    <a:p>
                      <a:r>
                        <a:rPr lang="en-US" sz="1400"/>
                        <a:t>Əsas məqsəd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Cache-ə </a:t>
                      </a:r>
                      <a:r>
                        <a:rPr lang="en-US" sz="1400" b="1"/>
                        <a:t>özün</a:t>
                      </a:r>
                      <a:r>
                        <a:rPr lang="en-US" sz="1400"/>
                        <a:t> məlumat yazırsan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Əgər cache-də yoxdursa, </a:t>
                      </a:r>
                      <a:r>
                        <a:rPr lang="en-US" sz="1400" b="1"/>
                        <a:t>avtomatik yazılır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655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43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A43D-EDCD-4411-450E-A7F0958F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BC6464-9189-31DF-D535-55CD129E7E0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4689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6052-04F0-3C70-4914-F5A7DD99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E4DA9D-41F8-F0F5-D034-8F3F094AEDF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73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431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360</cp:revision>
  <dcterms:created xsi:type="dcterms:W3CDTF">2025-04-12T11:00:44Z</dcterms:created>
  <dcterms:modified xsi:type="dcterms:W3CDTF">2025-05-27T20:14:48Z</dcterms:modified>
</cp:coreProperties>
</file>