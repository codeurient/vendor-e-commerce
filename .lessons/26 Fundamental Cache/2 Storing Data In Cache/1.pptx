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02" r:id="rId2"/>
    <p:sldId id="403" r:id="rId3"/>
    <p:sldId id="400" r:id="rId4"/>
    <p:sldId id="404" r:id="rId5"/>
    <p:sldId id="406" r:id="rId6"/>
    <p:sldId id="405" r:id="rId7"/>
    <p:sldId id="407" r:id="rId8"/>
    <p:sldId id="408" r:id="rId9"/>
    <p:sldId id="409" r:id="rId10"/>
    <p:sldId id="410" r:id="rId11"/>
    <p:sldId id="411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04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5/29/2025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1AB92-A397-BC65-20DF-C145E2744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21A0AE-1D66-0150-514C-CE1A6B8F7766}"/>
              </a:ext>
            </a:extLst>
          </p:cNvPr>
          <p:cNvSpPr txBox="1"/>
          <p:nvPr/>
        </p:nvSpPr>
        <p:spPr>
          <a:xfrm>
            <a:off x="217715" y="255046"/>
            <a:ext cx="7898764" cy="3356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dərsi izah etməyə başlamadan əvvəl, </a:t>
            </a:r>
            <a:r>
              <a:rPr lang="az-Latn-AZ" altLang="en-US" sz="1300" b="1" i="1">
                <a:latin typeface="Arial" panose="020B0604020202020204" pitchFamily="34" charset="0"/>
              </a:rPr>
              <a:t>PostController</a:t>
            </a:r>
            <a:r>
              <a:rPr lang="az-Latn-AZ" altLang="en-US" sz="1300">
                <a:latin typeface="Arial" panose="020B0604020202020204" pitchFamily="34" charset="0"/>
              </a:rPr>
              <a:t> -in </a:t>
            </a:r>
            <a:r>
              <a:rPr lang="az-Latn-AZ" altLang="en-US" sz="1300" b="1">
                <a:latin typeface="Arial" panose="020B0604020202020204" pitchFamily="34" charset="0"/>
              </a:rPr>
              <a:t>index() </a:t>
            </a:r>
            <a:r>
              <a:rPr lang="az-Latn-AZ" altLang="en-US" sz="1300">
                <a:latin typeface="Arial" panose="020B0604020202020204" pitchFamily="34" charset="0"/>
              </a:rPr>
              <a:t>metoduna, sorğunu azaltmaq üçün yazdığımız </a:t>
            </a:r>
            <a:r>
              <a:rPr lang="en-US" altLang="en-US" sz="1300" b="1">
                <a:latin typeface="Arial" panose="020B0604020202020204" pitchFamily="34" charset="0"/>
              </a:rPr>
              <a:t>with() </a:t>
            </a:r>
            <a:r>
              <a:rPr lang="az-Latn-AZ" altLang="en-US" sz="1300">
                <a:latin typeface="Arial" panose="020B0604020202020204" pitchFamily="34" charset="0"/>
              </a:rPr>
              <a:t>funksiyasını silirik.</a:t>
            </a: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Sonra isə, səhifəni yenilədikdə, </a:t>
            </a:r>
            <a:r>
              <a:rPr lang="az-Latn-AZ" altLang="en-US" sz="1300" b="1">
                <a:latin typeface="Arial" panose="020B0604020202020204" pitchFamily="34" charset="0"/>
              </a:rPr>
              <a:t>DB</a:t>
            </a:r>
            <a:r>
              <a:rPr lang="az-Latn-AZ" altLang="en-US" sz="1300">
                <a:latin typeface="Arial" panose="020B0604020202020204" pitchFamily="34" charset="0"/>
              </a:rPr>
              <a:t> -sə birdən çox sorğunun daxil olduğunu görəcəyik ( 6 dənə ). </a:t>
            </a:r>
            <a:endParaRPr lang="en-US" altLang="en-US" sz="130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0C1F70-426D-AA61-DF2A-CE123C6348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4618" y="0"/>
            <a:ext cx="3837382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4DFE54-FBF0-DD7A-068C-A9ED5EB7A1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715" y="1095106"/>
            <a:ext cx="4610743" cy="104789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5BD9EC4-498E-A4DE-B64C-D5D634547E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797787"/>
            <a:ext cx="5998517" cy="3060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6113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3FCC-E5C4-2350-20C6-89DF22D1F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1782941-0DB4-B0DA-A36A-31CA5EC69992}"/>
              </a:ext>
            </a:extLst>
          </p:cNvPr>
          <p:cNvSpPr txBox="1"/>
          <p:nvPr/>
        </p:nvSpPr>
        <p:spPr>
          <a:xfrm>
            <a:off x="217714" y="255046"/>
            <a:ext cx="11756571" cy="15556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İndi isə </a:t>
            </a:r>
            <a:r>
              <a:rPr lang="az-Latn-AZ" altLang="en-US" sz="1300" b="1">
                <a:latin typeface="Arial" panose="020B0604020202020204" pitchFamily="34" charset="0"/>
              </a:rPr>
              <a:t>index() </a:t>
            </a:r>
            <a:r>
              <a:rPr lang="az-Latn-AZ" altLang="en-US" sz="1300">
                <a:latin typeface="Arial" panose="020B0604020202020204" pitchFamily="34" charset="0"/>
              </a:rPr>
              <a:t>meotduna </a:t>
            </a:r>
            <a:r>
              <a:rPr lang="az-Latn-AZ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CACHE</a:t>
            </a:r>
            <a:r>
              <a:rPr lang="az-Latn-AZ" altLang="en-US" sz="1300">
                <a:latin typeface="Arial" panose="020B0604020202020204" pitchFamily="34" charset="0"/>
              </a:rPr>
              <a:t> klasını əlavə edərək, yüklənən </a:t>
            </a:r>
            <a:r>
              <a:rPr lang="az-Latn-AZ" altLang="en-US" sz="1300" b="1">
                <a:latin typeface="Arial" panose="020B0604020202020204" pitchFamily="34" charset="0"/>
              </a:rPr>
              <a:t>postların</a:t>
            </a:r>
            <a:r>
              <a:rPr lang="az-Latn-AZ" altLang="en-US" sz="1300">
                <a:latin typeface="Arial" panose="020B0604020202020204" pitchFamily="34" charset="0"/>
              </a:rPr>
              <a:t> keşlənməsini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təmin edirik. Səhifə </a:t>
            </a:r>
            <a:r>
              <a:rPr lang="az-Latn-AZ" altLang="en-US" sz="1300">
                <a:latin typeface="Arial" panose="020B0604020202020204" pitchFamily="34" charset="0"/>
              </a:rPr>
              <a:t>ilk dəfə yükləndikdə ağır yüklənsədə sonrakı yüklənmələrdə </a:t>
            </a:r>
            <a:r>
              <a:rPr lang="az-Latn-AZ" altLang="en-US" sz="1300" b="1">
                <a:latin typeface="Arial" panose="020B0604020202020204" pitchFamily="34" charset="0"/>
              </a:rPr>
              <a:t>datalar</a:t>
            </a: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keşləndiyi üçün sorğu daha sürətli baş verəcək.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accent2"/>
                </a:solidFill>
                <a:effectLst/>
                <a:latin typeface="Arial" panose="020B0604020202020204" pitchFamily="34" charset="0"/>
              </a:rPr>
              <a:t>NOT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Burada sadəcə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postları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keşləmişik,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kateqoriyaları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yox.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B913B51-0054-AF4D-C254-B178783F60A1}"/>
              </a:ext>
            </a:extLst>
          </p:cNvPr>
          <p:cNvGrpSpPr/>
          <p:nvPr/>
        </p:nvGrpSpPr>
        <p:grpSpPr>
          <a:xfrm>
            <a:off x="7543150" y="35940"/>
            <a:ext cx="4648850" cy="1779707"/>
            <a:chOff x="7543150" y="35940"/>
            <a:chExt cx="4648850" cy="17797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7375D9C-9C7D-36FB-4EFB-25101D1FC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43150" y="461959"/>
              <a:ext cx="4648850" cy="1353688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B1330C9-CE4B-93C9-7178-4552BE957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43151" y="35940"/>
              <a:ext cx="4648849" cy="219106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24510ABE-99D9-AD5E-E07C-B36B1A809B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261674"/>
            <a:ext cx="7203913" cy="3596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07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5" y="255046"/>
            <a:ext cx="6880670" cy="5756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Postlarla</a:t>
            </a:r>
            <a:r>
              <a:rPr lang="az-Latn-AZ" altLang="en-US" sz="1300">
                <a:latin typeface="Arial" panose="020B0604020202020204" pitchFamily="34" charset="0"/>
              </a:rPr>
              <a:t> birlikdə </a:t>
            </a:r>
            <a:r>
              <a:rPr lang="az-Latn-AZ" altLang="en-US" sz="1300" b="1">
                <a:latin typeface="Arial" panose="020B0604020202020204" pitchFamily="34" charset="0"/>
              </a:rPr>
              <a:t>kateqoriyalarıda</a:t>
            </a:r>
            <a:r>
              <a:rPr lang="az-Latn-AZ" altLang="en-US" sz="1300">
                <a:latin typeface="Arial" panose="020B0604020202020204" pitchFamily="34" charset="0"/>
              </a:rPr>
              <a:t> keşləmək üçün </a:t>
            </a:r>
            <a:r>
              <a:rPr lang="en-US" altLang="en-US" sz="1300" b="1">
                <a:latin typeface="Arial" panose="020B0604020202020204" pitchFamily="34" charset="0"/>
              </a:rPr>
              <a:t>WITH() </a:t>
            </a:r>
            <a:r>
              <a:rPr lang="en-US" altLang="en-US" sz="1300">
                <a:latin typeface="Arial" panose="020B0604020202020204" pitchFamily="34" charset="0"/>
              </a:rPr>
              <a:t>metodunu </a:t>
            </a:r>
            <a:r>
              <a:rPr lang="az-Latn-AZ" altLang="en-US" sz="1300">
                <a:latin typeface="Arial" panose="020B0604020202020204" pitchFamily="34" charset="0"/>
              </a:rPr>
              <a:t>əlavə edə bilərik.</a:t>
            </a: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VACIB QEYD</a:t>
            </a:r>
            <a:r>
              <a:rPr lang="en-US" altLang="en-US" sz="1300">
                <a:latin typeface="Arial" panose="020B0604020202020204" pitchFamily="34" charset="0"/>
              </a:rPr>
              <a:t>: hal </a:t>
            </a:r>
            <a:r>
              <a:rPr lang="az-Latn-AZ" altLang="en-US" sz="1300">
                <a:latin typeface="Arial" panose="020B0604020202020204" pitchFamily="34" charset="0"/>
              </a:rPr>
              <a:t>hazırda pagination işləmir ( sağ şəkil ).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66EA455-920A-FE2E-317B-46BCE661D8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8309" y="0"/>
            <a:ext cx="4953691" cy="1276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7C8DA17-5393-B5FA-177D-FEAE02151D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5194"/>
          <a:stretch/>
        </p:blipFill>
        <p:spPr>
          <a:xfrm>
            <a:off x="0" y="846122"/>
            <a:ext cx="6880670" cy="353033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3BC6189-A8FD-29A7-20FB-3BF033C70B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7852" y="3685880"/>
            <a:ext cx="3904148" cy="3172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FC61B-A369-1401-167E-92684EEEE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0D4BF1-EB67-45D0-2C54-214985C58D65}"/>
              </a:ext>
            </a:extLst>
          </p:cNvPr>
          <p:cNvSpPr txBox="1"/>
          <p:nvPr/>
        </p:nvSpPr>
        <p:spPr>
          <a:xfrm>
            <a:off x="217714" y="255046"/>
            <a:ext cx="8370105" cy="65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Datalar keşləndikdə sağ şəkildə görüldüyü kimi </a:t>
            </a:r>
            <a:r>
              <a:rPr lang="az-Latn-AZ" altLang="en-US" sz="1300" b="1">
                <a:latin typeface="Arial" panose="020B0604020202020204" pitchFamily="34" charset="0"/>
              </a:rPr>
              <a:t>CACHE</a:t>
            </a:r>
            <a:r>
              <a:rPr lang="az-Latn-AZ" altLang="en-US" sz="1300">
                <a:latin typeface="Arial" panose="020B0604020202020204" pitchFamily="34" charset="0"/>
              </a:rPr>
              <a:t> adında bir qovluq yaradılır. O qədərdə vacib deyil, sadəcə bilin deyə qeyd etdim bunu. Bu qovluğu silib yükü azalda bilərik sadəcə.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094A1DA-DC2F-2AFD-0B07-E45C1A34C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3942" y="0"/>
            <a:ext cx="3458058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673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6D43-7E63-4047-01D7-F77906A36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0E5B51-7753-F0EC-8AB8-CDD0C5267D37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Addım-addım nə baş verir?</a:t>
            </a:r>
            <a:endParaRPr kumimoji="0" lang="az-Latn-AZ" altLang="en-US" sz="13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Cache::remember('posts', 60*60, function(){ ... }):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posts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" – bu cache üçün istifadə olunan açar (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)-dır.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60*60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bu məlumat 3600 saniyə = 1 saat yadda saxlanılacaq.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function(){ ... }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əgər cache-də posts açarı ilə məlumat tapılmasa, bu funksiya işə salınacaq və nəticə cache-də saxlanılacaq.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az-Latn-AZ" altLang="en-US" sz="1300"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BAA64-2F46-0CB0-95E4-2BC3F9B35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2413" y="0"/>
            <a:ext cx="5639587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706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D297F-7B4E-B023-C2AD-AFF83878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D6A886-EB1E-530B-552D-7BECE1633CC6}"/>
              </a:ext>
            </a:extLst>
          </p:cNvPr>
          <p:cNvSpPr txBox="1"/>
          <p:nvPr/>
        </p:nvSpPr>
        <p:spPr>
          <a:xfrm>
            <a:off x="217714" y="255046"/>
            <a:ext cx="11726047" cy="6056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 cache yaddaşını müxtəlif yerlərdə saxlaya bilir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file (default) → storage/framework/cache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redis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memcached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database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array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az-Latn-AZ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 </a:t>
            </a: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.env</a:t>
            </a:r>
            <a:r>
              <a:rPr kumimoji="0" lang="en-US" altLang="en-US" sz="130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faylı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tənzimlənir: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az-Latn-AZ" altLang="en-US" sz="1300" b="1">
                <a:latin typeface="Arial" panose="020B0604020202020204" pitchFamily="34" charset="0"/>
              </a:rPr>
              <a:t>Nəticə</a:t>
            </a:r>
            <a:r>
              <a:rPr lang="az-Latn-AZ" altLang="en-US" sz="1300">
                <a:latin typeface="Arial" panose="020B0604020202020204" pitchFamily="34" charset="0"/>
              </a:rPr>
              <a:t>: </a:t>
            </a:r>
            <a:r>
              <a:rPr lang="az-Latn-AZ" altLang="en-US" sz="1300" b="1">
                <a:latin typeface="Arial" panose="020B0604020202020204" pitchFamily="34" charset="0"/>
              </a:rPr>
              <a:t>Cache::remember() </a:t>
            </a:r>
            <a:r>
              <a:rPr lang="az-Latn-AZ" altLang="en-US" sz="1300">
                <a:latin typeface="Arial" panose="020B0604020202020204" pitchFamily="34" charset="0"/>
              </a:rPr>
              <a:t>Laravel-də məlumatı cache-də təkrar sorğu etmədən saxlamaq üçün ən praktik və performanslı üsuldur.</a:t>
            </a:r>
          </a:p>
          <a:p>
            <a:pPr>
              <a:lnSpc>
                <a:spcPct val="150000"/>
              </a:lnSpc>
            </a:pPr>
            <a:endParaRPr lang="az-Latn-AZ" altLang="en-US" sz="1300">
              <a:latin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</a:rPr>
              <a:t>Cache açarı unikal olmalıdır (məs: posts, user_35_products)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</a:rPr>
              <a:t>Müddət saniyə ilə verilir.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altLang="en-US" sz="1300">
                <a:latin typeface="Arial" panose="020B0604020202020204" pitchFamily="34" charset="0"/>
              </a:rPr>
              <a:t>Funksiya yalnız ilk dəfə çalışır, sonra nəticə istifadə olunur.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9377E1-124D-28E6-8A5D-F595693C2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26292"/>
            <a:ext cx="2076740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757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8B0F5-52C4-9074-DA79-845D2CA4A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AFCCB02-846D-332B-5000-9CE8F687073B}"/>
              </a:ext>
            </a:extLst>
          </p:cNvPr>
          <p:cNvSpPr txBox="1"/>
          <p:nvPr/>
        </p:nvSpPr>
        <p:spPr>
          <a:xfrm>
            <a:off x="217714" y="255046"/>
            <a:ext cx="11756571" cy="3956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Cache::put()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Əl ilə məlumat saxlamaq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İstifadə forması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İstifadə məqsədi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Məlumatı əl ilə cache-ə yazırsan.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Məlumatın olub-olmamasına nəzarət etmirsən.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Funksiya yoxdur – sən özün əvvəl məlumatı hazırlayırsan, sonra cache-ə yazırsan.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Misal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84EE9A-E3FF-2D39-A81F-A336E0A79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8209"/>
            <a:ext cx="4848902" cy="5144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139A1FB-B782-F50E-9EA1-90C2046326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15080"/>
            <a:ext cx="4782217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517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09696-4CCD-9767-F1BE-9EB69E770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FD28ECC-3584-769E-8DC8-22C63660CD34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Cache::remember() 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– Ağıllı və təhlükəsiz yadda saxlamaq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r>
              <a:rPr kumimoji="0" lang="az-Latn-AZ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İstifadə forması</a:t>
            </a: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İstifadə məqsədi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Laravel əvvəlcə yoxlayır: cache-də key varmı?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varsa → birbaşa onu qaytarır.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Əgər yoxdursa → function()-ı işə salır, nəticəni qaytarır və həm də cache-ə yazır.</a:t>
            </a: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2CCF7-0891-5D38-848B-F1C1BDC3D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70627"/>
            <a:ext cx="3496163" cy="905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9817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C4643-E1BB-2BC4-21E9-130B0EC9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AFB1EB-B69F-432C-735D-27A2D9132298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Müqayisə Cədvəli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D55159-3F5A-10D7-00FD-4C76A2144D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1036837"/>
              </p:ext>
            </p:extLst>
          </p:nvPr>
        </p:nvGraphicFramePr>
        <p:xfrm>
          <a:off x="217714" y="805136"/>
          <a:ext cx="11756571" cy="3644316"/>
        </p:xfrm>
        <a:graphic>
          <a:graphicData uri="http://schemas.openxmlformats.org/drawingml/2006/table">
            <a:tbl>
              <a:tblPr/>
              <a:tblGrid>
                <a:gridCol w="3918857">
                  <a:extLst>
                    <a:ext uri="{9D8B030D-6E8A-4147-A177-3AD203B41FA5}">
                      <a16:colId xmlns:a16="http://schemas.microsoft.com/office/drawing/2014/main" val="583751998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3506220658"/>
                    </a:ext>
                  </a:extLst>
                </a:gridCol>
                <a:gridCol w="3918857">
                  <a:extLst>
                    <a:ext uri="{9D8B030D-6E8A-4147-A177-3AD203B41FA5}">
                      <a16:colId xmlns:a16="http://schemas.microsoft.com/office/drawing/2014/main" val="335611518"/>
                    </a:ext>
                  </a:extLst>
                </a:gridCol>
              </a:tblGrid>
              <a:tr h="607386">
                <a:tc>
                  <a:txBody>
                    <a:bodyPr/>
                    <a:lstStyle/>
                    <a:p>
                      <a:r>
                        <a:rPr lang="en-US" sz="1400" b="1"/>
                        <a:t>Xüsusiyyət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Cache::put()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>Cache::remember()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4297306"/>
                  </a:ext>
                </a:extLst>
              </a:tr>
              <a:tr h="607386">
                <a:tc>
                  <a:txBody>
                    <a:bodyPr/>
                    <a:lstStyle/>
                    <a:p>
                      <a:r>
                        <a:rPr lang="en-US" sz="1400"/>
                        <a:t>Cache-də varsa yoxlayır?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❌ Yox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✅ Bəli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1897896"/>
                  </a:ext>
                </a:extLst>
              </a:tr>
              <a:tr h="607386">
                <a:tc>
                  <a:txBody>
                    <a:bodyPr/>
                    <a:lstStyle/>
                    <a:p>
                      <a:r>
                        <a:rPr lang="en-US" sz="1400"/>
                        <a:t>Yeni məlumatı yaratmaq üçün function() işlənir?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❌ Yox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✅ Bəli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163829"/>
                  </a:ext>
                </a:extLst>
              </a:tr>
              <a:tr h="607386">
                <a:tc>
                  <a:txBody>
                    <a:bodyPr/>
                    <a:lstStyle/>
                    <a:p>
                      <a:r>
                        <a:rPr lang="en-US" sz="1400"/>
                        <a:t>Lazımsız məlumat yenidən yazıla bilər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✅ Bəli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❌ Qismən – əvvəlcə yoxlayır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8508841"/>
                  </a:ext>
                </a:extLst>
              </a:tr>
              <a:tr h="607386">
                <a:tc>
                  <a:txBody>
                    <a:bodyPr/>
                    <a:lstStyle/>
                    <a:p>
                      <a:r>
                        <a:rPr lang="en-US" sz="1400"/>
                        <a:t>Qısa yol funksiyası?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❌ Yox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✅ Bəli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2336069"/>
                  </a:ext>
                </a:extLst>
              </a:tr>
              <a:tr h="607386">
                <a:tc>
                  <a:txBody>
                    <a:bodyPr/>
                    <a:lstStyle/>
                    <a:p>
                      <a:r>
                        <a:rPr lang="en-US" sz="1400"/>
                        <a:t>Əsas məqsəd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Cache-ə </a:t>
                      </a:r>
                      <a:r>
                        <a:rPr lang="en-US" sz="1400" b="1"/>
                        <a:t>özün</a:t>
                      </a:r>
                      <a:r>
                        <a:rPr lang="en-US" sz="1400"/>
                        <a:t> məlumat yazırsan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>Əgər cache-də yoxdursa, </a:t>
                      </a:r>
                      <a:r>
                        <a:rPr lang="en-US" sz="1400" b="1"/>
                        <a:t>avtomatik yazılır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16557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14397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4A43D-EDCD-4411-450E-A7F0958FE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BC6464-9189-31DF-D535-55CD129E7E0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546890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6052-04F0-3C70-4914-F5A7DD99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E4DA9D-41F8-F0F5-D034-8F3F094AEDF0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40738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2519</TotalTime>
  <Words>442</Words>
  <Application>Microsoft Office PowerPoint</Application>
  <PresentationFormat>Widescreen</PresentationFormat>
  <Paragraphs>109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361</cp:revision>
  <dcterms:created xsi:type="dcterms:W3CDTF">2025-04-12T11:00:44Z</dcterms:created>
  <dcterms:modified xsi:type="dcterms:W3CDTF">2025-05-29T06:12:35Z</dcterms:modified>
</cp:coreProperties>
</file>