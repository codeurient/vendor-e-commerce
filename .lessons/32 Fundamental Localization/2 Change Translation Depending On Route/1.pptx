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16" r:id="rId7"/>
    <p:sldId id="407" r:id="rId8"/>
    <p:sldId id="408" r:id="rId9"/>
    <p:sldId id="400" r:id="rId10"/>
    <p:sldId id="409" r:id="rId11"/>
    <p:sldId id="410" r:id="rId12"/>
    <p:sldId id="412" r:id="rId13"/>
    <p:sldId id="413" r:id="rId14"/>
    <p:sldId id="414" r:id="rId15"/>
    <p:sldId id="411" r:id="rId16"/>
    <p:sldId id="415" r:id="rId17"/>
    <p:sldId id="417" r:id="rId18"/>
    <p:sldId id="418" r:id="rId19"/>
    <p:sldId id="419" r:id="rId20"/>
    <p:sldId id="423" r:id="rId21"/>
    <p:sldId id="424" r:id="rId22"/>
    <p:sldId id="425" r:id="rId23"/>
    <p:sldId id="426" r:id="rId24"/>
    <p:sldId id="420" r:id="rId25"/>
    <p:sldId id="421" r:id="rId26"/>
    <p:sldId id="427" r:id="rId27"/>
    <p:sldId id="428" r:id="rId28"/>
    <p:sldId id="42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6056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İstifadəçi dilini</a:t>
            </a:r>
            <a:r>
              <a:rPr lang="az-Latn-AZ" altLang="en-US" sz="1300">
                <a:latin typeface="Arial" panose="020B0604020202020204" pitchFamily="34" charset="0"/>
              </a:rPr>
              <a:t> dinamik olaraq</a:t>
            </a:r>
            <a:r>
              <a:rPr lang="en-US" altLang="en-US" sz="1300">
                <a:latin typeface="Arial" panose="020B0604020202020204" pitchFamily="34" charset="0"/>
              </a:rPr>
              <a:t> necə dəyişmək olar?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App::setLocale($locale);</a:t>
            </a:r>
            <a:r>
              <a:rPr lang="az-Latn-AZ" altLang="en-US" sz="1300">
                <a:latin typeface="Arial" panose="020B0604020202020204" pitchFamily="34" charset="0"/>
              </a:rPr>
              <a:t>` istifadə edilir. Burada əsas istifadə edilən kodlar aşağıdakı kimi olmalıdır.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Fərqli dillər seçmək üçün URL </a:t>
            </a:r>
            <a:r>
              <a:rPr lang="az-Latn-AZ" altLang="en-US" sz="1300">
                <a:latin typeface="Arial" panose="020B0604020202020204" pitchFamily="34" charset="0"/>
              </a:rPr>
              <a:t>-nin </a:t>
            </a:r>
            <a:r>
              <a:rPr lang="en-US" altLang="en-US" sz="1300">
                <a:latin typeface="Arial" panose="020B0604020202020204" pitchFamily="34" charset="0"/>
              </a:rPr>
              <a:t>{locale} </a:t>
            </a:r>
            <a:r>
              <a:rPr lang="az-Latn-AZ" altLang="en-US" sz="1300">
                <a:latin typeface="Arial" panose="020B0604020202020204" pitchFamily="34" charset="0"/>
              </a:rPr>
              <a:t>parametri ilə fərqli dəyərlər göndəririk. Əgər göndərilən dəyər </a:t>
            </a:r>
            <a:r>
              <a:rPr lang="az-Latn-AZ" altLang="en-US" sz="1300" b="1">
                <a:latin typeface="Arial" panose="020B0604020202020204" pitchFamily="34" charset="0"/>
              </a:rPr>
              <a:t>EN</a:t>
            </a:r>
            <a:r>
              <a:rPr lang="az-Latn-AZ" altLang="en-US" sz="1300">
                <a:latin typeface="Arial" panose="020B0604020202020204" pitchFamily="34" charset="0"/>
              </a:rPr>
              <a:t> olarsa saytın dili </a:t>
            </a:r>
            <a:r>
              <a:rPr lang="az-Latn-AZ" altLang="en-US" sz="1300" b="1">
                <a:latin typeface="Arial" panose="020B0604020202020204" pitchFamily="34" charset="0"/>
              </a:rPr>
              <a:t>İngilis</a:t>
            </a:r>
            <a:r>
              <a:rPr lang="az-Latn-AZ" altLang="en-US" sz="1300">
                <a:latin typeface="Arial" panose="020B0604020202020204" pitchFamily="34" charset="0"/>
              </a:rPr>
              <a:t> dilində olacaq. Əgər </a:t>
            </a:r>
            <a:r>
              <a:rPr lang="az-Latn-AZ" altLang="en-US" sz="1300" b="1">
                <a:latin typeface="Arial" panose="020B0604020202020204" pitchFamily="34" charset="0"/>
              </a:rPr>
              <a:t>AZ</a:t>
            </a:r>
            <a:r>
              <a:rPr lang="az-Latn-AZ" altLang="en-US" sz="1300">
                <a:latin typeface="Arial" panose="020B0604020202020204" pitchFamily="34" charset="0"/>
              </a:rPr>
              <a:t> olarsa onda </a:t>
            </a:r>
            <a:r>
              <a:rPr lang="az-Latn-AZ" altLang="en-US" sz="1300" b="1">
                <a:latin typeface="Arial" panose="020B0604020202020204" pitchFamily="34" charset="0"/>
              </a:rPr>
              <a:t>Azərbaycan</a:t>
            </a:r>
            <a:r>
              <a:rPr lang="az-Latn-AZ" altLang="en-US" sz="1300">
                <a:latin typeface="Arial" panose="020B0604020202020204" pitchFamily="34" charset="0"/>
              </a:rPr>
              <a:t> dilində olacaq. Seçilən dəyərə görə saytın dilinin dəyişməsini isə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App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::setLocale() </a:t>
            </a:r>
            <a:r>
              <a:rPr lang="en-US" altLang="en-US" sz="1300">
                <a:latin typeface="Arial" panose="020B0604020202020204" pitchFamily="34" charset="0"/>
              </a:rPr>
              <a:t>funksiyas</a:t>
            </a:r>
            <a:r>
              <a:rPr lang="az-Latn-AZ" altLang="en-US" sz="1300">
                <a:latin typeface="Arial" panose="020B0604020202020204" pitchFamily="34" charset="0"/>
              </a:rPr>
              <a:t>ı gərçəkləşdirir.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500B69-BABE-AE11-D34D-01F3F0FF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437997"/>
            <a:ext cx="7573432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589BC-A384-F259-0AE5-2CDF093B1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8313576" cy="2812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0A76F5-5C31-A50A-9B03-CD2FC4F8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950"/>
          <a:stretch>
            <a:fillRect/>
          </a:stretch>
        </p:blipFill>
        <p:spPr>
          <a:xfrm>
            <a:off x="3437316" y="3975263"/>
            <a:ext cx="8754684" cy="28827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4AFE-B326-5FEB-F84B-B1E31484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E8E62-7B19-2808-A917-258CA089C0F0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Əgər </a:t>
            </a:r>
            <a:r>
              <a:rPr lang="az-Latn-AZ" altLang="en-US" sz="1300" b="1">
                <a:latin typeface="Arial" panose="020B0604020202020204" pitchFamily="34" charset="0"/>
              </a:rPr>
              <a:t>RANDOM</a:t>
            </a:r>
            <a:r>
              <a:rPr lang="az-Latn-AZ" altLang="en-US" sz="1300">
                <a:latin typeface="Arial" panose="020B0604020202020204" pitchFamily="34" charset="0"/>
              </a:rPr>
              <a:t> olaraq bir </a:t>
            </a:r>
            <a:r>
              <a:rPr lang="az-Latn-AZ" altLang="en-US" sz="1300" b="1">
                <a:latin typeface="Arial" panose="020B0604020202020204" pitchFamily="34" charset="0"/>
              </a:rPr>
              <a:t>dəyər</a:t>
            </a:r>
            <a:r>
              <a:rPr lang="az-Latn-AZ" altLang="en-US" sz="1300">
                <a:latin typeface="Arial" panose="020B0604020202020204" pitchFamily="34" charset="0"/>
              </a:rPr>
              <a:t> daxil edilərsə onda </a:t>
            </a:r>
            <a:r>
              <a:rPr lang="az-Latn-AZ" altLang="en-US" sz="1300" b="1">
                <a:latin typeface="Arial" panose="020B0604020202020204" pitchFamily="34" charset="0"/>
              </a:rPr>
              <a:t>avtomatik</a:t>
            </a:r>
            <a:r>
              <a:rPr lang="az-Latn-AZ" altLang="en-US" sz="1300">
                <a:latin typeface="Arial" panose="020B0604020202020204" pitchFamily="34" charset="0"/>
              </a:rPr>
              <a:t> olaraq </a:t>
            </a:r>
            <a:r>
              <a:rPr lang="az-Latn-AZ" altLang="en-US" sz="1300" b="1">
                <a:latin typeface="Arial" panose="020B0604020202020204" pitchFamily="34" charset="0"/>
              </a:rPr>
              <a:t>İngilis</a:t>
            </a:r>
            <a:r>
              <a:rPr lang="az-Latn-AZ" altLang="en-US" sz="1300">
                <a:latin typeface="Arial" panose="020B0604020202020204" pitchFamily="34" charset="0"/>
              </a:rPr>
              <a:t> dilində olur sayt. Bunun səbəbi isə, </a:t>
            </a:r>
            <a:r>
              <a:rPr lang="az-Latn-AZ" altLang="en-US" sz="1300" b="1">
                <a:latin typeface="Arial" panose="020B0604020202020204" pitchFamily="34" charset="0"/>
              </a:rPr>
              <a:t>config/app.php </a:t>
            </a:r>
            <a:r>
              <a:rPr lang="az-Latn-AZ" altLang="en-US" sz="1300">
                <a:latin typeface="Arial" panose="020B0604020202020204" pitchFamily="34" charset="0"/>
              </a:rPr>
              <a:t>faylındakı `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fallback_locale</a:t>
            </a:r>
            <a:r>
              <a:rPr lang="az-Latn-AZ" altLang="en-US" sz="1300">
                <a:latin typeface="Arial" panose="020B0604020202020204" pitchFamily="34" charset="0"/>
              </a:rPr>
              <a:t>` xassəsinin </a:t>
            </a:r>
            <a:r>
              <a:rPr lang="az-Latn-AZ" altLang="en-US" sz="1300" b="1">
                <a:latin typeface="Arial" panose="020B0604020202020204" pitchFamily="34" charset="0"/>
              </a:rPr>
              <a:t>dəyərinə</a:t>
            </a:r>
            <a:r>
              <a:rPr lang="az-Latn-AZ" altLang="en-US" sz="1300">
                <a:latin typeface="Arial" panose="020B0604020202020204" pitchFamily="34" charset="0"/>
              </a:rPr>
              <a:t> görədir.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belə bir məna verir: əgər istifadəçinin seçdiyi dil üçün müəyyən bir tərcümə tapılmazsa, Laravel "en" (ingilis) dilindəki tərcüməni istifadə etsin.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fallback_locale </a:t>
            </a:r>
            <a:r>
              <a:rPr lang="en-US" altLang="en-US" sz="1300">
                <a:latin typeface="Arial" panose="020B0604020202020204" pitchFamily="34" charset="0"/>
              </a:rPr>
              <a:t>Laravel-də o ehtiyat (backup) dildir ki, əgər istifadəçi üçün seçilmiş dildə müəyyən tərcümə açarı (key) tapılmazsa, sistem bu ehtiyat dilə müraciət edərək həmin tərcüməni göstərir.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fallback_locale </a:t>
            </a:r>
            <a:r>
              <a:rPr lang="az-Latn-AZ" altLang="en-US" sz="1300">
                <a:latin typeface="Arial" panose="020B0604020202020204" pitchFamily="34" charset="0"/>
              </a:rPr>
              <a:t>-in dəyəri </a:t>
            </a:r>
            <a:r>
              <a:rPr lang="az-Latn-AZ" altLang="en-US" sz="1300" b="1">
                <a:latin typeface="Arial" panose="020B0604020202020204" pitchFamily="34" charset="0"/>
              </a:rPr>
              <a:t>AZ</a:t>
            </a:r>
            <a:r>
              <a:rPr lang="az-Latn-AZ" altLang="en-US" sz="1300">
                <a:latin typeface="Arial" panose="020B0604020202020204" pitchFamily="34" charset="0"/>
              </a:rPr>
              <a:t> olarsa onda, </a:t>
            </a:r>
            <a:r>
              <a:rPr lang="az-Latn-AZ" altLang="en-US" sz="1300" b="1">
                <a:latin typeface="Arial" panose="020B0604020202020204" pitchFamily="34" charset="0"/>
              </a:rPr>
              <a:t>random</a:t>
            </a:r>
            <a:r>
              <a:rPr lang="az-Latn-AZ" altLang="en-US" sz="1300">
                <a:latin typeface="Arial" panose="020B0604020202020204" pitchFamily="34" charset="0"/>
              </a:rPr>
              <a:t> yazılan </a:t>
            </a:r>
            <a:r>
              <a:rPr lang="az-Latn-AZ" altLang="en-US" sz="1300" b="1">
                <a:latin typeface="Arial" panose="020B0604020202020204" pitchFamily="34" charset="0"/>
              </a:rPr>
              <a:t>dəyər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lang="az-Latn-AZ" altLang="en-US" sz="1300">
                <a:latin typeface="Arial" panose="020B0604020202020204" pitchFamily="34" charset="0"/>
              </a:rPr>
              <a:t> Azərbaycan dilində qaytaracaq saytı.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3D4526-348C-90D8-F134-A8A995F70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603" y="4310743"/>
            <a:ext cx="6930397" cy="24163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98DF81-1137-6407-9920-F919348A9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2576652"/>
            <a:ext cx="4229690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11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E899-7948-46F6-899D-51AF8D683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2A0B9F-2E1F-B6BA-D9BC-6A4A5225925B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Dili dinamik </a:t>
            </a:r>
            <a:r>
              <a:rPr lang="az-Latn-AZ" altLang="en-US" sz="1300">
                <a:latin typeface="Arial" panose="020B0604020202020204" pitchFamily="34" charset="0"/>
              </a:rPr>
              <a:t>dəyişmək üçün ən sadə formada aşağıdakı kimi yaza bilərik. Bu kodun ən </a:t>
            </a:r>
            <a:r>
              <a:rPr lang="az-Latn-AZ" altLang="en-US" sz="1300" b="1">
                <a:latin typeface="Arial" panose="020B0604020202020204" pitchFamily="34" charset="0"/>
              </a:rPr>
              <a:t>sadə</a:t>
            </a:r>
            <a:r>
              <a:rPr lang="az-Latn-AZ" altLang="en-US" sz="1300">
                <a:latin typeface="Arial" panose="020B0604020202020204" pitchFamily="34" charset="0"/>
              </a:rPr>
              <a:t> yazılış şəklidir ancaq </a:t>
            </a:r>
            <a:r>
              <a:rPr lang="az-Latn-AZ" altLang="en-US" sz="1300" b="1">
                <a:latin typeface="Arial" panose="020B0604020202020204" pitchFamily="34" charset="0"/>
              </a:rPr>
              <a:t>orta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professional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daha professional </a:t>
            </a:r>
            <a:r>
              <a:rPr lang="az-Latn-AZ" altLang="en-US" sz="1300">
                <a:latin typeface="Arial" panose="020B0604020202020204" pitchFamily="34" charset="0"/>
              </a:rPr>
              <a:t>yazma formalarıda mövcuddur.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72591-F1A9-9F26-71B9-65CB65B1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6016"/>
            <a:ext cx="12192000" cy="488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33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E23E-41D3-5B85-E425-990E850EF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F02C39-F784-4B75-D644-38034B3205C8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Düymə klikləndikdə </a:t>
            </a:r>
            <a:r>
              <a:rPr lang="az-Latn-AZ" altLang="en-US" sz="1300" b="1">
                <a:latin typeface="Arial" panose="020B0604020202020204" pitchFamily="34" charset="0"/>
              </a:rPr>
              <a:t>en</a:t>
            </a:r>
            <a:r>
              <a:rPr lang="az-Latn-AZ" altLang="en-US" sz="1300">
                <a:latin typeface="Arial" panose="020B0604020202020204" pitchFamily="34" charset="0"/>
              </a:rPr>
              <a:t> yaxud </a:t>
            </a:r>
            <a:r>
              <a:rPr lang="az-Latn-AZ" altLang="en-US" sz="1300" b="1">
                <a:latin typeface="Arial" panose="020B0604020202020204" pitchFamily="34" charset="0"/>
              </a:rPr>
              <a:t>az</a:t>
            </a:r>
            <a:r>
              <a:rPr lang="az-Latn-AZ" altLang="en-US" sz="1300">
                <a:latin typeface="Arial" panose="020B0604020202020204" pitchFamily="34" charset="0"/>
              </a:rPr>
              <a:t> dəyərləri </a:t>
            </a:r>
            <a:r>
              <a:rPr lang="az-Latn-AZ" altLang="en-US" sz="1300" b="1">
                <a:latin typeface="Arial" panose="020B0604020202020204" pitchFamily="34" charset="0"/>
              </a:rPr>
              <a:t>URL</a:t>
            </a:r>
            <a:r>
              <a:rPr lang="az-Latn-AZ" altLang="en-US" sz="1300">
                <a:latin typeface="Arial" panose="020B0604020202020204" pitchFamily="34" charset="0"/>
              </a:rPr>
              <a:t> -nin </a:t>
            </a:r>
            <a:r>
              <a:rPr lang="az-Latn-AZ" altLang="en-US" sz="1300" b="1">
                <a:latin typeface="Arial" panose="020B0604020202020204" pitchFamily="34" charset="0"/>
              </a:rPr>
              <a:t>locale</a:t>
            </a:r>
            <a:r>
              <a:rPr lang="az-Latn-AZ" altLang="en-US" sz="1300">
                <a:latin typeface="Arial" panose="020B0604020202020204" pitchFamily="34" charset="0"/>
              </a:rPr>
              <a:t> adlı parametrinə, oradan isə funksiyanın </a:t>
            </a:r>
            <a:r>
              <a:rPr lang="en-US" altLang="en-US" sz="1300" b="1">
                <a:latin typeface="Arial" panose="020B0604020202020204" pitchFamily="34" charset="0"/>
              </a:rPr>
              <a:t>$locale </a:t>
            </a:r>
            <a:r>
              <a:rPr lang="en-US" altLang="en-US" sz="1300">
                <a:latin typeface="Arial" panose="020B0604020202020204" pitchFamily="34" charset="0"/>
              </a:rPr>
              <a:t>adl</a:t>
            </a:r>
            <a:r>
              <a:rPr lang="az-Latn-AZ" altLang="en-US" sz="1300">
                <a:latin typeface="Arial" panose="020B0604020202020204" pitchFamily="34" charset="0"/>
              </a:rPr>
              <a:t>ı </a:t>
            </a:r>
            <a:r>
              <a:rPr lang="az-Latn-AZ" altLang="en-US" sz="1300" b="1">
                <a:latin typeface="Arial" panose="020B0604020202020204" pitchFamily="34" charset="0"/>
              </a:rPr>
              <a:t>parametrinə</a:t>
            </a:r>
            <a:r>
              <a:rPr lang="az-Latn-AZ" altLang="en-US" sz="1300">
                <a:latin typeface="Arial" panose="020B0604020202020204" pitchFamily="34" charset="0"/>
              </a:rPr>
              <a:t> göndərilir və funksiyanın blokunda </a:t>
            </a:r>
            <a:r>
              <a:rPr lang="az-Latn-AZ" altLang="en-US" sz="1300" b="1">
                <a:latin typeface="Arial" panose="020B0604020202020204" pitchFamily="34" charset="0"/>
              </a:rPr>
              <a:t>setLocale() </a:t>
            </a:r>
            <a:r>
              <a:rPr lang="az-Latn-AZ" altLang="en-US" sz="1300">
                <a:latin typeface="Arial" panose="020B0604020202020204" pitchFamily="34" charset="0"/>
              </a:rPr>
              <a:t>funksiyası ilə saytın dilinin dəyişdirilməsində istifadə edilir.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E0291F-D83E-35D8-A668-A55AA012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6" y="1679614"/>
            <a:ext cx="10031225" cy="40772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0979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1A0D3-1F05-E303-48A0-AE94E366C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BF06ED-9C3D-631C-B1F1-5E162A741DB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057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9D63E-B010-FFF8-B253-D233BB6D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E43813-BA3B-B9D8-7392-036B56FDA157}"/>
              </a:ext>
            </a:extLst>
          </p:cNvPr>
          <p:cNvSpPr txBox="1"/>
          <p:nvPr/>
        </p:nvSpPr>
        <p:spPr>
          <a:xfrm>
            <a:off x="217714" y="255046"/>
            <a:ext cx="11756571" cy="64291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Professional kodu indi göstərməyə ehtiyac yoxdur ancaq sadə kodun mənfi və müsbət tərəflərini izah edə bilərik.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✅ </a:t>
            </a:r>
            <a:r>
              <a:rPr lang="en-US" altLang="en-US" sz="1200" b="1">
                <a:latin typeface="Arial" panose="020B0604020202020204" pitchFamily="34" charset="0"/>
              </a:rPr>
              <a:t>Üstünlüklər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Minimal və başa düşülməsi çox asandır.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Kiçik layihələr üçün kifayət edir.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Birbaşa </a:t>
            </a:r>
            <a:r>
              <a:rPr lang="en-US" altLang="en-US" sz="1200" b="1">
                <a:latin typeface="Arial" panose="020B0604020202020204" pitchFamily="34" charset="0"/>
              </a:rPr>
              <a:t>App::setLocale() </a:t>
            </a:r>
            <a:r>
              <a:rPr lang="en-US" altLang="en-US" sz="1200">
                <a:latin typeface="Arial" panose="020B0604020202020204" pitchFamily="34" charset="0"/>
              </a:rPr>
              <a:t>ilə dili dəyişir.</a:t>
            </a:r>
          </a:p>
          <a:p>
            <a:pPr>
              <a:lnSpc>
                <a:spcPct val="150000"/>
              </a:lnSpc>
              <a:buNone/>
            </a:pP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>
                <a:latin typeface="Arial" panose="020B0604020202020204" pitchFamily="34" charset="0"/>
              </a:rPr>
              <a:t>❌ </a:t>
            </a:r>
            <a:r>
              <a:rPr lang="en-US" altLang="en-US" sz="1200" b="1">
                <a:latin typeface="Arial" panose="020B0604020202020204" pitchFamily="34" charset="0"/>
              </a:rPr>
              <a:t>Məhdudiyyətlər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Dil seçimi </a:t>
            </a:r>
            <a:r>
              <a:rPr lang="en-US" altLang="en-US" sz="1200" b="1">
                <a:latin typeface="Arial" panose="020B0604020202020204" pitchFamily="34" charset="0"/>
              </a:rPr>
              <a:t>session</a:t>
            </a:r>
            <a:r>
              <a:rPr lang="en-US" altLang="en-US" sz="1200">
                <a:latin typeface="Arial" panose="020B0604020202020204" pitchFamily="34" charset="0"/>
              </a:rPr>
              <a:t>-da saxlanılmır, yəni </a:t>
            </a:r>
            <a:r>
              <a:rPr lang="en-US" altLang="en-US" sz="1200" b="1">
                <a:latin typeface="Arial" panose="020B0604020202020204" pitchFamily="34" charset="0"/>
              </a:rPr>
              <a:t>refresh</a:t>
            </a:r>
            <a:r>
              <a:rPr lang="en-US" altLang="en-US" sz="1200">
                <a:latin typeface="Arial" panose="020B0604020202020204" pitchFamily="34" charset="0"/>
              </a:rPr>
              <a:t> etdikcə dəyişir.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/greeting/{locale} kimi yalnız bir route üçün işləyir — genişləndirilməsi çətindir.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Bütün səhifələrə locale tətbiq edilmir.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URL formatı lokalizə olunmamışdır (SEO üçün zəifdir).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URL lokalizasiya </a:t>
            </a:r>
            <a:r>
              <a:rPr lang="en-US" altLang="en-US" sz="1200">
                <a:latin typeface="Arial" panose="020B0604020202020204" pitchFamily="34" charset="0"/>
              </a:rPr>
              <a:t>— saytın hər bir dil versiyasının özünə məxsus URL-</a:t>
            </a:r>
            <a:r>
              <a:rPr lang="az-Latn-AZ" altLang="en-US" sz="1200">
                <a:latin typeface="Arial" panose="020B0604020202020204" pitchFamily="34" charset="0"/>
              </a:rPr>
              <a:t>s</a:t>
            </a:r>
            <a:r>
              <a:rPr lang="en-US" altLang="en-US" sz="1200">
                <a:latin typeface="Arial" panose="020B0604020202020204" pitchFamily="34" charset="0"/>
              </a:rPr>
              <a:t>i</a:t>
            </a:r>
            <a:r>
              <a:rPr lang="az-Latn-AZ" altLang="en-US" sz="1200">
                <a:latin typeface="Arial" panose="020B0604020202020204" pitchFamily="34" charset="0"/>
              </a:rPr>
              <a:t>nin</a:t>
            </a:r>
            <a:r>
              <a:rPr lang="en-US" altLang="en-US" sz="1200">
                <a:latin typeface="Arial" panose="020B0604020202020204" pitchFamily="34" charset="0"/>
              </a:rPr>
              <a:t> olmasıdır.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❌ </a:t>
            </a:r>
            <a:r>
              <a:rPr lang="az-Latn-AZ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İ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ndiki format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Dil dəyişməsi </a:t>
            </a:r>
            <a:r>
              <a:rPr lang="en-US" altLang="en-US" sz="1200" b="1">
                <a:latin typeface="Arial" panose="020B0604020202020204" pitchFamily="34" charset="0"/>
              </a:rPr>
              <a:t>greeting/en </a:t>
            </a:r>
            <a:r>
              <a:rPr lang="en-US" altLang="en-US" sz="1200">
                <a:latin typeface="Arial" panose="020B0604020202020204" pitchFamily="34" charset="0"/>
              </a:rPr>
              <a:t>kimi route-da keçir.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Bu </a:t>
            </a:r>
            <a:r>
              <a:rPr lang="en-US" altLang="en-US" sz="1200" b="1">
                <a:latin typeface="Arial" panose="020B0604020202020204" pitchFamily="34" charset="0"/>
              </a:rPr>
              <a:t>URL</a:t>
            </a:r>
            <a:r>
              <a:rPr lang="en-US" altLang="en-US" sz="1200">
                <a:latin typeface="Arial" panose="020B0604020202020204" pitchFamily="34" charset="0"/>
              </a:rPr>
              <a:t>-</a:t>
            </a:r>
            <a:r>
              <a:rPr lang="az-Latn-AZ" altLang="en-US" sz="1200">
                <a:latin typeface="Arial" panose="020B0604020202020204" pitchFamily="34" charset="0"/>
              </a:rPr>
              <a:t>n</a:t>
            </a:r>
            <a:r>
              <a:rPr lang="en-US" altLang="en-US" sz="1200">
                <a:latin typeface="Arial" panose="020B0604020202020204" pitchFamily="34" charset="0"/>
              </a:rPr>
              <a:t>in strukturunda dil prefiksi yoxdur.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Google və digər axtarış sistemləri üçün bu səhifə yalnız bir dilə məxsus görünür.</a:t>
            </a: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CAFBF5-0BD6-D147-CED3-E9867474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5277771"/>
            <a:ext cx="3327925" cy="40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F4358-70B5-D34F-E547-1DF16C1E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EB0774-2583-5494-612D-2811AF3E4030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Lokalizə olunmuş URL (doğru variant)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URL birbaşa dil ilə başlayır: </a:t>
            </a:r>
            <a:r>
              <a:rPr lang="en-US" altLang="en-US" sz="1300" b="1">
                <a:latin typeface="Arial" panose="020B0604020202020204" pitchFamily="34" charset="0"/>
              </a:rPr>
              <a:t>en/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en-US" altLang="en-US" sz="1300" b="1">
                <a:latin typeface="Arial" panose="020B0604020202020204" pitchFamily="34" charset="0"/>
              </a:rPr>
              <a:t>az/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Google indi başa düşür ki: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example.com/en/about </a:t>
            </a:r>
            <a:r>
              <a:rPr lang="en-US" altLang="en-US" sz="1300">
                <a:latin typeface="Arial" panose="020B0604020202020204" pitchFamily="34" charset="0"/>
              </a:rPr>
              <a:t>→ İngiliscə səhifə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 b="1">
                <a:latin typeface="Arial" panose="020B0604020202020204" pitchFamily="34" charset="0"/>
              </a:rPr>
              <a:t>example.com/az/about </a:t>
            </a:r>
            <a:r>
              <a:rPr lang="en-US" altLang="en-US" sz="1300">
                <a:latin typeface="Arial" panose="020B0604020202020204" pitchFamily="34" charset="0"/>
              </a:rPr>
              <a:t>→ Azərbaycan dilindəki səhifə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zaman saytın hər dil versiyası ayrıca indekslənir və </a:t>
            </a:r>
            <a:r>
              <a:rPr lang="en-US" altLang="en-US" sz="1300" b="1">
                <a:latin typeface="Arial" panose="020B0604020202020204" pitchFamily="34" charset="0"/>
              </a:rPr>
              <a:t>SEO</a:t>
            </a:r>
            <a:r>
              <a:rPr lang="en-US" altLang="en-US" sz="1300">
                <a:latin typeface="Arial" panose="020B0604020202020204" pitchFamily="34" charset="0"/>
              </a:rPr>
              <a:t> reytinqi artır.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📈 </a:t>
            </a:r>
            <a:r>
              <a:rPr lang="en-US" altLang="en-US" sz="1300" b="1">
                <a:latin typeface="Arial" panose="020B0604020202020204" pitchFamily="34" charset="0"/>
              </a:rPr>
              <a:t>SEO Üstünlükləri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3A5CC-9FB8-BEA7-20E2-0ED68C575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818713"/>
            <a:ext cx="2343477" cy="68589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EAF8CC-DEA3-3130-33D4-3A8126830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831392"/>
              </p:ext>
            </p:extLst>
          </p:nvPr>
        </p:nvGraphicFramePr>
        <p:xfrm>
          <a:off x="217714" y="4663440"/>
          <a:ext cx="7983893" cy="2194560"/>
        </p:xfrm>
        <a:graphic>
          <a:graphicData uri="http://schemas.openxmlformats.org/drawingml/2006/table">
            <a:tbl>
              <a:tblPr/>
              <a:tblGrid>
                <a:gridCol w="3256222">
                  <a:extLst>
                    <a:ext uri="{9D8B030D-6E8A-4147-A177-3AD203B41FA5}">
                      <a16:colId xmlns:a16="http://schemas.microsoft.com/office/drawing/2014/main" val="646555765"/>
                    </a:ext>
                  </a:extLst>
                </a:gridCol>
                <a:gridCol w="4727671">
                  <a:extLst>
                    <a:ext uri="{9D8B030D-6E8A-4147-A177-3AD203B41FA5}">
                      <a16:colId xmlns:a16="http://schemas.microsoft.com/office/drawing/2014/main" val="36852118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Lokalizə olunmamış 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Lokalizə olunmuş URL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388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example.com/about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example.com/en/about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5567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Google dili başa düşmür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səhifənin dilini bilir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676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SEO zəifdir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SEO güclüdür (çoxdilli dəstək)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184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Canonical problemleri ola bilər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Dil versiyaları ayrıca indekslənir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19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Hreflang etiketi istifadə çətindir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Hreflang üçün uyğun URL 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112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405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Google üçün nümunə hreflang etiketləri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SEO qaydalarına görə çoxdilli saytların URL-lərində dil </a:t>
            </a:r>
            <a:r>
              <a:rPr lang="en-US" altLang="en-US" sz="1300" b="1">
                <a:latin typeface="Arial" panose="020B0604020202020204" pitchFamily="34" charset="0"/>
              </a:rPr>
              <a:t>prefix</a:t>
            </a:r>
            <a:r>
              <a:rPr lang="en-US" altLang="en-US" sz="1300">
                <a:latin typeface="Arial" panose="020B0604020202020204" pitchFamily="34" charset="0"/>
              </a:rPr>
              <a:t>-i mütləq olmalıdır: </a:t>
            </a:r>
            <a:r>
              <a:rPr lang="en-US" altLang="en-US" sz="1300" b="1">
                <a:latin typeface="Arial" panose="020B0604020202020204" pitchFamily="34" charset="0"/>
              </a:rPr>
              <a:t>example.com/en/...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lang="az-Latn-AZ" altLang="en-US" sz="1300">
                <a:latin typeface="Arial" panose="020B0604020202020204" pitchFamily="34" charset="0"/>
              </a:rPr>
              <a:t>    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latin typeface="Arial" panose="020B0604020202020204" pitchFamily="34" charset="0"/>
              </a:rPr>
              <a:t>example.com/fr/...</a:t>
            </a:r>
            <a:endParaRPr lang="az-Latn-AZ" altLang="en-US" sz="13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6A4DC0-F34A-B540-CFF6-2726C7A0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661360"/>
            <a:ext cx="6087325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3A2EA-D766-D9D3-1975-F526E81F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6AF2DC-F625-AB4C-3EB7-0F4CBACD4835}"/>
              </a:ext>
            </a:extLst>
          </p:cNvPr>
          <p:cNvSpPr txBox="1"/>
          <p:nvPr/>
        </p:nvSpPr>
        <p:spPr>
          <a:xfrm>
            <a:off x="217714" y="255046"/>
            <a:ext cx="11756571" cy="3102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İndi </a:t>
            </a:r>
            <a:r>
              <a:rPr lang="en-US" sz="1400" b="1"/>
              <a:t>Laravel </a:t>
            </a:r>
            <a:r>
              <a:rPr lang="en-US" sz="1400"/>
              <a:t>üçün </a:t>
            </a:r>
            <a:r>
              <a:rPr lang="en-US" sz="1400" b="1"/>
              <a:t>tam funksional bir çoxdilli sistem</a:t>
            </a:r>
            <a:r>
              <a:rPr lang="en-US" sz="1400"/>
              <a:t> qur</a:t>
            </a:r>
            <a:r>
              <a:rPr lang="az-Latn-AZ" sz="1400"/>
              <a:t>a</a:t>
            </a:r>
            <a:r>
              <a:rPr lang="en-US" sz="1400"/>
              <a:t>q.</a:t>
            </a:r>
            <a:r>
              <a:rPr lang="az-Latn-AZ" sz="1400"/>
              <a:t> ( orta professional səviyyəli bir sistem olacaq bu )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MƏQSƏD</a:t>
            </a:r>
            <a:r>
              <a:rPr lang="az-Latn-AZ" altLang="en-US" sz="1300" b="1">
                <a:latin typeface="Arial" panose="020B0604020202020204" pitchFamily="34" charset="0"/>
              </a:rPr>
              <a:t>:</a:t>
            </a:r>
            <a:endParaRPr lang="en-US" altLang="en-US" sz="1300" b="1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/{locale}/page </a:t>
            </a:r>
            <a:r>
              <a:rPr lang="en-US" altLang="en-US" sz="1300">
                <a:latin typeface="Arial" panose="020B0604020202020204" pitchFamily="34" charset="0"/>
              </a:rPr>
              <a:t>kimi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-lərlə çoxdilli routing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✅ Dinamik dil dəyişmə (</a:t>
            </a:r>
            <a:r>
              <a:rPr lang="en-US" altLang="en-US" sz="1300" b="1">
                <a:latin typeface="Arial" panose="020B0604020202020204" pitchFamily="34" charset="0"/>
              </a:rPr>
              <a:t>az, en,</a:t>
            </a:r>
            <a:r>
              <a:rPr lang="en-US" altLang="en-US" sz="1300">
                <a:latin typeface="Arial" panose="020B0604020202020204" pitchFamily="34" charset="0"/>
              </a:rPr>
              <a:t> və s.)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✅ Tərcümə faylları ilə </a:t>
            </a:r>
            <a:r>
              <a:rPr lang="en-US" altLang="en-US" sz="1300" b="1">
                <a:latin typeface="Arial" panose="020B0604020202020204" pitchFamily="34" charset="0"/>
              </a:rPr>
              <a:t>__(</a:t>
            </a:r>
            <a:r>
              <a:rPr lang="az-Latn-AZ" altLang="en-US" sz="1300" b="1">
                <a:latin typeface="Arial" panose="020B0604020202020204" pitchFamily="34" charset="0"/>
              </a:rPr>
              <a:t>faylınAdı</a:t>
            </a:r>
            <a:r>
              <a:rPr lang="en-US" altLang="en-US" sz="1300" b="1">
                <a:latin typeface="Arial" panose="020B0604020202020204" pitchFamily="34" charset="0"/>
              </a:rPr>
              <a:t>.</a:t>
            </a:r>
            <a:r>
              <a:rPr lang="az-Latn-AZ" altLang="en-US" sz="1300" b="1">
                <a:latin typeface="Arial" panose="020B0604020202020204" pitchFamily="34" charset="0"/>
              </a:rPr>
              <a:t>açarSöz</a:t>
            </a:r>
            <a:r>
              <a:rPr lang="en-US" altLang="en-US" sz="1300" b="1">
                <a:latin typeface="Arial" panose="020B0604020202020204" pitchFamily="34" charset="0"/>
              </a:rPr>
              <a:t>') </a:t>
            </a:r>
            <a:r>
              <a:rPr lang="en-US" altLang="en-US" sz="1300">
                <a:latin typeface="Arial" panose="020B0604020202020204" pitchFamily="34" charset="0"/>
              </a:rPr>
              <a:t>istifadəsi</a:t>
            </a:r>
          </a:p>
          <a:p>
            <a:pPr lvl="1"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✅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vasitəsilə Laravel-in </a:t>
            </a:r>
            <a:r>
              <a:rPr lang="en-US" altLang="en-US" sz="1300" b="1">
                <a:latin typeface="Arial" panose="020B0604020202020204" pitchFamily="34" charset="0"/>
              </a:rPr>
              <a:t>App::setLocale($locale) </a:t>
            </a:r>
            <a:r>
              <a:rPr lang="en-US" altLang="en-US" sz="1300">
                <a:latin typeface="Arial" panose="020B0604020202020204" pitchFamily="34" charset="0"/>
              </a:rPr>
              <a:t>funksiyası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İlk öncə Fərqli dil seçimi üçün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qovluqlarını və fayllarını qururuq.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F8F43-FF5D-009A-A74D-8E4233E72B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720" r="25153"/>
          <a:stretch>
            <a:fillRect/>
          </a:stretch>
        </p:blipFill>
        <p:spPr>
          <a:xfrm>
            <a:off x="-1" y="3429000"/>
            <a:ext cx="912534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099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3EBF9-A063-4C8D-C4A0-86C058EB3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2CA6D3-E18A-D22D-6151-E8227EE7CF97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</a:t>
            </a:r>
            <a:r>
              <a:rPr lang="az-Latn-AZ" altLang="en-US" sz="1300" b="1">
                <a:latin typeface="Arial" panose="020B0604020202020204" pitchFamily="34" charset="0"/>
              </a:rPr>
              <a:t>2 ROUTE </a:t>
            </a:r>
            <a:r>
              <a:rPr lang="az-Latn-AZ" altLang="en-US" sz="1300">
                <a:latin typeface="Arial" panose="020B0604020202020204" pitchFamily="34" charset="0"/>
              </a:rPr>
              <a:t>yaradırıq: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300">
                <a:latin typeface="Arial" panose="020B0604020202020204" pitchFamily="34" charset="0"/>
              </a:rPr>
              <a:t>1ci route, </a:t>
            </a:r>
            <a:r>
              <a:rPr lang="en-US" altLang="en-US" sz="1300" b="1">
                <a:latin typeface="Arial" panose="020B0604020202020204" pitchFamily="34" charset="0"/>
              </a:rPr>
              <a:t>WELCOME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şablonunu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2ci route </a:t>
            </a:r>
            <a:r>
              <a:rPr lang="az-Latn-AZ" altLang="en-US" sz="1300">
                <a:latin typeface="Arial" panose="020B0604020202020204" pitchFamily="34" charset="0"/>
              </a:rPr>
              <a:t>isə </a:t>
            </a:r>
            <a:r>
              <a:rPr lang="az-Latn-AZ" altLang="en-US" sz="1300" b="1">
                <a:latin typeface="Arial" panose="020B0604020202020204" pitchFamily="34" charset="0"/>
              </a:rPr>
              <a:t>ABOUT</a:t>
            </a:r>
            <a:r>
              <a:rPr lang="az-Latn-AZ" altLang="en-US" sz="1300">
                <a:latin typeface="Arial" panose="020B0604020202020204" pitchFamily="34" charset="0"/>
              </a:rPr>
              <a:t> şablonunu göstərmək üçün istifadə edilir.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url('az/') </a:t>
            </a: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url(app()-&gt;getLocale() . '/about')) </a:t>
            </a:r>
            <a:r>
              <a:rPr lang="az-Latn-AZ" altLang="en-US" sz="1300">
                <a:latin typeface="Arial" panose="020B0604020202020204" pitchFamily="34" charset="0"/>
              </a:rPr>
              <a:t>Laravel-də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dinamik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statik</a:t>
            </a:r>
            <a:r>
              <a:rPr lang="az-Latn-AZ" altLang="en-US" sz="1300">
                <a:latin typeface="Arial" panose="020B0604020202020204" pitchFamily="34" charset="0"/>
              </a:rPr>
              <a:t> URL formalaşdırma prinsiplərinə aid nümunələrdir.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1. </a:t>
            </a:r>
            <a:r>
              <a:rPr lang="en-US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url('az/') </a:t>
            </a:r>
            <a:r>
              <a:rPr lang="en-US" altLang="en-US" sz="1300">
                <a:latin typeface="Arial" panose="020B0604020202020204" pitchFamily="34" charset="0"/>
              </a:rPr>
              <a:t>— Statik URL</a:t>
            </a:r>
            <a:r>
              <a:rPr lang="az-Latn-AZ" altLang="en-US" sz="1300">
                <a:latin typeface="Arial" panose="020B0604020202020204" pitchFamily="34" charset="0"/>
              </a:rPr>
              <a:t>, kodu aşağıdakı kimi tərcümə edir: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76A302-8C48-16C1-032E-7624139B0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5181"/>
            <a:ext cx="12192000" cy="24253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CC5887-ACCF-E9D5-6A9B-D29818A3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09" y="5711796"/>
            <a:ext cx="2200582" cy="50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022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FEBB-4768-51EE-A36C-74B6746DD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B98739-0727-B29A-6BA4-723779E42D0E}"/>
              </a:ext>
            </a:extLst>
          </p:cNvPr>
          <p:cNvSpPr txBox="1"/>
          <p:nvPr/>
        </p:nvSpPr>
        <p:spPr>
          <a:xfrm>
            <a:off x="217714" y="255046"/>
            <a:ext cx="11756571" cy="534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Xüsusiyyətləri</a:t>
            </a:r>
            <a:r>
              <a:rPr lang="az-Latn-AZ" altLang="en-US" sz="1300" b="1">
                <a:latin typeface="Arial" panose="020B0604020202020204" pitchFamily="34" charset="0"/>
              </a:rPr>
              <a:t>  - </a:t>
            </a:r>
            <a:r>
              <a:rPr lang="az-Latn-AZ" altLang="en-US" sz="1300">
                <a:latin typeface="Arial" panose="020B0604020202020204" pitchFamily="34" charset="0"/>
              </a:rPr>
              <a:t>(   </a:t>
            </a:r>
            <a:r>
              <a:rPr lang="az-Latn-AZ" altLang="en-US" sz="1300" b="1">
                <a:solidFill>
                  <a:srgbClr val="00B050"/>
                </a:solidFill>
                <a:latin typeface="Arial" panose="020B0604020202020204" pitchFamily="34" charset="0"/>
              </a:rPr>
              <a:t>url('az/’)   </a:t>
            </a:r>
            <a:r>
              <a:rPr lang="az-Latn-AZ" altLang="en-US" sz="1300">
                <a:latin typeface="Arial" panose="020B0604020202020204" pitchFamily="34" charset="0"/>
              </a:rPr>
              <a:t>) 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br>
              <a:rPr lang="en-US"/>
            </a:br>
            <a:r>
              <a:rPr lang="en-US" b="1"/>
              <a:t>Harada istifadə olunur?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Menyuda bir dil üçün xüsusi link (məs: "Azərbaycan dili" düyməsi)</a:t>
            </a:r>
            <a:endParaRPr lang="az-Latn-AZ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Test məqsədli yönləndirmələr</a:t>
            </a:r>
            <a:endParaRPr lang="az-Latn-AZ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Sadə strukturlar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D5A4FC-D4E9-6901-85F4-315EB3F9D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437279"/>
              </p:ext>
            </p:extLst>
          </p:nvPr>
        </p:nvGraphicFramePr>
        <p:xfrm>
          <a:off x="217714" y="835935"/>
          <a:ext cx="9047584" cy="2194560"/>
        </p:xfrm>
        <a:graphic>
          <a:graphicData uri="http://schemas.openxmlformats.org/drawingml/2006/table">
            <a:tbl>
              <a:tblPr/>
              <a:tblGrid>
                <a:gridCol w="2130637">
                  <a:extLst>
                    <a:ext uri="{9D8B030D-6E8A-4147-A177-3AD203B41FA5}">
                      <a16:colId xmlns:a16="http://schemas.microsoft.com/office/drawing/2014/main" val="4234623507"/>
                    </a:ext>
                  </a:extLst>
                </a:gridCol>
                <a:gridCol w="6916947">
                  <a:extLst>
                    <a:ext uri="{9D8B030D-6E8A-4147-A177-3AD203B41FA5}">
                      <a16:colId xmlns:a16="http://schemas.microsoft.com/office/drawing/2014/main" val="1970666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97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Statikdir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Dil kodunu (az) </a:t>
                      </a:r>
                      <a:r>
                        <a:rPr lang="en-US" b="1"/>
                        <a:t>əl ilə yazırsan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027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Dəyişmir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 hansı dili seçsə də dəyişməyəcək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899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Sabit dilə bağlı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Sadəcə Azərbaycan dilinə link verir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438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Təhlükəsizdir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Amma dinamik deyil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96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SEO dostudur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Bəli, amma çoxdilli sistemdə </a:t>
                      </a:r>
                      <a:r>
                        <a:rPr lang="az-Latn-AZ"/>
                        <a:t>istifadəsi yorucudur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6834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989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AA7F2-6737-56A2-51BD-A99A8B9DF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D3C04A-42ED-D87B-8B3B-61C50E7FF55A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2. </a:t>
            </a:r>
            <a:r>
              <a:rPr lang="en-US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url(app()-&gt;getLocale() . '/about') </a:t>
            </a:r>
            <a:r>
              <a:rPr lang="en-US" altLang="en-US" sz="1300">
                <a:latin typeface="Arial" panose="020B0604020202020204" pitchFamily="34" charset="0"/>
              </a:rPr>
              <a:t>— Dinamik URL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Laravel bu kodda aşağıdakıları edir: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app()-&gt;getLocale() </a:t>
            </a:r>
            <a:r>
              <a:rPr lang="en-US" altLang="en-US" sz="1300">
                <a:latin typeface="Arial" panose="020B0604020202020204" pitchFamily="34" charset="0"/>
              </a:rPr>
              <a:t>— hal-hazırda seçilmiş dili </a:t>
            </a:r>
            <a:r>
              <a:rPr lang="az-Latn-AZ" altLang="en-US" sz="1300">
                <a:latin typeface="Arial" panose="020B0604020202020204" pitchFamily="34" charset="0"/>
              </a:rPr>
              <a:t>əldə edir</a:t>
            </a:r>
            <a:r>
              <a:rPr lang="en-US" altLang="en-US" sz="1300">
                <a:latin typeface="Arial" panose="020B0604020202020204" pitchFamily="34" charset="0"/>
              </a:rPr>
              <a:t> (az, en, ru və s.)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url(...) </a:t>
            </a:r>
            <a:r>
              <a:rPr lang="en-US" altLang="en-US" sz="1300">
                <a:latin typeface="Arial" panose="020B0604020202020204" pitchFamily="34" charset="0"/>
              </a:rPr>
              <a:t>— tam URL-i düzəldir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Məsələn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Və ya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35729-DFA2-BBB9-5B7B-3EA0200B8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55552"/>
            <a:ext cx="2810267" cy="476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F6BCE6-CE83-0682-2A40-7831E7DB5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025720"/>
            <a:ext cx="3848637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0BF8FC-64ED-A38E-B243-2635650374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4211385"/>
            <a:ext cx="4010585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706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5088-2A78-4837-0A5F-D3E8E8ED4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FB2CB2-70B9-7A1E-63B6-AC429A84091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Xüsusiyyətləri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E12969-0DA0-67DD-1477-F9C2541AC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66872"/>
              </p:ext>
            </p:extLst>
          </p:nvPr>
        </p:nvGraphicFramePr>
        <p:xfrm>
          <a:off x="217714" y="795294"/>
          <a:ext cx="7536025" cy="2633706"/>
        </p:xfrm>
        <a:graphic>
          <a:graphicData uri="http://schemas.openxmlformats.org/drawingml/2006/table">
            <a:tbl>
              <a:tblPr/>
              <a:tblGrid>
                <a:gridCol w="2271324">
                  <a:extLst>
                    <a:ext uri="{9D8B030D-6E8A-4147-A177-3AD203B41FA5}">
                      <a16:colId xmlns:a16="http://schemas.microsoft.com/office/drawing/2014/main" val="271553227"/>
                    </a:ext>
                  </a:extLst>
                </a:gridCol>
                <a:gridCol w="5264701">
                  <a:extLst>
                    <a:ext uri="{9D8B030D-6E8A-4147-A177-3AD203B41FA5}">
                      <a16:colId xmlns:a16="http://schemas.microsoft.com/office/drawing/2014/main" val="1457143026"/>
                    </a:ext>
                  </a:extLst>
                </a:gridCol>
              </a:tblGrid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Xüsusiyyət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342435"/>
                  </a:ext>
                </a:extLst>
              </a:tr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Dinamikdir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Dil kodunu avtomatik alır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986558"/>
                  </a:ext>
                </a:extLst>
              </a:tr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İstifadəçiyə uyğundur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İstifadəçinin seçdiyi dilə uyğun URL verir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1309017"/>
                  </a:ext>
                </a:extLst>
              </a:tr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SEO dostudur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Bəli, çünki URL-də dil görünür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886441"/>
                  </a:ext>
                </a:extLst>
              </a:tr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Dəyişkənlik var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Fərqli dillərə uyğun olaraq fərqli URL-lər yaranır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6541983"/>
                  </a:ext>
                </a:extLst>
              </a:tr>
              <a:tr h="438951">
                <a:tc>
                  <a:txBody>
                    <a:bodyPr/>
                    <a:lstStyle/>
                    <a:p>
                      <a:r>
                        <a:rPr lang="en-US" b="1"/>
                        <a:t>Təmiz kod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DRY prinsipinə uyğundur ("Don't Repeat Yourself")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072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4051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B232C-0FE0-B839-9D61-4601548C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A56B4-44AB-E1B0-3344-5FDA29DDF904}"/>
              </a:ext>
            </a:extLst>
          </p:cNvPr>
          <p:cNvSpPr txBox="1"/>
          <p:nvPr/>
        </p:nvSpPr>
        <p:spPr>
          <a:xfrm>
            <a:off x="217714" y="255046"/>
            <a:ext cx="11756571" cy="2455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  çoxdilli (multilingual) sistem qurmaq </a:t>
            </a:r>
            <a:r>
              <a:rPr lang="az-Latn-AZ" altLang="en-US" sz="1300" b="1">
                <a:latin typeface="Arial" panose="020B0604020202020204" pitchFamily="34" charset="0"/>
              </a:rPr>
              <a:t>SetLocale</a:t>
            </a:r>
            <a:r>
              <a:rPr lang="az-Latn-AZ" altLang="en-US" sz="1300">
                <a:latin typeface="Arial" panose="020B0604020202020204" pitchFamily="34" charset="0"/>
              </a:rPr>
              <a:t> adında </a:t>
            </a:r>
            <a:r>
              <a:rPr lang="az-Latn-AZ" altLang="en-US" sz="1300" b="1">
                <a:latin typeface="Arial" panose="020B0604020202020204" pitchFamily="34" charset="0"/>
              </a:rPr>
              <a:t>middleware</a:t>
            </a:r>
            <a:r>
              <a:rPr lang="az-Latn-AZ" altLang="en-US" sz="1300">
                <a:latin typeface="Arial" panose="020B0604020202020204" pitchFamily="34" charset="0"/>
              </a:rPr>
              <a:t> yaradırıq və bütün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 üçün işləsin deyə, onu </a:t>
            </a:r>
            <a:r>
              <a:rPr lang="az-Latn-AZ" altLang="en-US" sz="1300" b="1">
                <a:latin typeface="Arial" panose="020B0604020202020204" pitchFamily="34" charset="0"/>
              </a:rPr>
              <a:t>Kernel.php </a:t>
            </a:r>
            <a:r>
              <a:rPr lang="az-Latn-AZ" altLang="en-US" sz="1300">
                <a:latin typeface="Arial" panose="020B0604020202020204" pitchFamily="34" charset="0"/>
              </a:rPr>
              <a:t>faylında qeydiyyata alırıq.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 </a:t>
            </a:r>
            <a:r>
              <a:rPr lang="en-US" altLang="en-US" sz="1300" b="1">
                <a:latin typeface="Arial" panose="020B0604020202020204" pitchFamily="34" charset="0"/>
              </a:rPr>
              <a:t>SetLocale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adlı </a:t>
            </a:r>
            <a:r>
              <a:rPr lang="en-US" altLang="en-US" sz="1300">
                <a:latin typeface="Arial" panose="020B0604020202020204" pitchFamily="34" charset="0"/>
              </a:rPr>
              <a:t>middleware-in əsas məqsədi: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-dən</a:t>
            </a:r>
            <a:r>
              <a:rPr lang="az-Latn-AZ" altLang="en-US" sz="1300">
                <a:latin typeface="Arial" panose="020B0604020202020204" pitchFamily="34" charset="0"/>
              </a:rPr>
              <a:t>,</a:t>
            </a:r>
            <a:r>
              <a:rPr lang="en-US" altLang="en-US" sz="1300">
                <a:latin typeface="Arial" panose="020B0604020202020204" pitchFamily="34" charset="0"/>
              </a:rPr>
              <a:t> dili oxuyaraq Laravel tətbiqinə həmin dili tətbiq etməkdir.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Yəni</a:t>
            </a:r>
            <a:r>
              <a:rPr lang="en-US" altLang="en-US" sz="13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istifadəçi </a:t>
            </a:r>
            <a:r>
              <a:rPr lang="en-US" altLang="en-US" sz="1300" b="1">
                <a:latin typeface="Arial" panose="020B0604020202020204" pitchFamily="34" charset="0"/>
              </a:rPr>
              <a:t>https://example.com/en/about </a:t>
            </a:r>
            <a:r>
              <a:rPr lang="en-US" altLang="en-US" sz="1300">
                <a:latin typeface="Arial" panose="020B0604020202020204" pitchFamily="34" charset="0"/>
              </a:rPr>
              <a:t>ünvanına daxil olursa, dil avtomatik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en</a:t>
            </a:r>
            <a:r>
              <a:rPr lang="en-US" altLang="en-US" sz="1300">
                <a:latin typeface="Arial" panose="020B0604020202020204" pitchFamily="34" charset="0"/>
              </a:rPr>
              <a:t> olur.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Əgər </a:t>
            </a:r>
            <a:r>
              <a:rPr lang="en-US" altLang="en-US" sz="1300" b="1">
                <a:latin typeface="Arial" panose="020B0604020202020204" pitchFamily="34" charset="0"/>
              </a:rPr>
              <a:t>https://example.com/az/about </a:t>
            </a:r>
            <a:r>
              <a:rPr lang="en-US" altLang="en-US" sz="1300">
                <a:latin typeface="Arial" panose="020B0604020202020204" pitchFamily="34" charset="0"/>
              </a:rPr>
              <a:t>ünvanına daxil olursa, dil avtomatik </a:t>
            </a:r>
            <a:r>
              <a:rPr lang="en-US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az</a:t>
            </a:r>
            <a:r>
              <a:rPr lang="en-US" altLang="en-US" sz="1300">
                <a:latin typeface="Arial" panose="020B0604020202020204" pitchFamily="34" charset="0"/>
              </a:rPr>
              <a:t> olur.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ABF6BD-1B71-A4E3-431B-DCFA349B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70" y="2780522"/>
            <a:ext cx="7277030" cy="40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1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99983-2309-4B41-A00D-C014B27DA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550301-F3B3-BA74-A189-EB7666E70FA7}"/>
              </a:ext>
            </a:extLst>
          </p:cNvPr>
          <p:cNvSpPr txBox="1"/>
          <p:nvPr/>
        </p:nvSpPr>
        <p:spPr>
          <a:xfrm>
            <a:off x="217714" y="255046"/>
            <a:ext cx="11756571" cy="2551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Test Et</a:t>
            </a:r>
            <a:r>
              <a:rPr lang="en-US" altLang="en-US" sz="1200"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http://localhost:8000/en/ → "Welcome to our site"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http://localhost:8000/az/ → "Saytımıza xoş gəlmisiniz"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http://localhost:8000/en/about → "About us"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200">
                <a:latin typeface="Arial" panose="020B0604020202020204" pitchFamily="34" charset="0"/>
              </a:rPr>
              <a:t>http://localhost:8000/az/about → "Haqqımızda"</a:t>
            </a: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solidFill>
                  <a:schemeClr val="accent2"/>
                </a:solidFill>
                <a:latin typeface="Arial" panose="020B0604020202020204" pitchFamily="34" charset="0"/>
              </a:rPr>
              <a:t>NOT</a:t>
            </a:r>
            <a:r>
              <a:rPr lang="az-Latn-AZ" altLang="en-US" sz="1200">
                <a:latin typeface="Arial" panose="020B0604020202020204" pitchFamily="34" charset="0"/>
              </a:rPr>
              <a:t>: Əgər dil olaraq EN seçsək saytın dili İngilis dilində olacaq. Ancaq </a:t>
            </a:r>
            <a:r>
              <a:rPr lang="az-Latn-AZ" altLang="en-US" sz="1200" b="1">
                <a:latin typeface="Arial" panose="020B0604020202020204" pitchFamily="34" charset="0"/>
              </a:rPr>
              <a:t>URL</a:t>
            </a:r>
            <a:r>
              <a:rPr lang="az-Latn-AZ" altLang="en-US" sz="1200">
                <a:latin typeface="Arial" panose="020B0604020202020204" pitchFamily="34" charset="0"/>
              </a:rPr>
              <a:t> yerində manual olaraq `</a:t>
            </a:r>
            <a:r>
              <a:rPr lang="az-Latn-AZ" altLang="en-US" sz="1200" b="1">
                <a:latin typeface="Arial" panose="020B0604020202020204" pitchFamily="34" charset="0"/>
              </a:rPr>
              <a:t>http://vendor-e-commerce.test/ </a:t>
            </a:r>
            <a:r>
              <a:rPr lang="az-Latn-AZ" altLang="en-US" sz="1200">
                <a:latin typeface="Arial" panose="020B0604020202020204" pitchFamily="34" charset="0"/>
              </a:rPr>
              <a:t>` əsas səhifəyəni `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r>
              <a:rPr lang="az-Latn-AZ" altLang="en-US" sz="1200">
                <a:latin typeface="Arial" panose="020B0604020202020204" pitchFamily="34" charset="0"/>
              </a:rPr>
              <a:t>` yazaraq </a:t>
            </a:r>
            <a:r>
              <a:rPr lang="az-Latn-AZ" altLang="en-US" sz="1200" b="1">
                <a:latin typeface="Arial" panose="020B0604020202020204" pitchFamily="34" charset="0"/>
              </a:rPr>
              <a:t>Enter</a:t>
            </a:r>
            <a:r>
              <a:rPr lang="az-Latn-AZ" altLang="en-US" sz="1200">
                <a:latin typeface="Arial" panose="020B0604020202020204" pitchFamily="34" charset="0"/>
              </a:rPr>
              <a:t> düyməsini bassaq onda, saytın dili avtomatik </a:t>
            </a:r>
            <a:r>
              <a:rPr lang="az-Latn-AZ" altLang="en-US" sz="1200" b="1">
                <a:latin typeface="Arial" panose="020B0604020202020204" pitchFamily="34" charset="0"/>
              </a:rPr>
              <a:t>Azərbaycan</a:t>
            </a:r>
            <a:r>
              <a:rPr lang="az-Latn-AZ" altLang="en-US" sz="1200">
                <a:latin typeface="Arial" panose="020B0604020202020204" pitchFamily="34" charset="0"/>
              </a:rPr>
              <a:t> dilinə keçəcək. Seçilən dilin yadda qalan olması üçün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SESSİON</a:t>
            </a:r>
            <a:r>
              <a:rPr lang="az-Latn-AZ" altLang="en-US" sz="1200">
                <a:latin typeface="Arial" panose="020B0604020202020204" pitchFamily="34" charset="0"/>
              </a:rPr>
              <a:t> -lardan istifadə etmək olar.</a:t>
            </a:r>
            <a:endParaRPr lang="en-US" altLang="en-US" sz="12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BBCF56-FEF7-4963-E3A9-7B0E46E47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9" y="3203995"/>
            <a:ext cx="3805536" cy="14053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E40357-BF2A-8D16-68B9-A2F04D603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646" y="3203995"/>
            <a:ext cx="5150498" cy="14177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A5D34-7563-CED4-A4AA-35AD4121F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80" y="5275391"/>
            <a:ext cx="3966564" cy="1509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EB782B5-5F27-D039-42C0-FA388A9F56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512" y="5240210"/>
            <a:ext cx="7055873" cy="15445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4389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543E3-0B83-FA67-1570-2EA55493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818C2-21E6-E197-EE2C-F745A0F16C4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5712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F89A0-DB7F-D60A-1988-BF95C34A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E8373-2A3A-4AFD-6760-82CC8F836425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PROFESSIONALLAŞDIRILMIŞ ÇOXDİLLİ SİSTEM STRUKTURU</a:t>
            </a:r>
            <a:endParaRPr lang="az-Latn-AZ" altLang="en-US" sz="1300" b="1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Nələr edəcəyik: 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1. Dynamic locale switching – dropdown ilə dəyişiklik (və sessiyada saxlanılması)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2. Default redirect – əsas domen çağırıldıqda avtomatik istifadəçinin əvvəlki seçdiyi dilə yönləndirilsin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3. Route localization – lokalizə olunmuş route adları (</a:t>
            </a:r>
            <a:r>
              <a:rPr lang="az-Latn-AZ" altLang="en-US" sz="1300">
                <a:latin typeface="Arial" panose="020B0604020202020204" pitchFamily="34" charset="0"/>
              </a:rPr>
              <a:t>   </a:t>
            </a:r>
            <a:r>
              <a:rPr lang="en-US" altLang="en-US" sz="1300">
                <a:latin typeface="Arial" panose="020B0604020202020204" pitchFamily="34" charset="0"/>
              </a:rPr>
              <a:t>i18n</a:t>
            </a:r>
            <a:r>
              <a:rPr lang="az-Latn-AZ" altLang="en-US" sz="1300">
                <a:latin typeface="Arial" panose="020B0604020202020204" pitchFamily="34" charset="0"/>
              </a:rPr>
              <a:t> (</a:t>
            </a:r>
            <a:r>
              <a:rPr lang="az-Latn-AZ" altLang="en-US" sz="1300" b="1">
                <a:latin typeface="Arial" panose="020B0604020202020204" pitchFamily="34" charset="0"/>
              </a:rPr>
              <a:t>Internationalization</a:t>
            </a:r>
            <a:r>
              <a:rPr lang="az-Latn-AZ" altLang="en-US" sz="1300">
                <a:latin typeface="Arial" panose="020B0604020202020204" pitchFamily="34" charset="0"/>
              </a:rPr>
              <a:t>)</a:t>
            </a:r>
            <a:r>
              <a:rPr lang="en-US" altLang="en-US" sz="1300">
                <a:latin typeface="Arial" panose="020B0604020202020204" pitchFamily="34" charset="0"/>
              </a:rPr>
              <a:t> routing</a:t>
            </a:r>
            <a:r>
              <a:rPr lang="az-Latn-AZ" altLang="en-US" sz="1300">
                <a:latin typeface="Arial" panose="020B0604020202020204" pitchFamily="34" charset="0"/>
              </a:rPr>
              <a:t>   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Lokalizə olunmuş routing, Laravel framework-d</a:t>
            </a:r>
            <a:r>
              <a:rPr lang="az-Latn-AZ" altLang="en-US" sz="1300">
                <a:latin typeface="Arial" panose="020B0604020202020204" pitchFamily="34" charset="0"/>
              </a:rPr>
              <a:t>a</a:t>
            </a:r>
            <a:r>
              <a:rPr lang="en-US" altLang="en-US" sz="1300">
                <a:latin typeface="Arial" panose="020B0604020202020204" pitchFamily="34" charset="0"/>
              </a:rPr>
              <a:t> müxtəlif dillərə uyğun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 yollarının (route-ların) </a:t>
            </a:r>
            <a:r>
              <a:rPr lang="en-US" altLang="en-US" sz="1300" b="1">
                <a:latin typeface="Arial" panose="020B0604020202020204" pitchFamily="34" charset="0"/>
              </a:rPr>
              <a:t>avtomatik</a:t>
            </a:r>
            <a:r>
              <a:rPr lang="en-US" altLang="en-US" sz="1300">
                <a:latin typeface="Arial" panose="020B0604020202020204" pitchFamily="34" charset="0"/>
              </a:rPr>
              <a:t> və ya </a:t>
            </a:r>
            <a:r>
              <a:rPr lang="en-US" altLang="en-US" sz="1300" b="1">
                <a:latin typeface="Arial" panose="020B0604020202020204" pitchFamily="34" charset="0"/>
              </a:rPr>
              <a:t>dinamik</a:t>
            </a:r>
            <a:r>
              <a:rPr lang="en-US" altLang="en-US" sz="1300">
                <a:latin typeface="Arial" panose="020B0604020202020204" pitchFamily="34" charset="0"/>
              </a:rPr>
              <a:t> şəkildə yaradılması prosesidir. Bu, istifadəçinin seçdiyi dilə uyğun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-lərin işləməsini təmin edir. Lokalizə olunmuş routelar </a:t>
            </a:r>
            <a:r>
              <a:rPr lang="en-US" altLang="en-US" sz="1300" b="1">
                <a:latin typeface="Arial" panose="020B0604020202020204" pitchFamily="34" charset="0"/>
              </a:rPr>
              <a:t>URL</a:t>
            </a:r>
            <a:r>
              <a:rPr lang="en-US" altLang="en-US" sz="1300">
                <a:latin typeface="Arial" panose="020B0604020202020204" pitchFamily="34" charset="0"/>
              </a:rPr>
              <a:t>-də dil prefiksi (/az, /en, /ru və s.) ilə birgə istifadə olunur.**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✅ 4. Language switch component (blade) – bütün səhifələrdə işləyəcək </a:t>
            </a:r>
            <a:r>
              <a:rPr lang="en-US" altLang="en-US" sz="1300" b="1">
                <a:latin typeface="Arial" panose="020B0604020202020204" pitchFamily="34" charset="0"/>
              </a:rPr>
              <a:t>language-switcher</a:t>
            </a:r>
            <a:r>
              <a:rPr lang="en-US" altLang="en-US" sz="1300">
                <a:latin typeface="Arial" panose="020B0604020202020204" pitchFamily="34" charset="0"/>
              </a:rPr>
              <a:t> komponenti yaradaca</a:t>
            </a:r>
            <a:r>
              <a:rPr lang="az-Latn-AZ" altLang="en-US" sz="1300">
                <a:latin typeface="Arial" panose="020B0604020202020204" pitchFamily="34" charset="0"/>
              </a:rPr>
              <a:t>ğıq.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2C2F0-4970-3E24-50AD-AE0DAA976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9" r="1"/>
          <a:stretch>
            <a:fillRect/>
          </a:stretch>
        </p:blipFill>
        <p:spPr>
          <a:xfrm>
            <a:off x="7489371" y="2657303"/>
            <a:ext cx="1656034" cy="636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277666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0098F-7757-DAD1-B68A-6D37DE3F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0B09C6-7F3C-ED82-7AF5-70D8101EB077}"/>
              </a:ext>
            </a:extLst>
          </p:cNvPr>
          <p:cNvSpPr txBox="1"/>
          <p:nvPr/>
        </p:nvSpPr>
        <p:spPr>
          <a:xfrm>
            <a:off x="217714" y="171071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az-Latn-AZ" altLang="en-US" sz="1300">
                <a:latin typeface="Arial" panose="020B0604020202020204" pitchFamily="34" charset="0"/>
              </a:rPr>
              <a:t>İlk öncə </a:t>
            </a:r>
            <a:r>
              <a:rPr lang="en-US" altLang="en-US" sz="1300" b="1">
                <a:latin typeface="Arial" panose="020B0604020202020204" pitchFamily="34" charset="0"/>
              </a:rPr>
              <a:t>Middleware</a:t>
            </a:r>
            <a:r>
              <a:rPr lang="en-US" altLang="en-US" sz="1300">
                <a:latin typeface="Arial" panose="020B0604020202020204" pitchFamily="34" charset="0"/>
              </a:rPr>
              <a:t> - i</a:t>
            </a:r>
            <a:r>
              <a:rPr lang="az-Latn-AZ" altLang="en-US" sz="1300">
                <a:latin typeface="Arial" panose="020B0604020202020204" pitchFamily="34" charset="0"/>
              </a:rPr>
              <a:t> modifikasiya edirik. Yəni bir balaca yeni struktura uyğunlaşdırmaq üçün dəyişdiririk.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</a:rPr>
              <a:t>app\Http\Middleware\SetLocale.php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1DB03B-4D8D-3C48-37CD-874D8CD8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7042"/>
            <a:ext cx="12192000" cy="561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42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0B5A-2625-858C-FF67-B2E74B95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85A4BA-4147-4D3D-7A7B-3DDADCA344DC}"/>
              </a:ext>
            </a:extLst>
          </p:cNvPr>
          <p:cNvSpPr txBox="1"/>
          <p:nvPr/>
        </p:nvSpPr>
        <p:spPr>
          <a:xfrm>
            <a:off x="217714" y="255046"/>
            <a:ext cx="11756571" cy="520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2. Root yönləndirməsi (Dil əlavə edən yönləndirmə):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Məsələn </a:t>
            </a:r>
            <a:r>
              <a:rPr lang="az-Latn-AZ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manual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olaraq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return redirect('en’);</a:t>
            </a:r>
            <a:r>
              <a:rPr lang="az-Latn-AZ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yazdıqda və sayta bu cür `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example.com/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` daxil olduqda, onda yönləndirmə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İngilis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dilindəki ana səhifəyə olacaq. 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return redirect(</a:t>
            </a:r>
            <a:r>
              <a:rPr lang="az-Latn-AZ" sz="1400" b="1">
                <a:latin typeface="Arial" panose="020B0604020202020204" pitchFamily="34" charset="0"/>
                <a:cs typeface="Arial" panose="020B0604020202020204" pitchFamily="34" charset="0"/>
              </a:rPr>
              <a:t>az</a:t>
            </a:r>
            <a:r>
              <a:rPr lang="en-US" sz="1400" b="1">
                <a:latin typeface="Arial" panose="020B0604020202020204" pitchFamily="34" charset="0"/>
                <a:cs typeface="Arial" panose="020B0604020202020204" pitchFamily="34" charset="0"/>
              </a:rPr>
              <a:t>’);</a:t>
            </a:r>
            <a:r>
              <a:rPr lang="az-Latn-AZ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az-Latn-AZ" sz="1400">
                <a:latin typeface="Arial" panose="020B0604020202020204" pitchFamily="34" charset="0"/>
                <a:cs typeface="Arial" panose="020B0604020202020204" pitchFamily="34" charset="0"/>
              </a:rPr>
              <a:t>yazdıqda isə Azərbaycan dilindəki ana səhifəyə olacaq.</a:t>
            </a:r>
            <a:r>
              <a:rPr lang="az-Latn-AZ" sz="1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Nə edir bu?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İstifadəçi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example.com/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ünvanına daxil olduqda: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Əvvəlcə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sessiyada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dil varsa</a:t>
            </a:r>
            <a:r>
              <a:rPr lang="az-Latn-AZ" altLang="en-US" sz="1300">
                <a:latin typeface="Arial" panose="020B0604020202020204" pitchFamily="34" charset="0"/>
                <a:cs typeface="Arial" panose="020B0604020202020204" pitchFamily="34" charset="0"/>
              </a:rPr>
              <a:t> (locale)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 onu götürür (az, en)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Əgər sessiyada yoxdursa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config('app.fallback_locale')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dəyəri götürülür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Və istifadəçini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example.com/az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və ya 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example.com/en 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kimi uyğun dildəki URL-ə yönləndirir</a:t>
            </a:r>
          </a:p>
          <a:p>
            <a:pPr>
              <a:lnSpc>
                <a:spcPct val="150000"/>
              </a:lnSpc>
            </a:pPr>
            <a:endParaRPr lang="en-US" altLang="en-US" sz="13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➡️ Bu, çoxdilli saytlar üçün avtomatik yönləndirmə (</a:t>
            </a:r>
            <a:r>
              <a:rPr lang="en-US" altLang="en-US" sz="1300" b="1">
                <a:latin typeface="Arial" panose="020B0604020202020204" pitchFamily="34" charset="0"/>
                <a:cs typeface="Arial" panose="020B0604020202020204" pitchFamily="34" charset="0"/>
              </a:rPr>
              <a:t>redirect</a:t>
            </a:r>
            <a:r>
              <a:rPr lang="en-US" altLang="en-US" sz="1300">
                <a:latin typeface="Arial" panose="020B0604020202020204" pitchFamily="34" charset="0"/>
                <a:cs typeface="Arial" panose="020B0604020202020204" pitchFamily="34" charset="0"/>
              </a:rPr>
              <a:t>) məntiqidir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E9170A-8BE5-97EC-6AEC-4F195F920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32805"/>
            <a:ext cx="4763165" cy="9716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8BD37-686F-FAE3-7EBB-BD2953642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759" y="3429000"/>
            <a:ext cx="445824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376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67758-5A73-2A4C-EEAA-F81E5C36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1AAB97-F546-0540-EA1F-CF65AC737D4E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3. Lokalizə olunmuş </a:t>
            </a:r>
            <a:r>
              <a:rPr lang="en-US" altLang="en-US" sz="1300" b="1">
                <a:latin typeface="Arial" panose="020B0604020202020204" pitchFamily="34" charset="0"/>
              </a:rPr>
              <a:t>route qrupları + fn() </a:t>
            </a:r>
            <a:r>
              <a:rPr lang="en-US" altLang="en-US" sz="1300">
                <a:latin typeface="Arial" panose="020B0604020202020204" pitchFamily="34" charset="0"/>
              </a:rPr>
              <a:t>funksiyası: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Bu nə edir?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Route-lar URL-də </a:t>
            </a:r>
            <a:r>
              <a:rPr lang="en-US" altLang="en-US" sz="1300" b="1">
                <a:latin typeface="Arial" panose="020B0604020202020204" pitchFamily="34" charset="0"/>
              </a:rPr>
              <a:t>{locale}</a:t>
            </a:r>
            <a:r>
              <a:rPr lang="en-US" altLang="en-US" sz="1300">
                <a:latin typeface="Arial" panose="020B0604020202020204" pitchFamily="34" charset="0"/>
              </a:rPr>
              <a:t> prefixi ilə işləyir: </a:t>
            </a:r>
            <a:r>
              <a:rPr lang="en-US" altLang="en-US" sz="1300" b="1">
                <a:latin typeface="Arial" panose="020B0604020202020204" pitchFamily="34" charset="0"/>
              </a:rPr>
              <a:t>/az/about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>
                <a:latin typeface="Arial" panose="020B0604020202020204" pitchFamily="34" charset="0"/>
              </a:rPr>
              <a:t>     </a:t>
            </a:r>
            <a:r>
              <a:rPr lang="en-US" altLang="en-US" sz="1300" b="1">
                <a:latin typeface="Arial" panose="020B0604020202020204" pitchFamily="34" charset="0"/>
              </a:rPr>
              <a:t>/en/about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>
                <a:latin typeface="Arial" panose="020B0604020202020204" pitchFamily="34" charset="0"/>
              </a:rPr>
              <a:t>Yalnız </a:t>
            </a:r>
            <a:r>
              <a:rPr lang="en-US" altLang="en-US" sz="1300" b="1">
                <a:latin typeface="Arial" panose="020B0604020202020204" pitchFamily="34" charset="0"/>
              </a:rPr>
              <a:t>az</a:t>
            </a:r>
            <a:r>
              <a:rPr lang="en-US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en</a:t>
            </a:r>
            <a:r>
              <a:rPr lang="en-US" altLang="en-US" sz="1300">
                <a:latin typeface="Arial" panose="020B0604020202020204" pitchFamily="34" charset="0"/>
              </a:rPr>
              <a:t> dillərinə icazə verilir (</a:t>
            </a:r>
            <a:r>
              <a:rPr lang="en-US" altLang="en-US" sz="1300" b="1">
                <a:latin typeface="Arial" panose="020B0604020202020204" pitchFamily="34" charset="0"/>
              </a:rPr>
              <a:t>where</a:t>
            </a:r>
            <a:r>
              <a:rPr lang="en-US" altLang="en-US" sz="1300">
                <a:latin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300" b="1">
                <a:latin typeface="Arial" panose="020B0604020202020204" pitchFamily="34" charset="0"/>
              </a:rPr>
              <a:t>fn() =&gt; view('...') </a:t>
            </a:r>
            <a:r>
              <a:rPr lang="en-US" altLang="en-US" sz="1300">
                <a:latin typeface="Arial" panose="020B0604020202020204" pitchFamily="34" charset="0"/>
              </a:rPr>
              <a:t>— bu PHP 7.4+ versiyasından gələn </a:t>
            </a:r>
            <a:r>
              <a:rPr lang="en-US" altLang="en-US" sz="1300" b="1">
                <a:latin typeface="Arial" panose="020B0604020202020204" pitchFamily="34" charset="0"/>
              </a:rPr>
              <a:t>arrow function</a:t>
            </a:r>
            <a:r>
              <a:rPr lang="en-US" altLang="en-US" sz="1300">
                <a:latin typeface="Arial" panose="020B0604020202020204" pitchFamily="34" charset="0"/>
              </a:rPr>
              <a:t>-dur, bu formada yazılır: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Bu, aşağıdakı klassik forma ilə eyni şeydir: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E997E-D138-DB3C-BFD2-5C0247BD5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764557"/>
            <a:ext cx="6592220" cy="962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6A8B0D-4D33-9180-6567-C612095BC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3578943"/>
            <a:ext cx="1991003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FB150C-1A4D-8D80-E419-D43760787D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4" y="4606583"/>
            <a:ext cx="2238687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96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1936-CECF-6F56-E22D-36E65BE4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E1E45-EB95-60A8-BDD7-0BC4F05130F0}"/>
              </a:ext>
            </a:extLst>
          </p:cNvPr>
          <p:cNvSpPr txBox="1"/>
          <p:nvPr/>
        </p:nvSpPr>
        <p:spPr>
          <a:xfrm>
            <a:off x="217713" y="102431"/>
            <a:ext cx="11756571" cy="3869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100">
                <a:latin typeface="Arial" panose="020B0604020202020204" pitchFamily="34" charset="0"/>
              </a:rPr>
              <a:t>4. Dil seçimi forması (Blade view daxilində):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Button k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likləndikdə işə düşən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LanguageController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Bu controller -in işə düşməsi üçün 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name(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‘language.switch’</a:t>
            </a:r>
            <a:r>
              <a:rPr kumimoji="0" lang="az-Latn-AZ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11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istifadə edilir.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name</a:t>
            </a:r>
            <a:r>
              <a:rPr lang="az-Latn-AZ" altLang="en-US" sz="1100">
                <a:latin typeface="Arial" panose="020B0604020202020204" pitchFamily="34" charset="0"/>
              </a:rPr>
              <a:t> çağırır </a:t>
            </a:r>
            <a:r>
              <a:rPr lang="az-Latn-AZ" altLang="en-US" sz="1100" b="1">
                <a:latin typeface="Arial" panose="020B0604020202020204" pitchFamily="34" charset="0"/>
              </a:rPr>
              <a:t>route</a:t>
            </a:r>
            <a:r>
              <a:rPr lang="az-Latn-AZ" altLang="en-US" sz="1100">
                <a:latin typeface="Arial" panose="020B0604020202020204" pitchFamily="34" charset="0"/>
              </a:rPr>
              <a:t> -</a:t>
            </a:r>
            <a:r>
              <a:rPr lang="en-US" altLang="en-US" sz="1100">
                <a:latin typeface="Arial" panose="020B0604020202020204" pitchFamily="34" charset="0"/>
              </a:rPr>
              <a:t>u, </a:t>
            </a:r>
            <a:r>
              <a:rPr lang="en-US" altLang="en-US" sz="1100" b="1">
                <a:latin typeface="Arial" panose="020B0604020202020204" pitchFamily="34" charset="0"/>
              </a:rPr>
              <a:t>route</a:t>
            </a:r>
            <a:r>
              <a:rPr lang="en-US" altLang="en-US" sz="1100">
                <a:latin typeface="Arial" panose="020B0604020202020204" pitchFamily="34" charset="0"/>
              </a:rPr>
              <a:t> is</a:t>
            </a:r>
            <a:r>
              <a:rPr lang="az-Latn-AZ" altLang="en-US" sz="1100">
                <a:latin typeface="Arial" panose="020B0604020202020204" pitchFamily="34" charset="0"/>
              </a:rPr>
              <a:t>ə bu controllerdə olan </a:t>
            </a:r>
            <a:r>
              <a:rPr lang="en-US" altLang="en-US" sz="1100" b="1">
                <a:latin typeface="Arial" panose="020B0604020202020204" pitchFamily="34" charset="0"/>
              </a:rPr>
              <a:t>switch() </a:t>
            </a:r>
            <a:r>
              <a:rPr lang="en-US" altLang="en-US" sz="1100">
                <a:latin typeface="Arial" panose="020B0604020202020204" pitchFamily="34" charset="0"/>
              </a:rPr>
              <a:t>metodunu.</a:t>
            </a:r>
            <a:endParaRPr kumimoji="0" lang="en-US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059BF7-F788-F3C3-12C8-337C904F6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431988"/>
            <a:ext cx="5091405" cy="270432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3148CD-7973-59AD-4279-124208DF7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335210"/>
              </p:ext>
            </p:extLst>
          </p:nvPr>
        </p:nvGraphicFramePr>
        <p:xfrm>
          <a:off x="217713" y="4381982"/>
          <a:ext cx="11678818" cy="2373587"/>
        </p:xfrm>
        <a:graphic>
          <a:graphicData uri="http://schemas.openxmlformats.org/drawingml/2006/table">
            <a:tbl>
              <a:tblPr/>
              <a:tblGrid>
                <a:gridCol w="2292222">
                  <a:extLst>
                    <a:ext uri="{9D8B030D-6E8A-4147-A177-3AD203B41FA5}">
                      <a16:colId xmlns:a16="http://schemas.microsoft.com/office/drawing/2014/main" val="3756741424"/>
                    </a:ext>
                  </a:extLst>
                </a:gridCol>
                <a:gridCol w="9386596">
                  <a:extLst>
                    <a:ext uri="{9D8B030D-6E8A-4147-A177-3AD203B41FA5}">
                      <a16:colId xmlns:a16="http://schemas.microsoft.com/office/drawing/2014/main" val="365803409"/>
                    </a:ext>
                  </a:extLst>
                </a:gridCol>
              </a:tblGrid>
              <a:tr h="329977">
                <a:tc>
                  <a:txBody>
                    <a:bodyPr/>
                    <a:lstStyle/>
                    <a:p>
                      <a:r>
                        <a:rPr lang="en-US" sz="1200" b="1"/>
                        <a:t>Hissə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243346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@csrf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Laravel form təhlükəsizliyini təmin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81327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name="locale"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Seçilən dəyər locale adında serverə göndərilir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8967809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onchange="this.form.submit()"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Seçim dəyişəndə avtomatik </a:t>
                      </a:r>
                      <a:r>
                        <a:rPr lang="en-US" sz="1200" b="1"/>
                        <a:t>formu</a:t>
                      </a:r>
                      <a:r>
                        <a:rPr lang="en-US" sz="1200"/>
                        <a:t> göndərir</a:t>
                      </a:r>
                      <a:r>
                        <a:rPr lang="az-Latn-AZ" sz="1200"/>
                        <a:t>. Yəni, hər fərqli dil seçiləndə </a:t>
                      </a:r>
                      <a:r>
                        <a:rPr lang="en-US" sz="1200"/>
                        <a:t>‘</a:t>
                      </a:r>
                      <a:r>
                        <a:rPr lang="en-US" sz="1200" b="1"/>
                        <a:t>language.switch</a:t>
                      </a:r>
                      <a:r>
                        <a:rPr lang="en-US" sz="1200"/>
                        <a:t>’ route-ru, </a:t>
                      </a:r>
                      <a:r>
                        <a:rPr lang="az-Latn-AZ" sz="1200"/>
                        <a:t>controlleri çağırır və </a:t>
                      </a:r>
                      <a:r>
                        <a:rPr lang="az-Latn-AZ" sz="1200" b="1"/>
                        <a:t>option</a:t>
                      </a:r>
                      <a:r>
                        <a:rPr lang="az-Latn-AZ" sz="1200"/>
                        <a:t> -nın </a:t>
                      </a:r>
                      <a:r>
                        <a:rPr lang="az-Latn-AZ" sz="1200" b="1"/>
                        <a:t>value</a:t>
                      </a:r>
                      <a:r>
                        <a:rPr lang="az-Latn-AZ" sz="1200"/>
                        <a:t> -su həmin </a:t>
                      </a:r>
                      <a:r>
                        <a:rPr lang="az-Latn-AZ" sz="1200" b="1"/>
                        <a:t>controllerə</a:t>
                      </a:r>
                      <a:r>
                        <a:rPr lang="az-Latn-AZ" sz="1200"/>
                        <a:t> göndərilir. </a:t>
                      </a:r>
                      <a:r>
                        <a:rPr lang="az-Latn-AZ" sz="1200" b="1"/>
                        <a:t>Option</a:t>
                      </a:r>
                      <a:r>
                        <a:rPr lang="az-Latn-AZ" sz="1200"/>
                        <a:t> ilə göndərilən </a:t>
                      </a:r>
                      <a:r>
                        <a:rPr lang="az-Latn-AZ" sz="1200" b="1"/>
                        <a:t>value</a:t>
                      </a:r>
                      <a:r>
                        <a:rPr lang="az-Latn-AZ" sz="1200"/>
                        <a:t> -nu isə </a:t>
                      </a:r>
                      <a:r>
                        <a:rPr lang="az-Latn-AZ" sz="1200" b="1"/>
                        <a:t>controllerdə</a:t>
                      </a:r>
                      <a:r>
                        <a:rPr lang="az-Latn-AZ" sz="1200"/>
                        <a:t> əldə etmək üçün </a:t>
                      </a:r>
                      <a:r>
                        <a:rPr lang="az-Latn-AZ" sz="1200" b="1"/>
                        <a:t>name=`locale` </a:t>
                      </a:r>
                      <a:r>
                        <a:rPr lang="az-Latn-AZ" sz="1200"/>
                        <a:t>istifadə edilir: </a:t>
                      </a:r>
                      <a:r>
                        <a:rPr lang="az-Latn-AZ" sz="1200" b="1"/>
                        <a:t>$request-&gt;input('locale');</a:t>
                      </a:r>
                      <a:endParaRPr lang="en-US" sz="1200" b="1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74739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@foreach(...)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Hər dil üçün bir </a:t>
                      </a:r>
                      <a:r>
                        <a:rPr lang="en-US" sz="1200" b="1"/>
                        <a:t>&lt;option&gt;</a:t>
                      </a:r>
                      <a:r>
                        <a:rPr lang="en-US" sz="1200"/>
                        <a:t> yaradır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735641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app()-&gt;getLocale()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Hal-hazırda istifadə edilən dili alır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708950"/>
                  </a:ext>
                </a:extLst>
              </a:tr>
              <a:tr h="317282">
                <a:tc>
                  <a:txBody>
                    <a:bodyPr/>
                    <a:lstStyle/>
                    <a:p>
                      <a:r>
                        <a:rPr lang="en-US" sz="1200" b="1"/>
                        <a:t>selected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Aktiv dili siyahıda seçilmiş kimi göstərir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22080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B2E368-4981-DEF3-958A-1BA586A80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170" y="2133070"/>
            <a:ext cx="638264" cy="3429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3C0103-3932-05BB-A216-BD792DC41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13" y="3939523"/>
            <a:ext cx="5091405" cy="31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877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FB126-63AA-A84C-0058-2C5C3FFD0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012AE9-7C43-D99C-0E5B-5FEDEF24A3D0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5. Dil dəyişmə Controller metodu:    </a:t>
            </a:r>
            <a:r>
              <a:rPr lang="en-US" altLang="en-US" sz="1300" b="1">
                <a:latin typeface="Arial" panose="020B0604020202020204" pitchFamily="34" charset="0"/>
              </a:rPr>
              <a:t>app\Http\Controllers\LanguageController.php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1CEBFD-37CE-95FA-766E-4F6E8F165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809259"/>
            <a:ext cx="5482183" cy="282322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CA388AC-68B4-75F3-6EE0-AB66924BD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25653"/>
              </p:ext>
            </p:extLst>
          </p:nvPr>
        </p:nvGraphicFramePr>
        <p:xfrm>
          <a:off x="217713" y="3975236"/>
          <a:ext cx="8590385" cy="2705479"/>
        </p:xfrm>
        <a:graphic>
          <a:graphicData uri="http://schemas.openxmlformats.org/drawingml/2006/table">
            <a:tbl>
              <a:tblPr/>
              <a:tblGrid>
                <a:gridCol w="3086683">
                  <a:extLst>
                    <a:ext uri="{9D8B030D-6E8A-4147-A177-3AD203B41FA5}">
                      <a16:colId xmlns:a16="http://schemas.microsoft.com/office/drawing/2014/main" val="2763030860"/>
                    </a:ext>
                  </a:extLst>
                </a:gridCol>
                <a:gridCol w="5503702">
                  <a:extLst>
                    <a:ext uri="{9D8B030D-6E8A-4147-A177-3AD203B41FA5}">
                      <a16:colId xmlns:a16="http://schemas.microsoft.com/office/drawing/2014/main" val="561564777"/>
                    </a:ext>
                  </a:extLst>
                </a:gridCol>
              </a:tblGrid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Sətir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70637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$request-&gt;input('locale')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Formdan gələn seçilmiş dili alır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466877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in_array(...)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ES" sz="1400"/>
                        <a:t>Əgər bu dil </a:t>
                      </a:r>
                      <a:r>
                        <a:rPr lang="es-ES" sz="1400" b="1"/>
                        <a:t>az</a:t>
                      </a:r>
                      <a:r>
                        <a:rPr lang="es-ES" sz="1400"/>
                        <a:t> və ya </a:t>
                      </a:r>
                      <a:r>
                        <a:rPr lang="es-ES" sz="1400" b="1"/>
                        <a:t>en</a:t>
                      </a:r>
                      <a:r>
                        <a:rPr lang="es-ES" sz="1400"/>
                        <a:t>-dirsə, davam edir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491528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session(['locale' =&gt; $locale])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Bu dili sessiyada saxlayır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36941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request()-&gt;segment(2)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URL</a:t>
                      </a:r>
                      <a:r>
                        <a:rPr lang="en-US" sz="1400"/>
                        <a:t>-in ikinci hissəsini alır, məsələn: </a:t>
                      </a:r>
                      <a:r>
                        <a:rPr lang="en-US" sz="1400" b="1"/>
                        <a:t>/en/about → about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39992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url($locale . '/' . 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Yeni </a:t>
                      </a:r>
                      <a:r>
                        <a:rPr lang="en-US" sz="1400" b="1"/>
                        <a:t>URL</a:t>
                      </a:r>
                      <a:r>
                        <a:rPr lang="en-US" sz="1400"/>
                        <a:t> düzəldir və yönləndirir (məs: </a:t>
                      </a:r>
                      <a:r>
                        <a:rPr lang="en-US" sz="1400" b="1"/>
                        <a:t>/az/about</a:t>
                      </a:r>
                      <a:r>
                        <a:rPr lang="en-US" sz="140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779206"/>
                  </a:ext>
                </a:extLst>
              </a:tr>
              <a:tr h="386497">
                <a:tc>
                  <a:txBody>
                    <a:bodyPr/>
                    <a:lstStyle/>
                    <a:p>
                      <a:r>
                        <a:rPr lang="en-US" sz="1400" b="1"/>
                        <a:t>return redirect(...)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Seçilən dilə uyğun səhifəyə yönləndirilir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92074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E432212-0A7D-FB35-CDF8-6215635BD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820" y="16309"/>
            <a:ext cx="4718180" cy="763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728BF8-31F2-96ED-DEF4-66811396F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3820" y="831937"/>
            <a:ext cx="4718180" cy="205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255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91923-9271-F958-5723-6C1127D19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49DE1E-54F5-5A27-3B4E-A8D3893965C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 </a:t>
            </a:r>
            <a:r>
              <a:rPr lang="az-Latn-AZ" altLang="en-US" sz="1300">
                <a:latin typeface="Arial" panose="020B0604020202020204" pitchFamily="34" charset="0"/>
              </a:rPr>
              <a:t>seçimlərini ( option ) görmək üçün </a:t>
            </a:r>
            <a:r>
              <a:rPr lang="az-Latn-AZ" altLang="en-US" sz="1300" b="1">
                <a:latin typeface="Arial" panose="020B0604020202020204" pitchFamily="34" charset="0"/>
              </a:rPr>
              <a:t>Language-</a:t>
            </a:r>
            <a:r>
              <a:rPr lang="en-US" altLang="en-US" sz="1300" b="1">
                <a:latin typeface="Arial" panose="020B0604020202020204" pitchFamily="34" charset="0"/>
              </a:rPr>
              <a:t>switcher </a:t>
            </a:r>
            <a:r>
              <a:rPr lang="az-Latn-AZ" altLang="en-US" sz="1300">
                <a:latin typeface="Arial" panose="020B0604020202020204" pitchFamily="34" charset="0"/>
              </a:rPr>
              <a:t>component -ini çağırırıq. Sadəcə </a:t>
            </a:r>
            <a:r>
              <a:rPr lang="en-US" altLang="en-US" sz="1300" b="1">
                <a:latin typeface="Arial" panose="020B0604020202020204" pitchFamily="34" charset="0"/>
              </a:rPr>
              <a:t>Welcome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şablonunda görəcəyik bu </a:t>
            </a:r>
            <a:r>
              <a:rPr lang="az-Latn-AZ" altLang="en-US" sz="1300" b="1">
                <a:latin typeface="Arial" panose="020B0604020202020204" pitchFamily="34" charset="0"/>
              </a:rPr>
              <a:t>option</a:t>
            </a:r>
            <a:r>
              <a:rPr lang="az-Latn-AZ" altLang="en-US" sz="1300">
                <a:latin typeface="Arial" panose="020B0604020202020204" pitchFamily="34" charset="0"/>
              </a:rPr>
              <a:t> -nı.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DD7A4-CC2E-F32B-DEBA-5FE9B1D8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9522"/>
            <a:ext cx="7792537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966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8B1CD-AB70-01A6-373E-3A2A8BDD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7A8458-3D7C-C5F6-5DFE-25301D690055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C8B6E6-F741-5693-BDD7-1744FBB38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468" y="2152472"/>
            <a:ext cx="7259063" cy="2553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503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37F7C-87F5-F9E6-FAA7-C7243F1E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5332BC-B337-478F-BA79-48BBF2954D09}"/>
              </a:ext>
            </a:extLst>
          </p:cNvPr>
          <p:cNvSpPr txBox="1"/>
          <p:nvPr/>
        </p:nvSpPr>
        <p:spPr>
          <a:xfrm>
            <a:off x="217715" y="255046"/>
            <a:ext cx="6500326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NOT</a:t>
            </a:r>
            <a:r>
              <a:rPr lang="en-US" altLang="en-US" sz="1300">
                <a:latin typeface="Arial" panose="020B0604020202020204" pitchFamily="34" charset="0"/>
              </a:rPr>
              <a:t>: </a:t>
            </a:r>
            <a:r>
              <a:rPr lang="az-Latn-AZ" altLang="en-US" sz="1300">
                <a:latin typeface="Arial" panose="020B0604020202020204" pitchFamily="34" charset="0"/>
              </a:rPr>
              <a:t>dil dəyişikliyi </a:t>
            </a:r>
            <a:r>
              <a:rPr lang="az-Latn-AZ" altLang="en-US" sz="1300" b="1">
                <a:latin typeface="Arial" panose="020B0604020202020204" pitchFamily="34" charset="0"/>
              </a:rPr>
              <a:t>SESSİON</a:t>
            </a:r>
            <a:r>
              <a:rPr lang="az-Latn-AZ" altLang="en-US" sz="1300">
                <a:latin typeface="Arial" panose="020B0604020202020204" pitchFamily="34" charset="0"/>
              </a:rPr>
              <a:t> -lara yazılsada, biz saytdan çıxdıqda ( </a:t>
            </a:r>
            <a:r>
              <a:rPr lang="az-Latn-AZ" altLang="en-US" sz="1300" b="1">
                <a:latin typeface="Arial" panose="020B0604020202020204" pitchFamily="34" charset="0"/>
              </a:rPr>
              <a:t>Logout</a:t>
            </a:r>
            <a:r>
              <a:rPr lang="az-Latn-AZ" altLang="en-US" sz="1300">
                <a:latin typeface="Arial" panose="020B0604020202020204" pitchFamily="34" charset="0"/>
              </a:rPr>
              <a:t> ) </a:t>
            </a:r>
            <a:r>
              <a:rPr lang="az-Latn-AZ" altLang="en-US" sz="1300" b="1">
                <a:latin typeface="Arial" panose="020B0604020202020204" pitchFamily="34" charset="0"/>
              </a:rPr>
              <a:t>SESSİON</a:t>
            </a:r>
            <a:r>
              <a:rPr lang="az-Latn-AZ" altLang="en-US" sz="1300">
                <a:latin typeface="Arial" panose="020B0604020202020204" pitchFamily="34" charset="0"/>
              </a:rPr>
              <a:t> -lar təmizləndiri üçün və yönləndirmə </a:t>
            </a:r>
            <a:r>
              <a:rPr lang="en-US" altLang="en-US" sz="1300">
                <a:latin typeface="Arial" panose="020B0604020202020204" pitchFamily="34" charset="0"/>
              </a:rPr>
              <a:t>‘</a:t>
            </a:r>
            <a:r>
              <a:rPr lang="en-US" altLang="en-US" sz="1300" b="1">
                <a:latin typeface="Arial" panose="020B0604020202020204" pitchFamily="34" charset="0"/>
              </a:rPr>
              <a:t>/</a:t>
            </a:r>
            <a:r>
              <a:rPr lang="en-US" altLang="en-US" sz="1300">
                <a:latin typeface="Arial" panose="020B0604020202020204" pitchFamily="34" charset="0"/>
              </a:rPr>
              <a:t>’ </a:t>
            </a:r>
            <a:r>
              <a:rPr lang="az-Latn-AZ" altLang="en-US" sz="1300">
                <a:latin typeface="Arial" panose="020B0604020202020204" pitchFamily="34" charset="0"/>
              </a:rPr>
              <a:t>ana səhifəyə olduğu üçün saytın dili </a:t>
            </a:r>
            <a:r>
              <a:rPr lang="az-Latn-AZ" altLang="en-US" sz="1300" b="1">
                <a:latin typeface="Arial" panose="020B0604020202020204" pitchFamily="34" charset="0"/>
              </a:rPr>
              <a:t>Default</a:t>
            </a:r>
            <a:r>
              <a:rPr lang="az-Latn-AZ" altLang="en-US" sz="1300">
                <a:latin typeface="Arial" panose="020B0604020202020204" pitchFamily="34" charset="0"/>
              </a:rPr>
              <a:t> dilinə geri qayıdacaq. Hal-hazırda məsələn AZ.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 düzəltmək istəsəz `</a:t>
            </a:r>
            <a:r>
              <a:rPr lang="en-US" altLang="en-US" sz="1300" b="1">
                <a:latin typeface="Arial" panose="020B0604020202020204" pitchFamily="34" charset="0"/>
              </a:rPr>
              <a:t>AuthenticatedSessionController.php</a:t>
            </a:r>
            <a:r>
              <a:rPr lang="az-Latn-AZ" altLang="en-US" sz="1300">
                <a:latin typeface="Arial" panose="020B0604020202020204" pitchFamily="34" charset="0"/>
              </a:rPr>
              <a:t>` kontrollerində bəzi dəyişikliklər edə bilərsiniz.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gmail: test@gmail.com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</a:t>
            </a:r>
            <a:r>
              <a:rPr lang="en-US" altLang="en-US" sz="1300">
                <a:latin typeface="Arial" panose="020B0604020202020204" pitchFamily="34" charset="0"/>
              </a:rPr>
              <a:t>: 12345678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AD6AEB-5A17-4013-6087-36D3FCF24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224" y="0"/>
            <a:ext cx="52727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72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C3D66-6C0C-2A40-228A-752C82192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A7327C-6B92-F5BA-84F0-4D69869974A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7451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77D8-BF1D-C674-1F07-E16E6BDDC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382659-EFD0-FAC0-F00B-45A9B8453B3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216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5681</TotalTime>
  <Words>1754</Words>
  <Application>Microsoft Office PowerPoint</Application>
  <PresentationFormat>Widescreen</PresentationFormat>
  <Paragraphs>291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403</cp:revision>
  <dcterms:created xsi:type="dcterms:W3CDTF">2025-04-12T11:00:44Z</dcterms:created>
  <dcterms:modified xsi:type="dcterms:W3CDTF">2025-06-15T06:44:45Z</dcterms:modified>
</cp:coreProperties>
</file>