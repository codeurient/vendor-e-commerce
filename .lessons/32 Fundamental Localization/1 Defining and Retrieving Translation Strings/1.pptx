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4" r:id="rId4"/>
    <p:sldId id="405" r:id="rId5"/>
    <p:sldId id="406" r:id="rId6"/>
    <p:sldId id="400" r:id="rId7"/>
    <p:sldId id="407" r:id="rId8"/>
    <p:sldId id="40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6125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050">
                <a:latin typeface="Arial" panose="020B0604020202020204" pitchFamily="34" charset="0"/>
              </a:rPr>
              <a:t> 1) </a:t>
            </a:r>
            <a:r>
              <a:rPr lang="en-US" altLang="en-US" sz="1050" b="1">
                <a:solidFill>
                  <a:srgbClr val="FF0000"/>
                </a:solidFill>
                <a:latin typeface="Arial" panose="020B0604020202020204" pitchFamily="34" charset="0"/>
              </a:rPr>
              <a:t>Localization nədir</a:t>
            </a:r>
            <a:r>
              <a:rPr lang="az-Latn-AZ" altLang="en-US" sz="1050" b="1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az-Latn-AZ" altLang="en-US" sz="1050">
                <a:latin typeface="Arial" panose="020B0604020202020204" pitchFamily="34" charset="0"/>
              </a:rPr>
              <a:t>- </a:t>
            </a:r>
            <a:r>
              <a:rPr lang="en-US" altLang="en-US" sz="1050">
                <a:latin typeface="Arial" panose="020B0604020202020204" pitchFamily="34" charset="0"/>
              </a:rPr>
              <a:t>Localization (lokallaşdırma) Laravel-də istifadəçi interfeysini çoxdilli etmək üçün istifadə olunur.</a:t>
            </a:r>
            <a:endParaRPr lang="az-Latn-AZ" altLang="en-US" sz="105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05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050" b="1">
                <a:latin typeface="Arial" panose="020B0604020202020204" pitchFamily="34" charset="0"/>
              </a:rPr>
              <a:t>Bu sistem vasitəsilə</a:t>
            </a:r>
            <a:r>
              <a:rPr lang="en-US" altLang="en-US" sz="105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050">
                <a:latin typeface="Arial" panose="020B0604020202020204" pitchFamily="34" charset="0"/>
              </a:rPr>
              <a:t>Textləri müxtəlif dillərdə saxlaya,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050">
                <a:latin typeface="Arial" panose="020B0604020202020204" pitchFamily="34" charset="0"/>
              </a:rPr>
              <a:t>İstifadəçinin dil seçiminə görə uyğun tərcümələri göstərməyə imkan yaradır.</a:t>
            </a:r>
            <a:endParaRPr lang="az-Latn-AZ" altLang="en-US" sz="105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050" b="1">
                <a:latin typeface="Arial" panose="020B0604020202020204" pitchFamily="34" charset="0"/>
              </a:rPr>
              <a:t>Məsələn</a:t>
            </a:r>
            <a:r>
              <a:rPr lang="en-US" altLang="en-US" sz="1050">
                <a:latin typeface="Arial" panose="020B0604020202020204" pitchFamily="34" charset="0"/>
              </a:rPr>
              <a:t>:</a:t>
            </a:r>
            <a:r>
              <a:rPr lang="az-Latn-AZ" altLang="en-US" sz="1050">
                <a:latin typeface="Arial" panose="020B0604020202020204" pitchFamily="34" charset="0"/>
              </a:rPr>
              <a:t> </a:t>
            </a:r>
            <a:r>
              <a:rPr lang="en-US" altLang="en-US" sz="1050">
                <a:latin typeface="Arial" panose="020B0604020202020204" pitchFamily="34" charset="0"/>
              </a:rPr>
              <a:t>Əgər saytınız həm ingilis, həm də azərbaycanca olmalıdırsa, lokallaşdırma ilə belə fayllar yaradılır:</a:t>
            </a:r>
            <a:endParaRPr lang="az-Latn-AZ" altLang="en-US" sz="105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05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050">
                <a:latin typeface="Arial" panose="020B0604020202020204" pitchFamily="34" charset="0"/>
              </a:rPr>
              <a:t>Bu fayllarda sadə </a:t>
            </a:r>
            <a:r>
              <a:rPr lang="az-Latn-AZ" altLang="en-US" sz="1050" b="1">
                <a:solidFill>
                  <a:srgbClr val="7030A0"/>
                </a:solidFill>
                <a:latin typeface="Arial" panose="020B0604020202020204" pitchFamily="34" charset="0"/>
              </a:rPr>
              <a:t>key</a:t>
            </a:r>
            <a:r>
              <a:rPr lang="az-Latn-AZ" altLang="en-US" sz="1050" b="1">
                <a:latin typeface="Arial" panose="020B0604020202020204" pitchFamily="34" charset="0"/>
              </a:rPr>
              <a:t> =&gt; </a:t>
            </a:r>
            <a:r>
              <a:rPr lang="az-Latn-AZ" altLang="en-US" sz="1050" b="1">
                <a:solidFill>
                  <a:schemeClr val="accent2"/>
                </a:solidFill>
                <a:latin typeface="Arial" panose="020B0604020202020204" pitchFamily="34" charset="0"/>
              </a:rPr>
              <a:t>value</a:t>
            </a:r>
            <a:r>
              <a:rPr lang="az-Latn-AZ" altLang="en-US" sz="1050" b="1">
                <a:latin typeface="Arial" panose="020B0604020202020204" pitchFamily="34" charset="0"/>
              </a:rPr>
              <a:t> </a:t>
            </a:r>
            <a:r>
              <a:rPr lang="az-Latn-AZ" altLang="en-US" sz="1050">
                <a:latin typeface="Arial" panose="020B0604020202020204" pitchFamily="34" charset="0"/>
              </a:rPr>
              <a:t>cütlükləri ilə mətnlər saxlanılır: </a:t>
            </a:r>
            <a:r>
              <a:rPr lang="az-Latn-AZ" altLang="en-US" sz="1050" u="sng">
                <a:solidFill>
                  <a:srgbClr val="0070C0"/>
                </a:solidFill>
                <a:latin typeface="Arial" panose="020B0604020202020204" pitchFamily="34" charset="0"/>
              </a:rPr>
              <a:t>resources</a:t>
            </a:r>
            <a:r>
              <a:rPr lang="az-Latn-AZ" altLang="en-US" sz="1050" b="1" u="sng">
                <a:solidFill>
                  <a:srgbClr val="0070C0"/>
                </a:solidFill>
                <a:latin typeface="Arial" panose="020B0604020202020204" pitchFamily="34" charset="0"/>
              </a:rPr>
              <a:t>/</a:t>
            </a:r>
            <a:r>
              <a:rPr lang="az-Latn-AZ" altLang="en-US" sz="1050" u="sng">
                <a:solidFill>
                  <a:srgbClr val="0070C0"/>
                </a:solidFill>
                <a:latin typeface="Arial" panose="020B0604020202020204" pitchFamily="34" charset="0"/>
              </a:rPr>
              <a:t>lang</a:t>
            </a:r>
            <a:r>
              <a:rPr lang="az-Latn-AZ" altLang="en-US" sz="1050" b="1" u="sng">
                <a:solidFill>
                  <a:srgbClr val="0070C0"/>
                </a:solidFill>
                <a:latin typeface="Arial" panose="020B0604020202020204" pitchFamily="34" charset="0"/>
              </a:rPr>
              <a:t>/</a:t>
            </a:r>
            <a:r>
              <a:rPr lang="az-Latn-AZ" altLang="en-US" sz="1050" u="sng">
                <a:solidFill>
                  <a:srgbClr val="0070C0"/>
                </a:solidFill>
                <a:latin typeface="Arial" panose="020B0604020202020204" pitchFamily="34" charset="0"/>
              </a:rPr>
              <a:t>en</a:t>
            </a:r>
            <a:r>
              <a:rPr lang="az-Latn-AZ" altLang="en-US" sz="1050" b="1" u="sng">
                <a:solidFill>
                  <a:srgbClr val="0070C0"/>
                </a:solidFill>
                <a:latin typeface="Arial" panose="020B0604020202020204" pitchFamily="34" charset="0"/>
              </a:rPr>
              <a:t>/</a:t>
            </a:r>
            <a:r>
              <a:rPr lang="az-Latn-AZ" altLang="en-US" sz="1050" u="sng">
                <a:solidFill>
                  <a:srgbClr val="0070C0"/>
                </a:solidFill>
                <a:latin typeface="Arial" panose="020B0604020202020204" pitchFamily="34" charset="0"/>
              </a:rPr>
              <a:t>messages.php</a:t>
            </a:r>
            <a:r>
              <a:rPr lang="az-Latn-AZ" altLang="en-US" sz="1050"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05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050" u="sng">
                <a:solidFill>
                  <a:srgbClr val="0070C0"/>
                </a:solidFill>
                <a:latin typeface="Arial" panose="020B0604020202020204" pitchFamily="34" charset="0"/>
              </a:rPr>
              <a:t>resources</a:t>
            </a:r>
            <a:r>
              <a:rPr lang="en-US" altLang="en-US" sz="1050" b="1" u="sng">
                <a:latin typeface="Arial" panose="020B0604020202020204" pitchFamily="34" charset="0"/>
              </a:rPr>
              <a:t>/</a:t>
            </a:r>
            <a:r>
              <a:rPr lang="en-US" altLang="en-US" sz="1050" u="sng">
                <a:solidFill>
                  <a:srgbClr val="0070C0"/>
                </a:solidFill>
                <a:latin typeface="Arial" panose="020B0604020202020204" pitchFamily="34" charset="0"/>
              </a:rPr>
              <a:t>lang</a:t>
            </a:r>
            <a:r>
              <a:rPr lang="en-US" altLang="en-US" sz="1050" b="1" u="sng">
                <a:latin typeface="Arial" panose="020B0604020202020204" pitchFamily="34" charset="0"/>
              </a:rPr>
              <a:t>/</a:t>
            </a:r>
            <a:r>
              <a:rPr lang="en-US" altLang="en-US" sz="1050" u="sng">
                <a:solidFill>
                  <a:srgbClr val="0070C0"/>
                </a:solidFill>
                <a:latin typeface="Arial" panose="020B0604020202020204" pitchFamily="34" charset="0"/>
              </a:rPr>
              <a:t>az</a:t>
            </a:r>
            <a:r>
              <a:rPr lang="en-US" altLang="en-US" sz="1050" b="1" u="sng">
                <a:latin typeface="Arial" panose="020B0604020202020204" pitchFamily="34" charset="0"/>
              </a:rPr>
              <a:t>/</a:t>
            </a:r>
            <a:r>
              <a:rPr lang="en-US" altLang="en-US" sz="1050" u="sng">
                <a:solidFill>
                  <a:srgbClr val="0070C0"/>
                </a:solidFill>
                <a:latin typeface="Arial" panose="020B0604020202020204" pitchFamily="34" charset="0"/>
              </a:rPr>
              <a:t>messages.php</a:t>
            </a:r>
            <a:r>
              <a:rPr lang="en-US" altLang="en-US" sz="1050">
                <a:latin typeface="Arial" panose="020B0604020202020204" pitchFamily="34" charset="0"/>
              </a:rPr>
              <a:t>:</a:t>
            </a:r>
            <a:endParaRPr lang="az-Latn-AZ" altLang="en-US" sz="105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05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05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05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05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050" b="1"/>
              <a:t>Və bu cür istifadə olunur</a:t>
            </a:r>
            <a:r>
              <a:rPr lang="en-US" sz="1050"/>
              <a:t>: messages s</a:t>
            </a:r>
            <a:r>
              <a:rPr lang="az-Latn-AZ" sz="1050"/>
              <a:t>özü faylın adıdır. yəni messages.php kimi. </a:t>
            </a: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8A7717-592B-F336-70E7-1B72A551E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3" y="2011943"/>
            <a:ext cx="2282890" cy="6486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A5D38C-DE48-5770-68E4-7AB9BED2C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3" y="3189335"/>
            <a:ext cx="2441510" cy="7754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911520-86AA-0AFC-FCD6-2F13056FC8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13" y="4907501"/>
            <a:ext cx="2646785" cy="6349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837E6E-9338-2B44-2240-17271F162F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713" y="6361319"/>
            <a:ext cx="5401429" cy="2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9728719" cy="365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2) </a:t>
            </a:r>
            <a:r>
              <a:rPr lang="en-US" altLang="en-US" sz="1300" b="1">
                <a:latin typeface="Arial" panose="020B0604020202020204" pitchFamily="34" charset="0"/>
              </a:rPr>
              <a:t>LANG</a:t>
            </a:r>
            <a:r>
              <a:rPr lang="en-US" altLang="en-US" sz="1300">
                <a:latin typeface="Arial" panose="020B0604020202020204" pitchFamily="34" charset="0"/>
              </a:rPr>
              <a:t> qovluğu niyə yoxdur və necə yaratmaq olar?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Normalda </a:t>
            </a:r>
            <a:r>
              <a:rPr lang="en-US" altLang="en-US" sz="1300" b="1">
                <a:latin typeface="Arial" panose="020B0604020202020204" pitchFamily="34" charset="0"/>
              </a:rPr>
              <a:t>resources/lang/ </a:t>
            </a:r>
            <a:r>
              <a:rPr lang="en-US" altLang="en-US" sz="1300">
                <a:latin typeface="Arial" panose="020B0604020202020204" pitchFamily="34" charset="0"/>
              </a:rPr>
              <a:t>qovluğu Laravel layihələrində boş olduğu üçün repo-dan çıxarıla bilər (çünki git boş qovluqları izləməz).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Həll yolları</a:t>
            </a:r>
            <a:r>
              <a:rPr lang="en-US" altLang="en-US" sz="1300">
                <a:latin typeface="Arial" panose="020B0604020202020204" pitchFamily="34" charset="0"/>
              </a:rPr>
              <a:t>: Yol 1: </a:t>
            </a:r>
            <a:r>
              <a:rPr lang="az-Latn-AZ" altLang="en-US" sz="1300">
                <a:latin typeface="Arial" panose="020B0604020202020204" pitchFamily="34" charset="0"/>
              </a:rPr>
              <a:t>ə</a:t>
            </a:r>
            <a:r>
              <a:rPr lang="en-US" altLang="en-US" sz="1300">
                <a:latin typeface="Arial" panose="020B0604020202020204" pitchFamily="34" charset="0"/>
              </a:rPr>
              <a:t>l ilə lang qovluğu yarat</a:t>
            </a:r>
            <a:r>
              <a:rPr lang="az-Latn-AZ" altLang="en-US" sz="1300">
                <a:latin typeface="Arial" panose="020B0604020202020204" pitchFamily="34" charset="0"/>
              </a:rPr>
              <a:t> ( mən bunu istifadə etmiyəcəm. Yol 2 -ni istifadə edəcəm.)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Sonra </a:t>
            </a:r>
            <a:r>
              <a:rPr lang="en-US" altLang="en-US" sz="1300" b="1">
                <a:latin typeface="Arial" panose="020B0604020202020204" pitchFamily="34" charset="0"/>
              </a:rPr>
              <a:t>messages.php </a:t>
            </a:r>
            <a:r>
              <a:rPr lang="en-US" altLang="en-US" sz="1300">
                <a:latin typeface="Arial" panose="020B0604020202020204" pitchFamily="34" charset="0"/>
              </a:rPr>
              <a:t>faylını belə yaz: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3F5469-973F-DF1F-A92B-52B1CBE57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3020" y="0"/>
            <a:ext cx="204898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1D5709-A307-9DC2-BEDC-008E21318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2307435"/>
            <a:ext cx="2972215" cy="6382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B8DD87-A109-70E6-CEBF-B97D8FF8F7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14" y="3911303"/>
            <a:ext cx="2981741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D4B83-DE44-60D5-C4A6-E192A9EF8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588C53-C785-859D-B15F-CE46A23471A7}"/>
              </a:ext>
            </a:extLst>
          </p:cNvPr>
          <p:cNvSpPr txBox="1"/>
          <p:nvPr/>
        </p:nvSpPr>
        <p:spPr>
          <a:xfrm>
            <a:off x="217714" y="255046"/>
            <a:ext cx="11756571" cy="2455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Yol 2</a:t>
            </a:r>
            <a:r>
              <a:rPr lang="en-US" altLang="en-US" sz="1300">
                <a:latin typeface="Arial" panose="020B0604020202020204" pitchFamily="34" charset="0"/>
              </a:rPr>
              <a:t>: Laravel-in </a:t>
            </a:r>
            <a:r>
              <a:rPr lang="en-US" altLang="en-US" sz="1300" b="1">
                <a:latin typeface="Arial" panose="020B0604020202020204" pitchFamily="34" charset="0"/>
              </a:rPr>
              <a:t>default</a:t>
            </a:r>
            <a:r>
              <a:rPr lang="en-US" altLang="en-US" sz="1300">
                <a:latin typeface="Arial" panose="020B0604020202020204" pitchFamily="34" charset="0"/>
              </a:rPr>
              <a:t> lokallaşdırma fayllarını əlavə et (məsələn, </a:t>
            </a:r>
            <a:r>
              <a:rPr lang="en-US" altLang="en-US" sz="1300" b="1">
                <a:latin typeface="Arial" panose="020B0604020202020204" pitchFamily="34" charset="0"/>
              </a:rPr>
              <a:t>en</a:t>
            </a:r>
            <a:r>
              <a:rPr lang="en-US" altLang="en-US" sz="1300">
                <a:latin typeface="Arial" panose="020B0604020202020204" pitchFamily="34" charset="0"/>
              </a:rPr>
              <a:t>, </a:t>
            </a:r>
            <a:r>
              <a:rPr lang="en-US" altLang="en-US" sz="1300" b="1">
                <a:latin typeface="Arial" panose="020B0604020202020204" pitchFamily="34" charset="0"/>
              </a:rPr>
              <a:t>az</a:t>
            </a:r>
            <a:r>
              <a:rPr lang="en-US" altLang="en-US" sz="1300">
                <a:latin typeface="Arial" panose="020B0604020202020204" pitchFamily="34" charset="0"/>
              </a:rPr>
              <a:t>, </a:t>
            </a:r>
            <a:r>
              <a:rPr lang="en-US" altLang="en-US" sz="1300" b="1">
                <a:latin typeface="Arial" panose="020B0604020202020204" pitchFamily="34" charset="0"/>
              </a:rPr>
              <a:t>tr</a:t>
            </a:r>
            <a:r>
              <a:rPr lang="en-US" altLang="en-US" sz="1300">
                <a:latin typeface="Arial" panose="020B0604020202020204" pitchFamily="34" charset="0"/>
              </a:rPr>
              <a:t> və s.)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Laravel-in community-supported translation faylları </a:t>
            </a:r>
            <a:r>
              <a:rPr lang="en-US" altLang="en-US" sz="1300" b="1">
                <a:latin typeface="Arial" panose="020B0604020202020204" pitchFamily="34" charset="0"/>
              </a:rPr>
              <a:t>https://github.com/Laravel-Lang/lang </a:t>
            </a:r>
            <a:r>
              <a:rPr lang="en-US" altLang="en-US" sz="1300">
                <a:latin typeface="Arial" panose="020B0604020202020204" pitchFamily="34" charset="0"/>
              </a:rPr>
              <a:t>layihəsində mövcuddur.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avtomatik olaraq </a:t>
            </a:r>
            <a:r>
              <a:rPr lang="en-US" altLang="en-US" sz="1300" b="1">
                <a:latin typeface="Arial" panose="020B0604020202020204" pitchFamily="34" charset="0"/>
              </a:rPr>
              <a:t>resources/lang/ </a:t>
            </a:r>
            <a:r>
              <a:rPr lang="en-US" altLang="en-US" sz="1300">
                <a:latin typeface="Arial" panose="020B0604020202020204" pitchFamily="34" charset="0"/>
              </a:rPr>
              <a:t>qovluğuna fayllar əlavə edəcək.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A54B87-BF9F-EC77-A45C-FFC49A444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032887"/>
            <a:ext cx="3172268" cy="8573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46EBAC-4D18-8512-28D3-89930418B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4733" y="0"/>
            <a:ext cx="1967267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DCCA1D-AD11-B421-EBE9-BF64AF7CAD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5350209"/>
            <a:ext cx="8854751" cy="6526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8BFD7F5-6B44-278E-4C95-2DB981E6C2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170927"/>
            <a:ext cx="8854751" cy="68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673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EEB83-1781-4B14-EE99-21371A95D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452DD4-3998-677C-4913-CE939F680077}"/>
              </a:ext>
            </a:extLst>
          </p:cNvPr>
          <p:cNvSpPr txBox="1"/>
          <p:nvPr/>
        </p:nvSpPr>
        <p:spPr>
          <a:xfrm>
            <a:off x="0" y="96627"/>
            <a:ext cx="12192000" cy="335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Ən sadə formada istifadəsi bu cürdür.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DEFAULT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olaraq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qovluqu istifad</a:t>
            </a:r>
            <a:r>
              <a:rPr lang="az-Latn-AZ" altLang="en-US" sz="1200">
                <a:latin typeface="Arial" panose="020B0604020202020204" pitchFamily="34" charset="0"/>
              </a:rPr>
              <a:t>ə edilir. Ancaq </a:t>
            </a:r>
            <a:r>
              <a:rPr lang="az-Latn-AZ" altLang="en-US" sz="1200" b="1">
                <a:latin typeface="Arial" panose="020B0604020202020204" pitchFamily="34" charset="0"/>
              </a:rPr>
              <a:t>AZ</a:t>
            </a:r>
            <a:r>
              <a:rPr lang="az-Latn-AZ" altLang="en-US" sz="1200">
                <a:latin typeface="Arial" panose="020B0604020202020204" pitchFamily="34" charset="0"/>
              </a:rPr>
              <a:t> istifadə etmək istəsəz onda, `</a:t>
            </a:r>
            <a:r>
              <a:rPr lang="az-Latn-AZ" altLang="en-US" sz="1200" b="1">
                <a:latin typeface="Arial" panose="020B0604020202020204" pitchFamily="34" charset="0"/>
              </a:rPr>
              <a:t>config\app.php</a:t>
            </a:r>
            <a:r>
              <a:rPr lang="az-Latn-AZ" altLang="en-US" sz="1200">
                <a:latin typeface="Arial" panose="020B0604020202020204" pitchFamily="34" charset="0"/>
              </a:rPr>
              <a:t>` faylında dəyişiklik etmək lazımdır.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1C26E6-AFE8-E257-2B81-DBE4C9CDF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5957"/>
            <a:ext cx="12192000" cy="6322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4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B8FB2-23AD-1963-BA29-FC960267E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C504C2-91D9-DF6D-4731-1FBA363B488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0FA27F-9189-AF54-5D0F-D393E1A69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652" y="2338235"/>
            <a:ext cx="7668695" cy="218152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5175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0079B0-A7D0-C43A-1A81-5F496DFD4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0" cy="37294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ADF836-32A2-BFDE-EAB9-F90CA3928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0241" y="4230668"/>
            <a:ext cx="7911517" cy="26273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A58BF-A490-BA34-C212-18E823A6D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1F1FA8-DE39-43A3-4795-0A8355B746A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748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E1F47-E717-6A28-2115-F06610715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805EC9-66AA-9998-BEE1-0922997A0BE4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1729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3432</TotalTime>
  <Words>257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340</cp:revision>
  <dcterms:created xsi:type="dcterms:W3CDTF">2025-04-12T11:00:44Z</dcterms:created>
  <dcterms:modified xsi:type="dcterms:W3CDTF">2025-06-12T09:33:53Z</dcterms:modified>
</cp:coreProperties>
</file>