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5" r:id="rId4"/>
    <p:sldId id="406" r:id="rId5"/>
    <p:sldId id="404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416" r:id="rId15"/>
    <p:sldId id="417" r:id="rId16"/>
    <p:sldId id="415" r:id="rId17"/>
    <p:sldId id="418" r:id="rId18"/>
    <p:sldId id="419" r:id="rId19"/>
    <p:sldId id="420" r:id="rId20"/>
    <p:sldId id="422" r:id="rId21"/>
    <p:sldId id="423" r:id="rId22"/>
    <p:sldId id="424" r:id="rId23"/>
    <p:sldId id="421" r:id="rId24"/>
    <p:sldId id="40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az-Latn-AZ" altLang="en-US" sz="1300">
                <a:latin typeface="Arial" panose="020B0604020202020204" pitchFamily="34" charset="0"/>
              </a:rPr>
              <a:t>dərsə başlamadan əvvəl köhnə proyekti silirik və tərar olması üçün yenidən yaradırıq.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Sild</a:t>
            </a:r>
            <a:r>
              <a:rPr lang="az-Latn-AZ" altLang="en-US" sz="1300">
                <a:latin typeface="Arial" panose="020B0604020202020204" pitchFamily="34" charset="0"/>
              </a:rPr>
              <a:t>im...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23DCF-85D0-416E-375E-47FC46D5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727180"/>
            <a:ext cx="3905795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T</a:t>
            </a:r>
            <a:r>
              <a:rPr lang="az-Latn-AZ" altLang="en-US" sz="1300">
                <a:latin typeface="Arial" panose="020B0604020202020204" pitchFamily="34" charset="0"/>
              </a:rPr>
              <a:t>ətbiqin adını müvəqqəti olaraq `</a:t>
            </a:r>
            <a:r>
              <a:rPr lang="az-Latn-AZ" altLang="en-US" sz="1300" b="1">
                <a:latin typeface="Arial" panose="020B0604020202020204" pitchFamily="34" charset="0"/>
              </a:rPr>
              <a:t>example</a:t>
            </a:r>
            <a:r>
              <a:rPr lang="az-Latn-AZ" altLang="en-US" sz="1300">
                <a:latin typeface="Arial" panose="020B0604020202020204" pitchFamily="34" charset="0"/>
              </a:rPr>
              <a:t>` qoya bilərik. Sonra içindəki faylları və qovluqları `</a:t>
            </a:r>
            <a:r>
              <a:rPr lang="az-Latn-AZ" altLang="en-US" sz="1300" b="1">
                <a:latin typeface="Arial" panose="020B0604020202020204" pitchFamily="34" charset="0"/>
              </a:rPr>
              <a:t>Vendor-e-commerce</a:t>
            </a:r>
            <a:r>
              <a:rPr lang="az-Latn-AZ" altLang="en-US" sz="1300">
                <a:latin typeface="Arial" panose="020B0604020202020204" pitchFamily="34" charset="0"/>
              </a:rPr>
              <a:t>` qovluğuna çıxardıb `</a:t>
            </a:r>
            <a:r>
              <a:rPr lang="az-Latn-AZ" altLang="en-US" sz="1300" b="1">
                <a:latin typeface="Arial" panose="020B0604020202020204" pitchFamily="34" charset="0"/>
              </a:rPr>
              <a:t>example</a:t>
            </a:r>
            <a:r>
              <a:rPr lang="az-Latn-AZ" altLang="en-US" sz="1300">
                <a:latin typeface="Arial" panose="020B0604020202020204" pitchFamily="34" charset="0"/>
              </a:rPr>
              <a:t>` qovluğunu siləcəyik.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1A7F2-DFDE-D802-5816-68207F551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212"/>
            <a:ext cx="8088720" cy="5299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2163E9-1360-3D11-9798-C9D5646C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065" y="1558212"/>
            <a:ext cx="2287935" cy="529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0A3D-F304-B963-37FB-2452D2E0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A659F5-2C1D-89CB-D47C-730EDE5D4458}"/>
              </a:ext>
            </a:extLst>
          </p:cNvPr>
          <p:cNvSpPr txBox="1"/>
          <p:nvPr/>
        </p:nvSpPr>
        <p:spPr>
          <a:xfrm>
            <a:off x="217715" y="255046"/>
            <a:ext cx="731209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laravel_packages</a:t>
            </a:r>
            <a:r>
              <a:rPr lang="az-Latn-AZ" altLang="en-US" sz="1300">
                <a:latin typeface="Arial" panose="020B0604020202020204" pitchFamily="34" charset="0"/>
              </a:rPr>
              <a:t>` adında yeni bir </a:t>
            </a:r>
            <a:r>
              <a:rPr lang="az-Latn-AZ" altLang="en-US" sz="1300" b="1">
                <a:latin typeface="Arial" panose="020B0604020202020204" pitchFamily="34" charset="0"/>
              </a:rPr>
              <a:t>database</a:t>
            </a:r>
            <a:r>
              <a:rPr lang="az-Latn-AZ" altLang="en-US" sz="1300">
                <a:latin typeface="Arial" panose="020B0604020202020204" pitchFamily="34" charset="0"/>
              </a:rPr>
              <a:t> yaradırıq.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4A6A5-3CF5-01EE-712B-FD67166CE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811" y="121298"/>
            <a:ext cx="4213684" cy="3484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117EB-42D1-D30E-1765-DE0571118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5" y="2945300"/>
            <a:ext cx="6678115" cy="3801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991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F00C-DC5F-0DDE-0B56-92B91026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18949-6250-599C-0D9C-E7216DD2E5CF}"/>
              </a:ext>
            </a:extLst>
          </p:cNvPr>
          <p:cNvSpPr txBox="1"/>
          <p:nvPr/>
        </p:nvSpPr>
        <p:spPr>
          <a:xfrm>
            <a:off x="217715" y="255046"/>
            <a:ext cx="789058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-sə qoşulmaq üçün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.env </a:t>
            </a:r>
            <a:r>
              <a:rPr lang="az-Latn-AZ" altLang="en-US" sz="1300">
                <a:latin typeface="Arial" panose="020B0604020202020204" pitchFamily="34" charset="0"/>
              </a:rPr>
              <a:t>faylını konfiqurasiya edirik və hər ehtimala qarşılıq `</a:t>
            </a:r>
            <a:r>
              <a:rPr lang="az-Latn-AZ" altLang="en-US" sz="1300" b="1">
                <a:latin typeface="Arial" panose="020B0604020202020204" pitchFamily="34" charset="0"/>
              </a:rPr>
              <a:t>FILESYSTEM</a:t>
            </a:r>
            <a:r>
              <a:rPr lang="az-Latn-AZ" altLang="en-US" sz="1300">
                <a:latin typeface="Arial" panose="020B0604020202020204" pitchFamily="34" charset="0"/>
              </a:rPr>
              <a:t>_DISK` konstantına </a:t>
            </a:r>
            <a:r>
              <a:rPr lang="az-Latn-AZ" altLang="en-US" sz="1300" b="1">
                <a:latin typeface="Arial" panose="020B0604020202020204" pitchFamily="34" charset="0"/>
              </a:rPr>
              <a:t>public</a:t>
            </a:r>
            <a:r>
              <a:rPr lang="az-Latn-AZ" altLang="en-US" sz="1300">
                <a:latin typeface="Arial" panose="020B0604020202020204" pitchFamily="34" charset="0"/>
              </a:rPr>
              <a:t> dəyərini veririk. Birdən sonra unudarıq və axtara qalmayaq.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9C8B8-84C9-F3F4-1916-E8FFEE10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621" y="0"/>
            <a:ext cx="3638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33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25846-9F09-AA00-D2CE-C907FCD7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054A6D-63D1-9F6D-EFC6-3E452A03B87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sadə </a:t>
            </a:r>
            <a:r>
              <a:rPr lang="az-Latn-AZ" altLang="en-US" sz="1300" b="1">
                <a:latin typeface="Arial" panose="020B0604020202020204" pitchFamily="34" charset="0"/>
              </a:rPr>
              <a:t>Breeze</a:t>
            </a:r>
            <a:r>
              <a:rPr lang="az-Latn-AZ" altLang="en-US" sz="1300">
                <a:latin typeface="Arial" panose="020B0604020202020204" pitchFamily="34" charset="0"/>
              </a:rPr>
              <a:t> qururuq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sistemi üçün.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50D24-FAF3-6A42-67D0-FA75C59B0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02" y="0"/>
            <a:ext cx="6826898" cy="2016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215C7-AEBF-CDB4-BACD-6AF3773B8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52938"/>
            <a:ext cx="5207642" cy="550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8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417BE-5D5B-3FD9-2180-D0AE74D9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27EAF-453D-F601-08BE-0A7CBEB508A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NPM paketlərinidə quraşdırırıq.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BCE37-72E3-1367-3779-2F6E4DC5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333"/>
            <a:ext cx="4925112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40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9CF4-2679-1FE4-0167-0E2B14A2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E5FB98-8A2A-37E7-03C3-F08DB62E70D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Ən sonda isə `</a:t>
            </a:r>
            <a:r>
              <a:rPr lang="az-Latn-AZ" altLang="en-US" sz="1300" b="1">
                <a:latin typeface="Arial" panose="020B0604020202020204" pitchFamily="34" charset="0"/>
              </a:rPr>
              <a:t>php artisan migrate</a:t>
            </a:r>
            <a:r>
              <a:rPr lang="az-Latn-AZ" altLang="en-US" sz="1300">
                <a:latin typeface="Arial" panose="020B0604020202020204" pitchFamily="34" charset="0"/>
              </a:rPr>
              <a:t>` yazaraq, cədvəlləri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-sə migrate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FB64E-A1D2-3909-2895-5E2BEA7EE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24" y="1343608"/>
            <a:ext cx="8682475" cy="551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7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F85D-E161-E77B-666A-8FCEBB07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18AEEE-F01B-E9BB-6A49-8D6FA32118C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Minimum lazım olanları etdikdən sonra bu bizim veb saytımızın ana səhifəsi.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B7198-FA70-B933-FB49-FBF61C277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208"/>
            <a:ext cx="12192000" cy="584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99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E346-08D7-F062-E044-3AF59FE7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35A86-68E0-0A20-732E-FD7FA4F974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</a:t>
            </a:r>
            <a:r>
              <a:rPr lang="az-Latn-AZ" altLang="en-US" sz="1300" b="1">
                <a:latin typeface="Arial" panose="020B0604020202020204" pitchFamily="34" charset="0"/>
              </a:rPr>
              <a:t>register</a:t>
            </a:r>
            <a:r>
              <a:rPr lang="az-Latn-AZ" altLang="en-US" sz="1300">
                <a:latin typeface="Arial" panose="020B0604020202020204" pitchFamily="34" charset="0"/>
              </a:rPr>
              <a:t> səhifəsi və </a:t>
            </a:r>
            <a:r>
              <a:rPr lang="az-Latn-AZ" altLang="en-US" sz="1300" b="1">
                <a:latin typeface="Arial" panose="020B0604020202020204" pitchFamily="34" charset="0"/>
              </a:rPr>
              <a:t>test</a:t>
            </a:r>
            <a:r>
              <a:rPr lang="az-Latn-AZ" altLang="en-US" sz="1300">
                <a:latin typeface="Arial" panose="020B0604020202020204" pitchFamily="34" charset="0"/>
              </a:rPr>
              <a:t> adından bir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qeydiyyatdan keçiririk.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A654E-0DF6-FB90-7DC7-46F785E31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991" y="742096"/>
            <a:ext cx="5973009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9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4312-4BAB-0A7F-4B3F-3653E1C1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BC2EB7-01F2-C366-F2C9-5FF5D005E34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Buda </a:t>
            </a:r>
            <a:r>
              <a:rPr lang="az-Latn-AZ" altLang="en-US" sz="1300" b="1">
                <a:latin typeface="Arial" panose="020B0604020202020204" pitchFamily="34" charset="0"/>
              </a:rPr>
              <a:t>qeydiyyatdan</a:t>
            </a:r>
            <a:r>
              <a:rPr lang="az-Latn-AZ" altLang="en-US" sz="1300">
                <a:latin typeface="Arial" panose="020B0604020202020204" pitchFamily="34" charset="0"/>
              </a:rPr>
              <a:t> keçdikdən sonra avtomatik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olduqdan sonra görünən səhifə.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6D184-684A-CB92-F299-AD540296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6997"/>
            <a:ext cx="12192000" cy="266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98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BF0BC-7392-038D-05D9-BE32AAAE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D167A-074D-7F5E-855D-49C949DBB7C4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istifadəçini özümüz yaratdıq, ancaq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500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dənədə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əlavə etmək istəyirəm.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Sadəcə 500 dənə əl ilə indi yaratmamaq üçün </a:t>
            </a:r>
            <a:r>
              <a:rPr lang="az-Latn-AZ" altLang="en-US" sz="1300" b="1">
                <a:latin typeface="Arial" panose="020B0604020202020204" pitchFamily="34" charset="0"/>
              </a:rPr>
              <a:t>Factory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Seeder</a:t>
            </a:r>
            <a:r>
              <a:rPr lang="az-Latn-AZ" altLang="en-US" sz="1300">
                <a:latin typeface="Arial" panose="020B0604020202020204" pitchFamily="34" charset="0"/>
              </a:rPr>
              <a:t> anlayışlarından istifadə 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1A1B8-2DFB-062D-3AB5-7427B8019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95567"/>
            <a:ext cx="12192000" cy="2262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7247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D906-56C2-C063-4246-E5C9CF90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093183-F1C1-1ABB-6A81-26DD151DC3B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500</a:t>
            </a:r>
            <a:r>
              <a:rPr lang="az-Latn-AZ" altLang="en-US" sz="1300">
                <a:latin typeface="Arial" panose="020B0604020202020204" pitchFamily="34" charset="0"/>
              </a:rPr>
              <a:t> dənə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avtomatik yaradıldı.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61AF2-48DE-5BC0-D273-3C0F679ED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150" y="527656"/>
            <a:ext cx="5191850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31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75642-78C2-3B00-4726-A0D4FACF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3C732-80EA-B7A5-74AC-BCD5EAAE3E0D}"/>
              </a:ext>
            </a:extLst>
          </p:cNvPr>
          <p:cNvSpPr txBox="1"/>
          <p:nvPr/>
        </p:nvSpPr>
        <p:spPr>
          <a:xfrm>
            <a:off x="217714" y="50809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Datalar yükləndi.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E4CAE-6493-99E5-EB7C-3D5365EE8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400"/>
            <a:ext cx="12192000" cy="6196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7315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1350-3205-46E2-519B-7E5E83D4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BDF74-A833-A76B-E24D-F99AFD7FF54D}"/>
              </a:ext>
            </a:extLst>
          </p:cNvPr>
          <p:cNvSpPr txBox="1"/>
          <p:nvPr/>
        </p:nvSpPr>
        <p:spPr>
          <a:xfrm>
            <a:off x="217714" y="255046"/>
            <a:ext cx="6808237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Saytımızda </a:t>
            </a:r>
            <a:r>
              <a:rPr lang="az-Latn-AZ" altLang="en-US" sz="1300" b="1">
                <a:latin typeface="Arial" panose="020B0604020202020204" pitchFamily="34" charset="0"/>
              </a:rPr>
              <a:t>Bootstrap</a:t>
            </a:r>
            <a:r>
              <a:rPr lang="az-Latn-AZ" altLang="en-US" sz="1300">
                <a:latin typeface="Arial" panose="020B0604020202020204" pitchFamily="34" charset="0"/>
              </a:rPr>
              <a:t> elementlərindən istifadə edəcəyimiz üçün ilk öncə onu </a:t>
            </a:r>
            <a:r>
              <a:rPr lang="az-Latn-AZ" altLang="en-US" sz="1300" b="1">
                <a:latin typeface="Arial" panose="020B0604020202020204" pitchFamily="34" charset="0"/>
              </a:rPr>
              <a:t>İNSTALL</a:t>
            </a:r>
            <a:r>
              <a:rPr lang="az-Latn-AZ" altLang="en-US" sz="1300">
                <a:latin typeface="Arial" panose="020B0604020202020204" pitchFamily="34" charset="0"/>
              </a:rPr>
              <a:t>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isə, </a:t>
            </a:r>
            <a:r>
              <a:rPr lang="az-Latn-AZ" altLang="en-US" sz="1300" b="1">
                <a:latin typeface="Arial" panose="020B0604020202020204" pitchFamily="34" charset="0"/>
              </a:rPr>
              <a:t>bootstrap cdn </a:t>
            </a:r>
            <a:r>
              <a:rPr lang="az-Latn-AZ" altLang="en-US" sz="1300">
                <a:latin typeface="Arial" panose="020B0604020202020204" pitchFamily="34" charset="0"/>
              </a:rPr>
              <a:t>linklərini `</a:t>
            </a:r>
            <a:r>
              <a:rPr lang="en-US" altLang="en-US" sz="1300" b="1">
                <a:latin typeface="Arial" panose="020B0604020202020204" pitchFamily="34" charset="0"/>
              </a:rPr>
              <a:t>resources\views\layouts\app.blade.php</a:t>
            </a:r>
            <a:r>
              <a:rPr lang="az-Latn-AZ" altLang="en-US" sz="1300">
                <a:latin typeface="Arial" panose="020B0604020202020204" pitchFamily="34" charset="0"/>
              </a:rPr>
              <a:t>` şablonuna yazdıqdan sonra </a:t>
            </a:r>
            <a:r>
              <a:rPr lang="az-Latn-AZ" altLang="en-US" sz="1300" b="1">
                <a:latin typeface="Arial" panose="020B0604020202020204" pitchFamily="34" charset="0"/>
              </a:rPr>
              <a:t>Table</a:t>
            </a:r>
            <a:r>
              <a:rPr lang="az-Latn-AZ" altLang="en-US" sz="1300">
                <a:latin typeface="Arial" panose="020B0604020202020204" pitchFamily="34" charset="0"/>
              </a:rPr>
              <a:t> elementlərini götürərək istifadə edəcəyik. Növbəti sayda....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F1753-2F5C-B1EB-74DA-D6C306EF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29" y="0"/>
            <a:ext cx="4930371" cy="2233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2C1D94-D44D-E8A4-669F-707FE8A5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9057"/>
            <a:ext cx="12192000" cy="37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1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3059-2C66-393A-98A4-6022A4CE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C193D-ECA0-8400-7F5F-33928AD3A080}"/>
              </a:ext>
            </a:extLst>
          </p:cNvPr>
          <p:cNvSpPr txBox="1"/>
          <p:nvPr/>
        </p:nvSpPr>
        <p:spPr>
          <a:xfrm>
            <a:off x="217714" y="255046"/>
            <a:ext cx="3915747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boo</a:t>
            </a:r>
            <a:r>
              <a:rPr lang="az-Latn-AZ" altLang="en-US" sz="1300" b="1">
                <a:latin typeface="Arial" panose="020B0604020202020204" pitchFamily="34" charset="0"/>
              </a:rPr>
              <a:t>tstrap cdn </a:t>
            </a:r>
            <a:r>
              <a:rPr lang="az-Latn-AZ" altLang="en-US" sz="1300">
                <a:latin typeface="Arial" panose="020B0604020202020204" pitchFamily="34" charset="0"/>
              </a:rPr>
              <a:t>linklərini `</a:t>
            </a:r>
            <a:r>
              <a:rPr lang="en-US" altLang="en-US" sz="1300" b="1">
                <a:latin typeface="Arial" panose="020B0604020202020204" pitchFamily="34" charset="0"/>
              </a:rPr>
              <a:t>resources\views\layouts\app.blade.php</a:t>
            </a:r>
            <a:r>
              <a:rPr lang="az-Latn-AZ" altLang="en-US" sz="1300">
                <a:latin typeface="Arial" panose="020B0604020202020204" pitchFamily="34" charset="0"/>
              </a:rPr>
              <a:t>` şablonuna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0163D-6695-BA9D-8C04-534DC82D6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998" y="0"/>
            <a:ext cx="7936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1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CBE13-273D-4225-45EC-5792FC34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88D3BB-09FB-3852-B8DD-5CACD7F96BC0}"/>
              </a:ext>
            </a:extLst>
          </p:cNvPr>
          <p:cNvSpPr txBox="1"/>
          <p:nvPr/>
        </p:nvSpPr>
        <p:spPr>
          <a:xfrm>
            <a:off x="217713" y="98891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Daxil oluruq </a:t>
            </a:r>
            <a:r>
              <a:rPr lang="az-Latn-AZ" altLang="en-US" sz="1300" b="1">
                <a:latin typeface="Arial" panose="020B0604020202020204" pitchFamily="34" charset="0"/>
              </a:rPr>
              <a:t>Bootstrap</a:t>
            </a:r>
            <a:r>
              <a:rPr lang="az-Latn-AZ" altLang="en-US" sz="1300">
                <a:latin typeface="Arial" panose="020B0604020202020204" pitchFamily="34" charset="0"/>
              </a:rPr>
              <a:t> saytına və </a:t>
            </a:r>
            <a:r>
              <a:rPr lang="az-Latn-AZ" altLang="en-US" sz="1300" b="1">
                <a:latin typeface="Arial" panose="020B0604020202020204" pitchFamily="34" charset="0"/>
              </a:rPr>
              <a:t>table</a:t>
            </a:r>
            <a:r>
              <a:rPr lang="az-Latn-AZ" altLang="en-US" sz="1300">
                <a:latin typeface="Arial" panose="020B0604020202020204" pitchFamily="34" charset="0"/>
              </a:rPr>
              <a:t> elementlərini kopyalayırıq....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335D7-05DA-9120-97F5-47EC5241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28890"/>
            <a:ext cx="12192000" cy="632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84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B0167-4DA0-672C-789A-0CB2874A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7D016A-B4D0-706D-FA0F-A149065F2B2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Və həmin elementləri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resources\views\dashboard.blade.php </a:t>
            </a:r>
            <a:r>
              <a:rPr lang="az-Latn-AZ" altLang="en-US" sz="1300">
                <a:latin typeface="Arial" panose="020B0604020202020204" pitchFamily="34" charset="0"/>
              </a:rPr>
              <a:t>` şablonuna yerləşdiririk.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374E1-DAAB-5BE1-A877-FDD5E38C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0427"/>
            <a:ext cx="12192000" cy="564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06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C029-3D98-B87F-7712-85AE3ECD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D71F4-E513-FAA4-E0F1-C217D9BADDA5}"/>
              </a:ext>
            </a:extLst>
          </p:cNvPr>
          <p:cNvSpPr txBox="1"/>
          <p:nvPr/>
        </p:nvSpPr>
        <p:spPr>
          <a:xfrm>
            <a:off x="217714" y="6695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DFAD8-F8EF-BAB2-05EE-2F772EBF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956"/>
            <a:ext cx="12192000" cy="63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2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48A68-ECEB-E7C1-57B5-A61299E1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DABBC-DC4D-FD3E-9DB1-A0381B84A00D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Blade templatedə (</a:t>
            </a:r>
            <a:r>
              <a:rPr lang="en-US" altLang="en-US" sz="1300" b="1">
                <a:latin typeface="Arial" panose="020B0604020202020204" pitchFamily="34" charset="0"/>
              </a:rPr>
              <a:t>@foreach</a:t>
            </a:r>
            <a:r>
              <a:rPr lang="az-Latn-AZ" altLang="en-US" sz="1300">
                <a:latin typeface="Arial" panose="020B0604020202020204" pitchFamily="34" charset="0"/>
              </a:rPr>
              <a:t> -də</a:t>
            </a:r>
            <a:r>
              <a:rPr lang="en-US" altLang="en-US" sz="1300">
                <a:latin typeface="Arial" panose="020B0604020202020204" pitchFamily="34" charset="0"/>
              </a:rPr>
              <a:t>) istifadə edilən aşağıdakı 3 yazılışın dəqiq və texniki izahı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>
                <a:latin typeface="Arial" panose="020B0604020202020204" pitchFamily="34" charset="0"/>
              </a:rPr>
              <a:t>&lt;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th&gt;{{ $user-&gt;id }}&lt;/th&gt;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Nə edir?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yazılış verilənlər bazasındakı </a:t>
            </a:r>
            <a:r>
              <a:rPr lang="en-US" altLang="en-US" sz="1300" b="1">
                <a:latin typeface="Arial" panose="020B0604020202020204" pitchFamily="34" charset="0"/>
              </a:rPr>
              <a:t>users</a:t>
            </a:r>
            <a:r>
              <a:rPr lang="en-US" altLang="en-US" sz="1300">
                <a:latin typeface="Arial" panose="020B0604020202020204" pitchFamily="34" charset="0"/>
              </a:rPr>
              <a:t> cədvəlindəki </a:t>
            </a:r>
            <a:r>
              <a:rPr lang="en-US" altLang="en-US" sz="1300" b="1">
                <a:latin typeface="Arial" panose="020B0604020202020204" pitchFamily="34" charset="0"/>
              </a:rPr>
              <a:t>id</a:t>
            </a:r>
            <a:r>
              <a:rPr lang="en-US" altLang="en-US" sz="1300">
                <a:latin typeface="Arial" panose="020B0604020202020204" pitchFamily="34" charset="0"/>
              </a:rPr>
              <a:t> sütununu göstərir.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Texniki izah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$user </a:t>
            </a:r>
            <a:r>
              <a:rPr lang="en-US" altLang="en-US" sz="1300">
                <a:latin typeface="Arial" panose="020B0604020202020204" pitchFamily="34" charset="0"/>
              </a:rPr>
              <a:t>– foreach dövrəsindəki User modelinin bir nümunəsidir.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$user-&gt;id </a:t>
            </a:r>
            <a:r>
              <a:rPr lang="en-US" altLang="en-US" sz="1300">
                <a:latin typeface="Arial" panose="020B0604020202020204" pitchFamily="34" charset="0"/>
              </a:rPr>
              <a:t>– həmin istifadəçinin birbaşa id dəyəridir.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 b="1">
                <a:latin typeface="Arial" panose="020B0604020202020204" pitchFamily="34" charset="0"/>
              </a:rPr>
              <a:t>id</a:t>
            </a:r>
            <a:r>
              <a:rPr lang="en-US" altLang="en-US" sz="1300">
                <a:latin typeface="Arial" panose="020B0604020202020204" pitchFamily="34" charset="0"/>
              </a:rPr>
              <a:t> bazada ola bilər: 1, 2, 5, 17, s. (Yəni sıra nömrəsi deyil, </a:t>
            </a:r>
            <a:r>
              <a:rPr lang="en-US" altLang="en-US" sz="1300" b="1">
                <a:latin typeface="Arial" panose="020B0604020202020204" pitchFamily="34" charset="0"/>
              </a:rPr>
              <a:t>primary key</a:t>
            </a:r>
            <a:r>
              <a:rPr lang="en-US" altLang="en-US" sz="1300">
                <a:latin typeface="Arial" panose="020B0604020202020204" pitchFamily="34" charset="0"/>
              </a:rPr>
              <a:t>-dir.)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İstifadə vaxtı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Unikal identifikator </a:t>
            </a:r>
            <a:r>
              <a:rPr lang="en-US" altLang="en-US" sz="1300">
                <a:latin typeface="Arial" panose="020B0604020202020204" pitchFamily="34" charset="0"/>
              </a:rPr>
              <a:t>göstərmək istəyəndə.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Edit/Delete </a:t>
            </a:r>
            <a:r>
              <a:rPr lang="en-US" altLang="en-US" sz="1300">
                <a:latin typeface="Arial" panose="020B0604020202020204" pitchFamily="34" charset="0"/>
              </a:rPr>
              <a:t>kimi əməliyyatlar üçün </a:t>
            </a:r>
            <a:r>
              <a:rPr lang="en-US" altLang="en-US" sz="1300" b="1">
                <a:latin typeface="Arial" panose="020B0604020202020204" pitchFamily="34" charset="0"/>
              </a:rPr>
              <a:t>link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latin typeface="Arial" panose="020B0604020202020204" pitchFamily="34" charset="0"/>
              </a:rPr>
              <a:t>action</a:t>
            </a:r>
            <a:r>
              <a:rPr lang="en-US" altLang="en-US" sz="1300">
                <a:latin typeface="Arial" panose="020B0604020202020204" pitchFamily="34" charset="0"/>
              </a:rPr>
              <a:t> yaradanda (məsələn, </a:t>
            </a:r>
            <a:r>
              <a:rPr lang="en-US" altLang="en-US" sz="1300" b="1">
                <a:latin typeface="Arial" panose="020B0604020202020204" pitchFamily="34" charset="0"/>
              </a:rPr>
              <a:t>route('users.edit', $user-&gt;id)</a:t>
            </a:r>
            <a:r>
              <a:rPr lang="en-US" altLang="en-US" sz="1300">
                <a:latin typeface="Arial" panose="020B0604020202020204" pitchFamily="34" charset="0"/>
              </a:rPr>
              <a:t>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6F11C-073F-B018-7044-9F0E9F56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89939"/>
            <a:ext cx="2486372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70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46AA-D360-16D1-B79B-E3591398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997B8E-9FC0-62DE-DE4C-F580D3DC03F1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&lt;th&gt;{{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$loop-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&gt;index++ }}&lt;/th&gt;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❌ Nə edir və niyə tövsiyə olunmur?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yazılış başda doğru nəticə vermir.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index++ </a:t>
            </a:r>
            <a:r>
              <a:rPr lang="en-US" altLang="en-US" sz="1300">
                <a:latin typeface="Arial" panose="020B0604020202020204" pitchFamily="34" charset="0"/>
              </a:rPr>
              <a:t>əvvəlcə dəyəri göstərir, sonra artırır. Amma </a:t>
            </a:r>
            <a:r>
              <a:rPr lang="en-US" altLang="en-US" sz="1300" b="1">
                <a:latin typeface="Arial" panose="020B0604020202020204" pitchFamily="34" charset="0"/>
              </a:rPr>
              <a:t>Laravel Blade </a:t>
            </a:r>
            <a:r>
              <a:rPr lang="en-US" altLang="en-US" sz="1300">
                <a:latin typeface="Arial" panose="020B0604020202020204" pitchFamily="34" charset="0"/>
              </a:rPr>
              <a:t>daxilində belə istifadə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problemli və qarışıq ola bilər.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Texniki izah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$loop-&gt;index </a:t>
            </a:r>
            <a:r>
              <a:rPr lang="en-US" altLang="en-US" sz="1300">
                <a:latin typeface="Arial" panose="020B0604020202020204" pitchFamily="34" charset="0"/>
              </a:rPr>
              <a:t>– </a:t>
            </a:r>
            <a:r>
              <a:rPr lang="en-US" altLang="en-US" sz="1300" b="1">
                <a:latin typeface="Arial" panose="020B0604020202020204" pitchFamily="34" charset="0"/>
              </a:rPr>
              <a:t>0</a:t>
            </a:r>
            <a:r>
              <a:rPr lang="en-US" altLang="en-US" sz="1300">
                <a:latin typeface="Arial" panose="020B0604020202020204" pitchFamily="34" charset="0"/>
              </a:rPr>
              <a:t>-dan başlayan cari dövrə indeksidir (yəni 1-ci sıra üçün 0, 2-ci üçün 1, s.)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index++ </a:t>
            </a:r>
            <a:r>
              <a:rPr lang="en-US" altLang="en-US" sz="1300">
                <a:latin typeface="Arial" panose="020B0604020202020204" pitchFamily="34" charset="0"/>
              </a:rPr>
              <a:t>– əvvəlcə </a:t>
            </a:r>
            <a:r>
              <a:rPr lang="en-US" altLang="en-US" sz="1300" b="1">
                <a:latin typeface="Arial" panose="020B0604020202020204" pitchFamily="34" charset="0"/>
              </a:rPr>
              <a:t>index</a:t>
            </a:r>
            <a:r>
              <a:rPr lang="en-US" altLang="en-US" sz="1300">
                <a:latin typeface="Arial" panose="020B0604020202020204" pitchFamily="34" charset="0"/>
              </a:rPr>
              <a:t> dəyərini verir (məsələn </a:t>
            </a:r>
            <a:r>
              <a:rPr lang="en-US" altLang="en-US" sz="1300" b="1">
                <a:latin typeface="Arial" panose="020B0604020202020204" pitchFamily="34" charset="0"/>
              </a:rPr>
              <a:t>0</a:t>
            </a:r>
            <a:r>
              <a:rPr lang="en-US" altLang="en-US" sz="1300">
                <a:latin typeface="Arial" panose="020B0604020202020204" pitchFamily="34" charset="0"/>
              </a:rPr>
              <a:t>), sonra </a:t>
            </a:r>
            <a:r>
              <a:rPr lang="en-US" altLang="en-US" sz="1300" b="1">
                <a:latin typeface="Arial" panose="020B0604020202020204" pitchFamily="34" charset="0"/>
              </a:rPr>
              <a:t>index = index + 1 </a:t>
            </a:r>
            <a:r>
              <a:rPr lang="en-US" altLang="en-US" sz="1300">
                <a:latin typeface="Arial" panose="020B0604020202020204" pitchFamily="34" charset="0"/>
              </a:rPr>
              <a:t>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Amma Laravel-in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$loop </a:t>
            </a:r>
            <a:r>
              <a:rPr lang="en-US" altLang="en-US" sz="1300">
                <a:latin typeface="Arial" panose="020B0604020202020204" pitchFamily="34" charset="0"/>
              </a:rPr>
              <a:t>obyekti </a:t>
            </a:r>
            <a:r>
              <a:rPr lang="en-US" altLang="en-US" sz="1300" b="1">
                <a:latin typeface="Arial" panose="020B0604020202020204" pitchFamily="34" charset="0"/>
              </a:rPr>
              <a:t>mutable</a:t>
            </a:r>
            <a:r>
              <a:rPr lang="en-US" altLang="en-US" sz="1300">
                <a:latin typeface="Arial" panose="020B0604020202020204" pitchFamily="34" charset="0"/>
              </a:rPr>
              <a:t> (dəyişkən) deyil. Yəni </a:t>
            </a:r>
            <a:r>
              <a:rPr lang="en-US" altLang="en-US" sz="1300" b="1">
                <a:latin typeface="Arial" panose="020B0604020202020204" pitchFamily="34" charset="0"/>
              </a:rPr>
              <a:t>++</a:t>
            </a:r>
            <a:r>
              <a:rPr lang="en-US" altLang="en-US" sz="1300">
                <a:latin typeface="Arial" panose="020B0604020202020204" pitchFamily="34" charset="0"/>
              </a:rPr>
              <a:t> kimi dəyişdirmə cəhdləri gözlənilən nəticə verməyə bilər və səhvlərə səbəb ola bilər.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Tövsiyə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yazılışdan uzaq durun. Həm semantik, həm performans, həm də texniki cəhətdən etibarsızdır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0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E6E3-1E58-350C-C6D9-4ED0941B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4F4F2-B974-3548-E260-D668A650FF95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3) &lt;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th&gt;{{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++$loop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-&gt;index }}&lt;/th&gt;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Nə edir?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yazılış </a:t>
            </a:r>
            <a:r>
              <a:rPr lang="en-US" altLang="en-US" sz="1300" b="1">
                <a:latin typeface="Arial" panose="020B0604020202020204" pitchFamily="34" charset="0"/>
              </a:rPr>
              <a:t>$loop-&gt;index</a:t>
            </a:r>
            <a:r>
              <a:rPr lang="en-US" altLang="en-US" sz="1300">
                <a:latin typeface="Arial" panose="020B0604020202020204" pitchFamily="34" charset="0"/>
              </a:rPr>
              <a:t>-i artırır və sonra göstərir. Nəticədə, </a:t>
            </a:r>
            <a:r>
              <a:rPr lang="en-US" altLang="en-US" sz="1300" b="1">
                <a:latin typeface="Arial" panose="020B0604020202020204" pitchFamily="34" charset="0"/>
              </a:rPr>
              <a:t>0</a:t>
            </a:r>
            <a:r>
              <a:rPr lang="en-US" altLang="en-US" sz="1300">
                <a:latin typeface="Arial" panose="020B0604020202020204" pitchFamily="34" charset="0"/>
              </a:rPr>
              <a:t>-dan deyil </a:t>
            </a:r>
            <a:r>
              <a:rPr lang="en-US" altLang="en-US" sz="1300" b="1">
                <a:latin typeface="Arial" panose="020B0604020202020204" pitchFamily="34" charset="0"/>
              </a:rPr>
              <a:t>1</a:t>
            </a:r>
            <a:r>
              <a:rPr lang="en-US" altLang="en-US" sz="1300">
                <a:latin typeface="Arial" panose="020B0604020202020204" pitchFamily="34" charset="0"/>
              </a:rPr>
              <a:t>-dən başlayan sıra nömrələri görünür.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Texniki izah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 Blade </a:t>
            </a:r>
            <a:r>
              <a:rPr lang="en-US" altLang="en-US" sz="1300" b="1">
                <a:latin typeface="Arial" panose="020B0604020202020204" pitchFamily="34" charset="0"/>
              </a:rPr>
              <a:t>@foreach </a:t>
            </a:r>
            <a:r>
              <a:rPr lang="en-US" altLang="en-US" sz="1300">
                <a:latin typeface="Arial" panose="020B0604020202020204" pitchFamily="34" charset="0"/>
              </a:rPr>
              <a:t>blokunda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$loop obyekti avtomatik mövcuddur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$loop-&gt;index </a:t>
            </a:r>
            <a:r>
              <a:rPr lang="en-US" altLang="en-US" sz="1300">
                <a:latin typeface="Arial" panose="020B0604020202020204" pitchFamily="34" charset="0"/>
              </a:rPr>
              <a:t>→ </a:t>
            </a:r>
            <a:r>
              <a:rPr lang="en-US" altLang="en-US" sz="1300" b="1">
                <a:latin typeface="Arial" panose="020B0604020202020204" pitchFamily="34" charset="0"/>
              </a:rPr>
              <a:t>0</a:t>
            </a:r>
            <a:r>
              <a:rPr lang="en-US" altLang="en-US" sz="1300">
                <a:latin typeface="Arial" panose="020B0604020202020204" pitchFamily="34" charset="0"/>
              </a:rPr>
              <a:t>-dan başlayır.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++$loop-&gt;index </a:t>
            </a:r>
            <a:r>
              <a:rPr lang="en-US" altLang="en-US" sz="1300">
                <a:latin typeface="Arial" panose="020B0604020202020204" pitchFamily="34" charset="0"/>
              </a:rPr>
              <a:t>→ ilk index dəyərini </a:t>
            </a:r>
            <a:r>
              <a:rPr lang="en-US" altLang="en-US" sz="1300" b="1">
                <a:latin typeface="Arial" panose="020B0604020202020204" pitchFamily="34" charset="0"/>
              </a:rPr>
              <a:t>1</a:t>
            </a:r>
            <a:r>
              <a:rPr lang="en-US" altLang="en-US" sz="1300">
                <a:latin typeface="Arial" panose="020B0604020202020204" pitchFamily="34" charset="0"/>
              </a:rPr>
              <a:t> edir və sonra göstərir.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yolla sətirlərin sıra nömrəsi 1, 2, 3, ... kimi görünür.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İstifadə vaxtı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Vizual cədvəllərdə istifadəçilərə </a:t>
            </a:r>
            <a:r>
              <a:rPr lang="en-US" altLang="en-US" sz="1300" b="1">
                <a:latin typeface="Arial" panose="020B0604020202020204" pitchFamily="34" charset="0"/>
              </a:rPr>
              <a:t>1</a:t>
            </a:r>
            <a:r>
              <a:rPr lang="en-US" altLang="en-US" sz="1300">
                <a:latin typeface="Arial" panose="020B0604020202020204" pitchFamily="34" charset="0"/>
              </a:rPr>
              <a:t>-dən başlayan sıra nömrəsi göstərmək üçün idealdır.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433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505E-8C3B-8BA4-CA0D-3257C043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5D97D7-6DBA-ECD5-7A1D-4810EFF2C4B0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Əlavə: $loop obyektində başqa nələr var? 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</a:t>
            </a:r>
            <a:r>
              <a:rPr lang="en-US" altLang="en-US" sz="1300" b="1">
                <a:latin typeface="Arial" panose="020B0604020202020204" pitchFamily="34" charset="0"/>
              </a:rPr>
              <a:t>@foreach </a:t>
            </a:r>
            <a:r>
              <a:rPr lang="en-US" altLang="en-US" sz="1300">
                <a:latin typeface="Arial" panose="020B0604020202020204" pitchFamily="34" charset="0"/>
              </a:rPr>
              <a:t>içindəki </a:t>
            </a:r>
            <a:r>
              <a:rPr lang="az-Latn-AZ" altLang="en-US" sz="1300" b="1">
                <a:latin typeface="Arial" panose="020B0604020202020204" pitchFamily="34" charset="0"/>
              </a:rPr>
              <a:t>v</a:t>
            </a:r>
            <a:r>
              <a:rPr lang="en-US" altLang="en-US" sz="1300">
                <a:latin typeface="Arial" panose="020B0604020202020204" pitchFamily="34" charset="0"/>
              </a:rPr>
              <a:t>aşağıdakı faydalı xüsusiyyətlərə malikdir: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Alternativ olaraq, </a:t>
            </a:r>
            <a:r>
              <a:rPr lang="en-US" altLang="en-US" sz="1300" b="1">
                <a:latin typeface="Arial" panose="020B0604020202020204" pitchFamily="34" charset="0"/>
              </a:rPr>
              <a:t>{{ $loop-&gt;iteration }} </a:t>
            </a:r>
            <a:r>
              <a:rPr lang="en-US" altLang="en-US" sz="1300">
                <a:latin typeface="Arial" panose="020B0604020202020204" pitchFamily="34" charset="0"/>
              </a:rPr>
              <a:t>istifadə etsəniz, heç </a:t>
            </a:r>
            <a:r>
              <a:rPr lang="en-US" altLang="en-US" sz="1300" b="1">
                <a:latin typeface="Arial" panose="020B0604020202020204" pitchFamily="34" charset="0"/>
              </a:rPr>
              <a:t>++</a:t>
            </a:r>
            <a:r>
              <a:rPr lang="en-US" altLang="en-US" sz="1300">
                <a:latin typeface="Arial" panose="020B0604020202020204" pitchFamily="34" charset="0"/>
              </a:rPr>
              <a:t> yazmağa ehtiyac yoxdur. Bu daha təmiz yazılışdır: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69B19-1236-9724-68A4-31A84CD57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69808"/>
            <a:ext cx="4772691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92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18C7-2B05-59AE-3194-F3DB50F4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817911-8338-D100-A773-0711C080187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6643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686</Words>
  <Application>Microsoft Office PowerPoint</Application>
  <PresentationFormat>Widescreen</PresentationFormat>
  <Paragraphs>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372</cp:revision>
  <dcterms:created xsi:type="dcterms:W3CDTF">2025-04-12T11:00:44Z</dcterms:created>
  <dcterms:modified xsi:type="dcterms:W3CDTF">2025-06-15T19:15:21Z</dcterms:modified>
</cp:coreProperties>
</file>