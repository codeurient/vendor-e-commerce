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0" r:id="rId3"/>
    <p:sldId id="403" r:id="rId4"/>
    <p:sldId id="404" r:id="rId5"/>
    <p:sldId id="405" r:id="rId6"/>
    <p:sldId id="406" r:id="rId7"/>
    <p:sldId id="407" r:id="rId8"/>
    <p:sldId id="408" r:id="rId9"/>
    <p:sldId id="409" r:id="rId10"/>
    <p:sldId id="410" r:id="rId11"/>
    <p:sldId id="411" r:id="rId12"/>
    <p:sldId id="412" r:id="rId13"/>
    <p:sldId id="413" r:id="rId14"/>
    <p:sldId id="414" r:id="rId15"/>
    <p:sldId id="415" r:id="rId16"/>
    <p:sldId id="416" r:id="rId17"/>
    <p:sldId id="419" r:id="rId18"/>
    <p:sldId id="420" r:id="rId19"/>
    <p:sldId id="421" r:id="rId20"/>
    <p:sldId id="422" r:id="rId21"/>
    <p:sldId id="423" r:id="rId22"/>
    <p:sldId id="424" r:id="rId23"/>
    <p:sldId id="425" r:id="rId24"/>
    <p:sldId id="426" r:id="rId25"/>
    <p:sldId id="427" r:id="rId26"/>
    <p:sldId id="417" r:id="rId27"/>
    <p:sldId id="41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Laravel 10 cu versiyada Yajra Paketini quraşdırmaq üçün aşağıdakı əmri istifadə edirik.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3AC8D5-3484-A670-FDDB-3EB1EA94C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8976"/>
            <a:ext cx="12192000" cy="584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Quraşdırma tamamlandı....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09A7FE-683D-0D9B-3BC9-EC07B3E94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922" y="0"/>
            <a:ext cx="74260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21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 isə klikləyirik `</a:t>
            </a:r>
            <a:r>
              <a:rPr lang="az-Latn-AZ" altLang="en-US" sz="1300" b="1">
                <a:latin typeface="Arial" panose="020B0604020202020204" pitchFamily="34" charset="0"/>
              </a:rPr>
              <a:t>Quick Starter</a:t>
            </a:r>
            <a:r>
              <a:rPr lang="az-Latn-AZ" altLang="en-US" sz="1300">
                <a:latin typeface="Arial" panose="020B0604020202020204" pitchFamily="34" charset="0"/>
              </a:rPr>
              <a:t>` yazısına və ` </a:t>
            </a:r>
            <a:r>
              <a:rPr lang="az-Latn-AZ" altLang="en-US" sz="1300" b="1">
                <a:latin typeface="Arial" panose="020B0604020202020204" pitchFamily="34" charset="0"/>
              </a:rPr>
              <a:t>Laravel DataTables Vite </a:t>
            </a:r>
            <a:r>
              <a:rPr lang="az-Latn-AZ" altLang="en-US" sz="1300">
                <a:latin typeface="Arial" panose="020B0604020202020204" pitchFamily="34" charset="0"/>
              </a:rPr>
              <a:t>` adlı frontent paketlərini endiririk.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Bunun üçün </a:t>
            </a:r>
            <a:r>
              <a:rPr lang="az-Latn-AZ" altLang="en-US" sz="1300" b="1">
                <a:latin typeface="Arial" panose="020B0604020202020204" pitchFamily="34" charset="0"/>
              </a:rPr>
              <a:t>VİTE</a:t>
            </a:r>
            <a:r>
              <a:rPr lang="az-Latn-AZ" altLang="en-US" sz="1300">
                <a:latin typeface="Arial" panose="020B0604020202020204" pitchFamily="34" charset="0"/>
              </a:rPr>
              <a:t> texnologiyasından istifadə edəcəyik. Bütün addımlar saytda 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qeyd edilibdir....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F0AD69-A19D-7B74-CCE3-3BB227B0E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414" y="723044"/>
            <a:ext cx="4915586" cy="61349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C6A81D-FDD8-E6F4-192B-28CCEEA42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957804"/>
            <a:ext cx="6341228" cy="390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ED261-CDDB-4485-3F5A-429E07B8D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0F07E3-DF20-297B-D727-320532B31D66}"/>
              </a:ext>
            </a:extLst>
          </p:cNvPr>
          <p:cNvSpPr txBox="1"/>
          <p:nvPr/>
        </p:nvSpPr>
        <p:spPr>
          <a:xfrm>
            <a:off x="217715" y="255046"/>
            <a:ext cx="3813110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Saytda </a:t>
            </a:r>
            <a:r>
              <a:rPr lang="en-US" altLang="en-US" sz="1300">
                <a:latin typeface="Arial" panose="020B0604020202020204" pitchFamily="34" charset="0"/>
              </a:rPr>
              <a:t>`</a:t>
            </a:r>
            <a:r>
              <a:rPr lang="en-US" altLang="en-US" sz="1300" b="1">
                <a:latin typeface="Arial" panose="020B0604020202020204" pitchFamily="34" charset="0"/>
              </a:rPr>
              <a:t>resources/sass/app.scss</a:t>
            </a:r>
            <a:r>
              <a:rPr lang="en-US" altLang="en-US" sz="1300">
                <a:latin typeface="Arial" panose="020B0604020202020204" pitchFamily="34" charset="0"/>
              </a:rPr>
              <a:t>` yaz</a:t>
            </a:r>
            <a:r>
              <a:rPr lang="az-Latn-AZ" altLang="en-US" sz="1300">
                <a:latin typeface="Arial" panose="020B0604020202020204" pitchFamily="34" charset="0"/>
              </a:rPr>
              <a:t>sada bizdə həmin qovluq `</a:t>
            </a:r>
            <a:r>
              <a:rPr lang="az-Latn-AZ" altLang="en-US" sz="1300" b="1">
                <a:latin typeface="Arial" panose="020B0604020202020204" pitchFamily="34" charset="0"/>
              </a:rPr>
              <a:t>resources\css\app.css</a:t>
            </a:r>
            <a:r>
              <a:rPr lang="az-Latn-AZ" altLang="en-US" sz="1300">
                <a:latin typeface="Arial" panose="020B0604020202020204" pitchFamily="34" charset="0"/>
              </a:rPr>
              <a:t>` belə adlanır.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50EBB4-7212-8F3A-FF5A-F9A3757A4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015" y="0"/>
            <a:ext cx="7450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728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CE18B-5A06-1839-C56F-960B5BB7A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AA9512-EB6A-5718-3E89-D428F3C9EF77}"/>
              </a:ext>
            </a:extLst>
          </p:cNvPr>
          <p:cNvSpPr txBox="1"/>
          <p:nvPr/>
        </p:nvSpPr>
        <p:spPr>
          <a:xfrm>
            <a:off x="217715" y="255046"/>
            <a:ext cx="1340498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Bütün addımlar bir arada.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9C60FF-A493-C13D-4C3F-90EB93104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261" y="0"/>
            <a:ext cx="103847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343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1C7C0-3BD2-E775-F7A7-DDC608083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F1AEB7-29C2-9FD3-6F0E-B2A2DF286D79}"/>
              </a:ext>
            </a:extLst>
          </p:cNvPr>
          <p:cNvSpPr txBox="1"/>
          <p:nvPr/>
        </p:nvSpPr>
        <p:spPr>
          <a:xfrm>
            <a:off x="217715" y="255046"/>
            <a:ext cx="6668278" cy="455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kodlar və əmr, Laravel-də </a:t>
            </a:r>
            <a:r>
              <a:rPr lang="en-US" altLang="en-US" sz="1300" b="1">
                <a:latin typeface="Arial" panose="020B0604020202020204" pitchFamily="34" charset="0"/>
              </a:rPr>
              <a:t>Yajra DataTables </a:t>
            </a:r>
            <a:r>
              <a:rPr lang="en-US" altLang="en-US" sz="1300">
                <a:latin typeface="Arial" panose="020B0604020202020204" pitchFamily="34" charset="0"/>
              </a:rPr>
              <a:t>paketindən istifadə edərək </a:t>
            </a:r>
            <a:r>
              <a:rPr lang="en-US" altLang="en-US" sz="1300" b="1">
                <a:latin typeface="Arial" panose="020B0604020202020204" pitchFamily="34" charset="0"/>
              </a:rPr>
              <a:t>server-side DataTable</a:t>
            </a:r>
            <a:r>
              <a:rPr lang="en-US" altLang="en-US" sz="1300">
                <a:latin typeface="Arial" panose="020B0604020202020204" pitchFamily="34" charset="0"/>
              </a:rPr>
              <a:t> yaratmaq və idarə etmək üçün istifadə olunur; 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</a:t>
            </a:r>
            <a:r>
              <a:rPr lang="en-US" altLang="en-US" sz="1300" b="1">
                <a:latin typeface="Arial" panose="020B0604020202020204" pitchFamily="34" charset="0"/>
              </a:rPr>
              <a:t>urada</a:t>
            </a:r>
            <a:r>
              <a:rPr lang="az-Latn-AZ" altLang="en-US" sz="1300">
                <a:latin typeface="Arial" panose="020B0604020202020204" pitchFamily="34" charset="0"/>
              </a:rPr>
              <a:t>: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php artisan datatables:make Users </a:t>
            </a:r>
            <a:r>
              <a:rPr lang="en-US" altLang="en-US" sz="1300">
                <a:latin typeface="Arial" panose="020B0604020202020204" pitchFamily="34" charset="0"/>
              </a:rPr>
              <a:t>əmri avtomatik olaraq </a:t>
            </a:r>
            <a:r>
              <a:rPr lang="en-US" altLang="en-US" sz="1300" b="1">
                <a:latin typeface="Arial" panose="020B0604020202020204" pitchFamily="34" charset="0"/>
              </a:rPr>
              <a:t>UsersDataTable</a:t>
            </a:r>
            <a:r>
              <a:rPr lang="en-US" altLang="en-US" sz="1300">
                <a:latin typeface="Arial" panose="020B0604020202020204" pitchFamily="34" charset="0"/>
              </a:rPr>
              <a:t> klassını yaradır</a:t>
            </a:r>
            <a:r>
              <a:rPr lang="az-Latn-AZ" altLang="en-US" sz="1300">
                <a:latin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300">
                <a:latin typeface="Arial" panose="020B0604020202020204" pitchFamily="34" charset="0"/>
              </a:rPr>
              <a:t>H</a:t>
            </a:r>
            <a:r>
              <a:rPr lang="en-US" altLang="en-US" sz="1300">
                <a:latin typeface="Arial" panose="020B0604020202020204" pitchFamily="34" charset="0"/>
              </a:rPr>
              <a:t>əmin klass</a:t>
            </a:r>
            <a:r>
              <a:rPr lang="az-Latn-AZ" altLang="en-US" sz="1300">
                <a:latin typeface="Arial" panose="020B0604020202020204" pitchFamily="34" charset="0"/>
              </a:rPr>
              <a:t> isə,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i="1">
                <a:latin typeface="Arial" panose="020B0604020202020204" pitchFamily="34" charset="0"/>
              </a:rPr>
              <a:t>datanı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AJAX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serverdən: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 altLang="en-US" sz="1300">
                <a:latin typeface="Arial" panose="020B0604020202020204" pitchFamily="34" charset="0"/>
              </a:rPr>
              <a:t>çəkmək,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 altLang="en-US" sz="1300">
                <a:latin typeface="Arial" panose="020B0604020202020204" pitchFamily="34" charset="0"/>
              </a:rPr>
              <a:t>cədvəl sütunlarını təyin etmək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 altLang="en-US" sz="1300">
                <a:latin typeface="Arial" panose="020B0604020202020204" pitchFamily="34" charset="0"/>
              </a:rPr>
              <a:t> sort/axtarış/pagination funksiyalarını qurmaq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 altLang="en-US" sz="1300">
                <a:latin typeface="Arial" panose="020B0604020202020204" pitchFamily="34" charset="0"/>
              </a:rPr>
              <a:t>ixrac (Excel, CSV, PDF) düymələrini qurmaq üçün istifadə olunur.</a:t>
            </a:r>
          </a:p>
          <a:p>
            <a:pPr>
              <a:lnSpc>
                <a:spcPct val="150000"/>
              </a:lnSpc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B5D573-09BC-9CEB-A37C-A86AEF94F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9141" y="0"/>
            <a:ext cx="50628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763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021A6-6386-A1DD-EDAE-ED89722B2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9D2381-80AE-8E49-37C6-8CF4A28EB229}"/>
              </a:ext>
            </a:extLst>
          </p:cNvPr>
          <p:cNvSpPr txBox="1"/>
          <p:nvPr/>
        </p:nvSpPr>
        <p:spPr>
          <a:xfrm>
            <a:off x="217715" y="255046"/>
            <a:ext cx="7153470" cy="4028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html() 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metodundakı </a:t>
            </a: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Button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 -larını kommentə alırıq.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getColumns() 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metouna isə 2 dənə yeni </a:t>
            </a: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 -ı əlavə edirik. Bu classlar, cədvəldəki sütunları ifadə edir və məsələn </a:t>
            </a: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modelindəki hansı sütunu görmək istəyiriksə onun adını bu </a:t>
            </a: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classına əlavə edə bilərik.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Növbəti slaydda isə, </a:t>
            </a:r>
            <a:r>
              <a:rPr lang="en-US" sz="1600" b="1"/>
              <a:t>UsersDataTable</a:t>
            </a:r>
            <a:r>
              <a:rPr lang="az-Latn-AZ" sz="1600" b="1"/>
              <a:t>()</a:t>
            </a:r>
            <a:r>
              <a:rPr lang="az-Latn-AZ" sz="16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az-Latn-AZ" sz="1200">
                <a:latin typeface="Arial" panose="020B0604020202020204" pitchFamily="34" charset="0"/>
                <a:cs typeface="Arial" panose="020B0604020202020204" pitchFamily="34" charset="0"/>
              </a:rPr>
              <a:t>class -ı ilə yaradılan cədvəlin, şablona necə </a:t>
            </a:r>
            <a:r>
              <a:rPr lang="az-Latn-AZ" sz="12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render</a:t>
            </a:r>
            <a:r>
              <a:rPr lang="az-Latn-AZ" sz="1200">
                <a:latin typeface="Arial" panose="020B0604020202020204" pitchFamily="34" charset="0"/>
                <a:cs typeface="Arial" panose="020B0604020202020204" pitchFamily="34" charset="0"/>
              </a:rPr>
              <a:t> edildiyini görəcəyik. </a:t>
            </a:r>
            <a:r>
              <a:rPr lang="az-Latn-AZ" sz="1200" b="1">
                <a:latin typeface="Arial" panose="020B0604020202020204" pitchFamily="34" charset="0"/>
                <a:cs typeface="Arial" panose="020B0604020202020204" pitchFamily="34" charset="0"/>
              </a:rPr>
              <a:t>Yajra</a:t>
            </a:r>
            <a:r>
              <a:rPr lang="az-Latn-AZ" sz="1200">
                <a:latin typeface="Arial" panose="020B0604020202020204" pitchFamily="34" charset="0"/>
                <a:cs typeface="Arial" panose="020B0604020202020204" pitchFamily="34" charset="0"/>
              </a:rPr>
              <a:t> -nın saytında buna aid nümunə var. Həmin nümunədə göstərilir ki, </a:t>
            </a:r>
            <a:r>
              <a:rPr lang="az-Latn-AZ" sz="1200" b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UsersController</a:t>
            </a:r>
            <a:r>
              <a:rPr lang="az-Latn-AZ" sz="1200">
                <a:latin typeface="Arial" panose="020B0604020202020204" pitchFamily="34" charset="0"/>
                <a:cs typeface="Arial" panose="020B0604020202020204" pitchFamily="34" charset="0"/>
              </a:rPr>
              <a:t> adında bir controller yaradın və həmin controllerin </a:t>
            </a:r>
            <a:r>
              <a:rPr lang="az-Latn-AZ" sz="1200" b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index(UsersDataTable $dataTable)</a:t>
            </a:r>
            <a:r>
              <a:rPr lang="az-Latn-AZ" sz="1200">
                <a:latin typeface="Arial" panose="020B0604020202020204" pitchFamily="34" charset="0"/>
                <a:cs typeface="Arial" panose="020B0604020202020204" pitchFamily="34" charset="0"/>
              </a:rPr>
              <a:t> metoduna, </a:t>
            </a:r>
            <a:r>
              <a:rPr lang="az-Latn-AZ" sz="1200" b="1">
                <a:latin typeface="Arial" panose="020B0604020202020204" pitchFamily="34" charset="0"/>
                <a:cs typeface="Arial" panose="020B0604020202020204" pitchFamily="34" charset="0"/>
              </a:rPr>
              <a:t>UsersDataTable</a:t>
            </a:r>
            <a:r>
              <a:rPr lang="az-Latn-AZ" sz="1200">
                <a:latin typeface="Arial" panose="020B0604020202020204" pitchFamily="34" charset="0"/>
                <a:cs typeface="Arial" panose="020B0604020202020204" pitchFamily="34" charset="0"/>
              </a:rPr>
              <a:t> klasını parametr kimi təyin edin. Ancaq bu vacib deyil. Çünki istənilən şablon yükləyən controller metodunda, yaxud bir başa </a:t>
            </a:r>
            <a:r>
              <a:rPr lang="en-US" sz="12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web.php </a:t>
            </a:r>
            <a:r>
              <a:rPr lang="az-Latn-AZ" sz="1200">
                <a:latin typeface="Arial" panose="020B0604020202020204" pitchFamily="34" charset="0"/>
                <a:cs typeface="Arial" panose="020B0604020202020204" pitchFamily="34" charset="0"/>
              </a:rPr>
              <a:t>faylındakı hər hansısa bir şablon yüklüyən metoda </a:t>
            </a:r>
            <a:r>
              <a:rPr lang="az-Latn-AZ" sz="1200" b="1">
                <a:latin typeface="Arial" panose="020B0604020202020204" pitchFamily="34" charset="0"/>
                <a:cs typeface="Arial" panose="020B0604020202020204" pitchFamily="34" charset="0"/>
              </a:rPr>
              <a:t>UsersDataTable</a:t>
            </a:r>
            <a:r>
              <a:rPr lang="az-Latn-AZ" sz="1200">
                <a:latin typeface="Arial" panose="020B0604020202020204" pitchFamily="34" charset="0"/>
                <a:cs typeface="Arial" panose="020B0604020202020204" pitchFamily="34" charset="0"/>
              </a:rPr>
              <a:t> klasını parametr kimi təyin edə bilərsiz. Növbəti slaydda məndə belə edəcəm......</a:t>
            </a: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F3550A-6004-765A-A9B8-414E19347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7046" y="418201"/>
            <a:ext cx="4324954" cy="64397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6164CB-0E33-B78B-3232-1A8AFFBDF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5" y="4357643"/>
            <a:ext cx="4557678" cy="250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691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3E176-538A-3046-6B66-84AC083ED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0E8CDA-7CFE-3D6B-9747-CE796E818323}"/>
              </a:ext>
            </a:extLst>
          </p:cNvPr>
          <p:cNvSpPr txBox="1"/>
          <p:nvPr/>
        </p:nvSpPr>
        <p:spPr>
          <a:xfrm>
            <a:off x="217714" y="255046"/>
            <a:ext cx="11756571" cy="1855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UsersDataTable</a:t>
            </a:r>
            <a:r>
              <a:rPr lang="en-US" altLang="en-US" sz="1300">
                <a:latin typeface="Arial" panose="020B0604020202020204" pitchFamily="34" charset="0"/>
              </a:rPr>
              <a:t> klasını </a:t>
            </a:r>
            <a:r>
              <a:rPr lang="en-US" altLang="en-US" sz="1300" b="1">
                <a:latin typeface="Arial" panose="020B0604020202020204" pitchFamily="34" charset="0"/>
              </a:rPr>
              <a:t>parametr</a:t>
            </a:r>
            <a:r>
              <a:rPr lang="en-US" altLang="en-US" sz="1300">
                <a:latin typeface="Arial" panose="020B0604020202020204" pitchFamily="34" charset="0"/>
              </a:rPr>
              <a:t> kimi təyin etdikdən sonra </a:t>
            </a:r>
            <a:r>
              <a:rPr lang="en-US" altLang="en-US" sz="1300" b="1">
                <a:latin typeface="Arial" panose="020B0604020202020204" pitchFamily="34" charset="0"/>
              </a:rPr>
              <a:t>render() </a:t>
            </a:r>
            <a:r>
              <a:rPr lang="en-US" altLang="en-US" sz="1300">
                <a:latin typeface="Arial" panose="020B0604020202020204" pitchFamily="34" charset="0"/>
              </a:rPr>
              <a:t>metodu ilə cədvəli `</a:t>
            </a:r>
            <a:r>
              <a:rPr lang="en-US" altLang="en-US" sz="1300" b="1">
                <a:latin typeface="Arial" panose="020B0604020202020204" pitchFamily="34" charset="0"/>
              </a:rPr>
              <a:t>resources\views\dashboard.blade.php</a:t>
            </a:r>
            <a:r>
              <a:rPr lang="en-US" altLang="en-US" sz="1300">
                <a:latin typeface="Arial" panose="020B0604020202020204" pitchFamily="34" charset="0"/>
              </a:rPr>
              <a:t>` faylına göndəririk və </a:t>
            </a:r>
            <a:r>
              <a:rPr lang="en-US" altLang="en-US" sz="1300" b="1">
                <a:latin typeface="Arial" panose="020B0604020202020204" pitchFamily="34" charset="0"/>
              </a:rPr>
              <a:t>table() </a:t>
            </a:r>
            <a:r>
              <a:rPr lang="en-US" altLang="en-US" sz="1300">
                <a:latin typeface="Arial" panose="020B0604020202020204" pitchFamily="34" charset="0"/>
              </a:rPr>
              <a:t>metodu ilə cədvəli </a:t>
            </a:r>
            <a:r>
              <a:rPr lang="en-US" altLang="en-US" sz="1300" b="1">
                <a:latin typeface="Arial" panose="020B0604020202020204" pitchFamily="34" charset="0"/>
              </a:rPr>
              <a:t>şablonda</a:t>
            </a:r>
            <a:r>
              <a:rPr lang="en-US" altLang="en-US" sz="1300">
                <a:latin typeface="Arial" panose="020B0604020202020204" pitchFamily="34" charset="0"/>
              </a:rPr>
              <a:t> əks etdiririk. 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Ən son olaraq isə terminalda `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npm run dev</a:t>
            </a:r>
            <a:r>
              <a:rPr lang="az-Latn-AZ" altLang="en-US" sz="1300">
                <a:latin typeface="Arial" panose="020B0604020202020204" pitchFamily="34" charset="0"/>
              </a:rPr>
              <a:t>` əmrini işə salırıq.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Brauzerə keçərək nəticənin nə olduğuna baxa bilərik. Məndə sol şəkildəki kimi bir xəta baş verdi.... Ola bilərki sizdə düz işləsin...Növbəti slayd....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D81C8C-D67C-21ED-AC98-26143C375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868" y="2282476"/>
            <a:ext cx="7172131" cy="45755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444C28-C941-DC51-1C5D-A674FBC1D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2476"/>
            <a:ext cx="3806890" cy="147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451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003B5-BB78-331B-8976-02D92F985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A8A1B2-07F4-F87E-4AF4-40282D4E975F}"/>
              </a:ext>
            </a:extLst>
          </p:cNvPr>
          <p:cNvSpPr txBox="1"/>
          <p:nvPr/>
        </p:nvSpPr>
        <p:spPr>
          <a:xfrm>
            <a:off x="217714" y="255046"/>
            <a:ext cx="11756571" cy="155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xətanı araşdırdıqda, 4 dənə həll yolu tapdım ancaq daha çox ola bilər. Mənə həmin 4 həlldən sadəcə biri kömək etdi: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300" b="1">
                <a:latin typeface="Arial" panose="020B0604020202020204" pitchFamily="34" charset="0"/>
              </a:rPr>
              <a:t>vite.config.js </a:t>
            </a:r>
            <a:r>
              <a:rPr lang="az-Latn-AZ" altLang="en-US" sz="1300">
                <a:latin typeface="Arial" panose="020B0604020202020204" pitchFamily="34" charset="0"/>
              </a:rPr>
              <a:t>daxilində </a:t>
            </a:r>
            <a:r>
              <a:rPr lang="az-Latn-AZ" altLang="en-US" sz="1300" b="1">
                <a:latin typeface="Arial" panose="020B0604020202020204" pitchFamily="34" charset="0"/>
              </a:rPr>
              <a:t>server.host </a:t>
            </a:r>
            <a:r>
              <a:rPr lang="az-Latn-AZ" altLang="en-US" sz="1300">
                <a:latin typeface="Arial" panose="020B0604020202020204" pitchFamily="34" charset="0"/>
              </a:rPr>
              <a:t>və </a:t>
            </a:r>
            <a:r>
              <a:rPr lang="az-Latn-AZ" altLang="en-US" sz="1300" b="1">
                <a:latin typeface="Arial" panose="020B0604020202020204" pitchFamily="34" charset="0"/>
              </a:rPr>
              <a:t>origin</a:t>
            </a:r>
            <a:r>
              <a:rPr lang="az-Latn-AZ" altLang="en-US" sz="1300">
                <a:latin typeface="Arial" panose="020B0604020202020204" pitchFamily="34" charset="0"/>
              </a:rPr>
              <a:t> təyin etmək.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5AD148-E5A8-4840-CCA7-DAB52F42B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347497"/>
            <a:ext cx="4486901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025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465E2-AE35-2F8C-1F1D-AB7B5037B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9D5139-69C5-43AF-9035-108CB53DBE0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Nəticədə mənim kodum işlədi və nəticə aşağıdakı kimidir.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2D8060-1B93-06F5-4BFA-30EA5F33E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4" y="1408878"/>
            <a:ext cx="9664662" cy="546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937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BD6A5-4BCB-92F1-80B5-6E08415D7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C9AA63-AE4A-C2F8-E069-DD420E63A6ED}"/>
              </a:ext>
            </a:extLst>
          </p:cNvPr>
          <p:cNvSpPr txBox="1"/>
          <p:nvPr/>
        </p:nvSpPr>
        <p:spPr>
          <a:xfrm>
            <a:off x="217714" y="83052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Gəlib gedən sorğuları İnspect pəncərəsinə daxil olaraq </a:t>
            </a:r>
            <a:r>
              <a:rPr lang="en-US" altLang="en-US" sz="1300">
                <a:latin typeface="Arial" panose="020B0604020202020204" pitchFamily="34" charset="0"/>
              </a:rPr>
              <a:t>Network </a:t>
            </a:r>
            <a:r>
              <a:rPr lang="az-Latn-AZ" altLang="en-US" sz="1300">
                <a:latin typeface="Arial" panose="020B0604020202020204" pitchFamily="34" charset="0"/>
              </a:rPr>
              <a:t>bölməsindən görə bilərsiniz....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D17769-4F50-DA91-F22F-A6EAEE47D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3054"/>
            <a:ext cx="12192000" cy="634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120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C417F-6C37-6EB1-B83F-4C65EF0D2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29831-5129-8862-B984-11EB9F72F408}"/>
              </a:ext>
            </a:extLst>
          </p:cNvPr>
          <p:cNvSpPr txBox="1"/>
          <p:nvPr/>
        </p:nvSpPr>
        <p:spPr>
          <a:xfrm>
            <a:off x="217714" y="255046"/>
            <a:ext cx="11756571" cy="1855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Yajra DataTables </a:t>
            </a:r>
            <a:r>
              <a:rPr lang="en-US" altLang="en-US" sz="1300">
                <a:latin typeface="Arial" panose="020B0604020202020204" pitchFamily="34" charset="0"/>
              </a:rPr>
              <a:t>üçün əlavə edilən </a:t>
            </a:r>
            <a:r>
              <a:rPr lang="en-US" altLang="en-US" sz="1300" b="1">
                <a:latin typeface="Arial" panose="020B0604020202020204" pitchFamily="34" charset="0"/>
              </a:rPr>
              <a:t>CSS</a:t>
            </a:r>
            <a:r>
              <a:rPr lang="en-US" altLang="en-US" sz="1300">
                <a:latin typeface="Arial" panose="020B0604020202020204" pitchFamily="34" charset="0"/>
              </a:rPr>
              <a:t> və </a:t>
            </a:r>
            <a:r>
              <a:rPr lang="en-US" altLang="en-US" sz="1300" b="1">
                <a:latin typeface="Arial" panose="020B0604020202020204" pitchFamily="34" charset="0"/>
              </a:rPr>
              <a:t>JS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fayllarının</a:t>
            </a:r>
            <a:r>
              <a:rPr lang="en-US" altLang="en-US" sz="1300">
                <a:latin typeface="Arial" panose="020B0604020202020204" pitchFamily="34" charset="0"/>
              </a:rPr>
              <a:t> digər səhifələrdə, məsələn </a:t>
            </a:r>
            <a:r>
              <a:rPr lang="en-US" altLang="en-US" sz="1300" b="1">
                <a:latin typeface="Arial" panose="020B0604020202020204" pitchFamily="34" charset="0"/>
              </a:rPr>
              <a:t>login, register, forgot password </a:t>
            </a:r>
            <a:r>
              <a:rPr lang="en-US" altLang="en-US" sz="1300">
                <a:latin typeface="Arial" panose="020B0604020202020204" pitchFamily="34" charset="0"/>
              </a:rPr>
              <a:t>kimi səhifələrdə dizaynı (interfeysi) pozmasıdır. Bu problem çox yayğındır və əsas səbəb </a:t>
            </a:r>
            <a:r>
              <a:rPr lang="en-US" altLang="en-US" sz="1300" b="1">
                <a:latin typeface="Arial" panose="020B0604020202020204" pitchFamily="34" charset="0"/>
              </a:rPr>
              <a:t>DataTables</a:t>
            </a:r>
            <a:r>
              <a:rPr lang="en-US" altLang="en-US" sz="1300">
                <a:latin typeface="Arial" panose="020B0604020202020204" pitchFamily="34" charset="0"/>
              </a:rPr>
              <a:t> və </a:t>
            </a:r>
            <a:r>
              <a:rPr lang="en-US" altLang="en-US" sz="1300" b="1">
                <a:latin typeface="Arial" panose="020B0604020202020204" pitchFamily="34" charset="0"/>
              </a:rPr>
              <a:t>Bootstrap</a:t>
            </a:r>
            <a:r>
              <a:rPr lang="en-US" altLang="en-US" sz="1300">
                <a:latin typeface="Arial" panose="020B0604020202020204" pitchFamily="34" charset="0"/>
              </a:rPr>
              <a:t>-ın bütün sayta yüklənməsidir. </a:t>
            </a:r>
            <a:r>
              <a:rPr lang="en-US" altLang="en-US" sz="1300" b="1">
                <a:latin typeface="Arial" panose="020B0604020202020204" pitchFamily="34" charset="0"/>
              </a:rPr>
              <a:t>Laravel + Vite </a:t>
            </a:r>
            <a:r>
              <a:rPr lang="en-US" altLang="en-US" sz="1300">
                <a:latin typeface="Arial" panose="020B0604020202020204" pitchFamily="34" charset="0"/>
              </a:rPr>
              <a:t>istifadə edənlər üçün bu problemi dinamik yükləmə və səhifəyə görə fayl əlavə etmə üsulu ilə tam həll etmək mümkündür.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Mən indi heçnə etməyəcəm, sadəcə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npm run dev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yazaraq proqramı işə salanda düzəlir</a:t>
            </a:r>
            <a:r>
              <a:rPr lang="az-Latn-AZ" altLang="en-US" sz="1300">
                <a:latin typeface="Arial" panose="020B0604020202020204" pitchFamily="34" charset="0"/>
              </a:rPr>
              <a:t> problem.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5A8C58-4807-5930-95B7-5220C9B0A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3062" y="1483567"/>
            <a:ext cx="4278938" cy="53744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5526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91411-0E4F-2DFC-355E-EEA71C93F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F920A0-C402-68CF-F14E-52D9C4C97720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 də, şablona şəkildə gördüyünüz kimi </a:t>
            </a:r>
            <a:r>
              <a:rPr lang="az-Latn-AZ" altLang="en-US" sz="1300" b="1">
                <a:latin typeface="Arial" panose="020B0604020202020204" pitchFamily="34" charset="0"/>
              </a:rPr>
              <a:t>Button</a:t>
            </a:r>
            <a:r>
              <a:rPr lang="az-Latn-AZ" altLang="en-US" sz="1300">
                <a:latin typeface="Arial" panose="020B0604020202020204" pitchFamily="34" charset="0"/>
              </a:rPr>
              <a:t> -lar əlavə edəcəyik. Növbəti slayd....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471795-0C8B-66A0-0323-26F250538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786" y="2520756"/>
            <a:ext cx="7889499" cy="42501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61940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03C19-4894-D7D9-D1D1-BF85565E6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817328-1F4A-04B7-4267-E77EF3323AD0}"/>
              </a:ext>
            </a:extLst>
          </p:cNvPr>
          <p:cNvSpPr txBox="1"/>
          <p:nvPr/>
        </p:nvSpPr>
        <p:spPr>
          <a:xfrm>
            <a:off x="217714" y="55986"/>
            <a:ext cx="11756571" cy="612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200" b="1">
                <a:latin typeface="Arial" panose="020B0604020202020204" pitchFamily="34" charset="0"/>
              </a:rPr>
              <a:t>UserDataTable.php </a:t>
            </a:r>
            <a:r>
              <a:rPr lang="az-Latn-AZ" altLang="en-US" sz="1200">
                <a:latin typeface="Arial" panose="020B0604020202020204" pitchFamily="34" charset="0"/>
              </a:rPr>
              <a:t>faylındakı işarələnən hissələr commentdə idi. Həmin hissələri commentdən çıxardırıq. `</a:t>
            </a:r>
            <a:r>
              <a:rPr lang="az-Latn-AZ" altLang="en-US" sz="1200" b="1">
                <a:latin typeface="Arial" panose="020B0604020202020204" pitchFamily="34" charset="0"/>
              </a:rPr>
              <a:t>app.css</a:t>
            </a:r>
            <a:r>
              <a:rPr lang="az-Latn-AZ" altLang="en-US" sz="1200">
                <a:latin typeface="Arial" panose="020B0604020202020204" pitchFamily="34" charset="0"/>
              </a:rPr>
              <a:t>` faylındakı </a:t>
            </a:r>
            <a:r>
              <a:rPr lang="az-Latn-AZ" altLang="en-US" sz="1200" b="1">
                <a:latin typeface="Arial" panose="020B0604020202020204" pitchFamily="34" charset="0"/>
              </a:rPr>
              <a:t>İmportları</a:t>
            </a:r>
            <a:r>
              <a:rPr lang="az-Latn-AZ" altLang="en-US" sz="1200">
                <a:latin typeface="Arial" panose="020B0604020202020204" pitchFamily="34" charset="0"/>
              </a:rPr>
              <a:t> yuxarı daşıyırıq və `</a:t>
            </a:r>
            <a:r>
              <a:rPr lang="en-US" altLang="en-US" sz="1200" b="1">
                <a:latin typeface="Arial" panose="020B0604020202020204" pitchFamily="34" charset="0"/>
              </a:rPr>
              <a:t>resources\views\layouts\app.blade.php</a:t>
            </a:r>
            <a:r>
              <a:rPr lang="az-Latn-AZ" altLang="en-US" sz="1200">
                <a:latin typeface="Arial" panose="020B0604020202020204" pitchFamily="34" charset="0"/>
              </a:rPr>
              <a:t>` faylında isə, </a:t>
            </a:r>
            <a:r>
              <a:rPr lang="az-Latn-AZ" altLang="en-US" sz="1200" b="1">
                <a:latin typeface="Arial" panose="020B0604020202020204" pitchFamily="34" charset="0"/>
              </a:rPr>
              <a:t>bootstrap</a:t>
            </a:r>
            <a:r>
              <a:rPr lang="az-Latn-AZ" altLang="en-US" sz="1200">
                <a:latin typeface="Arial" panose="020B0604020202020204" pitchFamily="34" charset="0"/>
              </a:rPr>
              <a:t> -in </a:t>
            </a:r>
            <a:r>
              <a:rPr lang="az-Latn-AZ" altLang="en-US" sz="1200" b="1">
                <a:latin typeface="Arial" panose="020B0604020202020204" pitchFamily="34" charset="0"/>
              </a:rPr>
              <a:t>icon</a:t>
            </a:r>
            <a:r>
              <a:rPr lang="az-Latn-AZ" altLang="en-US" sz="1200">
                <a:latin typeface="Arial" panose="020B0604020202020204" pitchFamily="34" charset="0"/>
              </a:rPr>
              <a:t> linkini yerləşdiririk. 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601B1A-FE7E-8CAC-D47E-5DE4ED0B6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6199"/>
            <a:ext cx="12192000" cy="613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314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C81D4-AF2A-FA8A-B9B9-03269DB0C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6CFC23-B7D7-E580-0DB9-0141CA9C8D2D}"/>
              </a:ext>
            </a:extLst>
          </p:cNvPr>
          <p:cNvSpPr txBox="1"/>
          <p:nvPr/>
        </p:nvSpPr>
        <p:spPr>
          <a:xfrm>
            <a:off x="217714" y="255046"/>
            <a:ext cx="11756571" cy="1971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Əslində icon -lar üçün əlavə link yerləşdirməyə ehtiyac yox idi, çünki `app.css` faylında yazdığımız İMPORT -ların içində belə bir kod var: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@import 'bootstrap-icons/font/bootstrap-icons.css’;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Ancaq hansı səbəbdəndir bilmirəm bu fayl avtomatik olaraq yaradılmamışdır. İstəsək əslində özümüzdə yarada bilərdik. Ancaq mən artıq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CDN link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istifadə etdim.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3FF671-CFCF-A506-8863-C06AC2FF9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121" y="2703239"/>
            <a:ext cx="4867954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756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B9D55-6DDD-8F53-2DAF-C9B570187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8BDCE8-0C26-9A39-AAA5-337801306E83}"/>
              </a:ext>
            </a:extLst>
          </p:cNvPr>
          <p:cNvSpPr txBox="1"/>
          <p:nvPr/>
        </p:nvSpPr>
        <p:spPr>
          <a:xfrm>
            <a:off x="217715" y="141178"/>
            <a:ext cx="11756571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ikonlardan məsələn birincisini kliklədikdə aşağıdakı kimi bir xəta </a:t>
            </a:r>
            <a:r>
              <a:rPr lang="az-Latn-AZ" altLang="en-US" sz="1300">
                <a:latin typeface="Arial" panose="020B0604020202020204" pitchFamily="34" charset="0"/>
              </a:rPr>
              <a:t>görəcəyik.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xəta onu bildiririk ki,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dataları EXCEL formatında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endirmək üçün gərəkli olan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funksiya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yoxdur və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maat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website/excel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adlı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paket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endirin. 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 u="sng">
                <a:solidFill>
                  <a:srgbClr val="00B0F0"/>
                </a:solidFill>
                <a:latin typeface="Arial" panose="020B0604020202020204" pitchFamily="34" charset="0"/>
              </a:rPr>
              <a:t>https://docs.laravel-excel.com/3.1/getting-started/installation.html</a:t>
            </a:r>
            <a:endParaRPr lang="az-Latn-AZ" altLang="en-US" sz="1300" u="sng">
              <a:solidFill>
                <a:srgbClr val="00B0F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Paketin quraşdırma addımları saytda qeyd edilmişdir.... Növbəti slayd.....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C5F49-04AF-3276-1977-A0A7E6E6C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650240"/>
            <a:ext cx="3934374" cy="11907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260B37-6AA5-32DD-C566-2375D7265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4200154"/>
            <a:ext cx="8478433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053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2CAA1-291E-2C57-F7D9-DF7EF45CB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EC0879-2FAD-C2BD-BE7F-06A2D6FEBF5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6BC9B2-D523-DE9C-5DB8-6438630D1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781" y="480601"/>
            <a:ext cx="9564435" cy="58967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3467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3FD7D-3B43-E570-B125-873C5FB04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A0C6E7-2D53-00F9-1641-28EDA46E4188}"/>
              </a:ext>
            </a:extLst>
          </p:cNvPr>
          <p:cNvSpPr txBox="1"/>
          <p:nvPr/>
        </p:nvSpPr>
        <p:spPr>
          <a:xfrm>
            <a:off x="217714" y="255046"/>
            <a:ext cx="11756571" cy="6056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Sonra isə, </a:t>
            </a:r>
            <a:r>
              <a:rPr lang="en-US" altLang="en-US" sz="1300" b="1">
                <a:latin typeface="Arial" panose="020B0604020202020204" pitchFamily="34" charset="0"/>
              </a:rPr>
              <a:t>Maatwebsite Excel </a:t>
            </a:r>
            <a:r>
              <a:rPr lang="en-US" altLang="en-US" sz="1300">
                <a:latin typeface="Arial" panose="020B0604020202020204" pitchFamily="34" charset="0"/>
              </a:rPr>
              <a:t>paketinin konfiqurasiya faylını layihənin </a:t>
            </a:r>
            <a:r>
              <a:rPr lang="en-US" altLang="en-US" sz="1300" b="1">
                <a:latin typeface="Arial" panose="020B0604020202020204" pitchFamily="34" charset="0"/>
              </a:rPr>
              <a:t>config</a:t>
            </a:r>
            <a:r>
              <a:rPr lang="en-US" altLang="en-US" sz="1300">
                <a:latin typeface="Arial" panose="020B0604020202020204" pitchFamily="34" charset="0"/>
              </a:rPr>
              <a:t> qovluğuna çıxarmaq (publish etmək) üçün</a:t>
            </a:r>
            <a:r>
              <a:rPr lang="az-Latn-AZ" altLang="en-US" sz="1300">
                <a:latin typeface="Arial" panose="020B0604020202020204" pitchFamily="34" charset="0"/>
              </a:rPr>
              <a:t> aşağıdakı əmri yazırıq: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əmr nəticəsində `</a:t>
            </a:r>
            <a:r>
              <a:rPr lang="en-US" altLang="en-US" sz="1300" b="1">
                <a:latin typeface="Arial" panose="020B0604020202020204" pitchFamily="34" charset="0"/>
              </a:rPr>
              <a:t>config/excel.php</a:t>
            </a:r>
            <a:r>
              <a:rPr lang="en-US" altLang="en-US" sz="1300">
                <a:latin typeface="Arial" panose="020B0604020202020204" pitchFamily="34" charset="0"/>
              </a:rPr>
              <a:t>` </a:t>
            </a:r>
            <a:r>
              <a:rPr lang="az-Latn-AZ" altLang="en-US" sz="1300">
                <a:latin typeface="Arial" panose="020B0604020202020204" pitchFamily="34" charset="0"/>
              </a:rPr>
              <a:t>adında</a:t>
            </a:r>
            <a:r>
              <a:rPr lang="en-US" altLang="en-US" sz="1300">
                <a:latin typeface="Arial" panose="020B0604020202020204" pitchFamily="34" charset="0"/>
              </a:rPr>
              <a:t> fayl yaranır</a:t>
            </a:r>
            <a:r>
              <a:rPr lang="az-Latn-AZ" altLang="en-US" sz="1300">
                <a:latin typeface="Arial" panose="020B0604020202020204" pitchFamily="34" charset="0"/>
              </a:rPr>
              <a:t>.</a:t>
            </a:r>
            <a:r>
              <a:rPr lang="en-US" altLang="en-US" sz="1300">
                <a:latin typeface="Arial" panose="020B0604020202020204" pitchFamily="34" charset="0"/>
              </a:rPr>
              <a:t> Bu fayl vasitəsilə</a:t>
            </a:r>
            <a:r>
              <a:rPr lang="az-Latn-AZ" altLang="en-US" sz="1300">
                <a:latin typeface="Arial" panose="020B0604020202020204" pitchFamily="34" charset="0"/>
              </a:rPr>
              <a:t>,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Maatwebsite Excel </a:t>
            </a:r>
            <a:r>
              <a:rPr lang="en-US" altLang="en-US" sz="1300">
                <a:latin typeface="Arial" panose="020B0604020202020204" pitchFamily="34" charset="0"/>
              </a:rPr>
              <a:t>paketinin bütün konfiqurasiya </a:t>
            </a:r>
            <a:r>
              <a:rPr lang="az-Latn-AZ" altLang="en-US" sz="1300">
                <a:latin typeface="Arial" panose="020B0604020202020204" pitchFamily="34" charset="0"/>
              </a:rPr>
              <a:t>parametrlərini</a:t>
            </a:r>
            <a:r>
              <a:rPr lang="en-US" altLang="en-US" sz="1300">
                <a:latin typeface="Arial" panose="020B0604020202020204" pitchFamily="34" charset="0"/>
              </a:rPr>
              <a:t> öz layihə</a:t>
            </a:r>
            <a:r>
              <a:rPr lang="az-Latn-AZ" altLang="en-US" sz="1300">
                <a:latin typeface="Arial" panose="020B0604020202020204" pitchFamily="34" charset="0"/>
              </a:rPr>
              <a:t>mizə</a:t>
            </a:r>
            <a:r>
              <a:rPr lang="en-US" altLang="en-US" sz="1300">
                <a:latin typeface="Arial" panose="020B0604020202020204" pitchFamily="34" charset="0"/>
              </a:rPr>
              <a:t> uyğun olaraq dəyişə bilər</a:t>
            </a:r>
            <a:r>
              <a:rPr lang="az-Latn-AZ" altLang="en-US" sz="1300">
                <a:latin typeface="Arial" panose="020B0604020202020204" pitchFamily="34" charset="0"/>
              </a:rPr>
              <a:t>ik.</a:t>
            </a: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Nəyə yarayır?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config/excel.php </a:t>
            </a:r>
            <a:r>
              <a:rPr lang="en-US" altLang="en-US" sz="1300">
                <a:latin typeface="Arial" panose="020B0604020202020204" pitchFamily="34" charset="0"/>
              </a:rPr>
              <a:t>sənə bu parametrləri dəyişmək imkanı verir: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Default exporter və importer class-ları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Chunk size (böyük faylları hissə-hissə oxumaq üçün)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Caching sistemləri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Temporary folder yolları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CSV, XLSX, XLS formalarının özəl ayarları (encoding, delimiter və s.)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42C477-FB84-C602-B993-83EE6A40C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864715"/>
            <a:ext cx="9535856" cy="16575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8053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EC222-3C9A-9B46-3042-C0EFEE458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517089-B44A-1D7B-E131-23687AB1B34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Paketi qura</a:t>
            </a:r>
            <a:r>
              <a:rPr lang="az-Latn-AZ" altLang="en-US" sz="1300">
                <a:latin typeface="Arial" panose="020B0604020202020204" pitchFamily="34" charset="0"/>
              </a:rPr>
              <a:t>şdırdıqdan sonra düyməni kliklədikdə </a:t>
            </a:r>
            <a:r>
              <a:rPr lang="az-Latn-AZ" altLang="en-US" sz="1300" b="1">
                <a:latin typeface="Arial" panose="020B0604020202020204" pitchFamily="34" charset="0"/>
              </a:rPr>
              <a:t>EXCEL</a:t>
            </a:r>
            <a:r>
              <a:rPr lang="az-Latn-AZ" altLang="en-US" sz="1300">
                <a:latin typeface="Arial" panose="020B0604020202020204" pitchFamily="34" charset="0"/>
              </a:rPr>
              <a:t> faylı endiriləcəkdir.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5728B6-4AC0-87ED-DD20-461586296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085067"/>
            <a:ext cx="12192000" cy="27729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132937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CC416-5DF9-9628-FAC8-49D08B5DE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ACD17A-047E-F53A-0D49-C4118804BAA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Endirilən məluamtlar.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0E93C0-FCA3-F5C8-5AFA-398F02AF3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912" y="0"/>
            <a:ext cx="59550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1962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E19E0-D600-72A4-9B4C-6E9A97EB4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BC0E0D-94B4-87CC-9A0D-0076F8799F52}"/>
              </a:ext>
            </a:extLst>
          </p:cNvPr>
          <p:cNvSpPr txBox="1"/>
          <p:nvPr/>
        </p:nvSpPr>
        <p:spPr>
          <a:xfrm>
            <a:off x="217714" y="255046"/>
            <a:ext cx="11756571" cy="275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CSV formatda da datalar</a:t>
            </a:r>
            <a:r>
              <a:rPr lang="az-Latn-AZ" altLang="en-US" sz="1300">
                <a:latin typeface="Arial" panose="020B0604020202020204" pitchFamily="34" charset="0"/>
              </a:rPr>
              <a:t>ı problemsiz endirə bilirik.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Ancaq </a:t>
            </a:r>
            <a:r>
              <a:rPr lang="az-Latn-AZ" altLang="en-US" sz="1300" b="1">
                <a:latin typeface="Arial" panose="020B0604020202020204" pitchFamily="34" charset="0"/>
              </a:rPr>
              <a:t>PDF</a:t>
            </a:r>
            <a:r>
              <a:rPr lang="az-Latn-AZ" altLang="en-US" sz="1300">
                <a:latin typeface="Arial" panose="020B0604020202020204" pitchFamily="34" charset="0"/>
              </a:rPr>
              <a:t> fromatı üçün `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barryvdh/laravel-snappy</a:t>
            </a:r>
            <a:r>
              <a:rPr lang="az-Latn-AZ" altLang="en-US" sz="1300">
                <a:latin typeface="Arial" panose="020B0604020202020204" pitchFamily="34" charset="0"/>
              </a:rPr>
              <a:t>` adlı paket endirmək lazımdır: </a:t>
            </a:r>
            <a:r>
              <a:rPr lang="az-Latn-AZ" altLang="en-US" sz="1300" u="sng">
                <a:solidFill>
                  <a:srgbClr val="00B0F0"/>
                </a:solidFill>
                <a:latin typeface="Arial" panose="020B0604020202020204" pitchFamily="34" charset="0"/>
              </a:rPr>
              <a:t>https://github.com/barryvdh/laravel-snappy</a:t>
            </a:r>
            <a:r>
              <a:rPr lang="az-Latn-AZ" altLang="en-US" sz="1300">
                <a:latin typeface="Arial" panose="020B0604020202020204" pitchFamily="34" charset="0"/>
              </a:rPr>
              <a:t> . Ardı var.....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10A200-F58B-7EEC-1AE9-8A9D8CBC8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653765"/>
            <a:ext cx="2021633" cy="6495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C94E25-96EE-87B7-07F7-E0CC758E0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3159025"/>
            <a:ext cx="2198915" cy="6459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CEE98C-5322-0174-8247-C4E2D414D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15" y="3952924"/>
            <a:ext cx="4534616" cy="6294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974D68-8D24-05C2-DA3D-2E42644AB2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714" y="4746822"/>
            <a:ext cx="3222734" cy="211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7315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81488-C81F-AE33-C49B-06D014F38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3BB690-DF5A-9790-66AF-85BF41DAA037}"/>
              </a:ext>
            </a:extLst>
          </p:cNvPr>
          <p:cNvSpPr txBox="1"/>
          <p:nvPr/>
        </p:nvSpPr>
        <p:spPr>
          <a:xfrm>
            <a:off x="217714" y="255046"/>
            <a:ext cx="11756571" cy="4948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Növbəti xəta `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wkhtmltopdf</a:t>
            </a:r>
            <a:r>
              <a:rPr lang="az-Latn-AZ" altLang="en-US" sz="1300">
                <a:latin typeface="Arial" panose="020B0604020202020204" pitchFamily="34" charset="0"/>
              </a:rPr>
              <a:t>` ilə əlaqəlidir: </a:t>
            </a:r>
            <a:r>
              <a:rPr lang="az-Latn-AZ" altLang="en-US" sz="1300" u="sng">
                <a:solidFill>
                  <a:srgbClr val="00B0F0"/>
                </a:solidFill>
                <a:latin typeface="Arial" panose="020B0604020202020204" pitchFamily="34" charset="0"/>
              </a:rPr>
              <a:t>https://wkhtmltopdf.org</a:t>
            </a:r>
            <a:r>
              <a:rPr lang="az-Latn-AZ" altLang="en-US" sz="1300">
                <a:latin typeface="Arial" panose="020B0604020202020204" pitchFamily="34" charset="0"/>
              </a:rPr>
              <a:t> .           </a:t>
            </a:r>
            <a:r>
              <a:rPr lang="az-Latn-AZ" altLang="en-US" sz="1300" u="sng">
                <a:solidFill>
                  <a:srgbClr val="00B0F0"/>
                </a:solidFill>
                <a:latin typeface="Arial" panose="020B0604020202020204" pitchFamily="34" charset="0"/>
              </a:rPr>
              <a:t>https://wkhtmltopdf.org/downloads.html</a:t>
            </a:r>
            <a:r>
              <a:rPr lang="az-Latn-AZ" altLang="en-US" sz="1300">
                <a:latin typeface="Arial" panose="020B0604020202020204" pitchFamily="34" charset="0"/>
              </a:rPr>
              <a:t> 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wkhtmltopdf</a:t>
            </a:r>
            <a:r>
              <a:rPr lang="en-US" altLang="en-US" sz="1300">
                <a:latin typeface="Arial" panose="020B0604020202020204" pitchFamily="34" charset="0"/>
              </a:rPr>
              <a:t> — HTML sənədlərini PDF formatına çevirən bir komanda sətri (CLI) alətidir. O, WebKit (Qt) render mühərrikindən istifadə edərək, veb səhifənin vizual görünüşünü PDF sənədinə çevirməyə imkan verir.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Laravel-də bu alət ən çox </a:t>
            </a:r>
            <a:r>
              <a:rPr lang="en-US" altLang="en-US" sz="1300" b="1">
                <a:latin typeface="Arial" panose="020B0604020202020204" pitchFamily="34" charset="0"/>
              </a:rPr>
              <a:t>barryvdh/laravel-snappy </a:t>
            </a:r>
            <a:r>
              <a:rPr lang="en-US" altLang="en-US" sz="1300">
                <a:latin typeface="Arial" panose="020B0604020202020204" pitchFamily="34" charset="0"/>
              </a:rPr>
              <a:t>paketi ilə birlikdə istifadə olunur.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7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Proqramı endiririk və quraşdırırıq.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B08A70-5942-F473-1B2A-F699D54D1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949228"/>
            <a:ext cx="12192000" cy="26056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AC047B-7900-3508-3BAF-A66F9B2DB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08075"/>
            <a:ext cx="12192000" cy="17499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845708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4F258-E547-CB58-42C9-E9D2F3DAB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F446E3-BC00-25BD-7E9B-7088866001C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Endirmə tamamlandıqdan sonra növbəti sətri </a:t>
            </a:r>
            <a:r>
              <a:rPr lang="en-US" altLang="en-US" sz="1300">
                <a:latin typeface="Arial" panose="020B0604020202020204" pitchFamily="34" charset="0"/>
              </a:rPr>
              <a:t>`</a:t>
            </a:r>
            <a:r>
              <a:rPr lang="en-US" altLang="en-US" sz="1300" b="1">
                <a:latin typeface="Arial" panose="020B0604020202020204" pitchFamily="34" charset="0"/>
              </a:rPr>
              <a:t>config\snappy.php</a:t>
            </a:r>
            <a:r>
              <a:rPr lang="en-US" altLang="en-US" sz="1300">
                <a:latin typeface="Arial" panose="020B0604020202020204" pitchFamily="34" charset="0"/>
              </a:rPr>
              <a:t>` </a:t>
            </a:r>
            <a:r>
              <a:rPr lang="az-Latn-AZ" altLang="en-US" sz="1300">
                <a:latin typeface="Arial" panose="020B0604020202020204" pitchFamily="34" charset="0"/>
              </a:rPr>
              <a:t>faylına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4FA2F4-8ACB-62FA-A1BB-2B60FDBBB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1" y="730667"/>
            <a:ext cx="12155596" cy="30388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471B82-F4B0-13F8-DB4B-D8E8FF7FC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093782"/>
            <a:ext cx="5449078" cy="276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9879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6061D-9E9D-E716-6824-07CA532DB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16A92E-DE65-3EEE-B691-B2488A61350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Nəticə....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02143B-3A4C-6C06-E723-EE8F00DE4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86471"/>
            <a:ext cx="12192000" cy="24932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EEF186-2284-B92F-5F18-176F4D9D3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97559"/>
            <a:ext cx="8647043" cy="306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5287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8433B-338B-DAEA-B8B5-860DD85BB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CB1601-D406-1BF7-4469-992D3AF5794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17069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4C2B8-6ABD-298A-A51C-0A09C2AC8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E0DC95-9EDC-608A-D71C-0906D5D52A6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65464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06587-490C-7C61-1F61-C2106CCEB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8412FD-760B-2AE4-4872-A59438CF723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630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3960</TotalTime>
  <Words>950</Words>
  <Application>Microsoft Office PowerPoint</Application>
  <PresentationFormat>Widescreen</PresentationFormat>
  <Paragraphs>113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381</cp:revision>
  <dcterms:created xsi:type="dcterms:W3CDTF">2025-04-12T11:00:44Z</dcterms:created>
  <dcterms:modified xsi:type="dcterms:W3CDTF">2025-06-17T11:29:00Z</dcterms:modified>
</cp:coreProperties>
</file>