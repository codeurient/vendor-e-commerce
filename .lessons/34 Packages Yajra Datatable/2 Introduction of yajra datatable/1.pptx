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4" r:id="rId3"/>
    <p:sldId id="403" r:id="rId4"/>
    <p:sldId id="405" r:id="rId5"/>
    <p:sldId id="408" r:id="rId6"/>
    <p:sldId id="409" r:id="rId7"/>
    <p:sldId id="410" r:id="rId8"/>
    <p:sldId id="411" r:id="rId9"/>
    <p:sldId id="406" r:id="rId10"/>
    <p:sldId id="407" r:id="rId11"/>
    <p:sldId id="4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jra/laravel-datatables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018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Yajra Datatables paketi</a:t>
            </a:r>
            <a:r>
              <a:rPr lang="az-Latn-AZ" altLang="en-US" sz="1300">
                <a:latin typeface="Arial" panose="020B0604020202020204" pitchFamily="34" charset="0"/>
              </a:rPr>
              <a:t> haqqında.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r>
              <a:rPr lang="en-US" sz="1400" b="1"/>
              <a:t>Yajra Laravel Datatables nədir?</a:t>
            </a:r>
            <a:endParaRPr lang="az-Latn-AZ" sz="1400" b="1"/>
          </a:p>
          <a:p>
            <a:endParaRPr lang="en-US" sz="1400" b="1"/>
          </a:p>
          <a:p>
            <a:r>
              <a:rPr lang="en-US" sz="1400" b="1"/>
              <a:t>Yajra Datatables</a:t>
            </a:r>
            <a:r>
              <a:rPr lang="en-US" sz="1400"/>
              <a:t>, Laravel üçün hazırlanmış məşhur bir </a:t>
            </a:r>
            <a:r>
              <a:rPr lang="en-US" sz="1400" b="1"/>
              <a:t>server-side data processing</a:t>
            </a:r>
            <a:r>
              <a:rPr lang="en-US" sz="1400"/>
              <a:t> paketidir. Bu paket, Laravel tətbiqinizdə </a:t>
            </a:r>
            <a:r>
              <a:rPr lang="en-US" sz="1400" b="1"/>
              <a:t>jQuery DataTables</a:t>
            </a:r>
            <a:r>
              <a:rPr lang="en-US" sz="1400"/>
              <a:t> kitabxanası ilə birlikdə işləyərək, böyük məlumat cədvəllərini sürətli, dinamik və ajax vasitəsilə göstərməyə imkan verir.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Server-side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nə deməkdir ? Birdə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Client-side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vardır. Bu ikisinin fərqinə və mənalarına baxaq.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Əsas anlayış: Server-side vs Client-side DataTables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🔹 </a:t>
            </a:r>
            <a:r>
              <a:rPr lang="az-Latn-AZ" altLang="en-US" sz="1300" b="1" i="1">
                <a:latin typeface="Arial" panose="020B0604020202020204" pitchFamily="34" charset="0"/>
              </a:rPr>
              <a:t>Client-side processing nədir?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Məlumatların tamamı </a:t>
            </a:r>
            <a:r>
              <a:rPr lang="az-Latn-AZ" altLang="en-US" sz="1300" b="1">
                <a:latin typeface="Arial" panose="020B0604020202020204" pitchFamily="34" charset="0"/>
              </a:rPr>
              <a:t>əvvəlcədən browser</a:t>
            </a:r>
            <a:r>
              <a:rPr lang="az-Latn-AZ" altLang="en-US" sz="1300">
                <a:latin typeface="Arial" panose="020B0604020202020204" pitchFamily="34" charset="0"/>
              </a:rPr>
              <a:t>-ə (klientə) göndərilir. Bütün sortlama, axtarış və səhifələmə (pagination) əməliyyatları brauzerdə baş verir.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🔹 </a:t>
            </a:r>
            <a:r>
              <a:rPr lang="az-Latn-AZ" altLang="en-US" sz="1300" b="1" i="1">
                <a:latin typeface="Arial" panose="020B0604020202020204" pitchFamily="34" charset="0"/>
              </a:rPr>
              <a:t>Server-side processing nədir?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Məlumatların yalnız bir hissəsi </a:t>
            </a:r>
            <a:r>
              <a:rPr lang="az-Latn-AZ" altLang="en-US" sz="1300" b="1">
                <a:latin typeface="Arial" panose="020B0604020202020204" pitchFamily="34" charset="0"/>
              </a:rPr>
              <a:t>AJAX</a:t>
            </a:r>
            <a:r>
              <a:rPr lang="az-Latn-AZ" altLang="en-US" sz="1300">
                <a:latin typeface="Arial" panose="020B0604020202020204" pitchFamily="34" charset="0"/>
              </a:rPr>
              <a:t> vasitəsilə serverdən çəkilir. Axtarış, sort və səhifələmə əməliyyatları serverdə aparılır, nəticə </a:t>
            </a:r>
            <a:r>
              <a:rPr lang="az-Latn-AZ" altLang="en-US" sz="1300" b="1">
                <a:latin typeface="Arial" panose="020B0604020202020204" pitchFamily="34" charset="0"/>
              </a:rPr>
              <a:t>JSON</a:t>
            </a:r>
            <a:r>
              <a:rPr lang="az-Latn-AZ" altLang="en-US" sz="1300">
                <a:latin typeface="Arial" panose="020B0604020202020204" pitchFamily="34" charset="0"/>
              </a:rPr>
              <a:t> formatında brauzerə qaytarılır.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CCD4-1CDF-053F-6574-5A4C1A11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7EB237-8D79-9619-DAF2-B6E9874E989E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Sadə Analogiya: Kitabxana Analogiyası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Hansını nə vaxt istifadə etməli</a:t>
            </a:r>
            <a:r>
              <a:rPr lang="en-US" altLang="en-US" sz="1300">
                <a:latin typeface="Arial" panose="020B0604020202020204" pitchFamily="34" charset="0"/>
              </a:rPr>
              <a:t>?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ADA5D5-BD6A-BAC5-3854-D63B71F0B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024778"/>
              </p:ext>
            </p:extLst>
          </p:nvPr>
        </p:nvGraphicFramePr>
        <p:xfrm>
          <a:off x="306354" y="882846"/>
          <a:ext cx="10890380" cy="2743200"/>
        </p:xfrm>
        <a:graphic>
          <a:graphicData uri="http://schemas.openxmlformats.org/drawingml/2006/table">
            <a:tbl>
              <a:tblPr/>
              <a:tblGrid>
                <a:gridCol w="2866832">
                  <a:extLst>
                    <a:ext uri="{9D8B030D-6E8A-4147-A177-3AD203B41FA5}">
                      <a16:colId xmlns:a16="http://schemas.microsoft.com/office/drawing/2014/main" val="3073854336"/>
                    </a:ext>
                  </a:extLst>
                </a:gridCol>
                <a:gridCol w="4011774">
                  <a:extLst>
                    <a:ext uri="{9D8B030D-6E8A-4147-A177-3AD203B41FA5}">
                      <a16:colId xmlns:a16="http://schemas.microsoft.com/office/drawing/2014/main" val="1627196230"/>
                    </a:ext>
                  </a:extLst>
                </a:gridCol>
                <a:gridCol w="4011774">
                  <a:extLst>
                    <a:ext uri="{9D8B030D-6E8A-4147-A177-3AD203B41FA5}">
                      <a16:colId xmlns:a16="http://schemas.microsoft.com/office/drawing/2014/main" val="2276651161"/>
                    </a:ext>
                  </a:extLst>
                </a:gridCol>
              </a:tblGrid>
              <a:tr h="261732">
                <a:tc>
                  <a:txBody>
                    <a:bodyPr/>
                    <a:lstStyle/>
                    <a:p>
                      <a:endParaRPr lang="en-US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Client-side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Server-side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551"/>
                  </a:ext>
                </a:extLst>
              </a:tr>
              <a:tr h="261732">
                <a:tc>
                  <a:txBody>
                    <a:bodyPr/>
                    <a:lstStyle/>
                    <a:p>
                      <a:r>
                        <a:rPr lang="en-US" b="1"/>
                        <a:t>🧠 Qərar harada verilir?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Browser (müştəri tərəfi)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74536"/>
                  </a:ext>
                </a:extLst>
              </a:tr>
              <a:tr h="458031">
                <a:tc>
                  <a:txBody>
                    <a:bodyPr/>
                    <a:lstStyle/>
                    <a:p>
                      <a:r>
                        <a:rPr lang="en-US" b="1"/>
                        <a:t>📦 Məlumat haradadır?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Hamısı yüklənir (məsələn 1000+ qeyd)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Hər dəfə lazım olan hissə yüklənir (məsələn 10 qeyd)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003236"/>
                  </a:ext>
                </a:extLst>
              </a:tr>
              <a:tr h="458031">
                <a:tc>
                  <a:txBody>
                    <a:bodyPr/>
                    <a:lstStyle/>
                    <a:p>
                      <a:r>
                        <a:rPr lang="en-US" b="1"/>
                        <a:t>📚 Analogiya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Bütün kitabı alıb evə gətirmək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Kitabxanada yalnız lazım olan səhifəni fotokopiya etmək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814892"/>
                  </a:ext>
                </a:extLst>
              </a:tr>
              <a:tr h="261732">
                <a:tc>
                  <a:txBody>
                    <a:bodyPr/>
                    <a:lstStyle/>
                    <a:p>
                      <a:r>
                        <a:rPr lang="en-US" b="1"/>
                        <a:t>💻 Məsrəf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Brauzerə yük çox düşür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Serverdə işləmə baş verir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355198"/>
                  </a:ext>
                </a:extLst>
              </a:tr>
              <a:tr h="261732">
                <a:tc>
                  <a:txBody>
                    <a:bodyPr/>
                    <a:lstStyle/>
                    <a:p>
                      <a:r>
                        <a:rPr lang="en-US" b="1"/>
                        <a:t>⚠️ Limitasiya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Böyük datalarda donur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Böyük datalarda effektivdir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2581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0A3032-1B8D-C4F5-5411-3224E3188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31300"/>
              </p:ext>
            </p:extLst>
          </p:nvPr>
        </p:nvGraphicFramePr>
        <p:xfrm>
          <a:off x="306354" y="4897032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091410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77372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İstifadə ssenarisi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Tövsiyə edilən yanaşma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03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50-200 qeyd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Client-side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73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/>
                        <a:t>500+ və ya 10,000+ qeyd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Server-side (Yajra)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748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Sürətli axtarış və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Server-side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960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Offline işləyən tətbiqlər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Client-side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928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39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568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Nəyə görə Yajra Datatables istifadə olunur?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Böyük verilənlər bazasında performanslı filtr, sıralama və pagination.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Məlumatların AJAX ilə dinamik gətirilməsi.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Frontend-də jQuery DataTables ilə güclü istifadəçi təcrübəsi.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Kodun modul, səliqəli və asand idarə olunan formada yazılması.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Əsas Fəaliyyət Prinsipi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Frontend → jQuery DataTable istəyi (AJAX ilə) serverə göndərir.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Backend → Yajra Datatables paketi bu istəyi qəbul edir, query-i qurur, sort/filter edir və JSON formatında nəticəni qaytarır.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Frontend → Alınan JSON məlumat DataTables-də avtomatik render olunur.</a:t>
            </a: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r>
              <a:rPr lang="en-US" sz="1400" b="1"/>
              <a:t>Rəsmi resurslar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Yajra GitHub: </a:t>
            </a:r>
            <a:r>
              <a:rPr lang="en-US" sz="1400">
                <a:hlinkClick r:id="rId2"/>
              </a:rPr>
              <a:t>https://github.com/yajra/laravel-datatables</a:t>
            </a:r>
            <a:endParaRPr lang="en-US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Rəsmi Sənədlər: </a:t>
            </a:r>
            <a:r>
              <a:rPr lang="en-US" sz="1400" u="sng">
                <a:solidFill>
                  <a:srgbClr val="0070C0"/>
                </a:solidFill>
              </a:rPr>
              <a:t>https://yajrabox.com/docs/laravel-datatables</a:t>
            </a: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4693-CB9A-7833-8961-9B0541E9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E7F9AD-D9D3-EEAA-11FF-1939E4BEF9A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730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44D9-78B0-DCA2-80B0-FF05C4FB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51F110-4917-B547-A00F-63A514CD041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358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5945-73DE-F327-7FD1-FF0EECA5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2496C6-5F90-9A82-E06D-C994CAD2D1D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106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D6393-F17F-D29A-3841-78C66EBC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581111-3255-32F9-6468-EA516CC7AFA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6224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6CF4-5603-67F3-4391-3C6441F4E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618159-E79D-6873-45E5-893F5CF769D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8707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3063F-D94C-D986-53F4-73A944A9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C3280A-A430-31FC-0986-052EE8E43FA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101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D4CB7-FA6E-D5F9-6BCD-22F8151B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FF25DF-AE7F-C3EF-4825-0F3A3840DA5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1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2435</TotalTime>
  <Words>359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339</cp:revision>
  <dcterms:created xsi:type="dcterms:W3CDTF">2025-04-12T11:00:44Z</dcterms:created>
  <dcterms:modified xsi:type="dcterms:W3CDTF">2025-06-16T04:17:11Z</dcterms:modified>
</cp:coreProperties>
</file>