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20" r:id="rId5"/>
    <p:sldId id="421" r:id="rId6"/>
    <p:sldId id="423" r:id="rId7"/>
    <p:sldId id="424" r:id="rId8"/>
    <p:sldId id="422" r:id="rId9"/>
    <p:sldId id="418" r:id="rId10"/>
    <p:sldId id="425" r:id="rId11"/>
    <p:sldId id="426" r:id="rId12"/>
    <p:sldId id="429" r:id="rId13"/>
    <p:sldId id="430" r:id="rId14"/>
    <p:sldId id="431" r:id="rId15"/>
    <p:sldId id="432" r:id="rId16"/>
    <p:sldId id="433" r:id="rId17"/>
    <p:sldId id="436" r:id="rId18"/>
    <p:sldId id="438" r:id="rId19"/>
    <p:sldId id="439" r:id="rId20"/>
    <p:sldId id="437" r:id="rId21"/>
    <p:sldId id="434" r:id="rId22"/>
    <p:sldId id="435" r:id="rId23"/>
    <p:sldId id="427" r:id="rId24"/>
    <p:sldId id="428" r:id="rId25"/>
    <p:sldId id="41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5321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-&gt;pluck('product_id')-&gt;toArray();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1200">
                <a:latin typeface="Arial" panose="020B0604020202020204" pitchFamily="34" charset="0"/>
              </a:rPr>
              <a:t>- Bu hissə yalnız məlumatın necə götürülüb formata salındığını izah edir</a:t>
            </a:r>
            <a:r>
              <a:rPr lang="az-Latn-AZ" altLang="en-US" sz="1200">
                <a:latin typeface="Arial" panose="020B0604020202020204" pitchFamily="34" charset="0"/>
              </a:rPr>
              <a:t>. database-dən yalnız product_id-ləri götür və onları sadə array şəklinə salır.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-&gt;pluck('product_id’)</a:t>
            </a:r>
            <a:endParaRPr lang="az-Latn-AZ" altLang="en-US" sz="12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>
                <a:latin typeface="Arial" panose="020B0604020202020204" pitchFamily="34" charset="0"/>
              </a:rPr>
              <a:t>Sorğunun nəticəsindən yalnız bir sütunu seçir: </a:t>
            </a:r>
            <a:r>
              <a:rPr lang="en-US" altLang="en-US" sz="1200" b="1">
                <a:latin typeface="Arial" panose="020B0604020202020204" pitchFamily="34" charset="0"/>
              </a:rPr>
              <a:t>product_id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>
                <a:latin typeface="Arial" panose="020B0604020202020204" pitchFamily="34" charset="0"/>
              </a:rPr>
              <a:t>FlashSaleItem modelindəki bütün uyğun sətrlərdən təkcə </a:t>
            </a:r>
            <a:r>
              <a:rPr lang="en-US" altLang="en-US" sz="1200" b="1">
                <a:latin typeface="Arial" panose="020B0604020202020204" pitchFamily="34" charset="0"/>
              </a:rPr>
              <a:t>product_id </a:t>
            </a:r>
            <a:r>
              <a:rPr lang="en-US" altLang="en-US" sz="1200">
                <a:latin typeface="Arial" panose="020B0604020202020204" pitchFamily="34" charset="0"/>
              </a:rPr>
              <a:t>dəyərlərini götürür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>
                <a:latin typeface="Arial" panose="020B0604020202020204" pitchFamily="34" charset="0"/>
              </a:rPr>
              <a:t>Nəticə Collection (Laravel kolleksiyası) olur</a:t>
            </a:r>
            <a:endParaRPr lang="az-Latn-AZ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Məsələn database-də belədirsə: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pluck('product_id') </a:t>
            </a:r>
            <a:r>
              <a:rPr lang="en-US" altLang="en-US" sz="1200">
                <a:latin typeface="Arial" panose="020B0604020202020204" pitchFamily="34" charset="0"/>
              </a:rPr>
              <a:t>nəticəsi</a:t>
            </a:r>
            <a:r>
              <a:rPr lang="az-Latn-AZ" altLang="en-US" sz="1200">
                <a:latin typeface="Arial" panose="020B0604020202020204" pitchFamily="34" charset="0"/>
              </a:rPr>
              <a:t> bu cürdür (bu hələ Collection-dır)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-&gt;toArray()</a:t>
            </a:r>
            <a:r>
              <a:rPr lang="az-Latn-AZ" altLang="en-US" sz="1200">
                <a:latin typeface="Arial" panose="020B0604020202020204" pitchFamily="34" charset="0"/>
              </a:rPr>
              <a:t>	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>
                <a:latin typeface="Arial" panose="020B0604020202020204" pitchFamily="34" charset="0"/>
              </a:rPr>
              <a:t>Alınan Collection-ı sadə PHP array-ə çevirir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A05AC-C1FA-898E-4D73-9102C73EC0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337"/>
          <a:stretch>
            <a:fillRect/>
          </a:stretch>
        </p:blipFill>
        <p:spPr>
          <a:xfrm>
            <a:off x="4876800" y="3585472"/>
            <a:ext cx="7315200" cy="3272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40F274-B1B6-312A-00D5-4D13D0BCC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6795"/>
            <a:ext cx="3229426" cy="981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0E5ECC-0DC9-94AE-37A4-4BEBEC058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93590"/>
            <a:ext cx="905001" cy="304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510FBF-7D2E-4721-20DB-8FA04E4AD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72749"/>
            <a:ext cx="2581635" cy="3810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FF0A5D-3165-CB7C-A503-65E7E89712E3}"/>
              </a:ext>
            </a:extLst>
          </p:cNvPr>
          <p:cNvSpPr txBox="1"/>
          <p:nvPr/>
        </p:nvSpPr>
        <p:spPr>
          <a:xfrm>
            <a:off x="0" y="5449628"/>
            <a:ext cx="4793673" cy="117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Niyə bu formada istifadə olunur? Çünki, </a:t>
            </a:r>
            <a:r>
              <a:rPr lang="en-US" sz="1200" b="1">
                <a:solidFill>
                  <a:srgbClr val="FF0000"/>
                </a:solidFill>
              </a:rPr>
              <a:t>whereIn()</a:t>
            </a:r>
            <a:r>
              <a:rPr lang="en-US" sz="1200"/>
              <a:t>, </a:t>
            </a:r>
            <a:r>
              <a:rPr lang="en-US" sz="1200" b="1">
                <a:solidFill>
                  <a:srgbClr val="FF0000"/>
                </a:solidFill>
              </a:rPr>
              <a:t>in_array()</a:t>
            </a:r>
            <a:r>
              <a:rPr lang="en-US" sz="1200"/>
              <a:t>, </a:t>
            </a:r>
            <a:r>
              <a:rPr lang="en-US" sz="1200" b="1">
                <a:solidFill>
                  <a:srgbClr val="FF0000"/>
                </a:solidFill>
              </a:rPr>
              <a:t>@foreach</a:t>
            </a:r>
            <a:r>
              <a:rPr lang="en-US" sz="1200"/>
              <a:t> kimi yerlərdə birbaşa </a:t>
            </a:r>
            <a:r>
              <a:rPr lang="en-US" sz="1200" b="1"/>
              <a:t>ID</a:t>
            </a:r>
            <a:r>
              <a:rPr lang="en-US" sz="1200"/>
              <a:t> siyahısı kimi rahat istifadə etmək üçün. Lazımsız digər sütunlar (id, status, və s.) alınmır və proqram daha sürətli və yüngül işləyir.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7A9D3-3751-1C0A-4137-CA6BE5254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62" y="0"/>
            <a:ext cx="9225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57AED-2E21-26C4-747F-CEA90EE0F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897"/>
            <a:ext cx="12192000" cy="54822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876E-9F3E-AD9B-37F2-7DB824ED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5CF239-64D6-9CF8-A329-9C3EDA647FF9}"/>
              </a:ext>
            </a:extLst>
          </p:cNvPr>
          <p:cNvSpPr txBox="1"/>
          <p:nvPr/>
        </p:nvSpPr>
        <p:spPr>
          <a:xfrm>
            <a:off x="0" y="0"/>
            <a:ext cx="12192000" cy="171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Bu metod məhsulun </a:t>
            </a:r>
            <a:r>
              <a:rPr lang="en-US" sz="1400" b="1"/>
              <a:t>endirimli qiymətinin olub-olmadığını və endirim tarix aralığında aktiv olub-olmadığını yoxlayaraq</a:t>
            </a:r>
            <a:r>
              <a:rPr lang="en-US" sz="1400"/>
              <a:t> </a:t>
            </a:r>
            <a:r>
              <a:rPr lang="en-US"/>
              <a:t>true</a:t>
            </a:r>
            <a:r>
              <a:rPr lang="en-US" sz="1400"/>
              <a:t> və ya </a:t>
            </a:r>
            <a:r>
              <a:rPr lang="en-US"/>
              <a:t>false</a:t>
            </a:r>
            <a:r>
              <a:rPr lang="en-US" sz="1400"/>
              <a:t> qaytarmaq üçün istifadə olunur.</a:t>
            </a:r>
            <a:endParaRPr lang="az-Latn-AZ" sz="1400"/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metodan, </a:t>
            </a:r>
            <a:r>
              <a:rPr lang="en-US" altLang="en-US" sz="1300">
                <a:latin typeface="Arial" panose="020B0604020202020204" pitchFamily="34" charset="0"/>
              </a:rPr>
              <a:t>metod məhsulun hazırda endirimdə olub-olmadığını müəyyən edib, frontend və backend-də endirimli qiyməti göstərmək, köhnə qiyməti</a:t>
            </a:r>
            <a:r>
              <a:rPr lang="az-Latn-AZ" altLang="en-US" sz="1300">
                <a:latin typeface="Arial" panose="020B0604020202020204" pitchFamily="34" charset="0"/>
              </a:rPr>
              <a:t>n</a:t>
            </a:r>
            <a:r>
              <a:rPr lang="en-US" altLang="en-US" sz="1300">
                <a:latin typeface="Arial" panose="020B0604020202020204" pitchFamily="34" charset="0"/>
              </a:rPr>
              <a:t> üzərindən xətt çəkmək, “Sale” badge-i çıxarmaq və ya </a:t>
            </a:r>
            <a:r>
              <a:rPr lang="az-Latn-AZ" altLang="en-US" sz="1300">
                <a:latin typeface="Arial" panose="020B0604020202020204" pitchFamily="34" charset="0"/>
              </a:rPr>
              <a:t>məhsulu </a:t>
            </a:r>
            <a:r>
              <a:rPr lang="en-US" altLang="en-US" sz="1300">
                <a:latin typeface="Arial" panose="020B0604020202020204" pitchFamily="34" charset="0"/>
              </a:rPr>
              <a:t>səbətə endirimli qiymətlə əlavə etmək kimi şərtli məntiqi idarə etmək üçün istifadə oluna bilər.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4A68E-7AD9-AB62-F60D-6D55B37A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0227"/>
            <a:ext cx="10390909" cy="491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1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B939F-D05C-F446-3EF7-63194FDE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233E0-9411-20DF-B947-7F2698DE460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D37EB4-68BE-4DB7-B8D7-D3BDD9C98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711" y="0"/>
            <a:ext cx="9022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9B79-97AB-E9C6-286E-FD749479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439C8A-5787-D2EF-08D2-6ACF28A0747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955F0-5236-383F-2057-7A81209DC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909"/>
            <a:ext cx="12192000" cy="63961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3505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E1E2D-F698-8539-C7E7-C811166D0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304226-8E6C-271E-C65E-3011B73094E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Update</a:t>
            </a:r>
            <a:r>
              <a:rPr lang="en-US" altLang="en-US" sz="1300">
                <a:latin typeface="Arial" panose="020B0604020202020204" pitchFamily="34" charset="0"/>
              </a:rPr>
              <a:t> edin sonra m</a:t>
            </a:r>
            <a:r>
              <a:rPr lang="az-Latn-AZ" altLang="en-US" sz="1300">
                <a:latin typeface="Arial" panose="020B0604020202020204" pitchFamily="34" charset="0"/>
              </a:rPr>
              <a:t>əhsulun qiymətini bir daha yoxlayın.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C6D0D-3512-DA29-3DB0-2473DCB93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354"/>
            <a:ext cx="12141497" cy="650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26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01208-2F16-E462-0D35-142925BD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77A081-E7B1-B4B1-861E-D50560C5792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B86D2-6406-62E1-5D8A-0BF3AF57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413"/>
            <a:ext cx="12192000" cy="65571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9548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45CBB3-E2A6-E37A-DFDB-BD2E8948C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683" y="0"/>
            <a:ext cx="5178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5E6B-3011-1A0A-A6C8-C3E2245F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850269-0E38-E554-E943-C62A414759A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8CB82-7E3A-2875-3148-DFEAA97FA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810" y="0"/>
            <a:ext cx="7356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1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F34A-C14F-F7C9-2236-98BCDDEC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0F74AE-0768-7BEB-8DCB-F10061C56D9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69105-2DC2-6727-CEA4-F7CE09D9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488"/>
            <a:ext cx="12192000" cy="62850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0482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DAE88-8EE4-5351-04D0-080BB5C9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37B7AD-291C-56F3-5BA4-A321D73A68C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funksiya məhsulun orijinal qiyməti ilə endirimli qiyməti arasındakı fərqə əsasən endirim faizini hesablayıb yuvarlaq şəkildə qaytarmaq üçün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D991A-F814-BB3C-4D8B-DC4AB9C01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78" y="685417"/>
            <a:ext cx="8554644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77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983B-44D2-FA3D-3E46-3BAB02CA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3C4EE-954B-3BAF-ACE2-DEA2E3A4935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97872-9BAB-7E99-40ED-470AFC910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67" y="0"/>
            <a:ext cx="10688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1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BD756-1029-3E7E-7B2E-9265CD4B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07CA4E-0E37-1C06-D1A6-FAE48743A6A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9684C-5DD1-DE70-269F-495FEDFE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2"/>
            <a:ext cx="12192000" cy="64172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0150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0CCA-D8E5-35D9-38BA-5A956AE1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089E2C-7149-589C-60AE-00FA18364BAF}"/>
              </a:ext>
            </a:extLst>
          </p:cNvPr>
          <p:cNvSpPr txBox="1"/>
          <p:nvPr/>
        </p:nvSpPr>
        <p:spPr>
          <a:xfrm>
            <a:off x="0" y="0"/>
            <a:ext cx="7047345" cy="79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Bu funksiya məhsulun texniki </a:t>
            </a:r>
            <a:r>
              <a:rPr lang="en-US"/>
              <a:t>type</a:t>
            </a:r>
            <a:r>
              <a:rPr lang="en-US" sz="1400"/>
              <a:t> dəyərini </a:t>
            </a:r>
            <a:r>
              <a:rPr lang="en-US" sz="1400" b="1"/>
              <a:t>istifadəçiyə göstəriləcək qısa etiket mətninə (New, Featured, Top, Best)</a:t>
            </a:r>
            <a:r>
              <a:rPr lang="en-US" sz="1400"/>
              <a:t> çevirmək üçün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761A1-365E-ADCC-5316-DCD5BF8EF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408" y="0"/>
            <a:ext cx="4643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8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6412-B3C9-6CF2-F8E6-32A7681C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140DAF-51AE-FDFC-C59F-517DD4253FC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CFEB3-0E28-FD06-527E-D13C0C536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382" y="0"/>
            <a:ext cx="7975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42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561F-1BD4-40AB-69AA-F5DB72C7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C855C3-EC8E-C3F6-3402-8509B14DF6F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01689-BFFE-3154-D2D4-81C438521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056" y="0"/>
            <a:ext cx="8461887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66049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5D83-28BF-7D49-512D-DFBA0B13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3567AF-C69C-166B-C896-360FB002F9B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C5C19-8065-3C30-FD9F-96CC79F4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190048"/>
            <a:ext cx="9659698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72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E85B6-D64C-1032-424D-0A38BF4A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F0658-D6E2-5643-741A-8DF00874019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8D1CE4-F920-DD37-AA6E-DCCC65A2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690" y="0"/>
            <a:ext cx="9364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29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5279-1F4D-E14D-CD4B-C5CBFCED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435C5E-CF8D-A54A-77EF-4BED5D0EEE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CB8D7C-0CF3-86B4-930A-17BB3CD8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806"/>
            <a:ext cx="12192000" cy="56823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519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B6EF7-3B68-5706-DC9D-FD1353BE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1F1E3-93B8-D58E-2045-F160B48DACA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25D80-7497-8250-970F-4710DD44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424"/>
            <a:ext cx="12192000" cy="56671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32010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49CC-AE19-50D5-32BB-AF57A51B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306BAB-39EC-08C3-96EB-BDC761E3D9D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Kursoru </a:t>
            </a:r>
            <a:r>
              <a:rPr lang="az-Latn-AZ" altLang="en-US" sz="1300">
                <a:latin typeface="Arial" panose="020B0604020202020204" pitchFamily="34" charset="0"/>
              </a:rPr>
              <a:t>şəklin üstünə gətirdikdə şəkil dəyişəcək.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0D90B-EBBB-6F81-A26E-112149731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6428"/>
            <a:ext cx="12192000" cy="52051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40576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3277-4267-82CC-B8A6-EB2AFC33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E3724B-B062-FAD0-C95D-2C83FE2887D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3C01A-548C-4337-D410-6310A33E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92" y="0"/>
            <a:ext cx="10577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99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84D1C-74C2-B8F7-36D7-87C741D59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8DA7E-B113-2C57-63BB-BDA29136A20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25C27-D85A-A621-AF45-9448EB2F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8552"/>
            <a:ext cx="12192000" cy="54956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3084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6123</TotalTime>
  <Words>297</Words>
  <Application>Microsoft Office PowerPoint</Application>
  <PresentationFormat>Widescreen</PresentationFormat>
  <Paragraphs>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408</cp:revision>
  <dcterms:created xsi:type="dcterms:W3CDTF">2025-04-12T11:00:44Z</dcterms:created>
  <dcterms:modified xsi:type="dcterms:W3CDTF">2025-12-27T07:42:57Z</dcterms:modified>
</cp:coreProperties>
</file>