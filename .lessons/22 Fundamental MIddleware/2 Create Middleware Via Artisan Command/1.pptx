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2" r:id="rId2"/>
    <p:sldId id="403" r:id="rId3"/>
    <p:sldId id="400" r:id="rId4"/>
    <p:sldId id="404" r:id="rId5"/>
    <p:sldId id="405" r:id="rId6"/>
    <p:sldId id="408" r:id="rId7"/>
    <p:sldId id="409" r:id="rId8"/>
    <p:sldId id="410" r:id="rId9"/>
    <p:sldId id="406" r:id="rId10"/>
    <p:sldId id="411" r:id="rId11"/>
    <p:sldId id="412" r:id="rId12"/>
    <p:sldId id="40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>
        <p:scale>
          <a:sx n="100" d="100"/>
          <a:sy n="100" d="100"/>
        </p:scale>
        <p:origin x="94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AB92-A397-BC65-20DF-C145E274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1A0AE-1D66-0150-514C-CE1A6B8F7766}"/>
              </a:ext>
            </a:extLst>
          </p:cNvPr>
          <p:cNvSpPr txBox="1"/>
          <p:nvPr/>
        </p:nvSpPr>
        <p:spPr>
          <a:xfrm>
            <a:off x="217714" y="292753"/>
            <a:ext cx="11756571" cy="1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Indi `</a:t>
            </a:r>
            <a:r>
              <a:rPr lang="en-US" altLang="en-US" sz="1300" b="1">
                <a:latin typeface="Arial" panose="020B0604020202020204" pitchFamily="34" charset="0"/>
              </a:rPr>
              <a:t>CheckCountry </a:t>
            </a:r>
            <a:r>
              <a:rPr lang="en-US" altLang="en-US" sz="1300">
                <a:latin typeface="Arial" panose="020B0604020202020204" pitchFamily="34" charset="0"/>
              </a:rPr>
              <a:t>` </a:t>
            </a:r>
            <a:r>
              <a:rPr lang="az-Latn-AZ" altLang="en-US" sz="1300">
                <a:latin typeface="Arial" panose="020B0604020202020204" pitchFamily="34" charset="0"/>
              </a:rPr>
              <a:t>adında öz </a:t>
            </a:r>
            <a:r>
              <a:rPr lang="en-US" altLang="en-US" sz="1300">
                <a:latin typeface="Arial" panose="020B0604020202020204" pitchFamily="34" charset="0"/>
              </a:rPr>
              <a:t>Middleware</a:t>
            </a:r>
            <a:r>
              <a:rPr lang="az-Latn-AZ" altLang="en-US" sz="1300">
                <a:latin typeface="Arial" panose="020B0604020202020204" pitchFamily="34" charset="0"/>
              </a:rPr>
              <a:t> -imizi yaradırıq.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Bu </a:t>
            </a:r>
            <a:r>
              <a:rPr lang="en-US" altLang="en-US" sz="1300">
                <a:latin typeface="Arial" panose="020B0604020202020204" pitchFamily="34" charset="0"/>
              </a:rPr>
              <a:t>Middleware</a:t>
            </a:r>
            <a:r>
              <a:rPr lang="az-Latn-AZ" altLang="en-US" sz="1300">
                <a:latin typeface="Arial" panose="020B0604020202020204" pitchFamily="34" charset="0"/>
              </a:rPr>
              <a:t> ilə yoxlayacağımız şey, </a:t>
            </a:r>
            <a:r>
              <a:rPr lang="az-Latn-AZ" altLang="en-US" sz="1300" b="1">
                <a:solidFill>
                  <a:srgbClr val="0070C0"/>
                </a:solidFill>
                <a:latin typeface="Arial" panose="020B0604020202020204" pitchFamily="34" charset="0"/>
              </a:rPr>
              <a:t>header</a:t>
            </a:r>
            <a:r>
              <a:rPr lang="az-Latn-AZ" altLang="en-US" sz="1300">
                <a:latin typeface="Arial" panose="020B0604020202020204" pitchFamily="34" charset="0"/>
              </a:rPr>
              <a:t> başlığında </a:t>
            </a:r>
            <a:r>
              <a:rPr lang="az-Latn-AZ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country</a:t>
            </a:r>
            <a:r>
              <a:rPr lang="az-Latn-AZ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 b="1">
                <a:latin typeface="Arial" panose="020B0604020202020204" pitchFamily="34" charset="0"/>
              </a:rPr>
              <a:t>sorğusunun</a:t>
            </a:r>
            <a:r>
              <a:rPr lang="az-Latn-AZ" altLang="en-US" sz="1300">
                <a:latin typeface="Arial" panose="020B0604020202020204" pitchFamily="34" charset="0"/>
              </a:rPr>
              <a:t> olub olmamsı və sorğu göndərilən zaman </a:t>
            </a:r>
            <a:r>
              <a:rPr lang="az-Latn-AZ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country parametrinin </a:t>
            </a:r>
            <a:r>
              <a:rPr lang="az-Latn-AZ" altLang="en-US" sz="1300" b="1">
                <a:latin typeface="Arial" panose="020B0604020202020204" pitchFamily="34" charset="0"/>
              </a:rPr>
              <a:t>dəyərlərinin</a:t>
            </a:r>
            <a:r>
              <a:rPr lang="az-Latn-AZ" altLang="en-US" sz="1300">
                <a:latin typeface="Arial" panose="020B0604020202020204" pitchFamily="34" charset="0"/>
              </a:rPr>
              <a:t> `</a:t>
            </a:r>
            <a:r>
              <a:rPr lang="az-Latn-AZ" altLang="en-US" sz="1300" i="1">
                <a:latin typeface="Arial" panose="020B0604020202020204" pitchFamily="34" charset="0"/>
              </a:rPr>
              <a:t>us</a:t>
            </a:r>
            <a:r>
              <a:rPr lang="az-Latn-AZ" altLang="en-US" sz="1300">
                <a:latin typeface="Arial" panose="020B0604020202020204" pitchFamily="34" charset="0"/>
              </a:rPr>
              <a:t>`, `</a:t>
            </a:r>
            <a:r>
              <a:rPr lang="az-Latn-AZ" altLang="en-US" sz="1300" i="1">
                <a:latin typeface="Arial" panose="020B0604020202020204" pitchFamily="34" charset="0"/>
              </a:rPr>
              <a:t>uk</a:t>
            </a:r>
            <a:r>
              <a:rPr lang="az-Latn-AZ" altLang="en-US" sz="1300">
                <a:latin typeface="Arial" panose="020B0604020202020204" pitchFamily="34" charset="0"/>
              </a:rPr>
              <a:t>`, `</a:t>
            </a:r>
            <a:r>
              <a:rPr lang="az-Latn-AZ" altLang="en-US" sz="1300" i="1">
                <a:latin typeface="Arial" panose="020B0604020202020204" pitchFamily="34" charset="0"/>
              </a:rPr>
              <a:t>in</a:t>
            </a:r>
            <a:r>
              <a:rPr lang="az-Latn-AZ" altLang="en-US" sz="1300">
                <a:latin typeface="Arial" panose="020B0604020202020204" pitchFamily="34" charset="0"/>
              </a:rPr>
              <a:t>` və `</a:t>
            </a:r>
            <a:r>
              <a:rPr lang="az-Latn-AZ" altLang="en-US" sz="1300" i="1">
                <a:latin typeface="Arial" panose="020B0604020202020204" pitchFamily="34" charset="0"/>
              </a:rPr>
              <a:t>bg</a:t>
            </a:r>
            <a:r>
              <a:rPr lang="az-Latn-AZ" altLang="en-US" sz="1300">
                <a:latin typeface="Arial" panose="020B0604020202020204" pitchFamily="34" charset="0"/>
              </a:rPr>
              <a:t>` ehtiva edib etməməsidir (aşağı sol şəkil). </a:t>
            </a: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middleware ölkə əsaslı məhdudiyyətlər tətbiq edir.</a:t>
            </a:r>
            <a:r>
              <a:rPr lang="az-Latn-AZ" altLang="en-US" sz="1300">
                <a:latin typeface="Arial" panose="020B0604020202020204" pitchFamily="34" charset="0"/>
              </a:rPr>
              <a:t> Ətraflı növbəti slaydda....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18EEC8-5904-FB21-DB8B-234D907C0B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129" y="1800520"/>
            <a:ext cx="7784869" cy="50574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1CDF00D-BE89-285D-E457-28097D902A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12518"/>
            <a:ext cx="3751868" cy="645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611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3FCC-E5C4-2350-20C6-89DF22D1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782941-0DB4-B0DA-A36A-31CA5EC69992}"/>
              </a:ext>
            </a:extLst>
          </p:cNvPr>
          <p:cNvSpPr txBox="1"/>
          <p:nvPr/>
        </p:nvSpPr>
        <p:spPr>
          <a:xfrm>
            <a:off x="217714" y="255046"/>
            <a:ext cx="11756571" cy="2155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Ilk </a:t>
            </a:r>
            <a:r>
              <a:rPr lang="az-Latn-AZ" altLang="en-US" sz="1300">
                <a:latin typeface="Arial" panose="020B0604020202020204" pitchFamily="34" charset="0"/>
              </a:rPr>
              <a:t>öncə `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en-US" altLang="en-US" sz="1300" b="1">
                <a:latin typeface="Arial" panose="020B0604020202020204" pitchFamily="34" charset="0"/>
              </a:rPr>
              <a:t>Middleware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` -imzi </a:t>
            </a:r>
            <a:r>
              <a:rPr lang="az-Latn-AZ" altLang="en-US" sz="1300" b="1">
                <a:latin typeface="Arial" panose="020B0604020202020204" pitchFamily="34" charset="0"/>
              </a:rPr>
              <a:t>global </a:t>
            </a:r>
            <a:r>
              <a:rPr lang="en-US" altLang="en-US" sz="1300" b="1">
                <a:latin typeface="Arial" panose="020B0604020202020204" pitchFamily="34" charset="0"/>
              </a:rPr>
              <a:t>Middleware</a:t>
            </a:r>
            <a:r>
              <a:rPr lang="az-Latn-AZ" altLang="en-US" sz="1300" b="1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qrupuna əlavə edək ki, `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 b="1">
                <a:latin typeface="Arial" panose="020B0604020202020204" pitchFamily="34" charset="0"/>
              </a:rPr>
              <a:t>CheckCountry</a:t>
            </a:r>
            <a:r>
              <a:rPr lang="az-Latn-AZ" altLang="en-US" sz="1300">
                <a:latin typeface="Arial" panose="020B0604020202020204" pitchFamily="34" charset="0"/>
              </a:rPr>
              <a:t>` m</a:t>
            </a:r>
            <a:r>
              <a:rPr lang="en-US" altLang="en-US" sz="1300">
                <a:latin typeface="Arial" panose="020B0604020202020204" pitchFamily="34" charset="0"/>
              </a:rPr>
              <a:t>iddleware</a:t>
            </a:r>
            <a:r>
              <a:rPr lang="az-Latn-AZ" altLang="en-US" sz="1300">
                <a:latin typeface="Arial" panose="020B0604020202020204" pitchFamily="34" charset="0"/>
              </a:rPr>
              <a:t> -in 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HANDLE( </a:t>
            </a:r>
            <a:r>
              <a:rPr lang="en-US" altLang="en-US" sz="1300" b="1">
                <a:solidFill>
                  <a:srgbClr val="7030A0"/>
                </a:solidFill>
                <a:latin typeface="Arial" panose="020B0604020202020204" pitchFamily="34" charset="0"/>
              </a:rPr>
              <a:t>$request 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) </a:t>
            </a:r>
            <a:r>
              <a:rPr lang="az-Latn-AZ" altLang="en-US" sz="1300">
                <a:latin typeface="Arial" panose="020B0604020202020204" pitchFamily="34" charset="0"/>
              </a:rPr>
              <a:t>funksiyasının </a:t>
            </a:r>
            <a:r>
              <a:rPr lang="en-US" altLang="en-US" sz="1300" b="1">
                <a:solidFill>
                  <a:srgbClr val="7030A0"/>
                </a:solidFill>
                <a:latin typeface="Arial" panose="020B0604020202020204" pitchFamily="34" charset="0"/>
              </a:rPr>
              <a:t>$request </a:t>
            </a:r>
            <a:r>
              <a:rPr lang="az-Latn-AZ" altLang="en-US" sz="1300">
                <a:latin typeface="Arial" panose="020B0604020202020204" pitchFamily="34" charset="0"/>
              </a:rPr>
              <a:t>parametri, </a:t>
            </a:r>
            <a:r>
              <a:rPr lang="az-Latn-AZ" altLang="en-US" sz="1300" b="1">
                <a:latin typeface="Arial" panose="020B0604020202020204" pitchFamily="34" charset="0"/>
              </a:rPr>
              <a:t>URL</a:t>
            </a:r>
            <a:r>
              <a:rPr lang="az-Latn-AZ" altLang="en-US" sz="1300">
                <a:latin typeface="Arial" panose="020B0604020202020204" pitchFamily="34" charset="0"/>
              </a:rPr>
              <a:t> -də yazılan bütün sorğuları qəbul etsin.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z-Latn-AZ" altLang="en-US" sz="1300">
                <a:latin typeface="Arial" panose="020B0604020202020204" pitchFamily="34" charset="0"/>
              </a:rPr>
              <a:t>Növbəti slaydda `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 b="1">
                <a:latin typeface="Arial" panose="020B0604020202020204" pitchFamily="34" charset="0"/>
              </a:rPr>
              <a:t>CheckCountry</a:t>
            </a:r>
            <a:r>
              <a:rPr lang="az-Latn-AZ" altLang="en-US" sz="1300">
                <a:latin typeface="Arial" panose="020B0604020202020204" pitchFamily="34" charset="0"/>
              </a:rPr>
              <a:t>` m</a:t>
            </a:r>
            <a:r>
              <a:rPr lang="en-US" altLang="en-US" sz="1300">
                <a:latin typeface="Arial" panose="020B0604020202020204" pitchFamily="34" charset="0"/>
              </a:rPr>
              <a:t>iddleware</a:t>
            </a:r>
            <a:r>
              <a:rPr lang="az-Latn-AZ" altLang="en-US" sz="1300">
                <a:latin typeface="Arial" panose="020B0604020202020204" pitchFamily="34" charset="0"/>
              </a:rPr>
              <a:t> classında kodumuzu yazırıq.</a:t>
            </a: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DF67B6-CE33-9664-938B-BF690F3BF2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0436" y="1762812"/>
            <a:ext cx="6931563" cy="509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607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Bu </a:t>
            </a:r>
            <a:r>
              <a:rPr lang="en-US" altLang="en-US" sz="1300" b="1">
                <a:latin typeface="Arial" panose="020B0604020202020204" pitchFamily="34" charset="0"/>
              </a:rPr>
              <a:t>middleware</a:t>
            </a:r>
            <a:r>
              <a:rPr lang="en-US" altLang="en-US" sz="1300">
                <a:latin typeface="Arial" panose="020B0604020202020204" pitchFamily="34" charset="0"/>
              </a:rPr>
              <a:t> ölkə əsaslı məhdudiyyətlər tətbiq edir.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3339D6-A9B8-6FC0-7BFE-F88882F92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76145"/>
            <a:ext cx="12192000" cy="3981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C4038-8A77-E795-CDF8-BAFCBB299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D78BC46-DF35-8CEB-FBCA-2425F067375B}"/>
              </a:ext>
            </a:extLst>
          </p:cNvPr>
          <p:cNvSpPr txBox="1"/>
          <p:nvPr/>
        </p:nvSpPr>
        <p:spPr>
          <a:xfrm>
            <a:off x="217714" y="255046"/>
            <a:ext cx="11848595" cy="3656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kod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Request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obyektindən alınan ölkə məlumatına əsasən sorğunu ya davam etdirir, ya da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/unavailable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səhifəsinə yönləndirir.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$country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dəyişəni icazə verilən ölkələrin siyahısıdır.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Yəni, əgər istifadəçinin ölkə kodu bu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dəyərlərdən biri deyilsə, onun girişinə məhdudiyyət qoyulacaq.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ölkələr: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 → United States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uk → United Kingdom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→ India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bg → Bulgaria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98CB2B-FE62-12DA-31CF-2B7BACD1AB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4546"/>
          <a:stretch/>
        </p:blipFill>
        <p:spPr>
          <a:xfrm>
            <a:off x="6192332" y="4304944"/>
            <a:ext cx="5999668" cy="255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801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36A88-00BC-4CDD-8EFD-6E6B5FED6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47ADB65-5388-0B6D-8868-AE447CD9EDBC}"/>
              </a:ext>
            </a:extLst>
          </p:cNvPr>
          <p:cNvSpPr txBox="1"/>
          <p:nvPr/>
        </p:nvSpPr>
        <p:spPr>
          <a:xfrm>
            <a:off x="217714" y="707533"/>
            <a:ext cx="11756571" cy="5156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a)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!in_array($request-&gt;country, $country)</a:t>
            </a:r>
            <a:endParaRPr kumimoji="0" lang="az-Latn-AZ" altLang="en-US" sz="1300" b="1" i="0" u="none" strike="noStrike" cap="none" normalizeH="0" baseline="0">
              <a:ln>
                <a:noFill/>
              </a:ln>
              <a:solidFill>
                <a:srgbClr val="00B050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funksiya yoxlayır ki,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$request-&gt;country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icazə verilən ölkələrin siyahısında varmı?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in_array(a, b)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a dəyişəni b massivində varmı?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!in_array(...)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əgər yoxdursa, deməli icazə verilmir.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b) </a:t>
            </a:r>
            <a:r>
              <a:rPr kumimoji="0" lang="en-US" altLang="en-US" sz="1300" b="1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&amp;&amp; !request()-&gt;is('unavailable’)</a:t>
            </a:r>
            <a:endParaRPr kumimoji="0" lang="az-Latn-AZ" altLang="en-US" sz="1300" b="1" u="none" strike="noStrike" cap="none" normalizeH="0" baseline="0">
              <a:ln>
                <a:noFill/>
              </a:ln>
              <a:solidFill>
                <a:srgbClr val="00B050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isə yoxlayır ki, istifadəçi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onsuzda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unavailable səhifəsində deyil.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Əgər bu hissəni yazmasaq,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redirect()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metodu öz-özünə yönlənib "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sonsuz redirect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qaytaracaq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Yəni: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/unavailable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səhifəsi yüklənmək istəyəndə bu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middleware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bizi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sonsuz dövrə yönləndirəcək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!request()-&gt;is('unavailable')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şə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 sonsuz dövr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yaranmasına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mane olur.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Bu  </a:t>
            </a:r>
            <a:r>
              <a:rPr lang="az-Latn-AZ" altLang="en-US" sz="1300" b="1">
                <a:latin typeface="Arial" panose="020B0604020202020204" pitchFamily="34" charset="0"/>
              </a:rPr>
              <a:t>B</a:t>
            </a:r>
            <a:r>
              <a:rPr lang="az-Latn-AZ" altLang="en-US" sz="1300">
                <a:latin typeface="Arial" panose="020B0604020202020204" pitchFamily="34" charset="0"/>
              </a:rPr>
              <a:t> variantı haqqında növbəti slaydda....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17134A-9CA8-B5DE-F345-C9E80A6E31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1728" y="0"/>
            <a:ext cx="6430272" cy="523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458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068FA-90C3-529A-CB4F-710050418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3CE1ED1-3ABF-2871-40B2-517A445B287C}"/>
              </a:ext>
            </a:extLst>
          </p:cNvPr>
          <p:cNvSpPr txBox="1"/>
          <p:nvPr/>
        </p:nvSpPr>
        <p:spPr>
          <a:xfrm>
            <a:off x="217714" y="255046"/>
            <a:ext cx="11756571" cy="4856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Məsələn, </a:t>
            </a:r>
            <a:r>
              <a:rPr lang="az-Latn-AZ" altLang="en-US" sz="1300" b="1">
                <a:latin typeface="Arial" panose="020B0604020202020204" pitchFamily="34" charset="0"/>
              </a:rPr>
              <a:t>URL</a:t>
            </a:r>
            <a:r>
              <a:rPr lang="az-Latn-AZ" altLang="en-US" sz="1300">
                <a:latin typeface="Arial" panose="020B0604020202020204" pitchFamily="34" charset="0"/>
              </a:rPr>
              <a:t> bölməsində ` </a:t>
            </a:r>
            <a:r>
              <a:rPr lang="az-Latn-AZ" altLang="en-US" sz="1300" u="sng">
                <a:solidFill>
                  <a:srgbClr val="00B0F0"/>
                </a:solidFill>
                <a:latin typeface="Arial" panose="020B0604020202020204" pitchFamily="34" charset="0"/>
              </a:rPr>
              <a:t>http://vendor-e-commerce.test/mmm</a:t>
            </a:r>
            <a:r>
              <a:rPr lang="az-Latn-AZ" altLang="en-US" sz="1300">
                <a:latin typeface="Arial" panose="020B0604020202020204" pitchFamily="34" charset="0"/>
              </a:rPr>
              <a:t> ` bu cür yazdım və bu sorğu mənə </a:t>
            </a:r>
            <a:r>
              <a:rPr lang="az-Latn-AZ" altLang="en-US" sz="1300" b="1">
                <a:latin typeface="Arial" panose="020B0604020202020204" pitchFamily="34" charset="0"/>
              </a:rPr>
              <a:t>FALSE</a:t>
            </a:r>
            <a:r>
              <a:rPr lang="az-Latn-AZ" altLang="en-US" sz="1300">
                <a:latin typeface="Arial" panose="020B0604020202020204" pitchFamily="34" charset="0"/>
              </a:rPr>
              <a:t> qaytardı. Nida </a:t>
            </a:r>
            <a:r>
              <a:rPr lang="az-Latn-AZ" altLang="en-US" sz="1300" b="1">
                <a:latin typeface="Arial" panose="020B0604020202020204" pitchFamily="34" charset="0"/>
              </a:rPr>
              <a:t>!</a:t>
            </a:r>
            <a:r>
              <a:rPr lang="az-Latn-AZ" altLang="en-US" sz="1300">
                <a:latin typeface="Arial" panose="020B0604020202020204" pitchFamily="34" charset="0"/>
              </a:rPr>
              <a:t> simovluda </a:t>
            </a:r>
            <a:r>
              <a:rPr lang="az-Latn-AZ" altLang="en-US" sz="1300" b="1">
                <a:latin typeface="Arial" panose="020B0604020202020204" pitchFamily="34" charset="0"/>
              </a:rPr>
              <a:t>FALSE</a:t>
            </a:r>
            <a:r>
              <a:rPr lang="az-Latn-AZ" altLang="en-US" sz="1300">
                <a:latin typeface="Arial" panose="020B0604020202020204" pitchFamily="34" charset="0"/>
              </a:rPr>
              <a:t> olduğu üçün, 2 dənə </a:t>
            </a:r>
            <a:r>
              <a:rPr lang="az-Latn-AZ" altLang="en-US" sz="1300" b="1">
                <a:latin typeface="Arial" panose="020B0604020202020204" pitchFamily="34" charset="0"/>
              </a:rPr>
              <a:t>FALSE + FALSE = TRUE </a:t>
            </a:r>
            <a:r>
              <a:rPr lang="az-Latn-AZ" altLang="en-US" sz="1300">
                <a:latin typeface="Arial" panose="020B0604020202020204" pitchFamily="34" charset="0"/>
              </a:rPr>
              <a:t>qaytardı və nəticədə biz yönləndirildik bu </a:t>
            </a:r>
            <a:r>
              <a:rPr lang="az-Latn-AZ" altLang="en-US" sz="1300" b="1">
                <a:latin typeface="Arial" panose="020B0604020202020204" pitchFamily="34" charset="0"/>
              </a:rPr>
              <a:t>URL</a:t>
            </a:r>
            <a:r>
              <a:rPr lang="az-Latn-AZ" altLang="en-US" sz="1300">
                <a:latin typeface="Arial" panose="020B0604020202020204" pitchFamily="34" charset="0"/>
              </a:rPr>
              <a:t> -yə: `</a:t>
            </a:r>
            <a:r>
              <a:rPr lang="az-Latn-AZ" altLang="en-US" sz="1300" u="sng">
                <a:solidFill>
                  <a:srgbClr val="00B0F0"/>
                </a:solidFill>
                <a:latin typeface="Arial" panose="020B0604020202020204" pitchFamily="34" charset="0"/>
              </a:rPr>
              <a:t>http://vendor-e-commerce.test/unavailable</a:t>
            </a:r>
            <a:r>
              <a:rPr lang="az-Latn-AZ" altLang="en-US" sz="1300">
                <a:latin typeface="Arial" panose="020B0604020202020204" pitchFamily="34" charset="0"/>
              </a:rPr>
              <a:t>` 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Ancaq sağ tərəfdəki şəkildəndə görüldüyü kimi</a:t>
            </a: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səhifə </a:t>
            </a:r>
            <a:r>
              <a:rPr lang="az-Latn-AZ" altLang="en-US" sz="1300" b="1">
                <a:latin typeface="Arial" panose="020B0604020202020204" pitchFamily="34" charset="0"/>
              </a:rPr>
              <a:t>yüklənmədi</a:t>
            </a:r>
            <a:r>
              <a:rPr lang="az-Latn-AZ" altLang="en-US" sz="1300">
                <a:latin typeface="Arial" panose="020B0604020202020204" pitchFamily="34" charset="0"/>
              </a:rPr>
              <a:t> və </a:t>
            </a:r>
            <a:r>
              <a:rPr lang="az-Latn-AZ" altLang="en-US" sz="1300" b="1">
                <a:latin typeface="Arial" panose="020B0604020202020204" pitchFamily="34" charset="0"/>
              </a:rPr>
              <a:t>xəta mesajı </a:t>
            </a:r>
            <a:r>
              <a:rPr lang="az-Latn-AZ" altLang="en-US" sz="1300">
                <a:latin typeface="Arial" panose="020B0604020202020204" pitchFamily="34" charset="0"/>
              </a:rPr>
              <a:t>peyda oldu</a:t>
            </a: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ekranda. Bunun səbəbi isə sonsuz döngü </a:t>
            </a: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yaranması ilə əlaqədardır.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Bu məsələ </a:t>
            </a:r>
            <a:r>
              <a:rPr lang="az-Latn-AZ" altLang="en-US" sz="1300" b="1">
                <a:latin typeface="Arial" panose="020B0604020202020204" pitchFamily="34" charset="0"/>
              </a:rPr>
              <a:t>middleware</a:t>
            </a:r>
            <a:r>
              <a:rPr lang="az-Latn-AZ" altLang="en-US" sz="1300">
                <a:latin typeface="Arial" panose="020B0604020202020204" pitchFamily="34" charset="0"/>
              </a:rPr>
              <a:t>-lərdə </a:t>
            </a:r>
            <a:r>
              <a:rPr lang="az-Latn-AZ" altLang="en-US" sz="1300" b="1">
                <a:latin typeface="Arial" panose="020B0604020202020204" pitchFamily="34" charset="0"/>
              </a:rPr>
              <a:t>redirect() </a:t>
            </a:r>
            <a:r>
              <a:rPr lang="az-Latn-AZ" altLang="en-US" sz="1300">
                <a:latin typeface="Arial" panose="020B0604020202020204" pitchFamily="34" charset="0"/>
              </a:rPr>
              <a:t>istifadəsi </a:t>
            </a: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zamanı çox rastlanan bir problemdir və çoxlarının </a:t>
            </a: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ilk baxışda başa düşmədiyi məqamdır. Gəlin </a:t>
            </a: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addım-addım və konkret nümunə ilə izah edim ki, </a:t>
            </a: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niyə </a:t>
            </a:r>
            <a:r>
              <a:rPr lang="az-Latn-AZ" altLang="en-US" sz="1300" b="1">
                <a:latin typeface="Arial" panose="020B0604020202020204" pitchFamily="34" charset="0"/>
              </a:rPr>
              <a:t>!request()-&gt;is('unavailable') </a:t>
            </a:r>
            <a:r>
              <a:rPr lang="az-Latn-AZ" altLang="en-US" sz="1300">
                <a:latin typeface="Arial" panose="020B0604020202020204" pitchFamily="34" charset="0"/>
              </a:rPr>
              <a:t>yazmasaq </a:t>
            </a: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“sonsuz yönləndirmə (infinite redirect loop)” </a:t>
            </a: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baş verir.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149D14-C914-38D1-8170-C7BCF2BA2C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4122" y="1527142"/>
            <a:ext cx="7557877" cy="5330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4365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39EB1-1E61-8AE3-1A6E-986249817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5CBCF5B-D048-3585-BBBD-366FDF4A09BF}"/>
              </a:ext>
            </a:extLst>
          </p:cNvPr>
          <p:cNvSpPr txBox="1"/>
          <p:nvPr/>
        </p:nvSpPr>
        <p:spPr>
          <a:xfrm>
            <a:off x="217714" y="255046"/>
            <a:ext cx="11756571" cy="6192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Ssenari (əgər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!request()-&gt;is('unavailable')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olmasa) Tutaq ki bu kodu yazmısan:</a:t>
            </a:r>
            <a:endParaRPr kumimoji="0" lang="az-Latn-AZ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4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İcra axını necə gedir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İstifadəçi Almaniyadan (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🇩🇪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de) gəlir.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İstək istənilən bir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route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-a gedir: məsələn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example.com/home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Middleware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CheckCountry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işə düşür.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$request-&gt;country = 'de'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bu ölkə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$country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siyahısında YOXdur.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şərti doğrudur</a:t>
            </a:r>
            <a:r>
              <a:rPr kumimoji="0" lang="az-Latn-AZ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(TRUE)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və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redirect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edilir →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/unavailable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səhifəsinə.</a:t>
            </a:r>
            <a:r>
              <a:rPr kumimoji="0" lang="az-Latn-AZ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BU BİRİNCİ YÖNLƏNDİRMƏDİR,</a:t>
            </a:r>
            <a:endParaRPr kumimoji="0" lang="en-US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Laravel avtomatik yeni istək yaradır: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GET /unavailable</a:t>
            </a:r>
            <a:endParaRPr kumimoji="0" lang="az-Latn-AZ" altLang="en-US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4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Problem </a:t>
            </a:r>
            <a:r>
              <a:rPr kumimoji="0" lang="az-Latn-AZ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elə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buradan başlayır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lang="az-Latn-AZ" altLang="en-US" sz="1400">
                <a:latin typeface="Arial" panose="020B0604020202020204" pitchFamily="34" charset="0"/>
              </a:rPr>
              <a:t> </a:t>
            </a:r>
          </a:p>
          <a:p>
            <a:pPr>
              <a:lnSpc>
                <a:spcPct val="150000"/>
              </a:lnSpc>
              <a:buNone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İndi browser yenidən sorğu göndərir: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/unavailable</a:t>
            </a:r>
            <a:r>
              <a:rPr lang="az-Latn-AZ" altLang="en-US" sz="1400">
                <a:latin typeface="Arial" panose="020B0604020202020204" pitchFamily="34" charset="0"/>
              </a:rPr>
              <a:t> url-sinə.</a:t>
            </a:r>
            <a:r>
              <a:rPr lang="az-Latn-AZ" altLang="en-US" sz="1400" b="1">
                <a:latin typeface="Arial" panose="020B0604020202020204" pitchFamily="34" charset="0"/>
              </a:rPr>
              <a:t> 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Lakin bu səhifəyə daxil olanda da yenə eyni middleware (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CheckCountry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işə düşür. Çünki bu middleware qlobal səviyyə</a:t>
            </a:r>
            <a:r>
              <a:rPr kumimoji="0" lang="az-Latn-AZ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də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qoşulub.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CheckCountry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middleware</a:t>
            </a:r>
            <a:r>
              <a:rPr kumimoji="0" lang="az-Latn-AZ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-i,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$request-&gt;country = 'de’ </a:t>
            </a:r>
            <a:r>
              <a:rPr kumimoji="0" lang="az-Latn-AZ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z-Latn-AZ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sorğusunu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yenidən yoxlayır</a:t>
            </a:r>
            <a:r>
              <a:rPr kumimoji="0" lang="az-Latn-AZ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ki,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$country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siyahısında </a:t>
            </a:r>
            <a:r>
              <a:rPr kumimoji="0" lang="az-Latn-AZ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varmı yoxmu. </a:t>
            </a:r>
            <a:r>
              <a:rPr lang="az-Latn-AZ" altLang="en-US" sz="1400">
                <a:latin typeface="Arial" panose="020B0604020202020204" pitchFamily="34" charset="0"/>
              </a:rPr>
              <a:t> Və  görürki yoxdur onun üçün y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enidən</a:t>
            </a:r>
            <a:r>
              <a:rPr lang="az-Latn-AZ" altLang="en-US" sz="1400">
                <a:latin typeface="Arial" panose="020B0604020202020204" pitchFamily="34" charset="0"/>
              </a:rPr>
              <a:t>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redirect()-&gt;route('unavailable')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icra olunur</a:t>
            </a:r>
            <a:r>
              <a:rPr kumimoji="0" lang="az-Latn-AZ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və təkrar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/unavailable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çağırılır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4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Və bu belə davam edir – hər dəfə unavailable səhifəsinə yönləndirir, çünki middleware həmin səhifəni özü də bloklayır!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299BBD-B36C-BED2-BB98-BC2E858882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8308" y="0"/>
            <a:ext cx="3696216" cy="97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164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734E3-1FC6-795B-84F7-1D3B2389A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014D9F-089F-F568-5E25-441569C09291}"/>
              </a:ext>
            </a:extLst>
          </p:cNvPr>
          <p:cNvSpPr txBox="1"/>
          <p:nvPr/>
        </p:nvSpPr>
        <p:spPr>
          <a:xfrm>
            <a:off x="217714" y="255046"/>
            <a:ext cx="11756571" cy="6429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200" b="1">
                <a:latin typeface="Arial" panose="020B0604020202020204" pitchFamily="34" charset="0"/>
              </a:rPr>
              <a:t>Loru dildə desək</a:t>
            </a:r>
            <a:r>
              <a:rPr lang="az-Latn-AZ" altLang="en-US" sz="1200">
                <a:latin typeface="Arial" panose="020B0604020202020204" pitchFamily="34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200" b="1">
                <a:latin typeface="Arial" panose="020B0604020202020204" pitchFamily="34" charset="0"/>
              </a:rPr>
              <a:t>1ci sorğu </a:t>
            </a:r>
            <a:r>
              <a:rPr lang="az-Latn-AZ" altLang="en-US" sz="1200">
                <a:latin typeface="Arial" panose="020B0604020202020204" pitchFamily="34" charset="0"/>
              </a:rPr>
              <a:t>: </a:t>
            </a:r>
            <a:r>
              <a:rPr lang="az-Latn-AZ" altLang="en-US" sz="1200" u="sng">
                <a:solidFill>
                  <a:srgbClr val="00B0F0"/>
                </a:solidFill>
                <a:latin typeface="Arial" panose="020B0604020202020204" pitchFamily="34" charset="0"/>
              </a:rPr>
              <a:t>http://vendor-e-commerce.test/mmm</a:t>
            </a:r>
            <a:r>
              <a:rPr lang="az-Latn-AZ" altLang="en-US" sz="1200">
                <a:latin typeface="Arial" panose="020B0604020202020204" pitchFamily="34" charset="0"/>
              </a:rPr>
              <a:t>	- və </a:t>
            </a:r>
            <a:r>
              <a:rPr lang="az-Latn-AZ" altLang="en-US" sz="1200" b="1">
                <a:latin typeface="Arial" panose="020B0604020202020204" pitchFamily="34" charset="0"/>
              </a:rPr>
              <a:t>İF</a:t>
            </a:r>
            <a:r>
              <a:rPr lang="az-Latn-AZ" altLang="en-US" sz="1200">
                <a:latin typeface="Arial" panose="020B0604020202020204" pitchFamily="34" charset="0"/>
              </a:rPr>
              <a:t> şərti </a:t>
            </a:r>
            <a:r>
              <a:rPr lang="az-Latn-AZ" altLang="en-US" sz="1200" b="1">
                <a:latin typeface="Arial" panose="020B0604020202020204" pitchFamily="34" charset="0"/>
              </a:rPr>
              <a:t>TRUE</a:t>
            </a:r>
            <a:r>
              <a:rPr lang="az-Latn-AZ" altLang="en-US" sz="1200">
                <a:latin typeface="Arial" panose="020B0604020202020204" pitchFamily="34" charset="0"/>
              </a:rPr>
              <a:t> qaytarır. Brauzer: </a:t>
            </a:r>
            <a:r>
              <a:rPr lang="az-Latn-AZ" altLang="en-US" sz="1200" u="sng">
                <a:solidFill>
                  <a:srgbClr val="00B0F0"/>
                </a:solidFill>
                <a:latin typeface="Arial" panose="020B0604020202020204" pitchFamily="34" charset="0"/>
              </a:rPr>
              <a:t>http://vendor-e-commerce.test/unavailable</a:t>
            </a:r>
            <a:r>
              <a:rPr lang="az-Latn-AZ" altLang="en-US" sz="1200">
                <a:latin typeface="Arial" panose="020B0604020202020204" pitchFamily="34" charset="0"/>
              </a:rPr>
              <a:t> url-sini çağırır.</a:t>
            </a: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2ci sorğu</a:t>
            </a:r>
            <a:r>
              <a:rPr kumimoji="0" lang="az-Latn-AZ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az-Latn-AZ" altLang="en-US" sz="1200" b="0" i="0" u="sng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http://vendor-e-commerce.test/unavailable</a:t>
            </a:r>
            <a:r>
              <a:rPr kumimoji="0" lang="az-Latn-AZ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url-si olur və </a:t>
            </a:r>
            <a:r>
              <a:rPr kumimoji="0" lang="az-Latn-AZ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İF</a:t>
            </a:r>
            <a:r>
              <a:rPr kumimoji="0" lang="az-Latn-AZ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yenidən </a:t>
            </a:r>
            <a:r>
              <a:rPr kumimoji="0" lang="az-Latn-AZ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TRUE</a:t>
            </a:r>
            <a:r>
              <a:rPr kumimoji="0" lang="az-Latn-AZ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qaytarır. Brauzer yenidən: </a:t>
            </a:r>
            <a:r>
              <a:rPr kumimoji="0" lang="az-Latn-AZ" altLang="en-US" sz="1200" b="0" i="0" u="sng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http://vendor-e-commerce.test/unavailable</a:t>
            </a:r>
            <a:r>
              <a:rPr kumimoji="0" lang="az-Latn-AZ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qaytarır.</a:t>
            </a:r>
          </a:p>
          <a:p>
            <a:pPr>
              <a:lnSpc>
                <a:spcPct val="150000"/>
              </a:lnSpc>
              <a:buNone/>
            </a:pPr>
            <a:r>
              <a:rPr lang="az-Latn-AZ" altLang="en-US" sz="1200" b="1">
                <a:latin typeface="Arial" panose="020B0604020202020204" pitchFamily="34" charset="0"/>
              </a:rPr>
              <a:t>3cü sorğu yenidən</a:t>
            </a:r>
            <a:r>
              <a:rPr lang="az-Latn-AZ" altLang="en-US" sz="1200">
                <a:latin typeface="Arial" panose="020B0604020202020204" pitchFamily="34" charset="0"/>
              </a:rPr>
              <a:t>: </a:t>
            </a:r>
            <a:r>
              <a:rPr lang="az-Latn-AZ" altLang="en-US" sz="1200" u="sng">
                <a:solidFill>
                  <a:srgbClr val="00B0F0"/>
                </a:solidFill>
                <a:latin typeface="Arial" panose="020B0604020202020204" pitchFamily="34" charset="0"/>
              </a:rPr>
              <a:t>http://vendor-e-commerce.test/unavailable</a:t>
            </a:r>
            <a:r>
              <a:rPr lang="az-Latn-AZ" altLang="en-US" sz="1200">
                <a:latin typeface="Arial" panose="020B0604020202020204" pitchFamily="34" charset="0"/>
              </a:rPr>
              <a:t> olur və belə artıq sonsuz döngüyə çevrilir. 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200">
                <a:latin typeface="Arial" panose="020B0604020202020204" pitchFamily="34" charset="0"/>
              </a:rPr>
              <a:t>Bunun olmaması üçün əgər sorğu `</a:t>
            </a:r>
            <a:r>
              <a:rPr lang="az-Latn-AZ" altLang="en-US" sz="1200" u="sng">
                <a:solidFill>
                  <a:srgbClr val="00B0F0"/>
                </a:solidFill>
                <a:latin typeface="Arial" panose="020B0604020202020204" pitchFamily="34" charset="0"/>
              </a:rPr>
              <a:t>http://vendor-e-commerce.test/unavailable</a:t>
            </a:r>
            <a:r>
              <a:rPr lang="az-Latn-AZ" altLang="en-US" sz="1200">
                <a:latin typeface="Arial" panose="020B0604020202020204" pitchFamily="34" charset="0"/>
              </a:rPr>
              <a:t>` olarsa onda </a:t>
            </a:r>
            <a:r>
              <a:rPr lang="az-Latn-AZ" altLang="en-US" sz="1200" b="1">
                <a:latin typeface="Arial" panose="020B0604020202020204" pitchFamily="34" charset="0"/>
              </a:rPr>
              <a:t>İF</a:t>
            </a:r>
            <a:r>
              <a:rPr lang="az-Latn-AZ" altLang="en-US" sz="1200">
                <a:latin typeface="Arial" panose="020B0604020202020204" pitchFamily="34" charset="0"/>
              </a:rPr>
              <a:t> şərti </a:t>
            </a:r>
            <a:r>
              <a:rPr lang="az-Latn-AZ" altLang="en-US" sz="1200" b="1">
                <a:latin typeface="Arial" panose="020B0604020202020204" pitchFamily="34" charset="0"/>
              </a:rPr>
              <a:t>FALSE</a:t>
            </a:r>
            <a:r>
              <a:rPr lang="az-Latn-AZ" altLang="en-US" sz="1200">
                <a:latin typeface="Arial" panose="020B0604020202020204" pitchFamily="34" charset="0"/>
              </a:rPr>
              <a:t> qaytarmalıdır ki, sonrakı yönləndirmələrə avtomatik </a:t>
            </a:r>
            <a:r>
              <a:rPr lang="az-Latn-AZ" altLang="en-US" sz="1200" b="1">
                <a:latin typeface="Arial" panose="020B0604020202020204" pitchFamily="34" charset="0"/>
              </a:rPr>
              <a:t>redirect</a:t>
            </a:r>
            <a:r>
              <a:rPr lang="az-Latn-AZ" altLang="en-US" sz="1200">
                <a:latin typeface="Arial" panose="020B0604020202020204" pitchFamily="34" charset="0"/>
              </a:rPr>
              <a:t> olmayaq.  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200">
                <a:latin typeface="Arial" panose="020B0604020202020204" pitchFamily="34" charset="0"/>
              </a:rPr>
              <a:t>Həll: </a:t>
            </a:r>
            <a:r>
              <a:rPr lang="az-Latn-AZ" altLang="en-US" sz="1200" b="1">
                <a:solidFill>
                  <a:srgbClr val="FF0000"/>
                </a:solidFill>
                <a:latin typeface="Arial" panose="020B0604020202020204" pitchFamily="34" charset="0"/>
              </a:rPr>
              <a:t>!request()-&gt;is('unavailable’) </a:t>
            </a:r>
            <a:r>
              <a:rPr lang="az-Latn-AZ" altLang="en-US" sz="1200">
                <a:latin typeface="Arial" panose="020B0604020202020204" pitchFamily="34" charset="0"/>
              </a:rPr>
              <a:t>əlavə etməkdir.  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200" b="1">
                <a:latin typeface="Arial" panose="020B0604020202020204" pitchFamily="34" charset="0"/>
              </a:rPr>
              <a:t>Bu hissə deməkdir ki</a:t>
            </a:r>
            <a:r>
              <a:rPr lang="az-Latn-AZ" altLang="en-US" sz="1200">
                <a:latin typeface="Arial" panose="020B0604020202020204" pitchFamily="34" charset="0"/>
              </a:rPr>
              <a:t>: Əgər istifadəçi hal-hazırda artıq </a:t>
            </a:r>
            <a:r>
              <a:rPr lang="az-Latn-AZ" altLang="en-US" sz="1200" b="1">
                <a:latin typeface="Arial" panose="020B0604020202020204" pitchFamily="34" charset="0"/>
              </a:rPr>
              <a:t>/unavailable </a:t>
            </a:r>
            <a:r>
              <a:rPr lang="az-Latn-AZ" altLang="en-US" sz="1200">
                <a:latin typeface="Arial" panose="020B0604020202020204" pitchFamily="34" charset="0"/>
              </a:rPr>
              <a:t>səhifəsindədirsə, yenidən </a:t>
            </a:r>
            <a:r>
              <a:rPr lang="az-Latn-AZ" altLang="en-US" sz="1200" b="1">
                <a:latin typeface="Arial" panose="020B0604020202020204" pitchFamily="34" charset="0"/>
              </a:rPr>
              <a:t>redirect</a:t>
            </a:r>
            <a:r>
              <a:rPr lang="az-Latn-AZ" altLang="en-US" sz="1200">
                <a:latin typeface="Arial" panose="020B0604020202020204" pitchFamily="34" charset="0"/>
              </a:rPr>
              <a:t> etmə.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z-Latn-AZ" altLang="en-US" sz="1200">
                <a:latin typeface="Arial" panose="020B0604020202020204" pitchFamily="34" charset="0"/>
              </a:rPr>
              <a:t>İlk yönləndirmə olur (/home → /unavailable) – bu doğrudur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z-Latn-AZ" altLang="en-US" sz="1200">
                <a:latin typeface="Arial" panose="020B0604020202020204" pitchFamily="34" charset="0"/>
              </a:rPr>
              <a:t>İkinci dəfə /unavailable gələndə request()-&gt;is('unavailable') = true → !true = false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z-Latn-AZ" altLang="en-US" sz="1200">
                <a:latin typeface="Arial" panose="020B0604020202020204" pitchFamily="34" charset="0"/>
              </a:rPr>
              <a:t>if şərti false olur → redirect etmir, səhifə normal açılır.</a:t>
            </a:r>
          </a:p>
          <a:p>
            <a:pPr>
              <a:lnSpc>
                <a:spcPct val="150000"/>
              </a:lnSpc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az-Latn-AZ" altLang="en-US" sz="1200" b="1">
                <a:latin typeface="Arial" panose="020B0604020202020204" pitchFamily="34" charset="0"/>
              </a:rPr>
              <a:t>Nəticə:</a:t>
            </a:r>
            <a:r>
              <a:rPr lang="az-Latn-AZ" altLang="en-US" sz="1200">
                <a:latin typeface="Arial" panose="020B0604020202020204" pitchFamily="34" charset="0"/>
              </a:rPr>
              <a:t> Bu </a:t>
            </a:r>
            <a:r>
              <a:rPr lang="az-Latn-AZ" altLang="en-US" sz="1200" b="1">
                <a:latin typeface="Arial" panose="020B0604020202020204" pitchFamily="34" charset="0"/>
              </a:rPr>
              <a:t>!request()-&gt;is('unavailable') </a:t>
            </a:r>
            <a:r>
              <a:rPr lang="az-Latn-AZ" altLang="en-US" sz="1200">
                <a:latin typeface="Arial" panose="020B0604020202020204" pitchFamily="34" charset="0"/>
              </a:rPr>
              <a:t>tənzimləyici şərtdir – öz </a:t>
            </a:r>
            <a:r>
              <a:rPr lang="az-Latn-AZ" altLang="en-US" sz="1200" b="1">
                <a:latin typeface="Arial" panose="020B0604020202020204" pitchFamily="34" charset="0"/>
              </a:rPr>
              <a:t>redirect</a:t>
            </a:r>
            <a:r>
              <a:rPr lang="az-Latn-AZ" altLang="en-US" sz="1200">
                <a:latin typeface="Arial" panose="020B0604020202020204" pitchFamily="34" charset="0"/>
              </a:rPr>
              <a:t> etdiyin </a:t>
            </a:r>
            <a:r>
              <a:rPr lang="az-Latn-AZ" altLang="en-US" sz="1200" b="1">
                <a:latin typeface="Arial" panose="020B0604020202020204" pitchFamily="34" charset="0"/>
              </a:rPr>
              <a:t>route</a:t>
            </a:r>
            <a:r>
              <a:rPr lang="az-Latn-AZ" altLang="en-US" sz="1200">
                <a:latin typeface="Arial" panose="020B0604020202020204" pitchFamily="34" charset="0"/>
              </a:rPr>
              <a:t>-u bloklamamaq üçün mütləqdir. Əks halda öz </a:t>
            </a:r>
            <a:r>
              <a:rPr lang="az-Latn-AZ" altLang="en-US" sz="1200" b="1">
                <a:latin typeface="Arial" panose="020B0604020202020204" pitchFamily="34" charset="0"/>
              </a:rPr>
              <a:t>redirect</a:t>
            </a:r>
            <a:r>
              <a:rPr lang="az-Latn-AZ" altLang="en-US" sz="1200">
                <a:latin typeface="Arial" panose="020B0604020202020204" pitchFamily="34" charset="0"/>
              </a:rPr>
              <a:t>-ə yönləndirən </a:t>
            </a:r>
            <a:r>
              <a:rPr lang="az-Latn-AZ" altLang="en-US" sz="1200" b="1">
                <a:latin typeface="Arial" panose="020B0604020202020204" pitchFamily="34" charset="0"/>
              </a:rPr>
              <a:t>middleware</a:t>
            </a:r>
            <a:r>
              <a:rPr lang="az-Latn-AZ" altLang="en-US" sz="1200">
                <a:latin typeface="Arial" panose="020B0604020202020204" pitchFamily="34" charset="0"/>
              </a:rPr>
              <a:t>, </a:t>
            </a:r>
            <a:r>
              <a:rPr lang="az-Latn-AZ" altLang="en-US" sz="1200" b="1">
                <a:latin typeface="Arial" panose="020B0604020202020204" pitchFamily="34" charset="0"/>
              </a:rPr>
              <a:t>redirect</a:t>
            </a:r>
            <a:r>
              <a:rPr lang="az-Latn-AZ" altLang="en-US" sz="1200">
                <a:latin typeface="Arial" panose="020B0604020202020204" pitchFamily="34" charset="0"/>
              </a:rPr>
              <a:t> etdiyi </a:t>
            </a:r>
            <a:r>
              <a:rPr lang="az-Latn-AZ" altLang="en-US" sz="1200" b="1">
                <a:latin typeface="Arial" panose="020B0604020202020204" pitchFamily="34" charset="0"/>
              </a:rPr>
              <a:t>route</a:t>
            </a:r>
            <a:r>
              <a:rPr lang="az-Latn-AZ" altLang="en-US" sz="1200">
                <a:latin typeface="Arial" panose="020B0604020202020204" pitchFamily="34" charset="0"/>
              </a:rPr>
              <a:t>-u da bloklayır → sonsuz döngü və "</a:t>
            </a:r>
            <a:r>
              <a:rPr lang="az-Latn-AZ" altLang="en-US" sz="1200" b="1">
                <a:latin typeface="Arial" panose="020B0604020202020204" pitchFamily="34" charset="0"/>
              </a:rPr>
              <a:t>Too Many Redirects</a:t>
            </a:r>
            <a:r>
              <a:rPr lang="az-Latn-AZ" altLang="en-US" sz="1200">
                <a:latin typeface="Arial" panose="020B0604020202020204" pitchFamily="34" charset="0"/>
              </a:rPr>
              <a:t>" xətası  baş verir.(HTTP 310 və ya 500 səhvləri ilə).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879967-FD36-AFF0-380E-0F6D621B0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57550"/>
            <a:ext cx="6058746" cy="905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4679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44497-E9AB-1A5D-FDD7-21D9C6131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E61D7F9-8585-B601-8335-D64A7B980D2C}"/>
              </a:ext>
            </a:extLst>
          </p:cNvPr>
          <p:cNvSpPr txBox="1"/>
          <p:nvPr/>
        </p:nvSpPr>
        <p:spPr>
          <a:xfrm>
            <a:off x="6191252" y="255046"/>
            <a:ext cx="5783033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1ci sorğuda TRUE qayıdır və </a:t>
            </a:r>
            <a:r>
              <a:rPr lang="en-US" altLang="en-US" sz="1300">
                <a:latin typeface="Arial" panose="020B0604020202020204" pitchFamily="34" charset="0"/>
              </a:rPr>
              <a:t>/unavailable </a:t>
            </a:r>
            <a:r>
              <a:rPr lang="az-Latn-AZ" altLang="en-US" sz="1300">
                <a:latin typeface="Arial" panose="020B0604020202020204" pitchFamily="34" charset="0"/>
              </a:rPr>
              <a:t>səhifəsinə redirect oluruq.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419979-178A-19CF-837B-0B9BE22E0D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00750" cy="51709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7E206A8-E1CA-F10A-19D7-A01B939BC9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75" y="2003494"/>
            <a:ext cx="5762624" cy="48545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B0E1EA5-9798-015A-22E1-612A97489DB9}"/>
              </a:ext>
            </a:extLst>
          </p:cNvPr>
          <p:cNvSpPr txBox="1"/>
          <p:nvPr/>
        </p:nvSpPr>
        <p:spPr>
          <a:xfrm>
            <a:off x="108858" y="5646196"/>
            <a:ext cx="5783033" cy="9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2ci sorğuda FALSE qayıdır və </a:t>
            </a:r>
            <a:r>
              <a:rPr lang="en-US" altLang="en-US" sz="1300">
                <a:latin typeface="Arial" panose="020B0604020202020204" pitchFamily="34" charset="0"/>
              </a:rPr>
              <a:t>/unavailable </a:t>
            </a:r>
            <a:r>
              <a:rPr lang="az-Latn-AZ" altLang="en-US" sz="1300">
                <a:latin typeface="Arial" panose="020B0604020202020204" pitchFamily="34" charset="0"/>
              </a:rPr>
              <a:t>səhifəsinə artıq redirect olmuruq. Sağ şəkildə yazdığımız şərt sayəsində sonsuz döngü yaranmasının qarşısını alırıq.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01724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37E66-3781-20E3-AEEB-B1A6D0F8D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C06923-7F7B-D080-3A33-F8E764C43BFA}"/>
              </a:ext>
            </a:extLst>
          </p:cNvPr>
          <p:cNvSpPr txBox="1"/>
          <p:nvPr/>
        </p:nvSpPr>
        <p:spPr>
          <a:xfrm>
            <a:off x="217714" y="207421"/>
            <a:ext cx="11756571" cy="2455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Əgər sorğuda, </a:t>
            </a:r>
            <a:r>
              <a:rPr lang="az-Latn-AZ" altLang="en-US" sz="1300" b="1">
                <a:latin typeface="Arial" panose="020B0604020202020204" pitchFamily="34" charset="0"/>
              </a:rPr>
              <a:t>country</a:t>
            </a:r>
            <a:r>
              <a:rPr lang="az-Latn-AZ" altLang="en-US" sz="1300">
                <a:latin typeface="Arial" panose="020B0604020202020204" pitchFamily="34" charset="0"/>
              </a:rPr>
              <a:t> parametri ilə </a:t>
            </a:r>
            <a:r>
              <a:rPr lang="az-Latn-AZ" altLang="en-US" sz="1300" b="1">
                <a:latin typeface="Arial" panose="020B0604020202020204" pitchFamily="34" charset="0"/>
              </a:rPr>
              <a:t>Array</a:t>
            </a:r>
            <a:r>
              <a:rPr lang="az-Latn-AZ" altLang="en-US" sz="1300">
                <a:latin typeface="Arial" panose="020B0604020202020204" pitchFamily="34" charset="0"/>
              </a:rPr>
              <a:t> daxilində qeyd edilən dəyərləri göndərərsək onda </a:t>
            </a:r>
            <a:r>
              <a:rPr lang="az-Latn-AZ" altLang="en-US" sz="1300" b="1">
                <a:latin typeface="Arial" panose="020B0604020202020204" pitchFamily="34" charset="0"/>
              </a:rPr>
              <a:t>CheckCountry</a:t>
            </a:r>
            <a:r>
              <a:rPr lang="az-Latn-AZ" altLang="en-US" sz="1300">
                <a:latin typeface="Arial" panose="020B0604020202020204" pitchFamily="34" charset="0"/>
              </a:rPr>
              <a:t> m</a:t>
            </a:r>
            <a:r>
              <a:rPr lang="en-US" altLang="en-US" sz="1300">
                <a:latin typeface="Arial" panose="020B0604020202020204" pitchFamily="34" charset="0"/>
              </a:rPr>
              <a:t>iddleware </a:t>
            </a:r>
            <a:r>
              <a:rPr lang="az-Latn-AZ" altLang="en-US" sz="1300">
                <a:latin typeface="Arial" panose="020B0604020202020204" pitchFamily="34" charset="0"/>
              </a:rPr>
              <a:t>-i işləmir və lazım olan </a:t>
            </a:r>
            <a:r>
              <a:rPr lang="en-US" altLang="en-US" sz="1300">
                <a:latin typeface="Arial" panose="020B0604020202020204" pitchFamily="34" charset="0"/>
              </a:rPr>
              <a:t>route -lar problemsiz </a:t>
            </a:r>
            <a:r>
              <a:rPr lang="az-Latn-AZ" altLang="en-US" sz="1300">
                <a:latin typeface="Arial" panose="020B0604020202020204" pitchFamily="34" charset="0"/>
              </a:rPr>
              <a:t>yüklənir.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Məsələn</a:t>
            </a:r>
            <a:r>
              <a:rPr lang="az-Latn-AZ" altLang="en-US" sz="1300">
                <a:latin typeface="Arial" panose="020B0604020202020204" pitchFamily="34" charset="0"/>
              </a:rPr>
              <a:t>: </a:t>
            </a: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u="sng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http://vendor-e-commerce.test/posts/7?country=us</a:t>
            </a:r>
            <a:endParaRPr lang="az-Latn-AZ" altLang="en-US" sz="1300" u="sng">
              <a:solidFill>
                <a:srgbClr val="00B0F0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sng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http://vendor-e-commerce.test/posts?country=us</a:t>
            </a: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sng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http://vendor-e-commerce.test/posts/trash?country=us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və.s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6F3DA3-EC36-756D-FF99-AEBE5A0BB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0425" y="2806256"/>
            <a:ext cx="8696324" cy="396601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237424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8D65A-BC00-8C1B-9248-246970023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16358C-3F13-FABC-891F-E15A85396DA8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548166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1E905-1A0C-A51E-B241-66C784FB6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0BF132-A9B0-22B5-1AD9-8F015788FD4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182561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2609</TotalTime>
  <Words>981</Words>
  <Application>Microsoft Office PowerPoint</Application>
  <PresentationFormat>Widescreen</PresentationFormat>
  <Paragraphs>97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345</cp:revision>
  <dcterms:created xsi:type="dcterms:W3CDTF">2025-04-12T11:00:44Z</dcterms:created>
  <dcterms:modified xsi:type="dcterms:W3CDTF">2025-05-23T16:39:30Z</dcterms:modified>
</cp:coreProperties>
</file>