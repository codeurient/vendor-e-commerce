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  <p:sldId id="404" r:id="rId5"/>
    <p:sldId id="405" r:id="rId6"/>
    <p:sldId id="406" r:id="rId7"/>
    <p:sldId id="407" r:id="rId8"/>
    <p:sldId id="408" r:id="rId9"/>
    <p:sldId id="409" r:id="rId10"/>
    <p:sldId id="41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455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/>
              <a:t>Laravel</a:t>
            </a:r>
            <a:r>
              <a:rPr lang="az-Latn-AZ" sz="1400"/>
              <a:t>,</a:t>
            </a:r>
            <a:r>
              <a:rPr lang="en-US" sz="1400"/>
              <a:t> </a:t>
            </a:r>
            <a:r>
              <a:rPr lang="en-US" sz="1400" b="1"/>
              <a:t>Middleware</a:t>
            </a:r>
            <a:r>
              <a:rPr lang="en-US" sz="1400"/>
              <a:t> anlayışı framework-un əsas mexanizmlərindən biri</a:t>
            </a:r>
            <a:r>
              <a:rPr lang="az-Latn-AZ" sz="1400"/>
              <a:t>dir</a:t>
            </a:r>
            <a:r>
              <a:rPr lang="en-US" sz="1400"/>
              <a:t>. </a:t>
            </a:r>
            <a:r>
              <a:rPr lang="az-Latn-AZ" sz="1400"/>
              <a:t>Bu dərs</a:t>
            </a:r>
            <a:r>
              <a:rPr lang="en-US" sz="1400"/>
              <a:t> </a:t>
            </a:r>
            <a:r>
              <a:rPr lang="en-US" sz="1400" b="1"/>
              <a:t>Middleware</a:t>
            </a:r>
            <a:r>
              <a:rPr lang="en-US" sz="1400"/>
              <a:t> nədir, necə işləyir və necə yaradılır suallarına geniş və sadə cavablar təqdim </a:t>
            </a:r>
            <a:r>
              <a:rPr lang="az-Latn-AZ" sz="1400"/>
              <a:t>etməyə çalışacağam</a:t>
            </a:r>
            <a:r>
              <a:rPr lang="en-US" sz="1400"/>
              <a:t>.</a:t>
            </a:r>
            <a:endParaRPr lang="az-Latn-AZ" sz="1400"/>
          </a:p>
          <a:p>
            <a:pPr>
              <a:lnSpc>
                <a:spcPct val="150000"/>
              </a:lnSpc>
              <a:buNone/>
            </a:pP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Middleware nədir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Laravel-də bir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sorğusu (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request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application-a daxil olmadan və ya cavab (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response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istifadəçiyə </a:t>
            </a:r>
            <a:r>
              <a:rPr kumimoji="0" lang="en-US" altLang="en-US" sz="1200" b="1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çatmadan əvvəl</a:t>
            </a:r>
            <a:r>
              <a:rPr kumimoji="0" lang="en-US" altLang="en-US" sz="1200" b="1" i="0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icra olunan ara qat skriptləridir.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skriptlər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müəyyən yoxlamalar və ya emal prosesləri aparmaq üçün istifadə olunur. Məsələn:</a:t>
            </a: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İstifadəçi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nin sistemə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daxil olub-olmamasını yoxlamaq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Tokenlərin düzgünlüyünü yoxlamaq (API-lərdə)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və.s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dünya nümunəsi ilə izah 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Təsəvvür edin ki, universitet binasına yalnız tələbə kartı olanlar daxil ola bilər. Qapıdakı mühafizəçi hər kəsin kartını yoxlayır. Əgər kart varsa, o şəxsi binaya buraxır, yoxsa geri qaytarır. Laravel-də bu mühafizəçinin rolu middleware tərəfindən yerinə yetirilir.</a:t>
            </a:r>
          </a:p>
        </p:txBody>
      </p:sp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artıq bəzi standart middleware-lərlə gəlir.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Məsələn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istifadəçinin giriş edib-etmədiyini yoxlayır.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Məsələn, yalnız giriş etmiş istifadəçilərə flan səhifə göstərilsin. 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guest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yalnız qonaq istifadəçiləri buraxır.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istifadəçinin email təsdiqini yoxlayır.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 necə yaradılır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Terminalda aşağıdakı əmr vasitəsilə yeni middleware yaradırsınız: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 </a:t>
            </a:r>
            <a:r>
              <a:rPr kumimoji="0" lang="az-Latn-AZ" altLang="en-US" sz="1300" b="1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app/Http/Middleware/CheckAge.php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faylını yaradacaq.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2. </a:t>
            </a:r>
            <a:r>
              <a:rPr lang="az-Latn-AZ" altLang="en-US" sz="1300" b="1">
                <a:latin typeface="Arial" panose="020B0604020202020204" pitchFamily="34" charset="0"/>
              </a:rPr>
              <a:t>Middleware kodu nümunəsi: </a:t>
            </a:r>
            <a:r>
              <a:rPr lang="az-Latn-AZ" altLang="en-US" sz="1300">
                <a:latin typeface="Arial" panose="020B0604020202020204" pitchFamily="34" charset="0"/>
              </a:rPr>
              <a:t>Bu middleware istifadəçinin yaşını yoxlayır. Əgər yaş 18 və aşağıdırsa, no-access səhifəsinə yönləndirir.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EADAA1-A7AE-2DE3-4A9D-0A64884DA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8303"/>
            <a:ext cx="3162741" cy="5334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820B79-3112-EF2B-37AC-4D41016E7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433298"/>
            <a:ext cx="4223208" cy="342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BB82A-930B-EA01-F558-2F09D862A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1D5237-0FB8-DE37-AD2C-B14742C86083}"/>
              </a:ext>
            </a:extLst>
          </p:cNvPr>
          <p:cNvSpPr txBox="1"/>
          <p:nvPr/>
        </p:nvSpPr>
        <p:spPr>
          <a:xfrm>
            <a:off x="217714" y="255046"/>
            <a:ext cx="11756571" cy="575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3. </a:t>
            </a:r>
            <a:r>
              <a:rPr lang="az-Latn-AZ" altLang="en-US" sz="1300" b="1">
                <a:latin typeface="Arial" panose="020B0604020202020204" pitchFamily="34" charset="0"/>
              </a:rPr>
              <a:t>Middleware-i necə tətbiq etmək olar</a:t>
            </a:r>
            <a:r>
              <a:rPr lang="az-Latn-AZ" altLang="en-US" sz="1300">
                <a:latin typeface="Arial" panose="020B0604020202020204" pitchFamily="34" charset="0"/>
              </a:rPr>
              <a:t>?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az-Latn-AZ" altLang="en-US" sz="1300">
                <a:latin typeface="Arial" panose="020B0604020202020204" pitchFamily="34" charset="0"/>
              </a:rPr>
              <a:t>ilk öncə Middleware -i,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app/Http/Kernel.php </a:t>
            </a:r>
            <a:r>
              <a:rPr lang="az-Latn-AZ" altLang="en-US" sz="1300">
                <a:latin typeface="Arial" panose="020B0604020202020204" pitchFamily="34" charset="0"/>
              </a:rPr>
              <a:t>faylına əlavə etmək lazımdır. Bu faylda 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$routeMiddleware </a:t>
            </a:r>
            <a:r>
              <a:rPr lang="az-Latn-AZ" altLang="en-US" sz="1300">
                <a:latin typeface="Arial" panose="020B0604020202020204" pitchFamily="34" charset="0"/>
              </a:rPr>
              <a:t>hissəsinə əlavə etməliyik: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az-Latn-AZ" altLang="en-US" sz="1300">
                <a:latin typeface="Arial" panose="020B0604020202020204" pitchFamily="34" charset="0"/>
              </a:rPr>
              <a:t>Sonra isə, Route-a birbaşa tətbiq edə bilərik.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300">
                <a:latin typeface="Arial" panose="020B0604020202020204" pitchFamily="34" charset="0"/>
              </a:rPr>
              <a:t>İstifadəçi giriş etdikdə ilk öncə Middleware-dəki kod onun yaşını yoxlayır. Yaş 18 dən böyükdürsə </a:t>
            </a:r>
            <a:r>
              <a:rPr lang="en-US" altLang="en-US" sz="1300" b="1">
                <a:latin typeface="Arial" panose="020B0604020202020204" pitchFamily="34" charset="0"/>
              </a:rPr>
              <a:t>/home </a:t>
            </a:r>
            <a:r>
              <a:rPr lang="az-Latn-AZ" altLang="en-US" sz="1300">
                <a:latin typeface="Arial" panose="020B0604020202020204" pitchFamily="34" charset="0"/>
              </a:rPr>
              <a:t>səhifəsi yüklənir əks halda `</a:t>
            </a:r>
            <a:r>
              <a:rPr lang="az-Latn-AZ" altLang="en-US" sz="1300" b="1">
                <a:latin typeface="Arial" panose="020B0604020202020204" pitchFamily="34" charset="0"/>
              </a:rPr>
              <a:t>no-access</a:t>
            </a:r>
            <a:r>
              <a:rPr lang="az-Latn-AZ" altLang="en-US" sz="1300">
                <a:latin typeface="Arial" panose="020B0604020202020204" pitchFamily="34" charset="0"/>
              </a:rPr>
              <a:t>` səhifəsinə yönləndirilir həmin istifadəçi.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36DB2A-0931-B9A6-7932-B54AF9441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2862"/>
            <a:ext cx="4429743" cy="1209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1F5F39-A9C5-38AF-1689-8AFAEAA6A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55295"/>
            <a:ext cx="3096057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69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528B2-7F6E-D82E-D9ED-B1622B88C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6DA689-5B33-17F3-C550-29E79D742A52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Middleware-lərin növləri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middleware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bütün route-lara tətbiq olunur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($middleware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array-də </a:t>
            </a:r>
            <a:r>
              <a:rPr kumimoji="0" lang="en-US" altLang="en-US" sz="13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Kernel.php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-də)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 middleware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yalnız müəyyən route-lara tətbiq olunur 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$routeMiddleware</a:t>
            </a: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array-də qeyd olunur)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</a:t>
            </a:r>
            <a:r>
              <a:rPr lang="en-US" altLang="en-US" sz="1300" b="1">
                <a:latin typeface="Arial" panose="020B0604020202020204" pitchFamily="34" charset="0"/>
              </a:rPr>
              <a:t>Middleware</a:t>
            </a:r>
            <a:r>
              <a:rPr lang="en-US" altLang="en-US" sz="1300">
                <a:latin typeface="Arial" panose="020B0604020202020204" pitchFamily="34" charset="0"/>
              </a:rPr>
              <a:t> -lar </a:t>
            </a:r>
            <a:r>
              <a:rPr lang="az-Latn-AZ" altLang="en-US" sz="1300">
                <a:latin typeface="Arial" panose="020B0604020202020204" pitchFamily="34" charset="0"/>
              </a:rPr>
              <a:t>əsasən `</a:t>
            </a:r>
            <a:r>
              <a:rPr lang="en-US" sz="1400" b="1"/>
              <a:t>app/Http/Kernel.php</a:t>
            </a:r>
            <a:r>
              <a:rPr lang="az-Latn-AZ" altLang="en-US" sz="1300">
                <a:latin typeface="Arial" panose="020B0604020202020204" pitchFamily="34" charset="0"/>
              </a:rPr>
              <a:t>` faylında yığılır. Nədir bu `</a:t>
            </a:r>
            <a:r>
              <a:rPr lang="en-US" sz="1400" b="1"/>
              <a:t>app/Http/Kernel.php</a:t>
            </a:r>
            <a:r>
              <a:rPr lang="az-Latn-AZ" altLang="en-US" sz="1300">
                <a:latin typeface="Arial" panose="020B0604020202020204" pitchFamily="34" charset="0"/>
              </a:rPr>
              <a:t>` faylı ? 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Qısaca xülasə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898714-4364-1BCF-7BAE-9189A8E74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747924"/>
              </p:ext>
            </p:extLst>
          </p:nvPr>
        </p:nvGraphicFramePr>
        <p:xfrm>
          <a:off x="217714" y="3977255"/>
          <a:ext cx="11094451" cy="2756010"/>
        </p:xfrm>
        <a:graphic>
          <a:graphicData uri="http://schemas.openxmlformats.org/drawingml/2006/table">
            <a:tbl>
              <a:tblPr/>
              <a:tblGrid>
                <a:gridCol w="3481847">
                  <a:extLst>
                    <a:ext uri="{9D8B030D-6E8A-4147-A177-3AD203B41FA5}">
                      <a16:colId xmlns:a16="http://schemas.microsoft.com/office/drawing/2014/main" val="2533176132"/>
                    </a:ext>
                  </a:extLst>
                </a:gridCol>
                <a:gridCol w="7612604">
                  <a:extLst>
                    <a:ext uri="{9D8B030D-6E8A-4147-A177-3AD203B41FA5}">
                      <a16:colId xmlns:a16="http://schemas.microsoft.com/office/drawing/2014/main" val="662312779"/>
                    </a:ext>
                  </a:extLst>
                </a:gridCol>
              </a:tblGrid>
              <a:tr h="551202">
                <a:tc>
                  <a:txBody>
                    <a:bodyPr/>
                    <a:lstStyle/>
                    <a:p>
                      <a:r>
                        <a:rPr lang="en-US" b="1"/>
                        <a:t>Əməliyyat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İzah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466140"/>
                  </a:ext>
                </a:extLst>
              </a:tr>
              <a:tr h="551202">
                <a:tc>
                  <a:txBody>
                    <a:bodyPr/>
                    <a:lstStyle/>
                    <a:p>
                      <a:r>
                        <a:rPr lang="en-US"/>
                        <a:t>Middleware nədir?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Sorğu və cavab arasında işləyən filtr və ya mühafizə qatıdır.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184967"/>
                  </a:ext>
                </a:extLst>
              </a:tr>
              <a:tr h="551202">
                <a:tc>
                  <a:txBody>
                    <a:bodyPr/>
                    <a:lstStyle/>
                    <a:p>
                      <a:r>
                        <a:rPr lang="en-US"/>
                        <a:t>Harada istifadə olunur?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Auth, rol yoxlaması, loglama, API token, cors və 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194057"/>
                  </a:ext>
                </a:extLst>
              </a:tr>
              <a:tr h="551202">
                <a:tc>
                  <a:txBody>
                    <a:bodyPr/>
                    <a:lstStyle/>
                    <a:p>
                      <a:r>
                        <a:rPr lang="en-US"/>
                        <a:t>Necə yaradılır?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php artisan make:middleware MiddlewareName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09583"/>
                  </a:ext>
                </a:extLst>
              </a:tr>
              <a:tr h="551202">
                <a:tc>
                  <a:txBody>
                    <a:bodyPr/>
                    <a:lstStyle/>
                    <a:p>
                      <a:r>
                        <a:rPr lang="en-US"/>
                        <a:t>Necə tətbiq olunur?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/>
                        <a:t>Route-lara və ya qlobal olaraq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515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6796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F4323-8824-249E-0DE7-081764E87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D1B571-6E66-3B82-FE85-260F6D0E0EC2}"/>
              </a:ext>
            </a:extLst>
          </p:cNvPr>
          <p:cNvSpPr txBox="1"/>
          <p:nvPr/>
        </p:nvSpPr>
        <p:spPr>
          <a:xfrm>
            <a:off x="217714" y="255046"/>
            <a:ext cx="6786401" cy="3035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Kernel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Laravel tətbiqinin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giriş-çıxış şlüzüdür və bütün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konfiqurasiyasının mərkəzidir.</a:t>
            </a: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Browser-dən ( və ya API-dən ) gələn Illuminate\Http\Request obyektini alır.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100">
                <a:latin typeface="Arial" panose="020B0604020202020204" pitchFamily="34" charset="0"/>
              </a:rPr>
              <a:t>Hansı sorğunun hansı middleware-dən keçəcəyini məhz bu fayldakı massivlər müəyyənləşdirir.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Sorğunu Router-a ötürür.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Cavab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(response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eyni middlewar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-ə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zəncir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ilə geri qaytarı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lır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brauzerə 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ötürülür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Ardı növbəti slaydda....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7A49F2-145D-3803-A449-8456027B4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759" y="0"/>
            <a:ext cx="50302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068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8FC83-E855-1408-E7AB-1A2D7ED79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8FBA5F-F2A4-BC6E-7F5E-DEF4A7CDA546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fərqli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massiv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vəzifələri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protected $middleware = [ … ]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Qlobal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dır.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Hər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sorğusu bu siyahıdakı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-lərin hamısından keçir.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 səviyyəsində bunu yan keçirmək mümkün deyil.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protected $middlewareGroups = [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'web' =&gt; [ … ]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'api' =&gt; [ … ]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]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- eyni təbiətli route-ları paketləmək üçündür.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routes/web.php faylı avtomatik olaraq web qrupunu,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routes/api.php isə api qrupunu istifadə edir.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 route-da eyni anda bir neçə qrup da yaza bilərsiniz: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2E4282-77AF-F1B8-E092-6C4472BB9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403166"/>
              </p:ext>
            </p:extLst>
          </p:nvPr>
        </p:nvGraphicFramePr>
        <p:xfrm>
          <a:off x="217713" y="924814"/>
          <a:ext cx="11756571" cy="2025776"/>
        </p:xfrm>
        <a:graphic>
          <a:graphicData uri="http://schemas.openxmlformats.org/drawingml/2006/table">
            <a:tbl>
              <a:tblPr/>
              <a:tblGrid>
                <a:gridCol w="2167268">
                  <a:extLst>
                    <a:ext uri="{9D8B030D-6E8A-4147-A177-3AD203B41FA5}">
                      <a16:colId xmlns:a16="http://schemas.microsoft.com/office/drawing/2014/main" val="2649322904"/>
                    </a:ext>
                  </a:extLst>
                </a:gridCol>
                <a:gridCol w="2271860">
                  <a:extLst>
                    <a:ext uri="{9D8B030D-6E8A-4147-A177-3AD203B41FA5}">
                      <a16:colId xmlns:a16="http://schemas.microsoft.com/office/drawing/2014/main" val="2626019594"/>
                    </a:ext>
                  </a:extLst>
                </a:gridCol>
                <a:gridCol w="3101419">
                  <a:extLst>
                    <a:ext uri="{9D8B030D-6E8A-4147-A177-3AD203B41FA5}">
                      <a16:colId xmlns:a16="http://schemas.microsoft.com/office/drawing/2014/main" val="2007678911"/>
                    </a:ext>
                  </a:extLst>
                </a:gridCol>
                <a:gridCol w="4216024">
                  <a:extLst>
                    <a:ext uri="{9D8B030D-6E8A-4147-A177-3AD203B41FA5}">
                      <a16:colId xmlns:a16="http://schemas.microsoft.com/office/drawing/2014/main" val="2316160333"/>
                    </a:ext>
                  </a:extLst>
                </a:gridCol>
              </a:tblGrid>
              <a:tr h="373553">
                <a:tc>
                  <a:txBody>
                    <a:bodyPr/>
                    <a:lstStyle/>
                    <a:p>
                      <a:r>
                        <a:rPr lang="en-US" sz="1100" b="1"/>
                        <a:t>Massiv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Harada işləyir?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Təyinatı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Necə istifadə olunur?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83534"/>
                  </a:ext>
                </a:extLst>
              </a:tr>
              <a:tr h="550741">
                <a:tc>
                  <a:txBody>
                    <a:bodyPr/>
                    <a:lstStyle/>
                    <a:p>
                      <a:r>
                        <a:rPr lang="en-US" sz="1100" b="1"/>
                        <a:t>$middleware</a:t>
                      </a:r>
                      <a:endParaRPr lang="en-US" sz="11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Qlobal</a:t>
                      </a:r>
                      <a:r>
                        <a:rPr lang="en-US" sz="1100"/>
                        <a:t> (bütün sorğular)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Hər sorğuya mütləq tətbiq olunan middleware-lər. (</a:t>
                      </a:r>
                      <a:r>
                        <a:rPr lang="az-Latn-AZ" sz="1100"/>
                        <a:t> Bura çoxda fikir vermirik </a:t>
                      </a:r>
                      <a:r>
                        <a:rPr lang="en-US" sz="1100"/>
                        <a:t>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Laravel bütün route-ları işlətməzdən </a:t>
                      </a:r>
                      <a:r>
                        <a:rPr lang="en-US" sz="1100" b="1"/>
                        <a:t>əvvəl</a:t>
                      </a:r>
                      <a:r>
                        <a:rPr lang="en-US" sz="1100"/>
                        <a:t> avtomatik çağırır. Route səviyyəsində bunu söndürmək olmur.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834386"/>
                  </a:ext>
                </a:extLst>
              </a:tr>
              <a:tr h="550741">
                <a:tc>
                  <a:txBody>
                    <a:bodyPr/>
                    <a:lstStyle/>
                    <a:p>
                      <a:r>
                        <a:rPr lang="en-US" sz="1100" b="1"/>
                        <a:t>$middlewareGroups</a:t>
                      </a:r>
                      <a:endParaRPr lang="en-US" sz="11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Qrup</a:t>
                      </a:r>
                      <a:r>
                        <a:rPr lang="en-US" sz="1100"/>
                        <a:t> səviyyəsi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Eyni tip route-lara (məs: web, api) aid </a:t>
                      </a:r>
                      <a:r>
                        <a:rPr lang="en-US" sz="1100" i="1"/>
                        <a:t>paket</a:t>
                      </a:r>
                      <a:r>
                        <a:rPr lang="en-US" sz="1100"/>
                        <a:t> middleware.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Route-un və ya Route qrupunun middleware('web') / middleware('api') etiketi ilə aktivləşir.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426002"/>
                  </a:ext>
                </a:extLst>
              </a:tr>
              <a:tr h="550741">
                <a:tc>
                  <a:txBody>
                    <a:bodyPr/>
                    <a:lstStyle/>
                    <a:p>
                      <a:r>
                        <a:rPr lang="en-US" sz="1100" b="1"/>
                        <a:t>$middlewareAliases</a:t>
                      </a:r>
                      <a:r>
                        <a:rPr lang="en-US" sz="1100"/>
                        <a:t> (Laravel 10-a qədər $routeMiddleware</a:t>
                      </a:r>
                      <a:r>
                        <a:rPr lang="az-Latn-AZ" sz="1100"/>
                        <a:t> idi</a:t>
                      </a:r>
                      <a:r>
                        <a:rPr lang="en-US" sz="1100"/>
                        <a:t>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Fərdi alias</a:t>
                      </a:r>
                      <a:endParaRPr lang="en-US" sz="11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Ayrı-ayrı middleware-lərə qısa ad vermək. (Məs: 'auth' =&gt; Authenticate::class)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Route-da -&gt;middleware('auth') kimi çağırırsınız; eyni middleware-i istənilən route-a əlavə edə bilirsiniz.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69259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0C78945-2812-F7FA-6FD6-587880DF8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28458"/>
            <a:ext cx="4772691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994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590F9-4437-3B94-8A3B-CE93E41DE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67837F-7929-FA57-E194-2EDE59B627BA}"/>
              </a:ext>
            </a:extLst>
          </p:cNvPr>
          <p:cNvSpPr txBox="1"/>
          <p:nvPr/>
        </p:nvSpPr>
        <p:spPr>
          <a:xfrm>
            <a:off x="217714" y="255046"/>
            <a:ext cx="11756571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protected $middlewareAliases = [ … ]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 middleware-ə “ləqəb” (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alias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verirsiniz ki, route-larda qısa yazılsın: Laravel 10 -da əvvəl bu massiv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protected $routeMiddleware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adlanırdı. Laravel 10-da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$middlewareAliases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-a keçdi, lakin məntiq eynidir.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Prosesin qrafiki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B64C9F-044A-A7CE-0A4F-85BDD395B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2312"/>
            <a:ext cx="4972744" cy="5144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F96C61-E674-B876-D964-F7A1070DF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04000"/>
            <a:ext cx="6058746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797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1B45F-A7BD-9C42-C7F4-9678288CE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A3459-FDEA-2B65-570D-B2887C410FE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8349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31F9-5497-523A-7DE9-CD154E2EB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6C454D-BFBB-1818-C8CB-3AEBD076C68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4686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2495</TotalTime>
  <Words>746</Words>
  <Application>Microsoft Office PowerPoint</Application>
  <PresentationFormat>Widescreen</PresentationFormat>
  <Paragraphs>127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340</cp:revision>
  <dcterms:created xsi:type="dcterms:W3CDTF">2025-04-12T11:00:44Z</dcterms:created>
  <dcterms:modified xsi:type="dcterms:W3CDTF">2025-05-23T13:07:41Z</dcterms:modified>
</cp:coreProperties>
</file>