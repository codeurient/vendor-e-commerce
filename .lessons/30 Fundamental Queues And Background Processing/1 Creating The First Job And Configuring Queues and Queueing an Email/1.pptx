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  <p:sldId id="406" r:id="rId7"/>
    <p:sldId id="407" r:id="rId8"/>
    <p:sldId id="408" r:id="rId9"/>
    <p:sldId id="411" r:id="rId10"/>
    <p:sldId id="412" r:id="rId11"/>
    <p:sldId id="414" r:id="rId12"/>
    <p:sldId id="420" r:id="rId13"/>
    <p:sldId id="409" r:id="rId14"/>
    <p:sldId id="413" r:id="rId15"/>
    <p:sldId id="415" r:id="rId16"/>
    <p:sldId id="416" r:id="rId17"/>
    <p:sldId id="410" r:id="rId18"/>
    <p:sldId id="417" r:id="rId19"/>
    <p:sldId id="418" r:id="rId20"/>
    <p:sldId id="419" r:id="rId21"/>
    <p:sldId id="421" r:id="rId22"/>
    <p:sldId id="423" r:id="rId23"/>
    <p:sldId id="424" r:id="rId24"/>
    <p:sldId id="425" r:id="rId25"/>
    <p:sldId id="42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39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Queues</a:t>
            </a:r>
            <a:r>
              <a:rPr lang="az-Latn-AZ" altLang="en-US" sz="1100" b="1">
                <a:latin typeface="Arial" panose="020B0604020202020204" pitchFamily="34" charset="0"/>
              </a:rPr>
              <a:t> </a:t>
            </a:r>
            <a:r>
              <a:rPr lang="en-US" altLang="en-US" sz="1100" b="1">
                <a:latin typeface="Arial" panose="020B0604020202020204" pitchFamily="34" charset="0"/>
              </a:rPr>
              <a:t>[ k yu: s] - </a:t>
            </a:r>
            <a:r>
              <a:rPr lang="az-Latn-AZ" altLang="en-US" sz="1100" b="1">
                <a:latin typeface="Arial" panose="020B0604020202020204" pitchFamily="34" charset="0"/>
              </a:rPr>
              <a:t>Növbə</a:t>
            </a:r>
            <a:r>
              <a:rPr lang="az-Latn-AZ" altLang="en-US" sz="1100">
                <a:latin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mövzunun adı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Creating The First Job And Configuring Queues - </a:t>
            </a:r>
            <a:r>
              <a:rPr lang="en-US" altLang="en-US" sz="1100" b="1">
                <a:latin typeface="Arial" panose="020B0604020202020204" pitchFamily="34" charset="0"/>
              </a:rPr>
              <a:t>[  </a:t>
            </a:r>
            <a:r>
              <a:rPr lang="az-Latn-AZ" altLang="en-US" sz="1100" b="1">
                <a:latin typeface="Arial" panose="020B0604020202020204" pitchFamily="34" charset="0"/>
              </a:rPr>
              <a:t>İlk </a:t>
            </a:r>
            <a:r>
              <a:rPr lang="az-Latn-AZ" altLang="en-US" sz="1100" b="1">
                <a:solidFill>
                  <a:srgbClr val="00B050"/>
                </a:solidFill>
                <a:latin typeface="Arial" panose="020B0604020202020204" pitchFamily="34" charset="0"/>
              </a:rPr>
              <a:t>Job</a:t>
            </a:r>
            <a:r>
              <a:rPr lang="az-Latn-AZ" altLang="en-US" sz="1100" b="1">
                <a:latin typeface="Arial" panose="020B0604020202020204" pitchFamily="34" charset="0"/>
              </a:rPr>
              <a:t>-un Yaradılması və </a:t>
            </a:r>
            <a:r>
              <a:rPr lang="az-Latn-AZ" altLang="en-US" sz="1100" b="1">
                <a:solidFill>
                  <a:srgbClr val="0070C0"/>
                </a:solidFill>
                <a:latin typeface="Arial" panose="020B0604020202020204" pitchFamily="34" charset="0"/>
              </a:rPr>
              <a:t>Queue</a:t>
            </a:r>
            <a:r>
              <a:rPr lang="az-Latn-AZ" altLang="en-US" sz="1100" b="1">
                <a:latin typeface="Arial" panose="020B0604020202020204" pitchFamily="34" charset="0"/>
              </a:rPr>
              <a:t>-lərın Konfiqurasiyası</a:t>
            </a:r>
            <a:r>
              <a:rPr lang="en-US" altLang="en-US" sz="1100" b="1">
                <a:latin typeface="Arial" panose="020B0604020202020204" pitchFamily="34" charset="0"/>
              </a:rPr>
              <a:t>  ]</a:t>
            </a:r>
            <a:endParaRPr lang="az-Latn-AZ" altLang="en-US" sz="11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Laravel-də </a:t>
            </a:r>
            <a:r>
              <a:rPr lang="en-US" altLang="en-US" sz="1100" b="1">
                <a:latin typeface="Arial" panose="020B0604020202020204" pitchFamily="34" charset="0"/>
              </a:rPr>
              <a:t>queue</a:t>
            </a:r>
            <a:r>
              <a:rPr lang="en-US" altLang="en-US" sz="1100">
                <a:latin typeface="Arial" panose="020B0604020202020204" pitchFamily="34" charset="0"/>
              </a:rPr>
              <a:t> (növbə) sistemi istifadə olunmaqla, vaxt aparan əməliyyatlar (məsələn, email göndərmək, böyük faylları işləmək və s.) </a:t>
            </a:r>
            <a:r>
              <a:rPr lang="en-US" altLang="en-US" sz="1100" b="1">
                <a:latin typeface="Arial" panose="020B0604020202020204" pitchFamily="34" charset="0"/>
              </a:rPr>
              <a:t>background</a:t>
            </a:r>
            <a:r>
              <a:rPr lang="en-US" altLang="en-US" sz="1100">
                <a:latin typeface="Arial" panose="020B0604020202020204" pitchFamily="34" charset="0"/>
              </a:rPr>
              <a:t>-da, yəni arxa planda icra olunur. Bu, tətbiqin cavabvermə sürətini artırır</a:t>
            </a:r>
            <a:r>
              <a:rPr lang="az-Latn-AZ" altLang="en-US" sz="1100">
                <a:latin typeface="Arial" panose="020B0604020202020204" pitchFamily="34" charset="0"/>
              </a:rPr>
              <a:t>.</a:t>
            </a: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100" b="1">
                <a:latin typeface="Arial" panose="020B0604020202020204" pitchFamily="34" charset="0"/>
              </a:rPr>
              <a:t>Queue</a:t>
            </a:r>
            <a:r>
              <a:rPr lang="en-US" altLang="en-US" sz="1100">
                <a:latin typeface="Arial" panose="020B0604020202020204" pitchFamily="34" charset="0"/>
              </a:rPr>
              <a:t>-larla işləməyə başlamaq üçün ilk olaraq bir </a:t>
            </a:r>
            <a:r>
              <a:rPr lang="az-Latn-AZ" altLang="en-US" sz="1100" b="1">
                <a:latin typeface="Arial" panose="020B0604020202020204" pitchFamily="34" charset="0"/>
              </a:rPr>
              <a:t>JOB</a:t>
            </a:r>
            <a:r>
              <a:rPr lang="en-US" altLang="en-US" sz="1100">
                <a:latin typeface="Arial" panose="020B0604020202020204" pitchFamily="34" charset="0"/>
              </a:rPr>
              <a:t> (iş) yaradılır, sonra isə </a:t>
            </a:r>
            <a:r>
              <a:rPr lang="en-US" altLang="en-US" sz="1100" b="1">
                <a:latin typeface="Arial" panose="020B0604020202020204" pitchFamily="34" charset="0"/>
              </a:rPr>
              <a:t>.env </a:t>
            </a:r>
            <a:r>
              <a:rPr lang="en-US" altLang="en-US" sz="1100">
                <a:latin typeface="Arial" panose="020B0604020202020204" pitchFamily="34" charset="0"/>
              </a:rPr>
              <a:t>və </a:t>
            </a:r>
            <a:r>
              <a:rPr lang="en-US" altLang="en-US" sz="1100" b="1">
                <a:latin typeface="Arial" panose="020B0604020202020204" pitchFamily="34" charset="0"/>
              </a:rPr>
              <a:t>config/queue.php </a:t>
            </a:r>
            <a:r>
              <a:rPr lang="en-US" altLang="en-US" sz="1100">
                <a:latin typeface="Arial" panose="020B0604020202020204" pitchFamily="34" charset="0"/>
              </a:rPr>
              <a:t>fayllarında uyğun konfiqurasiyalar aparılır. Bu konfiqurasiya nəticəsində Laravel</a:t>
            </a:r>
            <a:r>
              <a:rPr lang="az-Latn-AZ" altLang="en-US" sz="1100">
                <a:latin typeface="Arial" panose="020B0604020202020204" pitchFamily="34" charset="0"/>
              </a:rPr>
              <a:t>,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 b="1">
                <a:latin typeface="Arial" panose="020B0604020202020204" pitchFamily="34" charset="0"/>
              </a:rPr>
              <a:t>JOB</a:t>
            </a:r>
            <a:r>
              <a:rPr lang="en-US" altLang="en-US" sz="1100">
                <a:latin typeface="Arial" panose="020B0604020202020204" pitchFamily="34" charset="0"/>
              </a:rPr>
              <a:t>-ları növbəyə əlavə edir və </a:t>
            </a:r>
            <a:r>
              <a:rPr lang="az-Latn-AZ" altLang="en-US" sz="1100">
                <a:latin typeface="Arial" panose="020B0604020202020204" pitchFamily="34" charset="0"/>
              </a:rPr>
              <a:t>proses </a:t>
            </a:r>
            <a:r>
              <a:rPr lang="en-US" altLang="en-US" sz="1100">
                <a:latin typeface="Arial" panose="020B0604020202020204" pitchFamily="34" charset="0"/>
              </a:rPr>
              <a:t>arxa planda icra </a:t>
            </a:r>
            <a:r>
              <a:rPr lang="az-Latn-AZ" altLang="en-US" sz="1100">
                <a:latin typeface="Arial" panose="020B0604020202020204" pitchFamily="34" charset="0"/>
              </a:rPr>
              <a:t>edilir</a:t>
            </a:r>
            <a:r>
              <a:rPr lang="en-US" altLang="en-US" sz="1100">
                <a:latin typeface="Arial" panose="020B0604020202020204" pitchFamily="34" charset="0"/>
              </a:rPr>
              <a:t>.</a:t>
            </a: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pt-BR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config/queue.php nədir?</a:t>
            </a:r>
            <a:endParaRPr lang="az-Latn-AZ" altLang="en-US" sz="11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>
                <a:latin typeface="Arial" panose="020B0604020202020204" pitchFamily="34" charset="0"/>
              </a:rPr>
              <a:t>Bu fayl Laravel-də queue sisteminin bütün konfiqurasiya parametrlərini ehtiva edir. Burada aşağıdakılar təyin edilir: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Əsas queue driver (sync, database, redis, sqs, və s.)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Queue bağlantılarının konfiqurasiyası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100">
                <a:latin typeface="Arial" panose="020B0604020202020204" pitchFamily="34" charset="0"/>
              </a:rPr>
              <a:t>Failed job-lar üçün storage parametrləri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100" b="1">
                <a:latin typeface="Arial" panose="020B0604020202020204" pitchFamily="34" charset="0"/>
              </a:rPr>
              <a:t>Məsələn</a:t>
            </a:r>
            <a:r>
              <a:rPr lang="az-Latn-AZ" altLang="en-US" sz="1100">
                <a:latin typeface="Arial" panose="020B0604020202020204" pitchFamily="34" charset="0"/>
              </a:rPr>
              <a:t>: Bu sətr vasitəsilə Laravel hansı </a:t>
            </a:r>
            <a:r>
              <a:rPr lang="az-Latn-AZ" altLang="en-US" sz="1100" b="1">
                <a:latin typeface="Arial" panose="020B0604020202020204" pitchFamily="34" charset="0"/>
              </a:rPr>
              <a:t>queue driverindən </a:t>
            </a:r>
            <a:r>
              <a:rPr lang="az-Latn-AZ" altLang="en-US" sz="1100">
                <a:latin typeface="Arial" panose="020B0604020202020204" pitchFamily="34" charset="0"/>
              </a:rPr>
              <a:t>istifadə etməli olduğunu öyrənir.</a:t>
            </a: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F9D54-0784-6F93-AA83-50C86C93F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5464644"/>
            <a:ext cx="3753374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'default' =&gt; env('QUEUE_CONNECTION', 'sync') </a:t>
            </a:r>
            <a:r>
              <a:rPr lang="en-US" altLang="en-US" sz="1300">
                <a:latin typeface="Arial" panose="020B0604020202020204" pitchFamily="34" charset="0"/>
              </a:rPr>
              <a:t>nəyi ifadə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sətr deyir ki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 </a:t>
            </a:r>
            <a:r>
              <a:rPr lang="en-US" altLang="en-US" sz="1300" b="1">
                <a:latin typeface="Arial" panose="020B0604020202020204" pitchFamily="34" charset="0"/>
              </a:rPr>
              <a:t>QUEUE_CONNECTION </a:t>
            </a:r>
            <a:r>
              <a:rPr lang="en-US" altLang="en-US" sz="1300">
                <a:latin typeface="Arial" panose="020B0604020202020204" pitchFamily="34" charset="0"/>
              </a:rPr>
              <a:t>təyin olunubsa, onun dəyəri istifadə olunsun.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yoxdursa, </a:t>
            </a:r>
            <a:r>
              <a:rPr lang="en-US" altLang="en-US" sz="1300" b="1">
                <a:latin typeface="Arial" panose="020B0604020202020204" pitchFamily="34" charset="0"/>
              </a:rPr>
              <a:t>default</a:t>
            </a:r>
            <a:r>
              <a:rPr lang="en-US" altLang="en-US" sz="1300">
                <a:latin typeface="Arial" panose="020B0604020202020204" pitchFamily="34" charset="0"/>
              </a:rPr>
              <a:t> olaraq </a:t>
            </a:r>
            <a:r>
              <a:rPr lang="en-US" altLang="en-US" sz="1300" b="1">
                <a:latin typeface="Arial" panose="020B0604020202020204" pitchFamily="34" charset="0"/>
              </a:rPr>
              <a:t>sync</a:t>
            </a:r>
            <a:r>
              <a:rPr lang="en-US" altLang="en-US" sz="1300">
                <a:latin typeface="Arial" panose="020B0604020202020204" pitchFamily="34" charset="0"/>
              </a:rPr>
              <a:t> seçilsin.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sync</a:t>
            </a:r>
            <a:r>
              <a:rPr lang="en-US" altLang="en-US" sz="1300">
                <a:latin typeface="Arial" panose="020B0604020202020204" pitchFamily="34" charset="0"/>
              </a:rPr>
              <a:t> driveri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Laravel-ə </a:t>
            </a:r>
            <a:r>
              <a:rPr lang="en-US" altLang="en-US" sz="1300" b="1">
                <a:latin typeface="Arial" panose="020B0604020202020204" pitchFamily="34" charset="0"/>
              </a:rPr>
              <a:t>background task </a:t>
            </a:r>
            <a:r>
              <a:rPr lang="en-US" altLang="en-US" sz="1300">
                <a:latin typeface="Arial" panose="020B0604020202020204" pitchFamily="34" charset="0"/>
              </a:rPr>
              <a:t>yerinə, işi dərhal yerinə yetirməsini deyir.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c)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faylında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QUEUE_CONNECTION=sync </a:t>
            </a:r>
            <a:r>
              <a:rPr lang="en-US" altLang="en-US" sz="1300">
                <a:latin typeface="Arial" panose="020B0604020202020204" pitchFamily="34" charset="0"/>
              </a:rPr>
              <a:t>nədir və bunu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database</a:t>
            </a:r>
            <a:r>
              <a:rPr lang="en-US" altLang="en-US" sz="1300">
                <a:latin typeface="Arial" panose="020B0604020202020204" pitchFamily="34" charset="0"/>
              </a:rPr>
              <a:t> olaraq dəyişsə</a:t>
            </a:r>
            <a:r>
              <a:rPr lang="az-Latn-AZ" altLang="en-US" sz="1300">
                <a:latin typeface="Arial" panose="020B0604020202020204" pitchFamily="34" charset="0"/>
              </a:rPr>
              <a:t>k</a:t>
            </a:r>
            <a:r>
              <a:rPr lang="en-US" altLang="en-US" sz="1300">
                <a:latin typeface="Arial" panose="020B0604020202020204" pitchFamily="34" charset="0"/>
              </a:rPr>
              <a:t> nə olar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QUEUE_CONNECTION=sync </a:t>
            </a:r>
            <a:r>
              <a:rPr lang="en-US" altLang="en-US" sz="1300">
                <a:latin typeface="Arial" panose="020B0604020202020204" pitchFamily="34" charset="0"/>
              </a:rPr>
              <a:t>olarsa, </a:t>
            </a: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 dərhal yerinə yetirilir.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QUEUE_CONNECTION=database </a:t>
            </a:r>
            <a:r>
              <a:rPr lang="en-US" altLang="en-US" sz="1300">
                <a:latin typeface="Arial" panose="020B0604020202020204" pitchFamily="34" charset="0"/>
              </a:rPr>
              <a:t>etsəniz: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-lar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-dəki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en-US" altLang="en-US" sz="1300">
                <a:latin typeface="Arial" panose="020B0604020202020204" pitchFamily="34" charset="0"/>
              </a:rPr>
              <a:t> cədvəlinə yazılır.</a:t>
            </a:r>
            <a:r>
              <a:rPr lang="az-Latn-AZ" altLang="en-US" sz="1300">
                <a:latin typeface="Arial" panose="020B0604020202020204" pitchFamily="34" charset="0"/>
              </a:rPr>
              <a:t> ( Növbəti slaydda bu cədvəli yaradacağıq )</a:t>
            </a:r>
            <a:endParaRPr lang="en-US" altLang="en-US" sz="1300">
              <a:latin typeface="Arial" panose="020B0604020202020204" pitchFamily="34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</a:rPr>
              <a:t>Ayrı </a:t>
            </a:r>
            <a:r>
              <a:rPr lang="en-US" altLang="en-US" sz="1300" b="1">
                <a:latin typeface="Arial" panose="020B0604020202020204" pitchFamily="34" charset="0"/>
              </a:rPr>
              <a:t>queue worker </a:t>
            </a:r>
            <a:r>
              <a:rPr lang="en-US" altLang="en-US" sz="1300">
                <a:latin typeface="Arial" panose="020B0604020202020204" pitchFamily="34" charset="0"/>
              </a:rPr>
              <a:t>bu cədvəldən </a:t>
            </a:r>
            <a:r>
              <a:rPr lang="en-US" altLang="en-US" sz="1300" b="1">
                <a:latin typeface="Arial" panose="020B0604020202020204" pitchFamily="34" charset="0"/>
              </a:rPr>
              <a:t>job</a:t>
            </a:r>
            <a:r>
              <a:rPr lang="en-US" altLang="en-US" sz="1300">
                <a:latin typeface="Arial" panose="020B0604020202020204" pitchFamily="34" charset="0"/>
              </a:rPr>
              <a:t>-ları götürüb icra ed</a:t>
            </a:r>
            <a:r>
              <a:rPr lang="az-Latn-AZ" altLang="en-US" sz="1300">
                <a:latin typeface="Arial" panose="020B0604020202020204" pitchFamily="34" charset="0"/>
              </a:rPr>
              <a:t>əcək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altLang="en-US" sz="1300">
                <a:latin typeface="Arial" panose="020B0604020202020204" pitchFamily="34" charset="0"/>
              </a:rPr>
              <a:t>d) </a:t>
            </a:r>
            <a:r>
              <a:rPr lang="fr-FR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php artisan queue:table </a:t>
            </a:r>
            <a:r>
              <a:rPr lang="fr-FR" altLang="en-US" sz="1300">
                <a:latin typeface="Arial" panose="020B0604020202020204" pitchFamily="34" charset="0"/>
              </a:rPr>
              <a:t>nə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komanda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az-Latn-AZ" altLang="en-US" sz="1300">
                <a:latin typeface="Arial" panose="020B0604020202020204" pitchFamily="34" charset="0"/>
              </a:rPr>
              <a:t> cədvəlini yaratmaq üçün bir </a:t>
            </a:r>
            <a:r>
              <a:rPr lang="az-Latn-AZ" altLang="en-US" sz="1300" b="1">
                <a:latin typeface="Arial" panose="020B0604020202020204" pitchFamily="34" charset="0"/>
              </a:rPr>
              <a:t>migration</a:t>
            </a:r>
            <a:r>
              <a:rPr lang="az-Latn-AZ" altLang="en-US" sz="1300">
                <a:latin typeface="Arial" panose="020B0604020202020204" pitchFamily="34" charset="0"/>
              </a:rPr>
              <a:t> faylı generasiya edir. Məsələn: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Nəticədə bu fayl yaranır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Cədvəl strukturu belədir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Bu cədvəl background -da işləməli olan job-ları saxlayır.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38C96-38B9-B67D-319C-69B61E47F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48771"/>
            <a:ext cx="2124371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643BE-18CE-F735-D693-4A63910E4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752423"/>
            <a:ext cx="4925112" cy="54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C8BB97-6883-C45A-0EB7-3284B4120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4259477"/>
            <a:ext cx="631595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183-FF1A-1435-BD85-8A343159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D78A1-3717-21B1-DEFD-BDCDF9C91B71}"/>
              </a:ext>
            </a:extLst>
          </p:cNvPr>
          <p:cNvSpPr txBox="1"/>
          <p:nvPr/>
        </p:nvSpPr>
        <p:spPr>
          <a:xfrm>
            <a:off x="217715" y="255046"/>
            <a:ext cx="4624874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cədvəl background -da işləməli olan job-ları saxlayır.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C438C-235A-2681-A5F5-49CAB7A88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912" y="0"/>
            <a:ext cx="7229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23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4E59B-9C92-E86F-44B6-102B840BB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003A6-A359-73FE-05FD-602BBD79BDA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Cədvəlin içi bu qayda boşdur.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AC13EB-76D0-9D24-3383-1F2C222AB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994" y="1214128"/>
            <a:ext cx="8688012" cy="4429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0447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B322A-0ADF-984E-1031-0752DCB27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51AC5C-F24D-EFD7-4F7A-F27DD6F3E268}"/>
              </a:ext>
            </a:extLst>
          </p:cNvPr>
          <p:cNvSpPr txBox="1"/>
          <p:nvPr/>
        </p:nvSpPr>
        <p:spPr>
          <a:xfrm>
            <a:off x="217715" y="255046"/>
            <a:ext cx="3859764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Queueing an Email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SendMail</a:t>
            </a:r>
            <a:r>
              <a:rPr lang="az-Latn-AZ" altLang="en-US" sz="1300">
                <a:latin typeface="Arial" panose="020B0604020202020204" pitchFamily="34" charset="0"/>
              </a:rPr>
              <a:t> class -ı adında bir </a:t>
            </a:r>
            <a:r>
              <a:rPr lang="az-Latn-AZ" altLang="en-US" sz="1300" b="1">
                <a:latin typeface="Arial" panose="020B0604020202020204" pitchFamily="34" charset="0"/>
              </a:rPr>
              <a:t>JOB</a:t>
            </a:r>
            <a:r>
              <a:rPr lang="az-Latn-AZ" altLang="en-US" sz="1300">
                <a:latin typeface="Arial" panose="020B0604020202020204" pitchFamily="34" charset="0"/>
              </a:rPr>
              <a:t> yaradırıq.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handle() </a:t>
            </a:r>
            <a:r>
              <a:rPr lang="az-Latn-AZ" altLang="en-US" sz="1300">
                <a:latin typeface="Arial" panose="020B0604020202020204" pitchFamily="34" charset="0"/>
              </a:rPr>
              <a:t>metodu </a:t>
            </a:r>
            <a:r>
              <a:rPr lang="az-Latn-AZ" altLang="en-US" sz="1300" b="1">
                <a:latin typeface="Arial" panose="020B0604020202020204" pitchFamily="34" charset="0"/>
              </a:rPr>
              <a:t>JOB</a:t>
            </a:r>
            <a:r>
              <a:rPr lang="az-Latn-AZ" altLang="en-US" sz="1300">
                <a:latin typeface="Arial" panose="020B0604020202020204" pitchFamily="34" charset="0"/>
              </a:rPr>
              <a:t> icra olunanda çağırılacaq metotdur.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Ardı növbəti slaydda.....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3085FE-EFCC-5368-D5AC-F59BBD15C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5" y="792287"/>
            <a:ext cx="2657846" cy="5334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9C29F1-759B-6306-03BF-BFA69A3DB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692" y="0"/>
            <a:ext cx="7986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0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407B1-4FA5-1F8D-D2B0-B3975655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12AF3-26EA-9AAB-D8BA-81F7D0298DE4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handle() </a:t>
            </a:r>
            <a:r>
              <a:rPr lang="az-Latn-AZ" altLang="en-US" sz="1300">
                <a:latin typeface="Arial" panose="020B0604020202020204" pitchFamily="34" charset="0"/>
              </a:rPr>
              <a:t>metodu içərsində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PostPublished</a:t>
            </a:r>
            <a:r>
              <a:rPr lang="az-Latn-AZ" altLang="en-US" sz="1300">
                <a:latin typeface="Arial" panose="020B0604020202020204" pitchFamily="34" charset="0"/>
              </a:rPr>
              <a:t> class -ını çağıracağıq.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Ancaq ilk öncə bu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-ı yaratmaq lazımdır.  Növbəti slayd...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9E18F-57F2-C35F-A9B8-67556C8B9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59144"/>
            <a:ext cx="4643535" cy="28569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9D2BF-DA3B-154A-5709-04CF1DF48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520197"/>
            <a:ext cx="3010320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6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0328-B8E1-3974-80C2-285DCC6B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E3535B-F79B-64C5-57E7-E348D7EE556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Burada email alıcısı (</a:t>
            </a:r>
            <a:r>
              <a:rPr lang="en-US" altLang="en-US" sz="1300" b="1">
                <a:latin typeface="Arial" panose="020B0604020202020204" pitchFamily="34" charset="0"/>
              </a:rPr>
              <a:t>to</a:t>
            </a:r>
            <a:r>
              <a:rPr lang="en-US" altLang="en-US" sz="1300">
                <a:latin typeface="Arial" panose="020B0604020202020204" pitchFamily="34" charset="0"/>
              </a:rPr>
              <a:t>), başlıq (</a:t>
            </a:r>
            <a:r>
              <a:rPr lang="en-US" altLang="en-US" sz="1300" b="1">
                <a:latin typeface="Arial" panose="020B0604020202020204" pitchFamily="34" charset="0"/>
              </a:rPr>
              <a:t>subject</a:t>
            </a:r>
            <a:r>
              <a:rPr lang="en-US" altLang="en-US" sz="1300">
                <a:latin typeface="Arial" panose="020B0604020202020204" pitchFamily="34" charset="0"/>
              </a:rPr>
              <a:t>) və görünüş (</a:t>
            </a:r>
            <a:r>
              <a:rPr lang="en-US" altLang="en-US" sz="1300" b="1">
                <a:latin typeface="Arial" panose="020B0604020202020204" pitchFamily="34" charset="0"/>
              </a:rPr>
              <a:t>view</a:t>
            </a:r>
            <a:r>
              <a:rPr lang="en-US" altLang="en-US" sz="1300">
                <a:latin typeface="Arial" panose="020B0604020202020204" pitchFamily="34" charset="0"/>
              </a:rPr>
              <a:t>) təyin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0A572C-65C9-EB93-1243-56DC5D26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41163"/>
            <a:ext cx="3248478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93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793F-ACDC-C520-BAC5-6614B502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834BF8-2B51-6DFF-99A7-011B144B2945}"/>
              </a:ext>
            </a:extLst>
          </p:cNvPr>
          <p:cNvSpPr txBox="1"/>
          <p:nvPr/>
        </p:nvSpPr>
        <p:spPr>
          <a:xfrm>
            <a:off x="227045" y="171071"/>
            <a:ext cx="4942115" cy="1630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Əvvəlki dərslərdən </a:t>
            </a:r>
            <a:r>
              <a:rPr lang="az-Latn-AZ" altLang="en-US" sz="1300" b="1">
                <a:latin typeface="Arial" panose="020B0604020202020204" pitchFamily="34" charset="0"/>
              </a:rPr>
              <a:t>MAİL</a:t>
            </a:r>
            <a:r>
              <a:rPr lang="az-Latn-AZ" altLang="en-US" sz="1300">
                <a:latin typeface="Arial" panose="020B0604020202020204" pitchFamily="34" charset="0"/>
              </a:rPr>
              <a:t> göndərməyi öyrənmişdik. Bunun üçün </a:t>
            </a:r>
            <a:r>
              <a:rPr lang="az-Latn-AZ" altLang="en-US" sz="1300" b="1">
                <a:latin typeface="Arial" panose="020B0604020202020204" pitchFamily="34" charset="0"/>
              </a:rPr>
              <a:t>PostPublished.php </a:t>
            </a:r>
            <a:r>
              <a:rPr lang="az-Latn-AZ" altLang="en-US" sz="1300">
                <a:latin typeface="Arial" panose="020B0604020202020204" pitchFamily="34" charset="0"/>
              </a:rPr>
              <a:t>faylına bənzər bir fayl yaratmışdıq və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faylında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təyin edərək həmin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-yə daxil olduğumuzda mesaj `</a:t>
            </a:r>
            <a:r>
              <a:rPr lang="az-Latn-AZ" altLang="en-US" sz="1300" b="1">
                <a:latin typeface="Arial" panose="020B0604020202020204" pitchFamily="34" charset="0"/>
              </a:rPr>
              <a:t>mailtrap</a:t>
            </a:r>
            <a:r>
              <a:rPr lang="az-Latn-AZ" altLang="en-US" sz="1300">
                <a:latin typeface="Arial" panose="020B0604020202020204" pitchFamily="34" charset="0"/>
              </a:rPr>
              <a:t>` saytına göndərilirdi.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CC15C-C9F5-9ABB-5641-0F4DF1C9D3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980" y="0"/>
            <a:ext cx="688602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5FE5EB-5D4A-2125-E53D-A4FC8D08E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7790"/>
            <a:ext cx="3060441" cy="49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61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1E8D1-8576-F0CF-C633-F908EB83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4A3AA-CB25-A733-65CA-32F32D3C5F44}"/>
              </a:ext>
            </a:extLst>
          </p:cNvPr>
          <p:cNvSpPr txBox="1"/>
          <p:nvPr/>
        </p:nvSpPr>
        <p:spPr>
          <a:xfrm>
            <a:off x="217715" y="255046"/>
            <a:ext cx="7797282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</a:t>
            </a:r>
            <a:r>
              <a:rPr lang="az-Latn-AZ" altLang="en-US" sz="1300" b="1"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faylımızda sağ şəkildəki kimi düzgün konfiqurasiya edilibdirsə, sadəcə təyin edilən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-yə daxil olduğumuzda mesaj göndəriləcək (aşağı sol şəkil).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4D97CD-DDDE-84E6-F6E0-975DA2C5D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8626" y="0"/>
            <a:ext cx="3753374" cy="4058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9100A-E74F-AD89-F349-46966CFC8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7302"/>
            <a:ext cx="8014996" cy="318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1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69EA-4330-6828-70AF-E47536460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35AB9E-393F-6B70-DC87-F5661C4FA389}"/>
              </a:ext>
            </a:extLst>
          </p:cNvPr>
          <p:cNvSpPr txBox="1"/>
          <p:nvPr/>
        </p:nvSpPr>
        <p:spPr>
          <a:xfrm>
            <a:off x="217714" y="143079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biz mesajı göndərmək üçün əvvəlki qaydadan yox, aşağı şəkildəki kimi </a:t>
            </a:r>
            <a:r>
              <a:rPr lang="az-Latn-AZ" altLang="en-US" sz="1300" b="1">
                <a:latin typeface="Arial" panose="020B0604020202020204" pitchFamily="34" charset="0"/>
              </a:rPr>
              <a:t>JOB</a:t>
            </a:r>
            <a:r>
              <a:rPr lang="az-Latn-AZ" altLang="en-US" sz="1300">
                <a:latin typeface="Arial" panose="020B0604020202020204" pitchFamily="34" charset="0"/>
              </a:rPr>
              <a:t> növbəsindən ( </a:t>
            </a:r>
            <a:r>
              <a:rPr lang="az-Latn-AZ" altLang="en-US" sz="1300" b="1">
                <a:latin typeface="Arial" panose="020B0604020202020204" pitchFamily="34" charset="0"/>
              </a:rPr>
              <a:t>queue</a:t>
            </a:r>
            <a:r>
              <a:rPr lang="az-Latn-AZ" altLang="en-US" sz="1300">
                <a:latin typeface="Arial" panose="020B0604020202020204" pitchFamily="34" charset="0"/>
              </a:rPr>
              <a:t> ) istifadə edəcəyik.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5F185-F98E-160A-96FB-26507C551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1641"/>
            <a:ext cx="12192000" cy="61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1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E99F6-68B4-E331-2D0F-E56CE584A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18CC83-4CCA-209E-8821-C890FB89A155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300">
                <a:latin typeface="Arial" panose="020B0604020202020204" pitchFamily="34" charset="0"/>
              </a:rPr>
              <a:t>: job-u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az-Latn-AZ" altLang="en-US" sz="1300">
                <a:latin typeface="Arial" panose="020B0604020202020204" pitchFamily="34" charset="0"/>
              </a:rPr>
              <a:t> cədvəlinə yazdırmaq üçün </a:t>
            </a:r>
            <a:r>
              <a:rPr lang="az-Latn-AZ" altLang="en-US" sz="1300" b="1">
                <a:latin typeface="Arial" panose="020B0604020202020204" pitchFamily="34" charset="0"/>
              </a:rPr>
              <a:t>SendMail::dispatch(); </a:t>
            </a:r>
            <a:r>
              <a:rPr lang="az-Latn-AZ" altLang="en-US" sz="1300">
                <a:latin typeface="Arial" panose="020B0604020202020204" pitchFamily="34" charset="0"/>
              </a:rPr>
              <a:t>funksiyasından istifadə edilir. Əgər Job-ları gecikdirmə istəsəniz onda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delay() </a:t>
            </a:r>
            <a:r>
              <a:rPr lang="az-Latn-AZ" altLang="en-US" sz="1300">
                <a:latin typeface="Arial" panose="020B0604020202020204" pitchFamily="34" charset="0"/>
              </a:rPr>
              <a:t>funksiyasını əlavə edə bilərsiz: </a:t>
            </a: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33ED99-387B-69B3-F016-5D04C083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183977"/>
            <a:ext cx="413442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79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8A2D-63C4-80E3-A11D-E0234D2F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BC3999-BA4F-4672-E57D-445CDDF86B0F}"/>
              </a:ext>
            </a:extLst>
          </p:cNvPr>
          <p:cNvSpPr txBox="1"/>
          <p:nvPr/>
        </p:nvSpPr>
        <p:spPr>
          <a:xfrm>
            <a:off x="121298" y="255046"/>
            <a:ext cx="8360229" cy="4213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Nəticədə  isə </a:t>
            </a:r>
            <a:r>
              <a:rPr lang="az-Latn-AZ" altLang="en-US" sz="1200" b="1">
                <a:latin typeface="Arial" panose="020B0604020202020204" pitchFamily="34" charset="0"/>
              </a:rPr>
              <a:t>DB</a:t>
            </a:r>
            <a:r>
              <a:rPr lang="az-Latn-AZ" altLang="en-US" sz="1200">
                <a:latin typeface="Arial" panose="020B0604020202020204" pitchFamily="34" charset="0"/>
              </a:rPr>
              <a:t> -dəki </a:t>
            </a:r>
            <a:r>
              <a:rPr lang="az-Latn-AZ" altLang="en-US" sz="1200" b="1">
                <a:latin typeface="Arial" panose="020B0604020202020204" pitchFamily="34" charset="0"/>
              </a:rPr>
              <a:t>JOBS</a:t>
            </a:r>
            <a:r>
              <a:rPr lang="az-Latn-AZ" altLang="en-US" sz="1200">
                <a:latin typeface="Arial" panose="020B0604020202020204" pitchFamily="34" charset="0"/>
              </a:rPr>
              <a:t> cədvəlində, aşağı şəkildəki kimi bir məlumat yaddaşa yazılır. Ancaq bu mesaj deyil. Əgər poçtanı ( mailtrap ) yoxlasanız mesajın orayada göndərildiyini görmüyəcəksiz.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payload</a:t>
            </a:r>
            <a:r>
              <a:rPr lang="az-Latn-AZ" altLang="en-US" sz="1200">
                <a:latin typeface="Arial" panose="020B0604020202020204" pitchFamily="34" charset="0"/>
              </a:rPr>
              <a:t> sütunundə, </a:t>
            </a:r>
            <a:r>
              <a:rPr lang="az-Latn-AZ" altLang="en-US" sz="1200" b="1">
                <a:latin typeface="Arial" panose="020B0604020202020204" pitchFamily="34" charset="0"/>
              </a:rPr>
              <a:t>JSON</a:t>
            </a:r>
            <a:r>
              <a:rPr lang="az-Latn-AZ" altLang="en-US" sz="1200">
                <a:latin typeface="Arial" panose="020B0604020202020204" pitchFamily="34" charset="0"/>
              </a:rPr>
              <a:t> formatında oxunması çətin olan bir formatda həmin məlumatları görürük. Əgər bu formatı oxunası formata salmaq istəsəniz, online platformalardan istifadə edə bilərsiniz: </a:t>
            </a:r>
            <a:r>
              <a:rPr lang="az-Latn-AZ" altLang="en-US" sz="1200" u="sng">
                <a:solidFill>
                  <a:srgbClr val="00B0F0"/>
                </a:solidFill>
                <a:latin typeface="Arial" panose="020B0604020202020204" pitchFamily="34" charset="0"/>
              </a:rPr>
              <a:t>jsonformatteronline.dev</a:t>
            </a:r>
            <a:r>
              <a:rPr lang="az-Latn-AZ" altLang="en-US" sz="1200">
                <a:latin typeface="Arial" panose="020B0604020202020204" pitchFamily="34" charset="0"/>
              </a:rPr>
              <a:t> kimi.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200">
                <a:latin typeface="Arial" panose="020B0604020202020204" pitchFamily="34" charset="0"/>
              </a:rPr>
              <a:t>Onsuzda bu məlumatlar oxunan formatda olsada belə onu oxuyub nəsə başa düşmək bizə lazım deyil. Çünki biz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queue worker </a:t>
            </a:r>
            <a:r>
              <a:rPr lang="az-Latn-AZ" altLang="en-US" sz="1200">
                <a:latin typeface="Arial" panose="020B0604020202020204" pitchFamily="34" charset="0"/>
              </a:rPr>
              <a:t>istifadə edərək bu cədvəldən </a:t>
            </a:r>
            <a:r>
              <a:rPr lang="az-Latn-AZ" altLang="en-US" sz="1200" b="1">
                <a:latin typeface="Arial" panose="020B0604020202020204" pitchFamily="34" charset="0"/>
              </a:rPr>
              <a:t>job</a:t>
            </a:r>
            <a:r>
              <a:rPr lang="az-Latn-AZ" altLang="en-US" sz="1200">
                <a:latin typeface="Arial" panose="020B0604020202020204" pitchFamily="34" charset="0"/>
              </a:rPr>
              <a:t>-ları götürüb icra edəcəyik. </a:t>
            </a:r>
            <a:r>
              <a:rPr lang="az-Latn-AZ" altLang="en-US" sz="1200" b="1">
                <a:latin typeface="Arial" panose="020B0604020202020204" pitchFamily="34" charset="0"/>
              </a:rPr>
              <a:t>Job</a:t>
            </a:r>
            <a:r>
              <a:rPr lang="az-Latn-AZ" altLang="en-US" sz="1200">
                <a:latin typeface="Arial" panose="020B0604020202020204" pitchFamily="34" charset="0"/>
              </a:rPr>
              <a:t> icra edildikdən sonra </a:t>
            </a:r>
            <a:r>
              <a:rPr lang="az-Latn-AZ" altLang="en-US" sz="1200" b="1">
                <a:latin typeface="Arial" panose="020B0604020202020204" pitchFamily="34" charset="0"/>
              </a:rPr>
              <a:t>JOBS</a:t>
            </a:r>
            <a:r>
              <a:rPr lang="az-Latn-AZ" altLang="en-US" sz="1200">
                <a:latin typeface="Arial" panose="020B0604020202020204" pitchFamily="34" charset="0"/>
              </a:rPr>
              <a:t> cədvəlindəki həmin məlumatlar silinəcək. Bu zaman isə mesajımız göndəriləcək və poçtanı yoxlasaq həmin mesajın gəldiyini görə bilərik.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Gəlin növbəti slaydda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QUEUE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WORKER </a:t>
            </a:r>
            <a:r>
              <a:rPr lang="az-Latn-AZ" altLang="en-US" sz="1200">
                <a:latin typeface="Arial" panose="020B0604020202020204" pitchFamily="34" charset="0"/>
              </a:rPr>
              <a:t>necə çağrılır ona baxaq sonra isə  nə üçün 2 fərqli göndərmə qaydası var və bu qaydalar arasında nə fərq var onu izah edək: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300E7A-4B5E-5896-5700-10C42C806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033696"/>
            <a:ext cx="12192000" cy="18243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CF6BF9-14B7-CB72-8756-DD9ACED89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503" y="1"/>
            <a:ext cx="3583496" cy="290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21F1-8F27-E661-9C91-2A822BCD3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AA8A4-B845-4B2B-D6F1-1F56698C5F0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Queue</a:t>
            </a:r>
            <a:r>
              <a:rPr lang="en-US" altLang="en-US" sz="1300">
                <a:latin typeface="Arial" panose="020B0604020202020204" pitchFamily="34" charset="0"/>
              </a:rPr>
              <a:t> işlətmək üçün: </a:t>
            </a:r>
            <a:r>
              <a:rPr lang="en-US" altLang="en-US" sz="1300" b="1">
                <a:latin typeface="Arial" panose="020B0604020202020204" pitchFamily="34" charset="0"/>
              </a:rPr>
              <a:t>Artisan worker </a:t>
            </a:r>
            <a:r>
              <a:rPr lang="en-US" altLang="en-US" sz="1300">
                <a:latin typeface="Arial" panose="020B0604020202020204" pitchFamily="34" charset="0"/>
              </a:rPr>
              <a:t>açılmalıdır: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2A884-144C-BF58-B3B6-AA2CB6CD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952" y="1940767"/>
            <a:ext cx="9197047" cy="4917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D0AEFD-2E36-DE3A-338B-210C899E9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732582"/>
            <a:ext cx="2114845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35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475D8-3152-D5D0-67BE-6868594E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1DF16-27AD-A819-43A0-3BDE0F25101D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Məsələ ondan ibarətdir ki</a:t>
            </a:r>
            <a:r>
              <a:rPr lang="az-Latn-AZ" altLang="en-US" sz="1300">
                <a:latin typeface="Arial" panose="020B0604020202020204" pitchFamily="34" charset="0"/>
              </a:rPr>
              <a:t>: İstifadəçi </a:t>
            </a:r>
            <a:r>
              <a:rPr lang="az-Latn-AZ" altLang="en-US" sz="1300" b="1">
                <a:solidFill>
                  <a:srgbClr val="00B0F0"/>
                </a:solidFill>
                <a:latin typeface="Arial" panose="020B0604020202020204" pitchFamily="34" charset="0"/>
              </a:rPr>
              <a:t>/send-mail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ünvanına daxil olduqda ona email göndərilsin. Bunun üçün iki yanaşma var.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Birinci Yanaşma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									</a:t>
            </a:r>
            <a:r>
              <a:rPr lang="az-Latn-AZ" altLang="en-US" sz="1300" b="1">
                <a:latin typeface="Arial" panose="020B0604020202020204" pitchFamily="34" charset="0"/>
              </a:rPr>
              <a:t>İkinci Yanaşma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05E2C-149C-64B1-5F5D-A744C36C8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93051"/>
            <a:ext cx="3086531" cy="952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E096E0-7864-433E-5C47-4ABAD5302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858" y="1529014"/>
            <a:ext cx="3248478" cy="981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FC5074-405E-DD23-98ED-694A32D1430D}"/>
              </a:ext>
            </a:extLst>
          </p:cNvPr>
          <p:cNvSpPr txBox="1"/>
          <p:nvPr/>
        </p:nvSpPr>
        <p:spPr>
          <a:xfrm>
            <a:off x="217714" y="3024032"/>
            <a:ext cx="6705600" cy="285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Nə baş verir?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İstifadəçi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/send-mail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linkinə daxil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Laravel dərhal mail göndərməyə çalışır.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Server mail göndərilənə qədər gözləyir.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Sonra istifadəçiyə cavab göstərilir.</a:t>
            </a:r>
          </a:p>
          <a:p>
            <a:endParaRPr lang="az-Latn-AZ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⚠️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Əgər mail göndərilməsi 3-5 saniyə çəkirsə, istifadəçi həmin qədər gözləyir.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Server yüklənə bilər.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8B77B2-B571-8726-4687-881994E52655}"/>
              </a:ext>
            </a:extLst>
          </p:cNvPr>
          <p:cNvSpPr txBox="1"/>
          <p:nvPr/>
        </p:nvSpPr>
        <p:spPr>
          <a:xfrm>
            <a:off x="7704970" y="3024032"/>
            <a:ext cx="4462366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📌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Nə baş verir?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İstifadəçi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/send-mail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linkinə daxil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Laravel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SendMail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 adlı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job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-u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-ya əlavə edir.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İstifadəçi dərhal cavab alır (gecikmə yoxdur).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Mail isə arxa planda (background-da) göndərilir.</a:t>
            </a:r>
          </a:p>
          <a:p>
            <a:endParaRPr lang="az-Latn-AZ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Üstünlüklər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İstifadəçi sürətli cavab alır.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Sistem daha performant olur.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Eyni anda minlərlə email göndərmək mümkün olur</a:t>
            </a:r>
            <a:endParaRPr lang="az-Latn-AZ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260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0782-BF1B-14E6-F892-766F7E5D9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1EAFE2-ECB6-165B-F02A-0709E50F54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Yekun Fərq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649FDB-92EA-A7DD-B08A-5384E13AB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251104"/>
              </p:ext>
            </p:extLst>
          </p:nvPr>
        </p:nvGraphicFramePr>
        <p:xfrm>
          <a:off x="217714" y="1018297"/>
          <a:ext cx="10526487" cy="3049851"/>
        </p:xfrm>
        <a:graphic>
          <a:graphicData uri="http://schemas.openxmlformats.org/drawingml/2006/table">
            <a:tbl>
              <a:tblPr/>
              <a:tblGrid>
                <a:gridCol w="3508829">
                  <a:extLst>
                    <a:ext uri="{9D8B030D-6E8A-4147-A177-3AD203B41FA5}">
                      <a16:colId xmlns:a16="http://schemas.microsoft.com/office/drawing/2014/main" val="3543109707"/>
                    </a:ext>
                  </a:extLst>
                </a:gridCol>
                <a:gridCol w="3508829">
                  <a:extLst>
                    <a:ext uri="{9D8B030D-6E8A-4147-A177-3AD203B41FA5}">
                      <a16:colId xmlns:a16="http://schemas.microsoft.com/office/drawing/2014/main" val="2960316992"/>
                    </a:ext>
                  </a:extLst>
                </a:gridCol>
                <a:gridCol w="3508829">
                  <a:extLst>
                    <a:ext uri="{9D8B030D-6E8A-4147-A177-3AD203B41FA5}">
                      <a16:colId xmlns:a16="http://schemas.microsoft.com/office/drawing/2014/main" val="143985798"/>
                    </a:ext>
                  </a:extLst>
                </a:gridCol>
              </a:tblGrid>
              <a:tr h="928215">
                <a:tc>
                  <a:txBody>
                    <a:bodyPr/>
                    <a:lstStyle/>
                    <a:p>
                      <a:r>
                        <a:rPr lang="en-US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Birbaşa Göndəriş (Mail::send)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Queue ilə Göndəriş (SendMail::dispatch)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117430"/>
                  </a:ext>
                </a:extLst>
              </a:tr>
              <a:tr h="530409">
                <a:tc>
                  <a:txBody>
                    <a:bodyPr/>
                    <a:lstStyle/>
                    <a:p>
                      <a:r>
                        <a:rPr lang="en-US" b="1"/>
                        <a:t>Mail dərhal göndərilir?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Xeyr, arxa planda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627328"/>
                  </a:ext>
                </a:extLst>
              </a:tr>
              <a:tr h="530409">
                <a:tc>
                  <a:txBody>
                    <a:bodyPr/>
                    <a:lstStyle/>
                    <a:p>
                      <a:r>
                        <a:rPr lang="en-US" b="1"/>
                        <a:t>İstifadəçi gözləyir?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Bəli, gözləyir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Xeyr, dərhal cavab alır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167"/>
                  </a:ext>
                </a:extLst>
              </a:tr>
              <a:tr h="530409">
                <a:tc>
                  <a:txBody>
                    <a:bodyPr/>
                    <a:lstStyle/>
                    <a:p>
                      <a:r>
                        <a:rPr lang="en-US" b="1"/>
                        <a:t>Performans necədir?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🔴 Aşağı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🟢 Yüksək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424815"/>
                  </a:ext>
                </a:extLst>
              </a:tr>
              <a:tr h="530409">
                <a:tc>
                  <a:txBody>
                    <a:bodyPr/>
                    <a:lstStyle/>
                    <a:p>
                      <a:r>
                        <a:rPr lang="en-US" b="1"/>
                        <a:t>Böyük sistemlər üçün uyğundur?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Uyğun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Əla uyğundur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028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270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96636-95FB-8379-1524-B9F7999C8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3571E7-04E8-1248-0B10-6DE3D04EEA0D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2-ci yanaşma — yəni </a:t>
            </a:r>
            <a:r>
              <a:rPr lang="en-US" altLang="en-US" sz="1300" b="1">
                <a:latin typeface="Arial" panose="020B0604020202020204" pitchFamily="34" charset="0"/>
              </a:rPr>
              <a:t>Queue</a:t>
            </a:r>
            <a:r>
              <a:rPr lang="en-US" altLang="en-US" sz="1300">
                <a:latin typeface="Arial" panose="020B0604020202020204" pitchFamily="34" charset="0"/>
              </a:rPr>
              <a:t> (növbə) ilə mail göndərilməsi zamanı mail göndərilməzsə nə baş verəcə</a:t>
            </a:r>
            <a:r>
              <a:rPr lang="az-Latn-AZ" altLang="en-US" sz="1300">
                <a:latin typeface="Arial" panose="020B0604020202020204" pitchFamily="34" charset="0"/>
              </a:rPr>
              <a:t>k?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1. ✅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Job Queue-ya Yazılır, Amma Göndərilmir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SendMail::dispatch(); </a:t>
            </a:r>
            <a:r>
              <a:rPr lang="az-Latn-AZ" altLang="en-US" sz="1300">
                <a:latin typeface="Arial" panose="020B0604020202020204" pitchFamily="34" charset="0"/>
              </a:rPr>
              <a:t>job-u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az-Latn-AZ" altLang="en-US" sz="1300">
                <a:latin typeface="Arial" panose="020B0604020202020204" pitchFamily="34" charset="0"/>
              </a:rPr>
              <a:t> cədvəlinə yazır.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php artisan queue:work </a:t>
            </a:r>
            <a:r>
              <a:rPr lang="az-Latn-AZ" altLang="en-US" sz="1300">
                <a:latin typeface="Arial" panose="020B0604020202020204" pitchFamily="34" charset="0"/>
              </a:rPr>
              <a:t>işlədilməyibsə və ya düzgün konfiqurasiya edilməyibsə: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Email heç vaxt göndərilmir.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>
                <a:latin typeface="Arial" panose="020B0604020202020204" pitchFamily="34" charset="0"/>
              </a:rPr>
              <a:t>Amma job </a:t>
            </a:r>
            <a:r>
              <a:rPr lang="az-Latn-AZ" altLang="en-US" sz="1300" b="1">
                <a:latin typeface="Arial" panose="020B0604020202020204" pitchFamily="34" charset="0"/>
              </a:rPr>
              <a:t>jobs</a:t>
            </a:r>
            <a:r>
              <a:rPr lang="az-Latn-AZ" altLang="en-US" sz="1300">
                <a:latin typeface="Arial" panose="020B0604020202020204" pitchFamily="34" charset="0"/>
              </a:rPr>
              <a:t> cədvəlində gözləməyə davam edir.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❗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Queue Worker Xətaya Düşsə (məsələn SMTP bağlantısı uğursuz olsa)</a:t>
            </a:r>
            <a:endParaRPr lang="az-Latn-AZ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Laravel bu zaman aşağıdakı kimi davranır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a) </a:t>
            </a:r>
            <a:r>
              <a:rPr lang="en-US" altLang="en-US" sz="1300" b="1">
                <a:latin typeface="Arial" panose="020B0604020202020204" pitchFamily="34" charset="0"/>
              </a:rPr>
              <a:t>attempts artırılır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Laravel avtomatik olaraq job-u yenidən icra etməyə çalışır (</a:t>
            </a:r>
            <a:r>
              <a:rPr lang="en-US" altLang="en-US" sz="1300" b="1">
                <a:latin typeface="Arial" panose="020B0604020202020204" pitchFamily="34" charset="0"/>
              </a:rPr>
              <a:t>retry</a:t>
            </a:r>
            <a:r>
              <a:rPr lang="en-US" altLang="en-US" sz="1300">
                <a:latin typeface="Arial" panose="020B0604020202020204" pitchFamily="34" charset="0"/>
              </a:rPr>
              <a:t> mexanizmi).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jobs</a:t>
            </a:r>
            <a:r>
              <a:rPr lang="en-US" altLang="en-US" sz="1300">
                <a:latin typeface="Arial" panose="020B0604020202020204" pitchFamily="34" charset="0"/>
              </a:rPr>
              <a:t> cədvəlində </a:t>
            </a:r>
            <a:r>
              <a:rPr lang="en-US" altLang="en-US" sz="1300" b="1">
                <a:latin typeface="Arial" panose="020B0604020202020204" pitchFamily="34" charset="0"/>
              </a:rPr>
              <a:t>attempts</a:t>
            </a:r>
            <a:r>
              <a:rPr lang="en-US" altLang="en-US" sz="1300">
                <a:latin typeface="Arial" panose="020B0604020202020204" pitchFamily="34" charset="0"/>
              </a:rPr>
              <a:t> sütunu hər icra cəhdində artır.</a:t>
            </a:r>
          </a:p>
          <a:p>
            <a:pPr lvl="1"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b) Əgər dəfələrlə uğursuz olarsa – Job "</a:t>
            </a:r>
            <a:r>
              <a:rPr lang="en-US" altLang="en-US" sz="1300" b="1">
                <a:latin typeface="Arial" panose="020B0604020202020204" pitchFamily="34" charset="0"/>
              </a:rPr>
              <a:t>Failed</a:t>
            </a:r>
            <a:r>
              <a:rPr lang="en-US" altLang="en-US" sz="1300">
                <a:latin typeface="Arial" panose="020B0604020202020204" pitchFamily="34" charset="0"/>
              </a:rPr>
              <a:t>" sayılır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4D257-2D8C-56EB-0717-261825741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004" y="5526194"/>
            <a:ext cx="6490996" cy="133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7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D2769-B85A-8DA9-20B9-8E7D7C51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13E6FB-2E4B-9A01-7E93-00BE272273D6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Failed Job Sistemi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istəsəniz Laravel-də uğursuz olan job-lar üçün ayrıca sistem mövcuddur ( mən etmiyəcəm bunu ).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altLang="en-US" sz="1300" b="1">
                <a:latin typeface="Arial" panose="020B0604020202020204" pitchFamily="34" charset="0"/>
              </a:rPr>
              <a:t>Yaratmaq üçün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Bu əmrlər </a:t>
            </a:r>
            <a:r>
              <a:rPr lang="az-Latn-AZ" altLang="en-US" sz="1300" b="1">
                <a:latin typeface="Arial" panose="020B0604020202020204" pitchFamily="34" charset="0"/>
              </a:rPr>
              <a:t>failed_jobs </a:t>
            </a:r>
            <a:r>
              <a:rPr lang="az-Latn-AZ" altLang="en-US" sz="1300">
                <a:latin typeface="Arial" panose="020B0604020202020204" pitchFamily="34" charset="0"/>
              </a:rPr>
              <a:t>adlı cədvəl yaradılır.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altLang="en-US" sz="1300">
                <a:latin typeface="Arial" panose="020B0604020202020204" pitchFamily="34" charset="0"/>
              </a:rPr>
              <a:t>Job uğursuz olduqda </a:t>
            </a:r>
            <a:r>
              <a:rPr lang="en-US" altLang="en-US" sz="1300" b="1">
                <a:latin typeface="Arial" panose="020B0604020202020204" pitchFamily="34" charset="0"/>
              </a:rPr>
              <a:t>avtomatik</a:t>
            </a:r>
            <a:r>
              <a:rPr lang="en-US" altLang="en-US" sz="1300">
                <a:latin typeface="Arial" panose="020B0604020202020204" pitchFamily="34" charset="0"/>
              </a:rPr>
              <a:t> olaraq oraya yazılır.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altLang="en-US" sz="1300">
                <a:latin typeface="Arial" panose="020B0604020202020204" pitchFamily="34" charset="0"/>
              </a:rPr>
              <a:t>Job-u Yenidən İşlətmək (</a:t>
            </a:r>
            <a:r>
              <a:rPr lang="en-US" altLang="en-US" sz="1300" b="1">
                <a:latin typeface="Arial" panose="020B0604020202020204" pitchFamily="34" charset="0"/>
              </a:rPr>
              <a:t>Retry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  <a:r>
              <a:rPr lang="az-Latn-AZ" altLang="en-US" sz="1300">
                <a:latin typeface="Arial" panose="020B0604020202020204" pitchFamily="34" charset="0"/>
              </a:rPr>
              <a:t>. Uğursuz job-u isə belə yenidən işlətmək olar: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8E64A-AA41-4B64-B3BF-0825F92D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34456"/>
            <a:ext cx="2638793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2BFD13-501A-A8E4-3A7F-445D5D1F6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328198"/>
            <a:ext cx="270547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34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69F0-8CDC-A347-4EA5-2AC5E5B8C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C9798C-0DCE-6EE5-F0BD-906D67395CAB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Maksimum cəhd sayı (</a:t>
            </a:r>
            <a:r>
              <a:rPr lang="en-US" altLang="en-US" sz="1300" b="1">
                <a:latin typeface="Arial" panose="020B0604020202020204" pitchFamily="34" charset="0"/>
              </a:rPr>
              <a:t>retry limit</a:t>
            </a:r>
            <a:r>
              <a:rPr lang="en-US" altLang="en-US" sz="1300">
                <a:latin typeface="Arial" panose="020B0604020202020204" pitchFamily="34" charset="0"/>
              </a:rPr>
              <a:t>) hardan təyin olunur?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Əgər siz </a:t>
            </a:r>
            <a:r>
              <a:rPr lang="en-US" altLang="en-US" sz="1300" b="1">
                <a:latin typeface="Arial" panose="020B0604020202020204" pitchFamily="34" charset="0"/>
              </a:rPr>
              <a:t>SendMail</a:t>
            </a:r>
            <a:r>
              <a:rPr lang="en-US" altLang="en-US" sz="1300">
                <a:latin typeface="Arial" panose="020B0604020202020204" pitchFamily="34" charset="0"/>
              </a:rPr>
              <a:t> job-unuzda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public $tries = 3; </a:t>
            </a:r>
            <a:r>
              <a:rPr lang="en-US" altLang="en-US" sz="1300">
                <a:latin typeface="Arial" panose="020B0604020202020204" pitchFamily="34" charset="0"/>
              </a:rPr>
              <a:t>yazsanız, Laravel maksimum 3 dəfə cəhd edəcək: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 b="1" u="sng">
                <a:solidFill>
                  <a:srgbClr val="00B0F0"/>
                </a:solidFill>
                <a:latin typeface="Arial" panose="020B0604020202020204" pitchFamily="34" charset="0"/>
              </a:rPr>
              <a:t>app\Jobs\SendMail.php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83A29-EB1B-67DA-FAE2-45BCA04E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632176"/>
            <a:ext cx="5715798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7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90A8-E220-94A0-13A0-067F96DB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CC0279-BBEE-CCBD-C5DE-2F85C4309255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Nəticə və Məsləhət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Tövsiyələr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.env </a:t>
            </a:r>
            <a:r>
              <a:rPr lang="en-US" altLang="en-US" sz="1300">
                <a:latin typeface="Arial" panose="020B0604020202020204" pitchFamily="34" charset="0"/>
              </a:rPr>
              <a:t>faylınızda </a:t>
            </a:r>
            <a:r>
              <a:rPr lang="en-US" altLang="en-US" sz="1300" b="1">
                <a:latin typeface="Arial" panose="020B0604020202020204" pitchFamily="34" charset="0"/>
              </a:rPr>
              <a:t>mail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queue</a:t>
            </a:r>
            <a:r>
              <a:rPr lang="en-US" altLang="en-US" sz="1300">
                <a:latin typeface="Arial" panose="020B0604020202020204" pitchFamily="34" charset="0"/>
              </a:rPr>
              <a:t> konfiqurasiyaları düzgün olsun</a:t>
            </a:r>
            <a:r>
              <a:rPr lang="az-Latn-AZ" altLang="en-US" sz="1300">
                <a:latin typeface="Arial" panose="020B0604020202020204" pitchFamily="34" charset="0"/>
              </a:rPr>
              <a:t> ( aşağı sağ şəkil )</a:t>
            </a:r>
            <a:r>
              <a:rPr lang="en-US" altLang="en-US" sz="1300">
                <a:latin typeface="Arial" panose="020B0604020202020204" pitchFamily="34" charset="0"/>
              </a:rPr>
              <a:t>.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 b="1">
                <a:latin typeface="Arial" panose="020B0604020202020204" pitchFamily="34" charset="0"/>
              </a:rPr>
              <a:t>Queue worker </a:t>
            </a:r>
            <a:r>
              <a:rPr lang="en-US" altLang="en-US" sz="1300">
                <a:latin typeface="Arial" panose="020B0604020202020204" pitchFamily="34" charset="0"/>
              </a:rPr>
              <a:t>daim işləsin: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7CCAEF-A7B3-C9B0-068D-F4EB12877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42533"/>
              </p:ext>
            </p:extLst>
          </p:nvPr>
        </p:nvGraphicFramePr>
        <p:xfrm>
          <a:off x="217714" y="754241"/>
          <a:ext cx="8077200" cy="2035610"/>
        </p:xfrm>
        <a:graphic>
          <a:graphicData uri="http://schemas.openxmlformats.org/drawingml/2006/table">
            <a:tbl>
              <a:tblPr/>
              <a:tblGrid>
                <a:gridCol w="4617224">
                  <a:extLst>
                    <a:ext uri="{9D8B030D-6E8A-4147-A177-3AD203B41FA5}">
                      <a16:colId xmlns:a16="http://schemas.microsoft.com/office/drawing/2014/main" val="2798131255"/>
                    </a:ext>
                  </a:extLst>
                </a:gridCol>
                <a:gridCol w="3459976">
                  <a:extLst>
                    <a:ext uri="{9D8B030D-6E8A-4147-A177-3AD203B41FA5}">
                      <a16:colId xmlns:a16="http://schemas.microsoft.com/office/drawing/2014/main" val="4234404506"/>
                    </a:ext>
                  </a:extLst>
                </a:gridCol>
              </a:tblGrid>
              <a:tr h="407122">
                <a:tc>
                  <a:txBody>
                    <a:bodyPr/>
                    <a:lstStyle/>
                    <a:p>
                      <a:r>
                        <a:rPr lang="en-US" b="1"/>
                        <a:t>Hal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Laravel-də davranış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416901"/>
                  </a:ext>
                </a:extLst>
              </a:tr>
              <a:tr h="407122">
                <a:tc>
                  <a:txBody>
                    <a:bodyPr/>
                    <a:lstStyle/>
                    <a:p>
                      <a:r>
                        <a:rPr lang="en-US"/>
                        <a:t>Worker işləmirsə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Mail göndərilmir, job gözləyir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236018"/>
                  </a:ext>
                </a:extLst>
              </a:tr>
              <a:tr h="407122">
                <a:tc>
                  <a:txBody>
                    <a:bodyPr/>
                    <a:lstStyle/>
                    <a:p>
                      <a:r>
                        <a:rPr lang="en-US"/>
                        <a:t>Mail server xətası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Laravel yenidən cəhd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477276"/>
                  </a:ext>
                </a:extLst>
              </a:tr>
              <a:tr h="407122">
                <a:tc>
                  <a:txBody>
                    <a:bodyPr/>
                    <a:lstStyle/>
                    <a:p>
                      <a:r>
                        <a:rPr lang="en-US"/>
                        <a:t>Bütün cəhdlər uğursuz olarsa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Job failed_jobs cədvəlinə yazılır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57657"/>
                  </a:ext>
                </a:extLst>
              </a:tr>
              <a:tr h="407122">
                <a:tc>
                  <a:txBody>
                    <a:bodyPr/>
                    <a:lstStyle/>
                    <a:p>
                      <a:r>
                        <a:rPr lang="en-US"/>
                        <a:t>Əllə təkrar işə salmaq mümkündür?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Bəli, queue:retry ilə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35706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21ED870-AA31-4A6A-14C0-1B1385D53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272" y="3340987"/>
            <a:ext cx="2842727" cy="3517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6FD517-A18C-7200-3849-BA216F764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4594022"/>
            <a:ext cx="2200582" cy="581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8B3B0A-A112-2A28-BFEB-1F4BB4B16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5257682"/>
            <a:ext cx="7386735" cy="146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17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644F6-E073-9121-EA7E-681987D0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C5E6C2-C963-1E1C-13B5-12E61A27E7B2}"/>
              </a:ext>
            </a:extLst>
          </p:cNvPr>
          <p:cNvSpPr txBox="1"/>
          <p:nvPr/>
        </p:nvSpPr>
        <p:spPr>
          <a:xfrm>
            <a:off x="217714" y="255046"/>
            <a:ext cx="11756571" cy="6356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z-Latn-AZ" altLang="en-US" sz="1300" b="1">
                <a:solidFill>
                  <a:schemeClr val="accent2"/>
                </a:solidFill>
                <a:latin typeface="Arial" panose="020B0604020202020204" pitchFamily="34" charset="0"/>
              </a:rPr>
              <a:t>Bu slaydda olan və bu slayddan sonrası indilik vacib deyil.... Bunlar həm baş qarışdıran həmdə sonranın mövzularıdır.</a:t>
            </a:r>
            <a:endParaRPr lang="en-US" altLang="en-US" sz="1300" b="1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layihəsini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deploy</a:t>
            </a:r>
            <a:r>
              <a:rPr lang="en-US" altLang="en-US" sz="1300">
                <a:latin typeface="Arial" panose="020B0604020202020204" pitchFamily="34" charset="0"/>
              </a:rPr>
              <a:t> etdikdən sonra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necə idarə olunur və </a:t>
            </a:r>
            <a:r>
              <a:rPr lang="en-US" altLang="en-US" sz="1300" b="1">
                <a:latin typeface="Arial" panose="020B0604020202020204" pitchFamily="34" charset="0"/>
              </a:rPr>
              <a:t>Queue Worker </a:t>
            </a:r>
            <a:r>
              <a:rPr lang="en-US" altLang="en-US" sz="1300">
                <a:latin typeface="Arial" panose="020B0604020202020204" pitchFamily="34" charset="0"/>
              </a:rPr>
              <a:t>necə daimi işlək vəziyyətdə saxlanılır – bu, hər bir peşəkar Laravel developerin bilməli olduğu məsələdir.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1)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Deploy etdikdən sonra Queue Worker istifadə edilirmi?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 b="1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Bəli, mütləq istifadə edilir.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layihənizdə background job-lar (məsələn: email göndərmək, video emalı, bildiriş göndərmək və s.) varsa, </a:t>
            </a:r>
            <a:r>
              <a:rPr lang="en-US" altLang="en-US" sz="1300" b="1">
                <a:latin typeface="Arial" panose="020B0604020202020204" pitchFamily="34" charset="0"/>
              </a:rPr>
              <a:t>queue:work </a:t>
            </a:r>
            <a:r>
              <a:rPr lang="en-US" altLang="en-US" sz="1300">
                <a:latin typeface="Arial" panose="020B0604020202020204" pitchFamily="34" charset="0"/>
              </a:rPr>
              <a:t>mütləq daimi arxa planda işləməlidir. Əks halda Laravel job-u jobs cədvəlinə yazacaq, amma heç vaxt icra olunmayacaq.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2)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Bəs deploy sonrası terminal yoxdur, queue:work necə işləyəcək?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Deploy etdikdən sonra production mühitdə </a:t>
            </a:r>
            <a:r>
              <a:rPr lang="en-US" altLang="en-US" sz="1300" b="1"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avtomatik şəkildə arxa planda işləməlidir.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	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Bunun üçün bir neçə üsul var: </a:t>
            </a:r>
            <a:r>
              <a:rPr lang="az-Latn-AZ" altLang="en-US" sz="1300">
                <a:latin typeface="Arial" panose="020B0604020202020204" pitchFamily="34" charset="0"/>
              </a:rPr>
              <a:t>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539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9F87-BFB8-A1A6-AEE2-CCAD0622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A37A59-37E5-6D6B-2F19-C4BA5C499873}"/>
              </a:ext>
            </a:extLst>
          </p:cNvPr>
          <p:cNvSpPr txBox="1"/>
          <p:nvPr/>
        </p:nvSpPr>
        <p:spPr>
          <a:xfrm>
            <a:off x="217714" y="255046"/>
            <a:ext cx="11756571" cy="4856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1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Supervisor</a:t>
            </a:r>
            <a:r>
              <a:rPr lang="en-US" altLang="en-US" sz="1300">
                <a:latin typeface="Arial" panose="020B0604020202020204" pitchFamily="34" charset="0"/>
              </a:rPr>
              <a:t> (Linux sistemlərdə ən məşhur yol)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Supervisor</a:t>
            </a:r>
            <a:r>
              <a:rPr lang="en-US" altLang="en-US" sz="1300">
                <a:latin typeface="Arial" panose="020B0604020202020204" pitchFamily="34" charset="0"/>
              </a:rPr>
              <a:t> — Linux servis meneceri kimi davranır və arxa planda </a:t>
            </a:r>
            <a:r>
              <a:rPr lang="en-US" altLang="en-US" sz="1300" b="1">
                <a:latin typeface="Arial" panose="020B0604020202020204" pitchFamily="34" charset="0"/>
              </a:rPr>
              <a:t>queue:work </a:t>
            </a:r>
            <a:r>
              <a:rPr lang="en-US" altLang="en-US" sz="1300">
                <a:latin typeface="Arial" panose="020B0604020202020204" pitchFamily="34" charset="0"/>
              </a:rPr>
              <a:t>prosesini avtomatik işlədib, nəzarətdə saxlayır.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2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Laravel Horizon (Redis ilə)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Redis istifadə edirsinizsə, </a:t>
            </a:r>
            <a:r>
              <a:rPr lang="en-US" altLang="en-US" sz="1300" b="1">
                <a:latin typeface="Arial" panose="020B0604020202020204" pitchFamily="34" charset="0"/>
              </a:rPr>
              <a:t>php artisan queue:work </a:t>
            </a:r>
            <a:r>
              <a:rPr lang="en-US" altLang="en-US" sz="1300">
                <a:latin typeface="Arial" panose="020B0604020202020204" pitchFamily="34" charset="0"/>
              </a:rPr>
              <a:t>əvəzinə </a:t>
            </a:r>
            <a:r>
              <a:rPr lang="en-US" altLang="en-US" sz="1300" b="1">
                <a:latin typeface="Arial" panose="020B0604020202020204" pitchFamily="34" charset="0"/>
              </a:rPr>
              <a:t>Horizon</a:t>
            </a:r>
            <a:r>
              <a:rPr lang="en-US" altLang="en-US" sz="1300">
                <a:latin typeface="Arial" panose="020B0604020202020204" pitchFamily="34" charset="0"/>
              </a:rPr>
              <a:t> istifadə etmək çox daha yaxşıdır.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3</a:t>
            </a:r>
            <a:r>
              <a:rPr lang="en-US" altLang="en-US" sz="1300" b="1">
                <a:latin typeface="Arial" panose="020B0604020202020204" pitchFamily="34" charset="0"/>
              </a:rPr>
              <a:t>:</a:t>
            </a:r>
            <a:r>
              <a:rPr lang="en-US" altLang="en-US" sz="1300">
                <a:latin typeface="Arial" panose="020B0604020202020204" pitchFamily="34" charset="0"/>
              </a:rPr>
              <a:t> Systemd Service (Alternativ üsul)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Supervisor və ya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CentOS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>
                <a:latin typeface="Arial" panose="020B0604020202020204" pitchFamily="34" charset="0"/>
              </a:rPr>
              <a:t>yoxdursa, </a:t>
            </a:r>
            <a:r>
              <a:rPr lang="az-Latn-AZ" altLang="en-US" sz="1300">
                <a:latin typeface="Arial" panose="020B0604020202020204" pitchFamily="34" charset="0"/>
              </a:rPr>
              <a:t>onda </a:t>
            </a:r>
            <a:r>
              <a:rPr lang="en-US" altLang="en-US" sz="1300">
                <a:latin typeface="Arial" panose="020B0604020202020204" pitchFamily="34" charset="0"/>
              </a:rPr>
              <a:t>Fedora və s. sistemlərdə isə </a:t>
            </a:r>
            <a:r>
              <a:rPr lang="en-US" altLang="en-US" sz="1300" b="1">
                <a:latin typeface="Arial" panose="020B0604020202020204" pitchFamily="34" charset="0"/>
              </a:rPr>
              <a:t>systemd</a:t>
            </a:r>
            <a:r>
              <a:rPr lang="en-US" altLang="en-US" sz="1300">
                <a:latin typeface="Arial" panose="020B0604020202020204" pitchFamily="34" charset="0"/>
              </a:rPr>
              <a:t> servislə bu işi görmək olur.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Yanaşma 4</a:t>
            </a:r>
            <a:r>
              <a:rPr lang="az-Latn-AZ" altLang="en-US" sz="1300" b="1">
                <a:latin typeface="Arial" panose="020B0604020202020204" pitchFamily="34" charset="0"/>
              </a:rPr>
              <a:t>:</a:t>
            </a:r>
            <a:r>
              <a:rPr lang="az-Latn-AZ" altLang="en-US" sz="1300">
                <a:latin typeface="Arial" panose="020B0604020202020204" pitchFamily="34" charset="0"/>
              </a:rPr>
              <a:t> Queue işlədən </a:t>
            </a:r>
            <a:r>
              <a:rPr lang="az-Latn-AZ" altLang="en-US" sz="1300" b="1">
                <a:latin typeface="Arial" panose="020B0604020202020204" pitchFamily="34" charset="0"/>
              </a:rPr>
              <a:t>Cron Job </a:t>
            </a:r>
            <a:r>
              <a:rPr lang="az-Latn-AZ" altLang="en-US" sz="1300">
                <a:latin typeface="Arial" panose="020B0604020202020204" pitchFamily="34" charset="0"/>
              </a:rPr>
              <a:t>yaratmaq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Əgər siz queue istifadə etmək istəyirsiniz, amma </a:t>
            </a:r>
            <a:r>
              <a:rPr lang="az-Latn-AZ" altLang="en-US" sz="1300" b="1" i="1">
                <a:latin typeface="Arial" panose="020B0604020202020204" pitchFamily="34" charset="0"/>
              </a:rPr>
              <a:t>supervisor</a:t>
            </a:r>
            <a:r>
              <a:rPr lang="az-Latn-AZ" altLang="en-US" sz="1300">
                <a:latin typeface="Arial" panose="020B0604020202020204" pitchFamily="34" charset="0"/>
              </a:rPr>
              <a:t> quraşdıra bilmirsinizsə, </a:t>
            </a:r>
            <a:r>
              <a:rPr lang="az-Latn-AZ" altLang="en-US" sz="1300" b="1">
                <a:latin typeface="Arial" panose="020B0604020202020204" pitchFamily="34" charset="0"/>
              </a:rPr>
              <a:t>Cron Job </a:t>
            </a:r>
            <a:r>
              <a:rPr lang="az-Latn-AZ" altLang="en-US" sz="1300">
                <a:latin typeface="Arial" panose="020B0604020202020204" pitchFamily="34" charset="0"/>
              </a:rPr>
              <a:t>ilə Laravel job-ları periodik işlətmək mümkündür.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55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BC2E5-9E66-533B-197E-99520F91C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B42A5-0089-47F9-F21B-3BD4F1EF0A8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2939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FC83A-4B03-50A3-7D6C-430F6ADD8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16E1A-0C63-354D-4DDC-0FD007E679E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1333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057C-EE0C-8B2A-A98B-3617E69A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6D091-6FEB-843D-5AA9-1AF6E30FAA6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447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1441</Words>
  <Application>Microsoft Office PowerPoint</Application>
  <PresentationFormat>Widescreen</PresentationFormat>
  <Paragraphs>229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386</cp:revision>
  <dcterms:created xsi:type="dcterms:W3CDTF">2025-04-12T11:00:44Z</dcterms:created>
  <dcterms:modified xsi:type="dcterms:W3CDTF">2025-06-05T07:14:18Z</dcterms:modified>
</cp:coreProperties>
</file>