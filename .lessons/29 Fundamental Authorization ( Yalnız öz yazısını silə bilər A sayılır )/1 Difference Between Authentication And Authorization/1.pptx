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5" r:id="rId16"/>
    <p:sldId id="416" r:id="rId17"/>
    <p:sldId id="419" r:id="rId18"/>
    <p:sldId id="42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15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Bu dərs </a:t>
            </a: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(Doğrulama) və </a:t>
            </a: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Authorization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(İcazə) anlayışları haqqında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olacaq.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🔐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Authentication (Doğrulama) nədir?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bu, bir istifadəçinin kim olduğunu müəyyənləşdirmək prosesidir. Sistemdə hər hansı bir istifadəçinin həqiqətən iddia etdiyi şəxs olduğunu sübut etməsi tələb olunur.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🔎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Sadə izah</a:t>
            </a: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Təsəvvür edin, bir binaya daxil olmaq istəyirsiniz. Girişdə sizdən şəxsiyyətinizi sübut etməyinizi istəyirlər – məsələn şəxsiyyət vəsiqənizi göstərirsiniz. Əgər sənəd doğrudursa, sizi tanıyırlar və deyirlər: “Bəli, bu şəxs həqiqətən də odur!”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proses –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adlanır.</a:t>
            </a:r>
            <a:r>
              <a:rPr kumimoji="0" lang="az-Latn-AZ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Authentication nümunələri: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Login və şifrə (ən yayılmış üsul)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OTP – One-Time Password (bir dəfəlik şifrə)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Biometrik məlumatlar – barmaq izi, göz skanı və s.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 ID və ya Voice recognition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Security token və ya Smart card ilə daxilolma</a:t>
            </a:r>
            <a:endParaRPr kumimoji="0" lang="az-Latn-AZ" altLang="en-US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Authentication necə işləyir?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İstifadəçi sistemə giriş etmək istəyir.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İstifadəçi öz kimliyini təqdim edir (məsələn,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username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daxil edir).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 təqdim olunan məlumatları verilənlər bazasında yoxlayır.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uyğunluq varsa, istifadəçi uğurla doğrulanır – artıq sistem onun kim olduğunu bilir.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🛡️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Authorization (İcazə) nədir?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bu, doğrulanan bir istifadəçinin hansı resurslara və əməliyyatlara icazəsi olduğunu müəyyənləşdirən prosesdir.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🔎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Sadə izah: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 artıq binaya daxil olmusunuz (yəni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mərhələsi keçilib). İndi isə siz müəyyən bir otağa daxil olmaq istəyirsiniz. Mühafizəçi sizdən soruşur: “Bu otağa girməyə sənin icazən var?”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sizin icazəniz varsa, daxil ola bilərsiniz. Əgər yoxdursa – giriş qadağandır.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proses –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adlanır.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 nümunələri: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istifadəçilərin bütün məlumatlara çıxışı var, amma normal istifadəçi yalnız öz məlumatlarını görə bilər.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Müəllim qiymətləri redaktə edə bilər, tələbə isə yalnız baxa bilər.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Fayllar üçün: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səlahiyyətləri.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D12C-7868-3F37-CC0D-E36F902C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A6CE76-982A-7899-1D78-9D55C25A7F1C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Authorization necə işləyir?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İstifadəçi artıq uğurla sistemə daxil olub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tamamlanıb).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İstifadəçi müəyyən bir əməliyyat etmək istəyir – məsələn, məlumat silmək.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 onun icazələrinə baxır.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bu əməliyyatı etməyə icazəsi varsa – əməliyyat icra olunur.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icazəsi yoxdursa – sistem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Denied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403 Forbidden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mesajı verir.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89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38611-2668-AD9E-63E0-F81310645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ACB8ED-C9B7-7187-2B50-8C3519B00D6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arasındakı fərqlər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477D28-97EA-69F3-EB86-1E5B59DBA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81132"/>
              </p:ext>
            </p:extLst>
          </p:nvPr>
        </p:nvGraphicFramePr>
        <p:xfrm>
          <a:off x="217714" y="1051660"/>
          <a:ext cx="11756571" cy="3760485"/>
        </p:xfrm>
        <a:graphic>
          <a:graphicData uri="http://schemas.openxmlformats.org/drawingml/2006/table">
            <a:tbl>
              <a:tblPr/>
              <a:tblGrid>
                <a:gridCol w="3038817">
                  <a:extLst>
                    <a:ext uri="{9D8B030D-6E8A-4147-A177-3AD203B41FA5}">
                      <a16:colId xmlns:a16="http://schemas.microsoft.com/office/drawing/2014/main" val="60878096"/>
                    </a:ext>
                  </a:extLst>
                </a:gridCol>
                <a:gridCol w="4358877">
                  <a:extLst>
                    <a:ext uri="{9D8B030D-6E8A-4147-A177-3AD203B41FA5}">
                      <a16:colId xmlns:a16="http://schemas.microsoft.com/office/drawing/2014/main" val="2907142996"/>
                    </a:ext>
                  </a:extLst>
                </a:gridCol>
                <a:gridCol w="4358877">
                  <a:extLst>
                    <a:ext uri="{9D8B030D-6E8A-4147-A177-3AD203B41FA5}">
                      <a16:colId xmlns:a16="http://schemas.microsoft.com/office/drawing/2014/main" val="522601330"/>
                    </a:ext>
                  </a:extLst>
                </a:gridCol>
              </a:tblGrid>
              <a:tr h="607083">
                <a:tc>
                  <a:txBody>
                    <a:bodyPr/>
                    <a:lstStyle/>
                    <a:p>
                      <a:r>
                        <a:rPr lang="en-US" b="1"/>
                        <a:t>Mövzu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Authentication (Doğrulama)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Authorization (İcazə)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27950"/>
                  </a:ext>
                </a:extLst>
              </a:tr>
              <a:tr h="607083">
                <a:tc>
                  <a:txBody>
                    <a:bodyPr/>
                    <a:lstStyle/>
                    <a:p>
                      <a:r>
                        <a:rPr lang="en-US"/>
                        <a:t>Nəyi müəyyən edir?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İstifadəçinin kim olduğunu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İstifadəçinin nələr edə biləcəyini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55847"/>
                  </a:ext>
                </a:extLst>
              </a:tr>
              <a:tr h="607083">
                <a:tc>
                  <a:txBody>
                    <a:bodyPr/>
                    <a:lstStyle/>
                    <a:p>
                      <a:r>
                        <a:rPr lang="en-US"/>
                        <a:t>Nə vaxt həyata keçirilir?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İlk giriş zamanı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Girişdən sonra, əməliyyat zamanı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238816"/>
                  </a:ext>
                </a:extLst>
              </a:tr>
              <a:tr h="607083">
                <a:tc>
                  <a:txBody>
                    <a:bodyPr/>
                    <a:lstStyle/>
                    <a:p>
                      <a:r>
                        <a:rPr lang="en-US"/>
                        <a:t>Məsələn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Sistemdə username/password ilə giriş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Məlumat silmək üçün icazə yoxlanılır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948490"/>
                  </a:ext>
                </a:extLst>
              </a:tr>
              <a:tr h="607083">
                <a:tc>
                  <a:txBody>
                    <a:bodyPr/>
                    <a:lstStyle/>
                    <a:p>
                      <a:r>
                        <a:rPr lang="en-US"/>
                        <a:t>Cavab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"Bu şəxs kimdir?"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"Bu şəxs bu əməliyyatı edə bilərmi?"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090861"/>
                  </a:ext>
                </a:extLst>
              </a:tr>
              <a:tr h="725070">
                <a:tc>
                  <a:txBody>
                    <a:bodyPr/>
                    <a:lstStyle/>
                    <a:p>
                      <a:r>
                        <a:rPr lang="en-US"/>
                        <a:t>Texniki mexanizm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JWT, Session, Biometrika</a:t>
                      </a:r>
                      <a:r>
                        <a:rPr lang="az-Latn-AZ"/>
                        <a:t> ( bu terminlərə indilik fikir vermək lazım deyil 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Role-based Access, ACL, Permissions</a:t>
                      </a:r>
                      <a:r>
                        <a:rPr lang="az-Latn-AZ"/>
                        <a:t> ( bu terminlərə indilik fikir vermək lazım deyil 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698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14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E8F09-502F-DCB7-D362-9CACF050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1B1C3B-76D7-32B4-FC96-5B6104E091E5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Əlavə məsləhətlər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authorization-dan əvvəl gəlir.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İkisi fərqli anlayışlar olsa da, bir-birini tamamlayır.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sistemləri hər ikisini düzgün şəkildə idarə etməlidir.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Bəzən bu proseslər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OAuth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RBAC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(Role-Based Access Control) ilə birlikdə tətbiq edilir.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306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524C-35FC-62DE-41DC-18E38ACB6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907B70-F648-B004-A89D-453C8BC4A2E8}"/>
              </a:ext>
            </a:extLst>
          </p:cNvPr>
          <p:cNvSpPr txBox="1"/>
          <p:nvPr/>
        </p:nvSpPr>
        <p:spPr>
          <a:xfrm>
            <a:off x="217714" y="100060"/>
            <a:ext cx="1175657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Aşağıda JWT, Session-based, Token-based authentication, RBAC və ACL mövzularına bənzər və əlaqəli mövzuların sadəcə adlarını sırayla təqdim edirəm:</a:t>
            </a: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🔐 </a:t>
            </a:r>
            <a:r>
              <a:rPr lang="en-US" sz="90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 və Authorization ilə əlaqəli mövzular (sıralı)</a:t>
            </a:r>
            <a:endParaRPr lang="az-Latn-AZ" sz="900" b="1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900" b="1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Session-based Authentication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Token-based Authentication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JWT (JSON Web Token)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OAuth 2.0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OpenID Connect (OIDC)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SAML (Security Assertion Markup Language)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Basic Authentication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Digest Authentication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Multi-Factor Authentication (MFA)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Two-Factor Authentication (2FA)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Single Sign-On (SSO)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Biometric Authentication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API Key Authentication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HMAC (Hash-based Message Authentication Code)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Certificate-based Authentication (X.509)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LDAP Authentication (Lightweight Directory Access Protocol)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RBAC (Role-Based Access Control)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ABAC (Attribute-Based Access Control)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PBAC (Policy-Based Access Control)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ACL (Access Control List)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Permission Matrix / Access Matrix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CAPTCHA &amp; reCAPTCHA (Bot protection)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SSRF, CSRF və XSS tokenlərlə mübarizə mexanizmləri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Session Hijacking &amp; Session Fixation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Token Expiration &amp; Refresh Tokens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Scope-based Authorization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Claims-based Identity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Trust Relationships between identity providers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Federated Identity Management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Access Tokens vs ID Tokens (OpenID)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Stateless vs Stateful Authentication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Client Credentials Flow (OAuth2)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Implicit, Authorization Code &amp; PKCE flows (OAuth2 variants)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Security Context &amp; Principal Concepts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Custom Guards and Policies (Laravel context)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Security Headers (Authorization header, Bearer token)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Token Revocation &amp; Blacklisting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Access Token Storage (Cookies vs Local Storage)</a:t>
            </a:r>
            <a:endParaRPr lang="az-Latn-AZ" sz="9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30188">
              <a:buFont typeface="+mj-lt"/>
              <a:buAutoNum type="arabicPeriod"/>
            </a:pPr>
            <a:endParaRPr lang="az-Latn-AZ" sz="9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9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Bir layihə üzərində işləyərkən bu 3</a:t>
            </a:r>
            <a:r>
              <a:rPr lang="az-Latn-AZ" sz="90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 mövzunun hamısını tətbiq etmək </a:t>
            </a:r>
            <a:r>
              <a:rPr lang="en-US" sz="90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nə mümkün</a:t>
            </a: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, nə də </a:t>
            </a:r>
            <a:r>
              <a:rPr lang="en-US" sz="90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zəruridir</a:t>
            </a: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. Əksinə, bunların çoxu eyni məqsəd üçün fərqli yanaşmalardır – yəni bənzər və ya alternativ texnologiyalardır.</a:t>
            </a:r>
          </a:p>
        </p:txBody>
      </p:sp>
    </p:spTree>
    <p:extLst>
      <p:ext uri="{BB962C8B-B14F-4D97-AF65-F5344CB8AC3E}">
        <p14:creationId xmlns:p14="http://schemas.microsoft.com/office/powerpoint/2010/main" val="3859814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7C0F-9C0B-EA85-6C94-84B2F6B4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88D16D-4BC2-D449-63A0-E37EBBCBC179}"/>
              </a:ext>
            </a:extLst>
          </p:cNvPr>
          <p:cNvSpPr txBox="1"/>
          <p:nvPr/>
        </p:nvSpPr>
        <p:spPr>
          <a:xfrm>
            <a:off x="217714" y="255046"/>
            <a:ext cx="11756571" cy="645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Aşağıda bu siyahını praktiki istifadəyə görə qruplaşdırıram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1. Tətbiq zamanı mütləq nəzərə alınmalı əsas mövzular (lazımlıdır) 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anlayışlar hər bir ciddi layihədə ya birbaşa istifadə olunur, ya da tətbiqin təhlükəsizliyində əsas rol oynayır: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Session-based Authentication – Web app-larda çox istifadə olunur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Token-based Authentication – API-lər üçün daha uyğundur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 (JSON Web Token) – Token əsaslı auth üçün geniş istifadə edilir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RBAC (Role-Based Access Control) – İstifadəçi rolları və icazə sistemi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ACL (Access Control List) – Fərdi icazələrin daha detallı idarəsi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Permission Matrix / Access Matrix – RBAC və ACL modellərinin tətbiqi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 Expiration &amp; Refresh Tokens – Token əsaslı sistemlər üçün vacibdir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Multi-Factor Authentication (MFA) – Xüsusilə təhlükəsizlik vacibdirsə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 Hijacking &amp; Fixation – Təhlükəsizlik baxımından qorunmalıdır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Headers (Authorization header, Bearer token) – API auth üçün vacibdir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573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31446-61AB-C680-B7B2-F6E6CDCD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0BA72B-3606-6E2D-7EE2-6D8EB23B8013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2. Eyni funksiyanı görən, alternativ olan və layihəyə görə biri seçilənlər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bölmədəki anlayışlardan yalnız biri və ya bəziləri istifadə edilir — birləşdirmək əksər hallarda ehtiyac deyil: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üsullardan layihənin ehtiyacına görə 1-2-si seçilməlidir, eyni anda istifadə olunmur.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növləri (birləşmir, biri seçilir):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Session-based Authentication ✅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Token-based Authentication ✅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 ✅ (Token əsaslı auth üçün istifadə olunur)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Authentication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Digest Authentication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Key Authentication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Biometric Authentication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Certificate-based Authentication (X.509)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LDAP Authentication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**HMAC (Token integrity üçün əlavə qat)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188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6FC02-450C-A2DB-AF59-FABBF84F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F17C79-E043-D208-E2B6-A16EE989DD4E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1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 növləri (eyni anda tətbiq olunmur):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 növləri (eyni anda tətbiq olunmur): Əgər RBAC istifadə edirsinizsə, eyni anda ABAC və PBAC tətbiq etmək lazım deyil. Əgər daha dinamik sistemdirsə – ABAC seçilir.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RBAC (Role-Based) ✅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ACL (Access Control List) ✅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ABAC (Attribute-Based)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PBAC (Policy-Based)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Scope-based Authorization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93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6AF7-8699-CA6D-6801-5395D27B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FC5A74-6278-B4CB-A1A4-02ECBF7172C5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3. Sistemlə inteqrasiya ehtiyacına görə istifadə olunanlar (xüsusi hallarda)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OAuth 2.0 – 3-cü tərəf login (Google, Facebook login)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OpenID Connect (OIDC) – OAuth-un identity əlavə edən versiyası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SAML – Enterprise sistemlərdə login üçün (məs. korporativ SSO)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Sign-On (SSO) – Bir dəfə login, hər yerdə giriş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 Identity Management – Bir neçə servis arasında identifikasiya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texnologiyalar üçüncü tərəf sistemlərlə inteqrasiyada və enterprise layihələrdə lazımdır. Kiçik layihələrdə şərt deyil.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92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D3A8-BDF4-CB95-661B-2C0003DA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A8C1FB-C44B-76CC-FDAC-7BF36C3C3C32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Təhlükəsizlik və UX üçün əlavə mexanizmlər (lazım olduqda)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Two-Factor Authentication (2FA) ✅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CAPTCHA &amp; reCAPTCHA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Relationships between providers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Token Storage (Cookies vs Local Storage) ✅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 Revocation &amp; Blacklisting ✅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Claims-based Identity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Context &amp; Principal Concepts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Guards and Policies (Laravel, Django və s. çərçivələr üçün) ✅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Bunlar layihənin ölçüsünə və təhlükəsizlik səviyyəsinə görə əlavə olunur.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6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5B25-2F4A-3794-8B02-C50D43A8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ADD22A-82E4-9C06-2631-78460637DAD3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5. Kiçik və orta layihələrdə çox vaxt ehtiyac olmayan və ya alternativi olanlar</a:t>
            </a:r>
            <a:endParaRPr kumimoji="0" lang="az-Latn-AZ" altLang="en-US" sz="1300" b="1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texnologiyalar əsasən enterprise, dəyişkən icazə modelləri, və ya kompleks identifikasiya üçün nəzərdə tutulur: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ABAC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PBAC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 Identity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Relationships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HMAC (əlavə təhlükəsizlik qatıdır, əsas auth mexanizmi deyil)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171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2129-6356-E7DB-BC49-8EFB708CE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46E81D-11E0-6B9B-B370-845515246631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 olaraq: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Layihəyə görə təxminən bu qədər seçilməlidir: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üçün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 üsul seçilir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 üçün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 model seçilir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Əlavə təhlükəsizlik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ehtiyac varsa əlavə olunur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İnteqrasiya ehtiyacına görə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OAuth2, OIDC, SSO əlavə oluna bilər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255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7590-E2D9-8ABE-C302-BEF11A7C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9A9641-17B1-A3E9-F55E-E57F7DD4291A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Fərqli tip layihələr (məsələn: </a:t>
            </a:r>
            <a:r>
              <a:rPr lang="az-Latn-AZ" altLang="en-US" sz="1300" b="1">
                <a:latin typeface="Arial" panose="020B0604020202020204" pitchFamily="34" charset="0"/>
              </a:rPr>
              <a:t>blog saytı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bank sistemi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SaaS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e-ticarət </a:t>
            </a:r>
            <a:r>
              <a:rPr lang="az-Latn-AZ" altLang="en-US" sz="1300">
                <a:latin typeface="Arial" panose="020B0604020202020204" pitchFamily="34" charset="0"/>
              </a:rPr>
              <a:t>və s.) üçün </a:t>
            </a:r>
            <a:r>
              <a:rPr lang="az-Latn-AZ" altLang="en-US" sz="1300" b="1">
                <a:latin typeface="Arial" panose="020B0604020202020204" pitchFamily="34" charset="0"/>
              </a:rPr>
              <a:t>optimal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auth</a:t>
            </a:r>
            <a:r>
              <a:rPr lang="az-Latn-AZ" altLang="en-US" sz="1300">
                <a:latin typeface="Arial" panose="020B0604020202020204" pitchFamily="34" charset="0"/>
              </a:rPr>
              <a:t> &amp; </a:t>
            </a:r>
            <a:r>
              <a:rPr lang="az-Latn-AZ" altLang="en-US" sz="1300" b="1">
                <a:latin typeface="Arial" panose="020B0604020202020204" pitchFamily="34" charset="0"/>
              </a:rPr>
              <a:t>auth texnologiyası </a:t>
            </a:r>
            <a:r>
              <a:rPr lang="az-Latn-AZ" altLang="en-US" sz="1300">
                <a:latin typeface="Arial" panose="020B0604020202020204" pitchFamily="34" charset="0"/>
              </a:rPr>
              <a:t>seçilə bilər.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Layihə Tipinə görə Optimal Authentication &amp; Authorization Texnologiyaları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24619A-44D6-5B90-1EA0-FFB79FC30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997725"/>
              </p:ext>
            </p:extLst>
          </p:nvPr>
        </p:nvGraphicFramePr>
        <p:xfrm>
          <a:off x="124691" y="1342236"/>
          <a:ext cx="11942616" cy="5212773"/>
        </p:xfrm>
        <a:graphic>
          <a:graphicData uri="http://schemas.openxmlformats.org/drawingml/2006/table">
            <a:tbl>
              <a:tblPr/>
              <a:tblGrid>
                <a:gridCol w="2443018">
                  <a:extLst>
                    <a:ext uri="{9D8B030D-6E8A-4147-A177-3AD203B41FA5}">
                      <a16:colId xmlns:a16="http://schemas.microsoft.com/office/drawing/2014/main" val="1873431124"/>
                    </a:ext>
                  </a:extLst>
                </a:gridCol>
                <a:gridCol w="1537854">
                  <a:extLst>
                    <a:ext uri="{9D8B030D-6E8A-4147-A177-3AD203B41FA5}">
                      <a16:colId xmlns:a16="http://schemas.microsoft.com/office/drawing/2014/main" val="161959147"/>
                    </a:ext>
                  </a:extLst>
                </a:gridCol>
                <a:gridCol w="1990436">
                  <a:extLst>
                    <a:ext uri="{9D8B030D-6E8A-4147-A177-3AD203B41FA5}">
                      <a16:colId xmlns:a16="http://schemas.microsoft.com/office/drawing/2014/main" val="4134162904"/>
                    </a:ext>
                  </a:extLst>
                </a:gridCol>
                <a:gridCol w="1990436">
                  <a:extLst>
                    <a:ext uri="{9D8B030D-6E8A-4147-A177-3AD203B41FA5}">
                      <a16:colId xmlns:a16="http://schemas.microsoft.com/office/drawing/2014/main" val="1555685713"/>
                    </a:ext>
                  </a:extLst>
                </a:gridCol>
                <a:gridCol w="1990436">
                  <a:extLst>
                    <a:ext uri="{9D8B030D-6E8A-4147-A177-3AD203B41FA5}">
                      <a16:colId xmlns:a16="http://schemas.microsoft.com/office/drawing/2014/main" val="3492427006"/>
                    </a:ext>
                  </a:extLst>
                </a:gridCol>
                <a:gridCol w="1990436">
                  <a:extLst>
                    <a:ext uri="{9D8B030D-6E8A-4147-A177-3AD203B41FA5}">
                      <a16:colId xmlns:a16="http://schemas.microsoft.com/office/drawing/2014/main" val="3012974022"/>
                    </a:ext>
                  </a:extLst>
                </a:gridCol>
              </a:tblGrid>
              <a:tr h="35159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Layihə Tipi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Authentication Metodu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Authorization Modeli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Əlavə Təhlükəsizlik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3-cü Tərəf Login / SSO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Qeydlər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917673"/>
                  </a:ext>
                </a:extLst>
              </a:tr>
              <a:tr h="525453">
                <a:tc>
                  <a:txBody>
                    <a:bodyPr/>
                    <a:lstStyle/>
                    <a:p>
                      <a:r>
                        <a:rPr lang="en-US" sz="1100" b="1"/>
                        <a:t>Blog Saytı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Session-based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RBAC (Admin / Editor / User)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CSRF Protection, CAPTCHA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Tələb olunmur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Sadə sistem, əsas fokus sadəcə kontentin idarə olunmasıdır.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267864"/>
                  </a:ext>
                </a:extLst>
              </a:tr>
              <a:tr h="426930">
                <a:tc>
                  <a:txBody>
                    <a:bodyPr/>
                    <a:lstStyle/>
                    <a:p>
                      <a:r>
                        <a:rPr lang="en-US" sz="1100" b="1"/>
                        <a:t>E-Ticarət Saytı (Shop)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JWT + Refresh Token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RBAC (Customer / Admin)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2FA (Admin üçün), Token Expiry, HTTPS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OAuth2 (Google login opsiyaları)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Müştəri hesabları və admin panel fərqləndirilir.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605530"/>
                  </a:ext>
                </a:extLst>
              </a:tr>
              <a:tr h="525453">
                <a:tc>
                  <a:txBody>
                    <a:bodyPr/>
                    <a:lstStyle/>
                    <a:p>
                      <a:r>
                        <a:rPr lang="en-US" sz="1100" b="1"/>
                        <a:t>Admin Panel (CMS, ERP)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Session-based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RBAC + Optional ACL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MFA, IP restriction, Activity logs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OIDC / LDAP (korporativ)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Tək adminlər və ya işçi hesabları üçün təhlükəsizlik vacibdir.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332046"/>
                  </a:ext>
                </a:extLst>
              </a:tr>
              <a:tr h="409879">
                <a:tc>
                  <a:txBody>
                    <a:bodyPr/>
                    <a:lstStyle/>
                    <a:p>
                      <a:r>
                        <a:rPr lang="en-US" sz="1100" b="1"/>
                        <a:t>Mobil Tətbiq + API Backend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JWT (Stateless)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Scope-based Access Control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Token Revocation, Refresh Tokens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OAuth2 / Firebase Auth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Mobil üçün ideal yanaşma – token əsaslı və yüngül.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892787"/>
                  </a:ext>
                </a:extLst>
              </a:tr>
              <a:tr h="525453">
                <a:tc>
                  <a:txBody>
                    <a:bodyPr/>
                    <a:lstStyle/>
                    <a:p>
                      <a:r>
                        <a:rPr lang="en-US" sz="1100" b="1"/>
                        <a:t>Banking / FinTech Sistemi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JWT + Device Fingerprint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ABAC (Hesab növləri, risk səviyyəsi)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MFA, Risk-based Auth, Biometrika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SAML / OIDC (Enterprise login)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Yüksək təhlükəsizlik – dinamik icazələr, audit logging mütləqdir.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464395"/>
                  </a:ext>
                </a:extLst>
              </a:tr>
              <a:tr h="525453">
                <a:tc>
                  <a:txBody>
                    <a:bodyPr/>
                    <a:lstStyle/>
                    <a:p>
                      <a:r>
                        <a:rPr lang="en-US" sz="1100" b="1"/>
                        <a:t>Edu Platform (Moodle, LMS)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Session-based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RBAC (Student / Teacher / Admin)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CAPTCHA, Email Verification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Google / Microsoft SSO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Tələbə və müəllimlər üçün fərqli səlahiyyətlər, sadə inteqrasiya.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569074"/>
                  </a:ext>
                </a:extLst>
              </a:tr>
              <a:tr h="426930">
                <a:tc>
                  <a:txBody>
                    <a:bodyPr/>
                    <a:lstStyle/>
                    <a:p>
                      <a:r>
                        <a:rPr lang="en-US" sz="1100" b="1"/>
                        <a:t>SaaS Platform (CRM, Analytics və s.)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JWT + Refresh Token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RBAC + Optional ACL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MFA, Rate Limiting, Audit Trails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SSO (SAML / OIDC)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Müştəri bazalı çoxistifadəçili sistemlər üçün ideal struktur.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327446"/>
                  </a:ext>
                </a:extLst>
              </a:tr>
              <a:tr h="426930">
                <a:tc>
                  <a:txBody>
                    <a:bodyPr/>
                    <a:lstStyle/>
                    <a:p>
                      <a:r>
                        <a:rPr lang="en-US" sz="1100" b="1"/>
                        <a:t>Forum və İcma Platformaları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Session-based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RBAC (User / Moderator / Admin)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Email doğrulama, CAPTCHA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Google/Facebook OAuth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Sadə sistem – əsas fokus istifadəçi və kontentdir.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438674"/>
                  </a:ext>
                </a:extLst>
              </a:tr>
              <a:tr h="426930">
                <a:tc>
                  <a:txBody>
                    <a:bodyPr/>
                    <a:lstStyle/>
                    <a:p>
                      <a:r>
                        <a:rPr lang="en-US" sz="1100" b="1"/>
                        <a:t>IoT Platforması və ya Microservice sistemi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API Key / JWT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Service-level access control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HMAC, IP Whitelisting, Secure Channels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Tələb olunmur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İnsan istifadəçisi yoxdur – sistemlər arası rabitə.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698303"/>
                  </a:ext>
                </a:extLst>
              </a:tr>
              <a:tr h="598398">
                <a:tc>
                  <a:txBody>
                    <a:bodyPr/>
                    <a:lstStyle/>
                    <a:p>
                      <a:r>
                        <a:rPr lang="en-US" sz="1100" b="1"/>
                        <a:t>Enterprise Şirkət Sistemi (HR, DMS və s.)</a:t>
                      </a:r>
                      <a:endParaRPr lang="en-US" sz="1100"/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LDAP / SAML / OIDC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PBAC / ABAC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MFA, Device Trust, Compliance logging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SSO (Active Directory, Azure AD)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Korporativ mühitdə istifadə olunur – kompleks giriş siyasətləri.</a:t>
                      </a:r>
                    </a:p>
                  </a:txBody>
                  <a:tcPr marL="29204" marR="29204" marT="14602" marB="146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053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263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B4B2-EA1A-CD01-6B73-84E7E6713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00A15B-C57D-1A52-3397-62B3448634E7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Əsas Tövsiyələr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Kiçik layihələr üçün sadə Session-based auth və RBAC kifayətdir.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API və mobil tətbiqlərdə JWT və Refresh Tokens əsas seçimdir.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Çox istifadəçili SaaS sistemlərində RBAC + ACL + MFA birlikdə istifadə edilməlidir.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Enterprise sistemlərdə identifikasiya və səlahiyyətlərə daha ciddi yanaşılır – SSO, ABAC, SAML tətbiq olunur.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Hər zaman HTTPS, token expiration, rate limiting, və loglama kimi əlavə qoruma qatları tətbiq olunmalıdır.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01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16204-3B63-0B5E-C912-EC6921CA6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369F42-9977-4569-0F4D-F4F65AC8A43D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025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D9248-BEAB-07A7-F86F-8266FD75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3A88B9-3C59-D8FC-E3BA-D2EB0067E2E1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069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1799</Words>
  <Application>Microsoft Office PowerPoint</Application>
  <PresentationFormat>Widescreen</PresentationFormat>
  <Paragraphs>294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357</cp:revision>
  <dcterms:created xsi:type="dcterms:W3CDTF">2025-04-12T11:00:44Z</dcterms:created>
  <dcterms:modified xsi:type="dcterms:W3CDTF">2025-06-01T17:49:47Z</dcterms:modified>
</cp:coreProperties>
</file>