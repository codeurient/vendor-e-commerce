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6" r:id="rId6"/>
    <p:sldId id="407" r:id="rId7"/>
    <p:sldId id="408" r:id="rId8"/>
    <p:sldId id="405" r:id="rId9"/>
    <p:sldId id="409" r:id="rId10"/>
    <p:sldId id="411" r:id="rId11"/>
    <p:sldId id="414" r:id="rId12"/>
    <p:sldId id="412" r:id="rId13"/>
    <p:sldId id="413" r:id="rId14"/>
    <p:sldId id="4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USERS</a:t>
            </a:r>
            <a:r>
              <a:rPr lang="az-Latn-AZ" altLang="en-US" sz="1300">
                <a:latin typeface="Arial" panose="020B0604020202020204" pitchFamily="34" charset="0"/>
              </a:rPr>
              <a:t> modelinə yeni </a:t>
            </a:r>
            <a:r>
              <a:rPr lang="az-Latn-AZ" altLang="en-US" sz="1300" b="1">
                <a:latin typeface="Arial" panose="020B0604020202020204" pitchFamily="34" charset="0"/>
              </a:rPr>
              <a:t>sütun</a:t>
            </a:r>
            <a:r>
              <a:rPr lang="az-Latn-AZ" altLang="en-US" sz="1300">
                <a:latin typeface="Arial" panose="020B0604020202020204" pitchFamily="34" charset="0"/>
              </a:rPr>
              <a:t> əlavə edəcəyik.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31787-74D3-DEF4-5307-FF9AF382A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922"/>
            <a:ext cx="9335803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482534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Sütunun adı `</a:t>
            </a:r>
            <a:r>
              <a:rPr lang="az-Latn-AZ" altLang="en-US" sz="1300" b="1">
                <a:latin typeface="Arial" panose="020B0604020202020204" pitchFamily="34" charset="0"/>
              </a:rPr>
              <a:t>is_admin</a:t>
            </a:r>
            <a:r>
              <a:rPr lang="az-Latn-AZ" altLang="en-US" sz="1300">
                <a:latin typeface="Arial" panose="020B0604020202020204" pitchFamily="34" charset="0"/>
              </a:rPr>
              <a:t>` -dir.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cədvəli </a:t>
            </a:r>
            <a:r>
              <a:rPr lang="az-Latn-AZ" altLang="en-US" sz="1300" b="1">
                <a:latin typeface="Arial" panose="020B0604020202020204" pitchFamily="34" charset="0"/>
              </a:rPr>
              <a:t>MİGRATE</a:t>
            </a:r>
            <a:r>
              <a:rPr lang="az-Latn-AZ" altLang="en-US" sz="1300">
                <a:latin typeface="Arial" panose="020B0604020202020204" pitchFamily="34" charset="0"/>
              </a:rPr>
              <a:t> edirik ki, həmin </a:t>
            </a:r>
            <a:r>
              <a:rPr lang="az-Latn-AZ" altLang="en-US" sz="1300" b="1">
                <a:latin typeface="Arial" panose="020B0604020202020204" pitchFamily="34" charset="0"/>
              </a:rPr>
              <a:t>sütun</a:t>
            </a:r>
            <a:r>
              <a:rPr lang="az-Latn-AZ" altLang="en-US" sz="1300">
                <a:latin typeface="Arial" panose="020B0604020202020204" pitchFamily="34" charset="0"/>
              </a:rPr>
              <a:t> bu </a:t>
            </a:r>
            <a:r>
              <a:rPr lang="az-Latn-AZ" altLang="en-US" sz="1300" b="1">
                <a:latin typeface="Arial" panose="020B0604020202020204" pitchFamily="34" charset="0"/>
              </a:rPr>
              <a:t>cədvələ</a:t>
            </a:r>
            <a:r>
              <a:rPr lang="az-Latn-AZ" altLang="en-US" sz="1300">
                <a:latin typeface="Arial" panose="020B0604020202020204" pitchFamily="34" charset="0"/>
              </a:rPr>
              <a:t> yazılsın.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6F15F-9AD5-65BF-6667-2909BE273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437" y="0"/>
            <a:ext cx="6899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Default</a:t>
            </a:r>
            <a:r>
              <a:rPr lang="az-Latn-AZ" altLang="en-US" sz="1300">
                <a:latin typeface="Arial" panose="020B0604020202020204" pitchFamily="34" charset="0"/>
              </a:rPr>
              <a:t> olaraq </a:t>
            </a:r>
            <a:r>
              <a:rPr lang="az-Latn-AZ" altLang="en-US" sz="1300" b="1">
                <a:latin typeface="Arial" panose="020B0604020202020204" pitchFamily="34" charset="0"/>
              </a:rPr>
              <a:t>is_admin </a:t>
            </a:r>
            <a:r>
              <a:rPr lang="az-Latn-AZ" altLang="en-US" sz="1300">
                <a:latin typeface="Arial" panose="020B0604020202020204" pitchFamily="34" charset="0"/>
              </a:rPr>
              <a:t>sütunun dəyəri </a:t>
            </a:r>
            <a:r>
              <a:rPr lang="az-Latn-AZ" altLang="en-US" sz="1300" b="1">
                <a:latin typeface="Arial" panose="020B0604020202020204" pitchFamily="34" charset="0"/>
              </a:rPr>
              <a:t>0</a:t>
            </a:r>
            <a:r>
              <a:rPr lang="az-Latn-AZ" altLang="en-US" sz="1300">
                <a:latin typeface="Arial" panose="020B0604020202020204" pitchFamily="34" charset="0"/>
              </a:rPr>
              <a:t> -dır.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19DFD0-968D-62B0-9BE4-06CF56E9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5162"/>
            <a:ext cx="12192000" cy="29791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6A16-C7E6-845B-7059-4CC27B60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A97E68-60F9-6BC3-A23B-A0E1FAA34597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>
                <a:latin typeface="Arial" panose="020B0604020202020204" pitchFamily="34" charset="0"/>
              </a:rPr>
              <a:t>isə, `</a:t>
            </a:r>
            <a:r>
              <a:rPr lang="az-Latn-AZ" altLang="en-US" sz="1300" b="1" i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` -dəki </a:t>
            </a:r>
            <a:r>
              <a:rPr lang="en-US" altLang="en-US" sz="1300">
                <a:latin typeface="Arial" panose="020B0604020202020204" pitchFamily="34" charset="0"/>
              </a:rPr>
              <a:t>middleware </a:t>
            </a:r>
            <a:r>
              <a:rPr lang="az-Latn-AZ" altLang="en-US" sz="1300">
                <a:latin typeface="Arial" panose="020B0604020202020204" pitchFamily="34" charset="0"/>
              </a:rPr>
              <a:t>üçün istifadə edilən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__construct()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 kommentə alırıq ki, digər bütün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şablonlar problemsiz açılsın. Əks halda aşağıdakı kimi 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unavailable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şablonu ilə üzləşərdik.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3A32A-A699-394E-32D2-202CC2877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728" y="0"/>
            <a:ext cx="6068272" cy="3924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525EA5-DA8C-335E-9961-489E77247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5" y="4629143"/>
            <a:ext cx="7992590" cy="21624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10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54131-212D-5763-8501-CA7F74C05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9EB86-98D4-638C-19CC-8BA9766A5BBD}"/>
              </a:ext>
            </a:extLst>
          </p:cNvPr>
          <p:cNvSpPr txBox="1"/>
          <p:nvPr/>
        </p:nvSpPr>
        <p:spPr>
          <a:xfrm>
            <a:off x="217714" y="255046"/>
            <a:ext cx="11756571" cy="6287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Gate əsaslı Authorization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mövzusunu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izahına keçə bilərik.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Dərs: Laravel Gate ilə Authorization – (Giriş Səviyyəsində İcazələrin İdarəsi)</a:t>
            </a:r>
            <a:endParaRPr kumimoji="0" lang="az-Latn-AZ" altLang="en-US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Məqsəd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dərsdə öyrənəcəyik: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nədir və nə üçün istifadə olunur?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-lərin harada və necə tanımlandığını.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İcazələrin (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authorize()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controller içində necə yoxlanıldığını.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həyatdan nümunə ilə: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create_post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edit_post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delete_post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icazələrinin idarə olunması.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1. Authorization nədir və Gate nə edir?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bir istifadəçinin müəyyən əməliyyatı (məsələn: post yaratmaq, redaktə etmək, silmək) icra etməyə ixtiyarı olub olmadığını yoxlamaqdır.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Laravel-də bu yoxlamaları aparmaq üçün funksional və yüngül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 mexanizmidir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-lər sadə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true/false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qaytaran şərtlər əsasında işləyir.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Auth::user()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məlumatı əsasında qərar verir.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98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0C9C-4EB4-2F16-8ACA-664C4601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4D3353-4A14-9999-7740-C455339616D1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2. Gate-lərin Təyini – AuthServiceProvider.php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-lər adətən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AuthServiceProvider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faylında təyin edilir: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📁 Yol: 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app\Providers\AuthServiceProvider.php</a:t>
            </a:r>
            <a:endParaRPr kumimoji="0" lang="az-Latn-AZ" altLang="en-US" sz="1300" b="0" i="0" u="sng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22211-F4C2-F6A9-A041-FEF95178D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1164"/>
            <a:ext cx="3004688" cy="4936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ED60BA-F9B1-8E15-1A9D-17A866808769}"/>
              </a:ext>
            </a:extLst>
          </p:cNvPr>
          <p:cNvSpPr txBox="1"/>
          <p:nvPr/>
        </p:nvSpPr>
        <p:spPr>
          <a:xfrm>
            <a:off x="3528291" y="4540851"/>
            <a:ext cx="84459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Nə baş verir burada?</a:t>
            </a:r>
            <a:endParaRPr lang="az-Latn-AZ" sz="1600" b="1"/>
          </a:p>
          <a:p>
            <a:endParaRPr 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Biz </a:t>
            </a:r>
            <a:r>
              <a:rPr lang="en-US" sz="1600" b="1"/>
              <a:t>Gate::define('gate_adi', function(){ ... }) </a:t>
            </a:r>
            <a:r>
              <a:rPr lang="en-US" sz="1600"/>
              <a:t>ilə 3 fərqli icazə qaydası yaradırıq.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Hər birində return </a:t>
            </a:r>
            <a:r>
              <a:rPr lang="en-US" sz="1600" b="1"/>
              <a:t>Auth::user()-&gt;is_admin </a:t>
            </a:r>
            <a:r>
              <a:rPr lang="en-US" sz="1600"/>
              <a:t>– yəni, yalnız admin olan istifadəçilərə icazə verilir.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Gate'lərdə </a:t>
            </a:r>
            <a:r>
              <a:rPr lang="en-US" sz="1600" b="1"/>
              <a:t>Auth::user() </a:t>
            </a:r>
            <a:r>
              <a:rPr lang="en-US" sz="1600"/>
              <a:t>vasitəsilə cari istifadəçini yoxlayırıq.</a:t>
            </a:r>
            <a:endParaRPr lang="az-Latn-AZ" sz="160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95702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16F38-C8E4-54FC-F9B2-100EF7DB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2B3473-ACCC-F71A-6719-7FB887B2F3F1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3. Gate istifadəsi – Controller daxilində authorize()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📁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app\Http\Controllers\PostController.php</a:t>
            </a:r>
            <a:endParaRPr kumimoji="0" lang="az-Latn-AZ" altLang="en-US" sz="1300" b="0" i="0" u="sng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baş verir burada?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$this-&gt;authorize('create_post')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Laravel-ə deyir: "Bu istifadəçiyə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'create_post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 əməliyyatına icazə verilibmi?"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 true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qaytararsa → əməliyyat davam edir.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qaytararsa →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403 Forbidden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səhv qaytarılır.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F6F62-2E09-1E6B-8A45-2478BF927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5407"/>
            <a:ext cx="5010849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52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1FBA-D4F2-9AE4-D998-F31912B3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04E1EB-22BD-2F34-2DC3-A00DEB16608D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4. Real istifadəçi ssenarisi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47C03D-CA08-9FC9-905A-C82F20134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651167"/>
              </p:ext>
            </p:extLst>
          </p:nvPr>
        </p:nvGraphicFramePr>
        <p:xfrm>
          <a:off x="217714" y="1115854"/>
          <a:ext cx="10505704" cy="1377963"/>
        </p:xfrm>
        <a:graphic>
          <a:graphicData uri="http://schemas.openxmlformats.org/drawingml/2006/table">
            <a:tbl>
              <a:tblPr/>
              <a:tblGrid>
                <a:gridCol w="2626426">
                  <a:extLst>
                    <a:ext uri="{9D8B030D-6E8A-4147-A177-3AD203B41FA5}">
                      <a16:colId xmlns:a16="http://schemas.microsoft.com/office/drawing/2014/main" val="1511262609"/>
                    </a:ext>
                  </a:extLst>
                </a:gridCol>
                <a:gridCol w="2626426">
                  <a:extLst>
                    <a:ext uri="{9D8B030D-6E8A-4147-A177-3AD203B41FA5}">
                      <a16:colId xmlns:a16="http://schemas.microsoft.com/office/drawing/2014/main" val="1393914295"/>
                    </a:ext>
                  </a:extLst>
                </a:gridCol>
                <a:gridCol w="2626426">
                  <a:extLst>
                    <a:ext uri="{9D8B030D-6E8A-4147-A177-3AD203B41FA5}">
                      <a16:colId xmlns:a16="http://schemas.microsoft.com/office/drawing/2014/main" val="3545872450"/>
                    </a:ext>
                  </a:extLst>
                </a:gridCol>
                <a:gridCol w="2626426">
                  <a:extLst>
                    <a:ext uri="{9D8B030D-6E8A-4147-A177-3AD203B41FA5}">
                      <a16:colId xmlns:a16="http://schemas.microsoft.com/office/drawing/2014/main" val="2850125946"/>
                    </a:ext>
                  </a:extLst>
                </a:gridCol>
              </a:tblGrid>
              <a:tr h="459321">
                <a:tc>
                  <a:txBody>
                    <a:bodyPr/>
                    <a:lstStyle/>
                    <a:p>
                      <a:r>
                        <a:rPr lang="en-US" b="1"/>
                        <a:t>İstifadəçi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is_admin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create_post Gate icazəsi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Nəticə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531625"/>
                  </a:ext>
                </a:extLst>
              </a:tr>
              <a:tr h="459321">
                <a:tc>
                  <a:txBody>
                    <a:bodyPr/>
                    <a:lstStyle/>
                    <a:p>
                      <a:r>
                        <a:rPr lang="en-US"/>
                        <a:t>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 (true)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 yaratmaq olar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778573"/>
                  </a:ext>
                </a:extLst>
              </a:tr>
              <a:tr h="459321">
                <a:tc>
                  <a:txBody>
                    <a:bodyPr/>
                    <a:lstStyle/>
                    <a:p>
                      <a:r>
                        <a:rPr lang="en-US"/>
                        <a:t>Nigar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 (false)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403 xətası qaytarılır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18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362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B13E-E0A9-15E0-5A0A-4EC0CE70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B11437-096E-291A-8E1C-352BFC8A4AA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app\Providers\AuthServiceProvider.php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B82808-BB67-6C8C-D027-7A8788F23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318" y="0"/>
            <a:ext cx="5931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5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66B8F-7975-18F2-895D-FE49130D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C6EB2C-0DE2-4507-83BD-21DFC7BC98E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app\Http\Controllers\PostController.php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03966C-C9D5-59D6-564D-1E5B6D244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751" y="0"/>
            <a:ext cx="51272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3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6FA4-EEFA-2055-12A8-9931C5FA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5E927-2888-B162-6BEF-7B88E609082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app\Http\Controllers\PostController.php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A03683-682D-309C-09FA-954A95319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488" y="0"/>
            <a:ext cx="3538512" cy="5507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BB70EB-6A17-C6DF-FDFB-C303B4C16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489" y="5486400"/>
            <a:ext cx="3538512" cy="135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83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E56B-7A61-37F9-C702-1F93F6752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F4086-9925-9B26-AB0D-A76679C61F3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0833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D3A6-2E51-F3BE-626E-E8EFE121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93A277-2E0C-B3FE-DB73-D1DE176C89F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4570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24239-A004-21B0-5BF9-C31EE44A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2C22A5-0073-463A-98F6-049D4F8DF99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89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3780</TotalTime>
  <Words>427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351</cp:revision>
  <dcterms:created xsi:type="dcterms:W3CDTF">2025-04-12T11:00:44Z</dcterms:created>
  <dcterms:modified xsi:type="dcterms:W3CDTF">2025-06-02T17:10:44Z</dcterms:modified>
</cp:coreProperties>
</file>