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2" r:id="rId2"/>
    <p:sldId id="403" r:id="rId3"/>
    <p:sldId id="404" r:id="rId4"/>
    <p:sldId id="405" r:id="rId5"/>
    <p:sldId id="406" r:id="rId6"/>
    <p:sldId id="400" r:id="rId7"/>
    <p:sldId id="407" r:id="rId8"/>
    <p:sldId id="408" r:id="rId9"/>
    <p:sldId id="410" r:id="rId10"/>
    <p:sldId id="411" r:id="rId11"/>
    <p:sldId id="412" r:id="rId12"/>
    <p:sldId id="413" r:id="rId13"/>
    <p:sldId id="40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2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255046"/>
            <a:ext cx="11756571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Introduction to Events and Listeners (Hadisələr və Dinləyicilər) </a:t>
            </a:r>
            <a:r>
              <a:rPr lang="en-US" altLang="en-US" sz="1300">
                <a:latin typeface="Arial" panose="020B0604020202020204" pitchFamily="34" charset="0"/>
              </a:rPr>
              <a:t>- </a:t>
            </a:r>
            <a:r>
              <a:rPr lang="az-Latn-AZ" altLang="en-US" sz="1300">
                <a:latin typeface="Arial" panose="020B0604020202020204" pitchFamily="34" charset="0"/>
              </a:rPr>
              <a:t>bu dərsə başlamadan əvvəl strukturu quraq sonra </a:t>
            </a:r>
            <a:r>
              <a:rPr lang="az-Latn-AZ" altLang="en-US" sz="1300" b="1">
                <a:latin typeface="Arial" panose="020B0604020202020204" pitchFamily="34" charset="0"/>
              </a:rPr>
              <a:t>Event</a:t>
            </a:r>
            <a:r>
              <a:rPr lang="az-Latn-AZ" altLang="en-US" sz="1300">
                <a:latin typeface="Arial" panose="020B0604020202020204" pitchFamily="34" charset="0"/>
              </a:rPr>
              <a:t> və </a:t>
            </a:r>
            <a:r>
              <a:rPr lang="az-Latn-AZ" altLang="en-US" sz="1300" b="1">
                <a:latin typeface="Arial" panose="020B0604020202020204" pitchFamily="34" charset="0"/>
              </a:rPr>
              <a:t>Listeners</a:t>
            </a:r>
            <a:r>
              <a:rPr lang="az-Latn-AZ" altLang="en-US" sz="1300">
                <a:latin typeface="Arial" panose="020B0604020202020204" pitchFamily="34" charset="0"/>
              </a:rPr>
              <a:t> -ın nə olduğunu izah edək.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FB0667-1BDB-FDBD-2F0B-AABAF32ED5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200190"/>
            <a:ext cx="12192000" cy="5657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4" y="255046"/>
            <a:ext cx="11756571" cy="5044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200" b="1">
                <a:solidFill>
                  <a:srgbClr val="FF0000"/>
                </a:solidFill>
                <a:latin typeface="Arial" panose="020B0604020202020204" pitchFamily="34" charset="0"/>
              </a:rPr>
              <a:t>Event nədir?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200" b="1">
                <a:latin typeface="Arial" panose="020B0604020202020204" pitchFamily="34" charset="0"/>
              </a:rPr>
              <a:t>Event</a:t>
            </a:r>
            <a:r>
              <a:rPr lang="en-US" altLang="en-US" sz="1200">
                <a:latin typeface="Arial" panose="020B0604020202020204" pitchFamily="34" charset="0"/>
              </a:rPr>
              <a:t> (Hadisə) — tətbiqdə baş verən mühüm bir vəziyyəti (məsələn: istifadəçi qeydiyyatı, sifariş verilməsi, post yaradılması və s.) ifadə edən class -</a:t>
            </a:r>
            <a:r>
              <a:rPr lang="az-Latn-AZ" altLang="en-US" sz="1200">
                <a:latin typeface="Arial" panose="020B0604020202020204" pitchFamily="34" charset="0"/>
              </a:rPr>
              <a:t>dır</a:t>
            </a:r>
            <a:r>
              <a:rPr lang="en-US" altLang="en-US" sz="1200">
                <a:latin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  <a:buNone/>
            </a:pPr>
            <a:endParaRPr lang="en-US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200" b="1">
                <a:solidFill>
                  <a:srgbClr val="FF0000"/>
                </a:solidFill>
                <a:latin typeface="Arial" panose="020B0604020202020204" pitchFamily="34" charset="0"/>
              </a:rPr>
              <a:t>Listener nədir?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200" b="1">
                <a:latin typeface="Arial" panose="020B0604020202020204" pitchFamily="34" charset="0"/>
              </a:rPr>
              <a:t>Listener</a:t>
            </a:r>
            <a:r>
              <a:rPr lang="en-US" altLang="en-US" sz="1200">
                <a:latin typeface="Arial" panose="020B0604020202020204" pitchFamily="34" charset="0"/>
              </a:rPr>
              <a:t> (Dinləyici) — müəyyən bir </a:t>
            </a:r>
            <a:r>
              <a:rPr lang="az-Latn-AZ" altLang="en-US" sz="1200">
                <a:latin typeface="Arial" panose="020B0604020202020204" pitchFamily="34" charset="0"/>
              </a:rPr>
              <a:t>EVENT (hadisə)</a:t>
            </a:r>
            <a:r>
              <a:rPr lang="en-US" altLang="en-US" sz="1200">
                <a:latin typeface="Arial" panose="020B0604020202020204" pitchFamily="34" charset="0"/>
              </a:rPr>
              <a:t> baş verdikdə nə baş verməlidir sualına cavab verən </a:t>
            </a:r>
            <a:r>
              <a:rPr lang="az-Latn-AZ" altLang="en-US" sz="1200">
                <a:latin typeface="Arial" panose="020B0604020202020204" pitchFamily="34" charset="0"/>
              </a:rPr>
              <a:t>class -dır</a:t>
            </a:r>
            <a:r>
              <a:rPr lang="en-US" altLang="en-US" sz="1200">
                <a:latin typeface="Arial" panose="020B0604020202020204" pitchFamily="34" charset="0"/>
              </a:rPr>
              <a:t>. </a:t>
            </a:r>
            <a:r>
              <a:rPr lang="az-Latn-AZ" altLang="en-US" sz="1200">
                <a:latin typeface="Arial" panose="020B0604020202020204" pitchFamily="34" charset="0"/>
              </a:rPr>
              <a:t>EVENT (hadisə)</a:t>
            </a:r>
            <a:r>
              <a:rPr lang="en-US" altLang="en-US" sz="1200">
                <a:latin typeface="Arial" panose="020B0604020202020204" pitchFamily="34" charset="0"/>
              </a:rPr>
              <a:t> baş verdikdə Laravel avtomatik olaraq </a:t>
            </a:r>
            <a:r>
              <a:rPr lang="en-US" altLang="en-US" sz="1200" b="1">
                <a:latin typeface="Arial" panose="020B0604020202020204" pitchFamily="34" charset="0"/>
              </a:rPr>
              <a:t>Listener</a:t>
            </a:r>
            <a:r>
              <a:rPr lang="en-US" altLang="en-US" sz="1200">
                <a:latin typeface="Arial" panose="020B0604020202020204" pitchFamily="34" charset="0"/>
              </a:rPr>
              <a:t>-i işə salır.</a:t>
            </a:r>
          </a:p>
          <a:p>
            <a:pPr>
              <a:lnSpc>
                <a:spcPct val="150000"/>
              </a:lnSpc>
              <a:buNone/>
            </a:pPr>
            <a:endParaRPr lang="en-US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200">
                <a:latin typeface="Arial" panose="020B0604020202020204" pitchFamily="34" charset="0"/>
              </a:rPr>
              <a:t>Bu bənzədi </a:t>
            </a:r>
            <a:r>
              <a:rPr lang="az-Latn-AZ" altLang="en-US" sz="1200" b="1">
                <a:solidFill>
                  <a:srgbClr val="00B050"/>
                </a:solidFill>
                <a:latin typeface="Arial" panose="020B0604020202020204" pitchFamily="34" charset="0"/>
              </a:rPr>
              <a:t>OBSERVER</a:t>
            </a:r>
            <a:r>
              <a:rPr lang="az-Latn-AZ" altLang="en-US" sz="1200">
                <a:latin typeface="Arial" panose="020B0604020202020204" pitchFamily="34" charset="0"/>
              </a:rPr>
              <a:t> -ə anacq aradakı fərqləri sonra izah edəcəm.</a:t>
            </a:r>
            <a:endParaRPr lang="en-US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200" b="1">
                <a:latin typeface="Arial" panose="020B0604020202020204" pitchFamily="34" charset="0"/>
              </a:rPr>
              <a:t>EVENT</a:t>
            </a:r>
            <a:r>
              <a:rPr lang="az-Latn-AZ" altLang="en-US" sz="1200">
                <a:latin typeface="Arial" panose="020B0604020202020204" pitchFamily="34" charset="0"/>
              </a:rPr>
              <a:t> işə salır </a:t>
            </a:r>
            <a:r>
              <a:rPr lang="az-Latn-AZ" altLang="en-US" sz="1200" b="1">
                <a:latin typeface="Arial" panose="020B0604020202020204" pitchFamily="34" charset="0"/>
              </a:rPr>
              <a:t>LİSTENERS</a:t>
            </a:r>
            <a:r>
              <a:rPr lang="az-Latn-AZ" altLang="en-US" sz="1200">
                <a:latin typeface="Arial" panose="020B0604020202020204" pitchFamily="34" charset="0"/>
              </a:rPr>
              <a:t> -ı və </a:t>
            </a:r>
            <a:r>
              <a:rPr lang="az-Latn-AZ" altLang="en-US" sz="1200" b="1">
                <a:latin typeface="Arial" panose="020B0604020202020204" pitchFamily="34" charset="0"/>
              </a:rPr>
              <a:t>LİSTENER</a:t>
            </a:r>
            <a:r>
              <a:rPr lang="az-Latn-AZ" altLang="en-US" sz="1200">
                <a:latin typeface="Arial" panose="020B0604020202020204" pitchFamily="34" charset="0"/>
              </a:rPr>
              <a:t> avtomatik </a:t>
            </a:r>
            <a:r>
              <a:rPr lang="az-Latn-AZ" altLang="en-US" sz="1200" b="1">
                <a:latin typeface="Arial" panose="020B0604020202020204" pitchFamily="34" charset="0"/>
              </a:rPr>
              <a:t>şablonu</a:t>
            </a:r>
            <a:r>
              <a:rPr lang="en-US" altLang="en-US" sz="1200">
                <a:latin typeface="Arial" panose="020B0604020202020204" pitchFamily="34" charset="0"/>
              </a:rPr>
              <a:t> (welcome-mail.blade.php)</a:t>
            </a:r>
            <a:r>
              <a:rPr lang="az-Latn-AZ" altLang="en-US" sz="1200">
                <a:latin typeface="Arial" panose="020B0604020202020204" pitchFamily="34" charset="0"/>
              </a:rPr>
              <a:t> </a:t>
            </a:r>
            <a:r>
              <a:rPr lang="az-Latn-AZ" altLang="en-US" sz="1200" b="1">
                <a:latin typeface="Arial" panose="020B0604020202020204" pitchFamily="34" charset="0"/>
              </a:rPr>
              <a:t>göndərir</a:t>
            </a:r>
            <a:r>
              <a:rPr lang="az-Latn-AZ" altLang="en-US" sz="1200">
                <a:latin typeface="Arial" panose="020B0604020202020204" pitchFamily="34" charset="0"/>
              </a:rPr>
              <a:t> (</a:t>
            </a:r>
            <a:r>
              <a:rPr lang="en-US" altLang="en-US" sz="1200">
                <a:latin typeface="Arial" panose="020B0604020202020204" pitchFamily="34" charset="0"/>
              </a:rPr>
              <a:t>WelcomeEmail.php</a:t>
            </a:r>
            <a:r>
              <a:rPr lang="az-Latn-AZ" altLang="en-US" sz="1200">
                <a:latin typeface="Arial" panose="020B0604020202020204" pitchFamily="34" charset="0"/>
              </a:rPr>
              <a:t>) </a:t>
            </a:r>
            <a:r>
              <a:rPr lang="az-Latn-AZ" altLang="en-US" sz="1200" b="1">
                <a:latin typeface="Arial" panose="020B0604020202020204" pitchFamily="34" charset="0"/>
              </a:rPr>
              <a:t>poçtaya</a:t>
            </a:r>
            <a:r>
              <a:rPr lang="az-Latn-AZ" altLang="en-US" sz="1200">
                <a:latin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az-Latn-AZ" altLang="en-US" sz="1200">
                <a:latin typeface="Arial" panose="020B0604020202020204" pitchFamily="34" charset="0"/>
              </a:rPr>
              <a:t>yaxud belədə demək olar: </a:t>
            </a:r>
            <a:r>
              <a:rPr lang="az-Latn-AZ" altLang="en-US" sz="1200" b="1">
                <a:latin typeface="Arial" panose="020B0604020202020204" pitchFamily="34" charset="0"/>
              </a:rPr>
              <a:t>LİSTENERS</a:t>
            </a:r>
            <a:r>
              <a:rPr lang="az-Latn-AZ" altLang="en-US" sz="1200">
                <a:latin typeface="Arial" panose="020B0604020202020204" pitchFamily="34" charset="0"/>
              </a:rPr>
              <a:t> qulaq asır </a:t>
            </a:r>
            <a:r>
              <a:rPr lang="az-Latn-AZ" altLang="en-US" sz="1200" b="1">
                <a:latin typeface="Arial" panose="020B0604020202020204" pitchFamily="34" charset="0"/>
              </a:rPr>
              <a:t>EVENT</a:t>
            </a:r>
            <a:r>
              <a:rPr lang="az-Latn-AZ" altLang="en-US" sz="1200">
                <a:latin typeface="Arial" panose="020B0604020202020204" pitchFamily="34" charset="0"/>
              </a:rPr>
              <a:t> -a və </a:t>
            </a:r>
            <a:r>
              <a:rPr lang="az-Latn-AZ" altLang="en-US" sz="1200" b="1">
                <a:latin typeface="Arial" panose="020B0604020202020204" pitchFamily="34" charset="0"/>
              </a:rPr>
              <a:t>EVENT</a:t>
            </a:r>
            <a:r>
              <a:rPr lang="az-Latn-AZ" altLang="en-US" sz="1200">
                <a:latin typeface="Arial" panose="020B0604020202020204" pitchFamily="34" charset="0"/>
              </a:rPr>
              <a:t> ( hadisə ) baş verdikdə </a:t>
            </a:r>
            <a:r>
              <a:rPr lang="az-Latn-AZ" altLang="en-US" sz="1200" b="1">
                <a:latin typeface="Arial" panose="020B0604020202020204" pitchFamily="34" charset="0"/>
              </a:rPr>
              <a:t>LİSTENERS</a:t>
            </a:r>
            <a:r>
              <a:rPr lang="az-Latn-AZ" altLang="en-US" sz="1200">
                <a:latin typeface="Arial" panose="020B0604020202020204" pitchFamily="34" charset="0"/>
              </a:rPr>
              <a:t> avtomatik </a:t>
            </a:r>
            <a:r>
              <a:rPr lang="az-Latn-AZ" altLang="en-US" sz="1200" b="1">
                <a:latin typeface="Arial" panose="020B0604020202020204" pitchFamily="34" charset="0"/>
              </a:rPr>
              <a:t>şablonu</a:t>
            </a:r>
            <a:r>
              <a:rPr lang="en-US" altLang="en-US" sz="1200">
                <a:latin typeface="Arial" panose="020B0604020202020204" pitchFamily="34" charset="0"/>
              </a:rPr>
              <a:t> (welcome-mail.blade.php)</a:t>
            </a:r>
            <a:r>
              <a:rPr lang="az-Latn-AZ" altLang="en-US" sz="1200">
                <a:latin typeface="Arial" panose="020B0604020202020204" pitchFamily="34" charset="0"/>
              </a:rPr>
              <a:t> </a:t>
            </a:r>
            <a:r>
              <a:rPr lang="az-Latn-AZ" altLang="en-US" sz="1200" b="1">
                <a:latin typeface="Arial" panose="020B0604020202020204" pitchFamily="34" charset="0"/>
              </a:rPr>
              <a:t>göndərir</a:t>
            </a:r>
            <a:r>
              <a:rPr lang="az-Latn-AZ" altLang="en-US" sz="1200">
                <a:latin typeface="Arial" panose="020B0604020202020204" pitchFamily="34" charset="0"/>
              </a:rPr>
              <a:t> (</a:t>
            </a:r>
            <a:r>
              <a:rPr lang="en-US" altLang="en-US" sz="1200">
                <a:latin typeface="Arial" panose="020B0604020202020204" pitchFamily="34" charset="0"/>
              </a:rPr>
              <a:t>WelcomeEmail.php</a:t>
            </a:r>
            <a:r>
              <a:rPr lang="az-Latn-AZ" altLang="en-US" sz="1200">
                <a:latin typeface="Arial" panose="020B0604020202020204" pitchFamily="34" charset="0"/>
              </a:rPr>
              <a:t>) </a:t>
            </a:r>
            <a:r>
              <a:rPr lang="az-Latn-AZ" altLang="en-US" sz="1200" b="1">
                <a:latin typeface="Arial" panose="020B0604020202020204" pitchFamily="34" charset="0"/>
              </a:rPr>
              <a:t>poçtaya</a:t>
            </a:r>
            <a:r>
              <a:rPr lang="az-Latn-AZ" altLang="en-US" sz="1200">
                <a:latin typeface="Arial" panose="020B0604020202020204" pitchFamily="34" charset="0"/>
              </a:rPr>
              <a:t>.</a:t>
            </a:r>
            <a:endParaRPr lang="en-US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58E07-0DC0-FD39-5799-20375EAE6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E7C744-2AE3-ED28-949D-43AA63821FAC}"/>
              </a:ext>
            </a:extLst>
          </p:cNvPr>
          <p:cNvSpPr txBox="1"/>
          <p:nvPr/>
        </p:nvSpPr>
        <p:spPr>
          <a:xfrm>
            <a:off x="217714" y="255046"/>
            <a:ext cx="11756571" cy="5156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Creating Events &amp; Listeners (Hadisə və Dinləyici Yaratmaq)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✅ a) </a:t>
            </a:r>
            <a:r>
              <a:rPr lang="en-US" altLang="en-US" sz="1300" b="1">
                <a:latin typeface="Arial" panose="020B0604020202020204" pitchFamily="34" charset="0"/>
              </a:rPr>
              <a:t>Event yaratmaq</a:t>
            </a:r>
            <a:endParaRPr lang="az-Latn-AZ" altLang="en-US" sz="1300" b="1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Bu komanda </a:t>
            </a:r>
            <a:r>
              <a:rPr lang="az-Latn-AZ" altLang="en-US" sz="1300" b="1">
                <a:latin typeface="Arial" panose="020B0604020202020204" pitchFamily="34" charset="0"/>
              </a:rPr>
              <a:t>app/Events/UserRegistered.php </a:t>
            </a:r>
            <a:r>
              <a:rPr lang="az-Latn-AZ" altLang="en-US" sz="1300">
                <a:latin typeface="Arial" panose="020B0604020202020204" pitchFamily="34" charset="0"/>
              </a:rPr>
              <a:t>faylını yaradır.</a:t>
            </a:r>
            <a:endParaRPr kumimoji="0" lang="az-Latn-AZ" altLang="en-US" sz="13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✅ b) Listener yaratmaq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</a:t>
            </a:r>
            <a:r>
              <a:rPr lang="az-Latn-AZ" altLang="en-US" sz="1300">
                <a:latin typeface="Arial" panose="020B0604020202020204" pitchFamily="34" charset="0"/>
              </a:rPr>
              <a:t> Send</a:t>
            </a:r>
            <a:r>
              <a:rPr lang="en-US" altLang="en-US" sz="1300">
                <a:latin typeface="Arial" panose="020B0604020202020204" pitchFamily="34" charset="0"/>
              </a:rPr>
              <a:t>WelcomeEmail </a:t>
            </a:r>
            <a:r>
              <a:rPr lang="az-Latn-AZ" altLang="en-US" sz="1300">
                <a:latin typeface="Arial" panose="020B0604020202020204" pitchFamily="34" charset="0"/>
              </a:rPr>
              <a:t>adlı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en-US" altLang="en-US" sz="1300" b="1">
                <a:latin typeface="Arial" panose="020B0604020202020204" pitchFamily="34" charset="0"/>
              </a:rPr>
              <a:t>Listener</a:t>
            </a:r>
            <a:r>
              <a:rPr lang="az-Latn-AZ" altLang="en-US" sz="1300" b="1">
                <a:latin typeface="Arial" panose="020B0604020202020204" pitchFamily="34" charset="0"/>
              </a:rPr>
              <a:t>,</a:t>
            </a:r>
            <a:r>
              <a:rPr lang="en-US" altLang="en-US" sz="1300">
                <a:latin typeface="Arial" panose="020B0604020202020204" pitchFamily="34" charset="0"/>
              </a:rPr>
              <a:t> avtomatik </a:t>
            </a:r>
            <a:r>
              <a:rPr lang="en-US" altLang="en-US" sz="1300" b="1">
                <a:latin typeface="Arial" panose="020B0604020202020204" pitchFamily="34" charset="0"/>
              </a:rPr>
              <a:t>UserRegistered</a:t>
            </a:r>
            <a:r>
              <a:rPr lang="en-US" altLang="en-US" sz="1300">
                <a:latin typeface="Arial" panose="020B0604020202020204" pitchFamily="34" charset="0"/>
              </a:rPr>
              <a:t> hadisəsinə qoşulmuş vəziyyətdə gəlir.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✅ c) Mail sinifi yaratmaq</a:t>
            </a:r>
            <a:endParaRPr kumimoji="0" lang="en-US" altLang="en-US" sz="13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CF2D8D-CA74-4791-0EB5-E7BA7790E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1332969"/>
            <a:ext cx="3143689" cy="3715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37C7E23-4423-150E-05D8-F08D3A50DC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14" y="3429000"/>
            <a:ext cx="5153744" cy="4096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4AB87B9-CB9F-7688-1DE4-C5163D4AD9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714" y="5411714"/>
            <a:ext cx="2953162" cy="36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556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01A31-ACFF-3CC3-6C1E-71CFB4988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BE07EC-A276-B71E-1118-6309ADE71A31}"/>
              </a:ext>
            </a:extLst>
          </p:cNvPr>
          <p:cNvSpPr txBox="1"/>
          <p:nvPr/>
        </p:nvSpPr>
        <p:spPr>
          <a:xfrm>
            <a:off x="217714" y="255046"/>
            <a:ext cx="11756571" cy="6356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✅ d) </a:t>
            </a:r>
            <a:r>
              <a:rPr lang="en-US" altLang="en-US" sz="1300" b="1">
                <a:latin typeface="Arial" panose="020B0604020202020204" pitchFamily="34" charset="0"/>
              </a:rPr>
              <a:t>routes\web.php </a:t>
            </a:r>
            <a:r>
              <a:rPr lang="en-US" altLang="en-US" sz="1300">
                <a:latin typeface="Arial" panose="020B0604020202020204" pitchFamily="34" charset="0"/>
              </a:rPr>
              <a:t>— Hadisəni işə salmaq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e) </a:t>
            </a:r>
            <a:r>
              <a:rPr lang="az-Latn-AZ" altLang="en-US" sz="1300" b="1">
                <a:latin typeface="Arial" panose="020B0604020202020204" pitchFamily="34" charset="0"/>
              </a:rPr>
              <a:t>app/Events/UserRegistered.php 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 hadisə baş verdikdə Laravel dinləyiciləri işə salır.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978CAA-F60E-967C-21F5-71557FD77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745178"/>
            <a:ext cx="4315427" cy="14861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8E9C01-F6FB-1023-6A9D-AAC7D4C965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15" y="3372890"/>
            <a:ext cx="2133600" cy="2739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991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A7DA7-A520-9DEE-2047-3200B23FC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D13253-9665-AFE0-40BC-FCB7B92153D2}"/>
              </a:ext>
            </a:extLst>
          </p:cNvPr>
          <p:cNvSpPr txBox="1"/>
          <p:nvPr/>
        </p:nvSpPr>
        <p:spPr>
          <a:xfrm>
            <a:off x="217714" y="255046"/>
            <a:ext cx="11756571" cy="6356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f) </a:t>
            </a:r>
            <a:r>
              <a:rPr lang="en-US" altLang="en-US" sz="1300" b="1">
                <a:latin typeface="Arial" panose="020B0604020202020204" pitchFamily="34" charset="0"/>
              </a:rPr>
              <a:t>app/Providers/EventServiceProvider.php</a:t>
            </a:r>
            <a:endParaRPr lang="az-Latn-AZ" altLang="en-US" sz="1300" b="1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Burada </a:t>
            </a:r>
            <a:r>
              <a:rPr lang="en-US" altLang="en-US" sz="1300" b="1">
                <a:latin typeface="Arial" panose="020B0604020202020204" pitchFamily="34" charset="0"/>
              </a:rPr>
              <a:t>UserRegistered</a:t>
            </a:r>
            <a:r>
              <a:rPr lang="en-US" altLang="en-US" sz="1300">
                <a:latin typeface="Arial" panose="020B0604020202020204" pitchFamily="34" charset="0"/>
              </a:rPr>
              <a:t> hadisəsi baş verdikdə, </a:t>
            </a:r>
            <a:r>
              <a:rPr lang="en-US" altLang="en-US" sz="1300" b="1">
                <a:latin typeface="Arial" panose="020B0604020202020204" pitchFamily="34" charset="0"/>
              </a:rPr>
              <a:t>SendWelcomeEmail</a:t>
            </a:r>
            <a:r>
              <a:rPr lang="en-US" altLang="en-US" sz="1300">
                <a:latin typeface="Arial" panose="020B0604020202020204" pitchFamily="34" charset="0"/>
              </a:rPr>
              <a:t> Listener-i işə düşəcək.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g) </a:t>
            </a:r>
            <a:r>
              <a:rPr lang="en-US" altLang="en-US" sz="1300" b="1">
                <a:latin typeface="Arial" panose="020B0604020202020204" pitchFamily="34" charset="0"/>
              </a:rPr>
              <a:t>app/Listeners/SendWelcomeEmail.php</a:t>
            </a:r>
            <a:r>
              <a:rPr lang="az-Latn-AZ" altLang="en-US" sz="1300">
                <a:latin typeface="Arial" panose="020B0604020202020204" pitchFamily="34" charset="0"/>
              </a:rPr>
              <a:t>	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Listener hadisəni qarşılayır və </a:t>
            </a:r>
            <a:r>
              <a:rPr lang="en-US" altLang="en-US" sz="1300" b="1">
                <a:latin typeface="Arial" panose="020B0604020202020204" pitchFamily="34" charset="0"/>
              </a:rPr>
              <a:t>WelcomeEmail</a:t>
            </a:r>
            <a:r>
              <a:rPr lang="en-US" altLang="en-US" sz="1300">
                <a:latin typeface="Arial" panose="020B0604020202020204" pitchFamily="34" charset="0"/>
              </a:rPr>
              <a:t> mailini göndərir.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FCB274-7AD1-F9E7-B74E-2C7155AF9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699470"/>
            <a:ext cx="2600688" cy="18671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91ABF7E-EF42-C4A2-30A9-FAD144ADBB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14" y="4291370"/>
            <a:ext cx="3197290" cy="19256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5735EC8-32F3-98F1-0444-0FAC48087E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9293" y="3667091"/>
            <a:ext cx="2244013" cy="319090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E59D60F-F754-7CAA-2D22-A966EB8EC7AA}"/>
              </a:ext>
            </a:extLst>
          </p:cNvPr>
          <p:cNvSpPr txBox="1"/>
          <p:nvPr/>
        </p:nvSpPr>
        <p:spPr>
          <a:xfrm>
            <a:off x="9279293" y="3282806"/>
            <a:ext cx="280384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>
                <a:latin typeface="Arial" panose="020B0604020202020204" pitchFamily="34" charset="0"/>
                <a:cs typeface="Arial" panose="020B0604020202020204" pitchFamily="34" charset="0"/>
              </a:rPr>
              <a:t>h) app/Mail/WelcomeEmail.php</a:t>
            </a:r>
          </a:p>
        </p:txBody>
      </p:sp>
    </p:spTree>
    <p:extLst>
      <p:ext uri="{BB962C8B-B14F-4D97-AF65-F5344CB8AC3E}">
        <p14:creationId xmlns:p14="http://schemas.microsoft.com/office/powerpoint/2010/main" val="1499876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956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Bu nümunənin iş prinsipi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 b="1">
                <a:latin typeface="Arial" panose="020B0604020202020204" pitchFamily="34" charset="0"/>
              </a:rPr>
              <a:t>/user-register </a:t>
            </a:r>
            <a:r>
              <a:rPr lang="en-US" altLang="en-US" sz="1300">
                <a:latin typeface="Arial" panose="020B0604020202020204" pitchFamily="34" charset="0"/>
              </a:rPr>
              <a:t>endpoint-ə daxil oluruq.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 b="1">
                <a:latin typeface="Arial" panose="020B0604020202020204" pitchFamily="34" charset="0"/>
              </a:rPr>
              <a:t>UserRegistered</a:t>
            </a:r>
            <a:r>
              <a:rPr lang="en-US" altLang="en-US" sz="1300">
                <a:latin typeface="Arial" panose="020B0604020202020204" pitchFamily="34" charset="0"/>
              </a:rPr>
              <a:t> hadisəsi baş verir.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Laravel avtomatik olaraq bu hadisəyə uyğun olan </a:t>
            </a:r>
            <a:r>
              <a:rPr lang="en-US" altLang="en-US" sz="1300" b="1">
                <a:latin typeface="Arial" panose="020B0604020202020204" pitchFamily="34" charset="0"/>
              </a:rPr>
              <a:t>SendWelcomeEmail</a:t>
            </a:r>
            <a:r>
              <a:rPr lang="en-US" altLang="en-US" sz="1300">
                <a:latin typeface="Arial" panose="020B0604020202020204" pitchFamily="34" charset="0"/>
              </a:rPr>
              <a:t> Listener-ini işə salır.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Listener </a:t>
            </a:r>
            <a:r>
              <a:rPr lang="en-US" altLang="en-US" sz="1300" b="1">
                <a:latin typeface="Arial" panose="020B0604020202020204" pitchFamily="34" charset="0"/>
              </a:rPr>
              <a:t>WelcomeEmail</a:t>
            </a:r>
            <a:r>
              <a:rPr lang="en-US" altLang="en-US" sz="1300">
                <a:latin typeface="Arial" panose="020B0604020202020204" pitchFamily="34" charset="0"/>
              </a:rPr>
              <a:t> mailini göndərir.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İstifadəçiyə mail çatır.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Event-Listener istifadəsinin üstünlükləri</a:t>
            </a:r>
            <a:endParaRPr lang="az-Latn-AZ" altLang="en-US" sz="1300" b="1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94C930F-3369-2B66-58CE-4811012D9F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5955514"/>
              </p:ext>
            </p:extLst>
          </p:nvPr>
        </p:nvGraphicFramePr>
        <p:xfrm>
          <a:off x="217714" y="3776426"/>
          <a:ext cx="9728720" cy="2826530"/>
        </p:xfrm>
        <a:graphic>
          <a:graphicData uri="http://schemas.openxmlformats.org/drawingml/2006/table">
            <a:tbl>
              <a:tblPr/>
              <a:tblGrid>
                <a:gridCol w="2958583">
                  <a:extLst>
                    <a:ext uri="{9D8B030D-6E8A-4147-A177-3AD203B41FA5}">
                      <a16:colId xmlns:a16="http://schemas.microsoft.com/office/drawing/2014/main" val="3940677469"/>
                    </a:ext>
                  </a:extLst>
                </a:gridCol>
                <a:gridCol w="6770137">
                  <a:extLst>
                    <a:ext uri="{9D8B030D-6E8A-4147-A177-3AD203B41FA5}">
                      <a16:colId xmlns:a16="http://schemas.microsoft.com/office/drawing/2014/main" val="3992872039"/>
                    </a:ext>
                  </a:extLst>
                </a:gridCol>
              </a:tblGrid>
              <a:tr h="565306">
                <a:tc>
                  <a:txBody>
                    <a:bodyPr/>
                    <a:lstStyle/>
                    <a:p>
                      <a:r>
                        <a:rPr lang="en-US" b="1"/>
                        <a:t>Üstünlük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İzah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628449"/>
                  </a:ext>
                </a:extLst>
              </a:tr>
              <a:tr h="565306">
                <a:tc>
                  <a:txBody>
                    <a:bodyPr/>
                    <a:lstStyle/>
                    <a:p>
                      <a:r>
                        <a:rPr lang="en-US" b="1"/>
                        <a:t>Kod ayrılığı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Hər funksiyanı ayrıca yazaraq daha təmiz və oxunaqlı kod əldə edirik.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8493142"/>
                  </a:ext>
                </a:extLst>
              </a:tr>
              <a:tr h="565306">
                <a:tc>
                  <a:txBody>
                    <a:bodyPr/>
                    <a:lstStyle/>
                    <a:p>
                      <a:r>
                        <a:rPr lang="en-US" b="1"/>
                        <a:t>Təkrar istifadə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Listener-ləri başqa hadisələrlə də istifadə etmək mümkündür.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2715894"/>
                  </a:ext>
                </a:extLst>
              </a:tr>
              <a:tr h="565306">
                <a:tc>
                  <a:txBody>
                    <a:bodyPr/>
                    <a:lstStyle/>
                    <a:p>
                      <a:r>
                        <a:rPr lang="en-US" b="1"/>
                        <a:t>Asinxron əməliyyatlar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Listener-ləri Queue ilə tənzimləyərək performansı artırmaq olar.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7682793"/>
                  </a:ext>
                </a:extLst>
              </a:tr>
              <a:tr h="565306">
                <a:tc>
                  <a:txBody>
                    <a:bodyPr/>
                    <a:lstStyle/>
                    <a:p>
                      <a:r>
                        <a:rPr lang="en-US" b="1"/>
                        <a:t>Loqika idarəsi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Mürəkkəb hadisələr üçün sadə idarəetmə imkanı verir.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18289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50E99-21EE-C95D-1920-B8149BC4C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8EA287-B6C3-8974-23BA-14CE362C831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C4B187-8B0C-A66C-101B-80FCEE1F5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7269" y="9834"/>
            <a:ext cx="4972744" cy="119079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366928-8271-AF07-3BCA-8E407136F1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06869"/>
            <a:ext cx="12192000" cy="453612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Arrow: Down 6">
            <a:extLst>
              <a:ext uri="{FF2B5EF4-FFF2-40B4-BE49-F238E27FC236}">
                <a16:creationId xmlns:a16="http://schemas.microsoft.com/office/drawing/2014/main" id="{F28401BC-5006-A8B7-103F-83CFA7F0B342}"/>
              </a:ext>
            </a:extLst>
          </p:cNvPr>
          <p:cNvSpPr/>
          <p:nvPr/>
        </p:nvSpPr>
        <p:spPr>
          <a:xfrm>
            <a:off x="5442856" y="1433039"/>
            <a:ext cx="634482" cy="615820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2788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93A91-B010-9960-2FDE-0C5A47E3C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FB3748-AFB5-2099-71CC-B1BDB1026B11}"/>
              </a:ext>
            </a:extLst>
          </p:cNvPr>
          <p:cNvSpPr txBox="1"/>
          <p:nvPr/>
        </p:nvSpPr>
        <p:spPr>
          <a:xfrm>
            <a:off x="217714" y="255046"/>
            <a:ext cx="11756571" cy="6356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İlk baxışda </a:t>
            </a:r>
            <a:r>
              <a:rPr lang="en-US" altLang="en-US" sz="1300" b="1">
                <a:latin typeface="Arial" panose="020B0604020202020204" pitchFamily="34" charset="0"/>
              </a:rPr>
              <a:t>Model Observer </a:t>
            </a:r>
            <a:r>
              <a:rPr lang="en-US" altLang="en-US" sz="1300">
                <a:latin typeface="Arial" panose="020B0604020202020204" pitchFamily="34" charset="0"/>
              </a:rPr>
              <a:t>və </a:t>
            </a:r>
            <a:r>
              <a:rPr lang="en-US" altLang="en-US" sz="1300" b="1">
                <a:latin typeface="Arial" panose="020B0604020202020204" pitchFamily="34" charset="0"/>
              </a:rPr>
              <a:t>Event-Listener</a:t>
            </a:r>
            <a:r>
              <a:rPr lang="en-US" altLang="en-US" sz="1300">
                <a:latin typeface="Arial" panose="020B0604020202020204" pitchFamily="34" charset="0"/>
              </a:rPr>
              <a:t> eyni işi görür kimi görünə bilər – hər ikisi müəyyən hadisə baş verdikdə funksiyanı işə salır. Amma əslində aralarında açıq və məqsədə yönəlmiş fərqlər var.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Məqsəd və Fokus</a:t>
            </a:r>
            <a:endParaRPr lang="az-Latn-AZ" altLang="en-US" sz="1300" b="1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Nəticə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Observer = yalnız model ilə əlaqəlidir.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Event = istənilən tətbiq hadisəsi ola bilər, modeldən asılı deyil.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CC27D9C-0BBC-AC9A-0A4F-2404A4DB78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0115904"/>
              </p:ext>
            </p:extLst>
          </p:nvPr>
        </p:nvGraphicFramePr>
        <p:xfrm>
          <a:off x="217713" y="2039998"/>
          <a:ext cx="11756570" cy="2233421"/>
        </p:xfrm>
        <a:graphic>
          <a:graphicData uri="http://schemas.openxmlformats.org/drawingml/2006/table">
            <a:tbl>
              <a:tblPr/>
              <a:tblGrid>
                <a:gridCol w="1769707">
                  <a:extLst>
                    <a:ext uri="{9D8B030D-6E8A-4147-A177-3AD203B41FA5}">
                      <a16:colId xmlns:a16="http://schemas.microsoft.com/office/drawing/2014/main" val="3264181078"/>
                    </a:ext>
                  </a:extLst>
                </a:gridCol>
                <a:gridCol w="4835548">
                  <a:extLst>
                    <a:ext uri="{9D8B030D-6E8A-4147-A177-3AD203B41FA5}">
                      <a16:colId xmlns:a16="http://schemas.microsoft.com/office/drawing/2014/main" val="2583417360"/>
                    </a:ext>
                  </a:extLst>
                </a:gridCol>
                <a:gridCol w="5151315">
                  <a:extLst>
                    <a:ext uri="{9D8B030D-6E8A-4147-A177-3AD203B41FA5}">
                      <a16:colId xmlns:a16="http://schemas.microsoft.com/office/drawing/2014/main" val="3644254723"/>
                    </a:ext>
                  </a:extLst>
                </a:gridCol>
              </a:tblGrid>
              <a:tr h="595579">
                <a:tc>
                  <a:txBody>
                    <a:bodyPr/>
                    <a:lstStyle/>
                    <a:p>
                      <a:r>
                        <a:rPr lang="en-US" b="0"/>
                        <a:t>Mövzu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Observer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Event-Listener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5590025"/>
                  </a:ext>
                </a:extLst>
              </a:tr>
              <a:tr h="1042263">
                <a:tc>
                  <a:txBody>
                    <a:bodyPr/>
                    <a:lstStyle/>
                    <a:p>
                      <a:r>
                        <a:rPr lang="en-US"/>
                        <a:t>Məqsəd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Model hadisələrini izləmək</a:t>
                      </a:r>
                      <a:r>
                        <a:rPr lang="en-US"/>
                        <a:t> (create, update, delete və s.)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Ümumi hadisələri</a:t>
                      </a:r>
                      <a:r>
                        <a:rPr lang="en-US"/>
                        <a:t> idarə etmək (model ola da bilər, olmaya da)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9898520"/>
                  </a:ext>
                </a:extLst>
              </a:tr>
              <a:tr h="595579">
                <a:tc>
                  <a:txBody>
                    <a:bodyPr/>
                    <a:lstStyle/>
                    <a:p>
                      <a:r>
                        <a:rPr lang="en-US"/>
                        <a:t>Fokus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Model əsaslı iş axınları (Eloquent ORM)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Geniş və modul əsaslı sistem hadisələri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26791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57949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60B22-C9C8-B0D6-38EB-5CBF4E3B0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D86D23-2C30-8817-963F-30C972E40C69}"/>
              </a:ext>
            </a:extLst>
          </p:cNvPr>
          <p:cNvSpPr txBox="1"/>
          <p:nvPr/>
        </p:nvSpPr>
        <p:spPr>
          <a:xfrm>
            <a:off x="217714" y="255046"/>
            <a:ext cx="11756571" cy="1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İstifadə sahələri</a:t>
            </a:r>
            <a:endParaRPr lang="az-Latn-AZ" altLang="en-US" sz="1300" b="1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87FE930-3231-405D-4DE9-5F1EAD9230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6058188"/>
              </p:ext>
            </p:extLst>
          </p:nvPr>
        </p:nvGraphicFramePr>
        <p:xfrm>
          <a:off x="217713" y="882846"/>
          <a:ext cx="11756571" cy="4062377"/>
        </p:xfrm>
        <a:graphic>
          <a:graphicData uri="http://schemas.openxmlformats.org/drawingml/2006/table">
            <a:tbl>
              <a:tblPr/>
              <a:tblGrid>
                <a:gridCol w="3918857">
                  <a:extLst>
                    <a:ext uri="{9D8B030D-6E8A-4147-A177-3AD203B41FA5}">
                      <a16:colId xmlns:a16="http://schemas.microsoft.com/office/drawing/2014/main" val="1066925312"/>
                    </a:ext>
                  </a:extLst>
                </a:gridCol>
                <a:gridCol w="3918857">
                  <a:extLst>
                    <a:ext uri="{9D8B030D-6E8A-4147-A177-3AD203B41FA5}">
                      <a16:colId xmlns:a16="http://schemas.microsoft.com/office/drawing/2014/main" val="4068274821"/>
                    </a:ext>
                  </a:extLst>
                </a:gridCol>
                <a:gridCol w="3918857">
                  <a:extLst>
                    <a:ext uri="{9D8B030D-6E8A-4147-A177-3AD203B41FA5}">
                      <a16:colId xmlns:a16="http://schemas.microsoft.com/office/drawing/2014/main" val="2871079134"/>
                    </a:ext>
                  </a:extLst>
                </a:gridCol>
              </a:tblGrid>
              <a:tr h="507797">
                <a:tc>
                  <a:txBody>
                    <a:bodyPr/>
                    <a:lstStyle/>
                    <a:p>
                      <a:r>
                        <a:rPr lang="en-US" b="1"/>
                        <a:t>Məsələn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Observer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Event-Listener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9459950"/>
                  </a:ext>
                </a:extLst>
              </a:tr>
              <a:tr h="507797">
                <a:tc>
                  <a:txBody>
                    <a:bodyPr/>
                    <a:lstStyle/>
                    <a:p>
                      <a:r>
                        <a:rPr lang="en-US"/>
                        <a:t>Yeni post yaradıldısa loq yaz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✅ Bəli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✅ Bəli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0986723"/>
                  </a:ext>
                </a:extLst>
              </a:tr>
              <a:tr h="888645">
                <a:tc>
                  <a:txBody>
                    <a:bodyPr/>
                    <a:lstStyle/>
                    <a:p>
                      <a:r>
                        <a:rPr lang="en-US"/>
                        <a:t>İstifadəçi qeydiyyatdan keçdisə mail göndər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❌ Yox (çünki bu model hadisəsi deyil)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✅ Bəli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4268011"/>
                  </a:ext>
                </a:extLst>
              </a:tr>
              <a:tr h="1269493">
                <a:tc>
                  <a:txBody>
                    <a:bodyPr/>
                    <a:lstStyle/>
                    <a:p>
                      <a:r>
                        <a:rPr lang="en-US"/>
                        <a:t>İstifadəçi sifariş verdikdə birdən çox əməliyyat getsin (məs: SMS, email, inventar azalsın)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❌ Mürəkkəbdir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✅ Event-Listener ilə çox rahatdır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0044993"/>
                  </a:ext>
                </a:extLst>
              </a:tr>
              <a:tr h="888645">
                <a:tc>
                  <a:txBody>
                    <a:bodyPr/>
                    <a:lstStyle/>
                    <a:p>
                      <a:r>
                        <a:rPr lang="en-US"/>
                        <a:t>Sistem daxilində audit/log sistemləri qurmaq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✅ Yalnız modeldə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✅ Hər yerdə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40029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6780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D2621-65D0-64A5-B2D6-2405D906B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6A98B4-0A21-354B-1037-28392076CCAE}"/>
              </a:ext>
            </a:extLst>
          </p:cNvPr>
          <p:cNvSpPr txBox="1"/>
          <p:nvPr/>
        </p:nvSpPr>
        <p:spPr>
          <a:xfrm>
            <a:off x="217714" y="255046"/>
            <a:ext cx="11756571" cy="1855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Modularity və Çeviklik</a:t>
            </a:r>
            <a:endParaRPr lang="az-Latn-AZ" altLang="en-US" sz="1300" b="1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0C07F8C-669E-E7F1-42E0-972CDA51CA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5923649"/>
              </p:ext>
            </p:extLst>
          </p:nvPr>
        </p:nvGraphicFramePr>
        <p:xfrm>
          <a:off x="217714" y="721584"/>
          <a:ext cx="11669487" cy="2908025"/>
        </p:xfrm>
        <a:graphic>
          <a:graphicData uri="http://schemas.openxmlformats.org/drawingml/2006/table">
            <a:tbl>
              <a:tblPr/>
              <a:tblGrid>
                <a:gridCol w="3889829">
                  <a:extLst>
                    <a:ext uri="{9D8B030D-6E8A-4147-A177-3AD203B41FA5}">
                      <a16:colId xmlns:a16="http://schemas.microsoft.com/office/drawing/2014/main" val="1480557522"/>
                    </a:ext>
                  </a:extLst>
                </a:gridCol>
                <a:gridCol w="3889829">
                  <a:extLst>
                    <a:ext uri="{9D8B030D-6E8A-4147-A177-3AD203B41FA5}">
                      <a16:colId xmlns:a16="http://schemas.microsoft.com/office/drawing/2014/main" val="3642333331"/>
                    </a:ext>
                  </a:extLst>
                </a:gridCol>
                <a:gridCol w="3889829">
                  <a:extLst>
                    <a:ext uri="{9D8B030D-6E8A-4147-A177-3AD203B41FA5}">
                      <a16:colId xmlns:a16="http://schemas.microsoft.com/office/drawing/2014/main" val="1640388462"/>
                    </a:ext>
                  </a:extLst>
                </a:gridCol>
              </a:tblGrid>
              <a:tr h="465284">
                <a:tc>
                  <a:txBody>
                    <a:bodyPr/>
                    <a:lstStyle/>
                    <a:p>
                      <a:r>
                        <a:rPr lang="en-US"/>
                        <a:t>Sahə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Observer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Event-Listener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4253812"/>
                  </a:ext>
                </a:extLst>
              </a:tr>
              <a:tr h="814247">
                <a:tc>
                  <a:txBody>
                    <a:bodyPr/>
                    <a:lstStyle/>
                    <a:p>
                      <a:r>
                        <a:rPr lang="en-US"/>
                        <a:t>Bir hadisəyə </a:t>
                      </a:r>
                      <a:r>
                        <a:rPr lang="en-US" b="1"/>
                        <a:t>bir neçə reaksiya</a:t>
                      </a:r>
                      <a:r>
                        <a:rPr lang="en-US"/>
                        <a:t> vermək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Çətindir / mümkün deyil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✅ Tam uyğundur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394057"/>
                  </a:ext>
                </a:extLst>
              </a:tr>
              <a:tr h="814247">
                <a:tc>
                  <a:txBody>
                    <a:bodyPr/>
                    <a:lstStyle/>
                    <a:p>
                      <a:r>
                        <a:rPr lang="en-US"/>
                        <a:t>Bir Listener-i bir neçə hadisəyə bağlamaq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Mümkün deyil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✅ Tam uyğundur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5011716"/>
                  </a:ext>
                </a:extLst>
              </a:tr>
              <a:tr h="814247">
                <a:tc>
                  <a:txBody>
                    <a:bodyPr/>
                    <a:lstStyle/>
                    <a:p>
                      <a:r>
                        <a:rPr lang="en-US"/>
                        <a:t>Queue və asinxron işlər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Mümkündür, amma əlavə tənzimləmə tələb edir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✅ Birbaşa dəstək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19892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10075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9533A-A351-6D83-A433-AECE17A53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BD6FF2-355F-9641-7321-D7802577C3A5}"/>
              </a:ext>
            </a:extLst>
          </p:cNvPr>
          <p:cNvSpPr txBox="1"/>
          <p:nvPr/>
        </p:nvSpPr>
        <p:spPr>
          <a:xfrm>
            <a:off x="217714" y="255046"/>
            <a:ext cx="11756571" cy="6356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Misal ilə Fərqi göstərək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🔹 </a:t>
            </a:r>
            <a:r>
              <a:rPr lang="en-US" altLang="en-US" sz="1300" b="1">
                <a:latin typeface="Arial" panose="020B0604020202020204" pitchFamily="34" charset="0"/>
              </a:rPr>
              <a:t>Observer Misalı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  <a:r>
              <a:rPr lang="az-Latn-AZ" altLang="en-US" sz="1300">
                <a:latin typeface="Arial" panose="020B0604020202020204" pitchFamily="34" charset="0"/>
              </a:rPr>
              <a:t> </a:t>
            </a:r>
            <a:r>
              <a:rPr lang="en-US" altLang="en-US" sz="1300">
                <a:latin typeface="Arial" panose="020B0604020202020204" pitchFamily="34" charset="0"/>
              </a:rPr>
              <a:t>Post yaradıldıqda avtomatik mail göndərilsin.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Sadəcə bir reaksiya (mail).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Model əsaslı.</a:t>
            </a:r>
            <a:endParaRPr lang="az-Latn-AZ" altLang="en-US" sz="1300"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✅ Observer uyğun seçimdir.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🔹 </a:t>
            </a:r>
            <a:r>
              <a:rPr lang="en-US" altLang="en-US" sz="1300" b="1">
                <a:latin typeface="Arial" panose="020B0604020202020204" pitchFamily="34" charset="0"/>
              </a:rPr>
              <a:t>Event Misalı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  <a:r>
              <a:rPr lang="az-Latn-AZ" altLang="en-US" sz="1300">
                <a:latin typeface="Arial" panose="020B0604020202020204" pitchFamily="34" charset="0"/>
              </a:rPr>
              <a:t> </a:t>
            </a:r>
            <a:r>
              <a:rPr lang="en-US" altLang="en-US" sz="1300">
                <a:latin typeface="Arial" panose="020B0604020202020204" pitchFamily="34" charset="0"/>
              </a:rPr>
              <a:t>İstifadəçi qeydiyyatdan keçdi: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Mail göndər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Audit loq yaz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Bonus əlavə et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SMS göndər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✅ Event və çox sayda Listener mükəmməl uyğun gəlir.</a:t>
            </a:r>
          </a:p>
        </p:txBody>
      </p:sp>
    </p:spTree>
    <p:extLst>
      <p:ext uri="{BB962C8B-B14F-4D97-AF65-F5344CB8AC3E}">
        <p14:creationId xmlns:p14="http://schemas.microsoft.com/office/powerpoint/2010/main" val="14912131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63580-2789-E140-3032-98F3ECEE4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E1BAC3-9FE1-E2A0-5CCA-EA9865645FFA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71369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6E559-D5C7-1596-5F25-B5EBD66F8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E574D0-D098-9262-C203-D9B9B2B12315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95762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3731</TotalTime>
  <Words>659</Words>
  <Application>Microsoft Office PowerPoint</Application>
  <PresentationFormat>Widescreen</PresentationFormat>
  <Paragraphs>181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352</cp:revision>
  <dcterms:created xsi:type="dcterms:W3CDTF">2025-04-12T11:00:44Z</dcterms:created>
  <dcterms:modified xsi:type="dcterms:W3CDTF">2025-06-07T15:08:14Z</dcterms:modified>
</cp:coreProperties>
</file>