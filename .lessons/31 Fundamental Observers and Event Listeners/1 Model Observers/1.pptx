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8" r:id="rId2"/>
    <p:sldId id="402" r:id="rId3"/>
    <p:sldId id="403" r:id="rId4"/>
    <p:sldId id="404" r:id="rId5"/>
    <p:sldId id="405" r:id="rId6"/>
    <p:sldId id="406" r:id="rId7"/>
    <p:sldId id="400" r:id="rId8"/>
    <p:sldId id="407" r:id="rId9"/>
    <p:sldId id="409" r:id="rId10"/>
    <p:sldId id="410" r:id="rId11"/>
    <p:sldId id="414" r:id="rId12"/>
    <p:sldId id="412" r:id="rId13"/>
    <p:sldId id="413" r:id="rId14"/>
    <p:sldId id="41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31C6-8D85-C48B-D1A2-C88DD315F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BB9D70-6A95-957E-2893-AC2BA8F3830B}"/>
              </a:ext>
            </a:extLst>
          </p:cNvPr>
          <p:cNvSpPr txBox="1"/>
          <p:nvPr/>
        </p:nvSpPr>
        <p:spPr>
          <a:xfrm>
            <a:off x="217715" y="255046"/>
            <a:ext cx="1611086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observer</a:t>
            </a:r>
            <a:r>
              <a:rPr lang="az-Latn-AZ" altLang="en-US" sz="1300">
                <a:latin typeface="Arial" panose="020B0604020202020204" pitchFamily="34" charset="0"/>
              </a:rPr>
              <a:t> yaradırıq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B4361-594C-F61C-0236-788AF6E40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596" y="0"/>
            <a:ext cx="99354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423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Model Observers (Model Müşahidəçiləri)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</a:t>
            </a:r>
            <a:r>
              <a:rPr lang="en-US" altLang="en-US" sz="1300" b="1">
                <a:latin typeface="Arial" panose="020B0604020202020204" pitchFamily="34" charset="0"/>
              </a:rPr>
              <a:t>Observer 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Observer — Laravel-də modeldə baş verən </a:t>
            </a:r>
            <a:r>
              <a:rPr lang="en-US" altLang="en-US" sz="1300" b="1">
                <a:latin typeface="Arial" panose="020B0604020202020204" pitchFamily="34" charset="0"/>
              </a:rPr>
              <a:t>CRUD</a:t>
            </a:r>
            <a:r>
              <a:rPr lang="en-US" altLang="en-US" sz="1300">
                <a:latin typeface="Arial" panose="020B0604020202020204" pitchFamily="34" charset="0"/>
              </a:rPr>
              <a:t> əməliyyatlarını izləyən xüsusi </a:t>
            </a:r>
            <a:r>
              <a:rPr lang="az-Latn-AZ" altLang="en-US" sz="1300">
                <a:latin typeface="Arial" panose="020B0604020202020204" pitchFamily="34" charset="0"/>
              </a:rPr>
              <a:t>class -dır</a:t>
            </a:r>
            <a:r>
              <a:rPr lang="en-US" altLang="en-US" sz="1300">
                <a:latin typeface="Arial" panose="020B0604020202020204" pitchFamily="34" charset="0"/>
              </a:rPr>
              <a:t>. Yəni </a:t>
            </a:r>
            <a:r>
              <a:rPr lang="en-US" altLang="en-US" sz="1300" b="1">
                <a:latin typeface="Arial" panose="020B0604020202020204" pitchFamily="34" charset="0"/>
              </a:rPr>
              <a:t>create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update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delete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restore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forceDelete</a:t>
            </a:r>
            <a:r>
              <a:rPr lang="en-US" altLang="en-US" sz="1300">
                <a:latin typeface="Arial" panose="020B0604020202020204" pitchFamily="34" charset="0"/>
              </a:rPr>
              <a:t> kimi hadisələr baş verdikdə, bu hadisələrə uyğun </a:t>
            </a:r>
            <a:r>
              <a:rPr lang="en-US" altLang="en-US" sz="1300" b="1">
                <a:latin typeface="Arial" panose="020B0604020202020204" pitchFamily="34" charset="0"/>
              </a:rPr>
              <a:t>avtomatik funksiya </a:t>
            </a:r>
            <a:r>
              <a:rPr lang="en-US" altLang="en-US" sz="1300">
                <a:latin typeface="Arial" panose="020B0604020202020204" pitchFamily="34" charset="0"/>
              </a:rPr>
              <a:t>işə düşür.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Observer istifadə qaydası (Addım-addım izah)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a)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AppServiceProvider içində Observer qeydiyyatı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Observer</a:t>
            </a:r>
            <a:r>
              <a:rPr lang="en-US" altLang="en-US" sz="1300">
                <a:latin typeface="Arial" panose="020B0604020202020204" pitchFamily="34" charset="0"/>
              </a:rPr>
              <a:t>-lərin Laravel tərəfindən tanınması üçün onu </a:t>
            </a:r>
            <a:r>
              <a:rPr lang="en-US" altLang="en-US" sz="1300" b="1">
                <a:latin typeface="Arial" panose="020B0604020202020204" pitchFamily="34" charset="0"/>
              </a:rPr>
              <a:t>AppServiceProvider</a:t>
            </a:r>
            <a:r>
              <a:rPr lang="en-US" altLang="en-US" sz="1300">
                <a:latin typeface="Arial" panose="020B0604020202020204" pitchFamily="34" charset="0"/>
              </a:rPr>
              <a:t> daxilində </a:t>
            </a:r>
            <a:r>
              <a:rPr lang="en-US" altLang="en-US" sz="1300" b="1">
                <a:latin typeface="Arial" panose="020B0604020202020204" pitchFamily="34" charset="0"/>
              </a:rPr>
              <a:t>boot() </a:t>
            </a:r>
            <a:r>
              <a:rPr lang="en-US" altLang="en-US" sz="1300">
                <a:latin typeface="Arial" panose="020B0604020202020204" pitchFamily="34" charset="0"/>
              </a:rPr>
              <a:t>metodunda qeydiyyatdan keçirməliyik.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 u="sng">
                <a:solidFill>
                  <a:srgbClr val="00B0F0"/>
                </a:solidFill>
                <a:latin typeface="Arial" panose="020B0604020202020204" pitchFamily="34" charset="0"/>
              </a:rPr>
              <a:t>app\Providers\AppServiceProvider.php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sətir Laravel-ə bildirir ki, </a:t>
            </a:r>
            <a:r>
              <a:rPr lang="en-US" altLang="en-US" sz="1300" b="1">
                <a:latin typeface="Arial" panose="020B0604020202020204" pitchFamily="34" charset="0"/>
              </a:rPr>
              <a:t>Post</a:t>
            </a:r>
            <a:r>
              <a:rPr lang="en-US" altLang="en-US" sz="1300">
                <a:latin typeface="Arial" panose="020B0604020202020204" pitchFamily="34" charset="0"/>
              </a:rPr>
              <a:t> modeli ilə əlaqədar əməliyyatlar baş verdikdə</a:t>
            </a:r>
            <a:r>
              <a:rPr lang="az-Latn-AZ" altLang="en-US" sz="1300">
                <a:latin typeface="Arial" panose="020B0604020202020204" pitchFamily="34" charset="0"/>
              </a:rPr>
              <a:t> ( məsələn create)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PostObserver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class -ını</a:t>
            </a:r>
            <a:r>
              <a:rPr lang="en-US" altLang="en-US" sz="1300">
                <a:latin typeface="Arial" panose="020B0604020202020204" pitchFamily="34" charset="0"/>
              </a:rPr>
              <a:t> yoxla və uyğun funksiyanı işə sal.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46FCA-A211-3E06-4562-35E282A94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4259541"/>
            <a:ext cx="3762900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b) PostObserver sinifi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Observer</a:t>
            </a:r>
            <a:r>
              <a:rPr lang="en-US" altLang="en-US" sz="1300">
                <a:latin typeface="Arial" panose="020B0604020202020204" pitchFamily="34" charset="0"/>
              </a:rPr>
              <a:t>-lər </a:t>
            </a:r>
            <a:r>
              <a:rPr lang="en-US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app/Observers </a:t>
            </a:r>
            <a:r>
              <a:rPr lang="en-US" altLang="en-US" sz="1300">
                <a:latin typeface="Arial" panose="020B0604020202020204" pitchFamily="34" charset="0"/>
              </a:rPr>
              <a:t>qovluğunda saxlanılır. Burada </a:t>
            </a:r>
            <a:r>
              <a:rPr lang="en-US" altLang="en-US" sz="1300" b="1">
                <a:latin typeface="Arial" panose="020B0604020202020204" pitchFamily="34" charset="0"/>
              </a:rPr>
              <a:t>created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updated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deleted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restored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forceDeleted</a:t>
            </a:r>
            <a:r>
              <a:rPr lang="en-US" altLang="en-US" sz="1300">
                <a:latin typeface="Arial" panose="020B0604020202020204" pitchFamily="34" charset="0"/>
              </a:rPr>
              <a:t> funksiyaları vasitəsilə hadisələr izlənir.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 u="sng">
                <a:solidFill>
                  <a:srgbClr val="00B0F0"/>
                </a:solidFill>
                <a:latin typeface="Arial" panose="020B0604020202020204" pitchFamily="34" charset="0"/>
              </a:rPr>
              <a:t>app\Observers\PostObserver.php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created() </a:t>
            </a:r>
            <a:r>
              <a:rPr lang="en-US" altLang="en-US" sz="1300">
                <a:latin typeface="Arial" panose="020B0604020202020204" pitchFamily="34" charset="0"/>
              </a:rPr>
              <a:t>metodu içində </a:t>
            </a:r>
            <a:r>
              <a:rPr lang="en-US" altLang="en-US" sz="1300" b="1">
                <a:latin typeface="Arial" panose="020B0604020202020204" pitchFamily="34" charset="0"/>
              </a:rPr>
              <a:t>SendMail::dispatch() </a:t>
            </a:r>
            <a:r>
              <a:rPr lang="en-US" altLang="en-US" sz="1300">
                <a:latin typeface="Arial" panose="020B0604020202020204" pitchFamily="34" charset="0"/>
              </a:rPr>
              <a:t>çağırılır, yəni yeni </a:t>
            </a:r>
            <a:r>
              <a:rPr lang="en-US" altLang="en-US" sz="1300" b="1">
                <a:latin typeface="Arial" panose="020B0604020202020204" pitchFamily="34" charset="0"/>
              </a:rPr>
              <a:t>post</a:t>
            </a:r>
            <a:r>
              <a:rPr lang="en-US" altLang="en-US" sz="1300">
                <a:latin typeface="Arial" panose="020B0604020202020204" pitchFamily="34" charset="0"/>
              </a:rPr>
              <a:t> yaradıldıqda </a:t>
            </a:r>
            <a:r>
              <a:rPr lang="en-US" altLang="en-US" sz="1300" b="1">
                <a:latin typeface="Arial" panose="020B0604020202020204" pitchFamily="34" charset="0"/>
              </a:rPr>
              <a:t>asinxron mail </a:t>
            </a:r>
            <a:r>
              <a:rPr lang="en-US" altLang="en-US" sz="1300">
                <a:latin typeface="Arial" panose="020B0604020202020204" pitchFamily="34" charset="0"/>
              </a:rPr>
              <a:t>göndəriləcək.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AAF81-EBBD-1751-A2E0-EBE7B2A36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648686"/>
            <a:ext cx="5506218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B2DB0-4534-615D-9E9A-C0BDCE571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A76500-4E31-947D-55C0-D6451210B266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c) PostController içində create() metodu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 u="sng">
                <a:solidFill>
                  <a:srgbClr val="00B0F0"/>
                </a:solidFill>
                <a:latin typeface="Arial" panose="020B0604020202020204" pitchFamily="34" charset="0"/>
              </a:rPr>
              <a:t>app\Http\Controllers\PostController.php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metod sadəcə istifadəçiyə yeni </a:t>
            </a:r>
            <a:r>
              <a:rPr lang="en-US" altLang="en-US" sz="1300" b="1">
                <a:latin typeface="Arial" panose="020B0604020202020204" pitchFamily="34" charset="0"/>
              </a:rPr>
              <a:t>post</a:t>
            </a:r>
            <a:r>
              <a:rPr lang="en-US" altLang="en-US" sz="1300">
                <a:latin typeface="Arial" panose="020B0604020202020204" pitchFamily="34" charset="0"/>
              </a:rPr>
              <a:t> yaratmaq formunu göstərir. </a:t>
            </a:r>
            <a:r>
              <a:rPr lang="en-US" altLang="en-US" sz="1300" b="1">
                <a:latin typeface="Arial" panose="020B0604020202020204" pitchFamily="34" charset="0"/>
              </a:rPr>
              <a:t>Post</a:t>
            </a:r>
            <a:r>
              <a:rPr lang="en-US" altLang="en-US" sz="1300">
                <a:latin typeface="Arial" panose="020B0604020202020204" pitchFamily="34" charset="0"/>
              </a:rPr>
              <a:t> yaradıldıqda </a:t>
            </a:r>
            <a:r>
              <a:rPr lang="en-US" altLang="en-US" sz="1300" b="1">
                <a:latin typeface="Arial" panose="020B0604020202020204" pitchFamily="34" charset="0"/>
              </a:rPr>
              <a:t>Observer</a:t>
            </a:r>
            <a:r>
              <a:rPr lang="en-US" altLang="en-US" sz="1300">
                <a:latin typeface="Arial" panose="020B0604020202020204" pitchFamily="34" charset="0"/>
              </a:rPr>
              <a:t> artıq işə düşməyə hazırdır.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2D192-D8E0-B2A7-D790-666F42F9E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35813"/>
            <a:ext cx="4058216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25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5991-8B10-4AB9-978A-A1796E46B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E6B9A0-E01F-F4E6-AEC5-A73867DADB16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d) PostPublished mail sinifi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app\Mail\PostPublished.php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 </a:t>
            </a:r>
            <a:r>
              <a:rPr lang="en-US" altLang="en-US" sz="1300">
                <a:latin typeface="Arial" panose="020B0604020202020204" pitchFamily="34" charset="0"/>
              </a:rPr>
              <a:t>Bu </a:t>
            </a:r>
            <a:r>
              <a:rPr lang="az-Latn-AZ" altLang="en-US" sz="1300">
                <a:latin typeface="Arial" panose="020B0604020202020204" pitchFamily="34" charset="0"/>
              </a:rPr>
              <a:t>class,</a:t>
            </a:r>
            <a:r>
              <a:rPr lang="en-US" altLang="en-US" sz="1300">
                <a:latin typeface="Arial" panose="020B0604020202020204" pitchFamily="34" charset="0"/>
              </a:rPr>
              <a:t> Laravel </a:t>
            </a:r>
            <a:r>
              <a:rPr lang="en-US" altLang="en-US" sz="1300" b="1">
                <a:latin typeface="Arial" panose="020B0604020202020204" pitchFamily="34" charset="0"/>
              </a:rPr>
              <a:t>Mail</a:t>
            </a:r>
            <a:r>
              <a:rPr lang="en-US" altLang="en-US" sz="1300">
                <a:latin typeface="Arial" panose="020B0604020202020204" pitchFamily="34" charset="0"/>
              </a:rPr>
              <a:t> sistemi üçün </a:t>
            </a:r>
            <a:r>
              <a:rPr lang="en-US" altLang="en-US" sz="1300" b="1">
                <a:latin typeface="Arial" panose="020B0604020202020204" pitchFamily="34" charset="0"/>
              </a:rPr>
              <a:t>HTML</a:t>
            </a:r>
            <a:r>
              <a:rPr lang="en-US" altLang="en-US" sz="1300">
                <a:latin typeface="Arial" panose="020B0604020202020204" pitchFamily="34" charset="0"/>
              </a:rPr>
              <a:t> görünüşünü (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welcome.blade.php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) göstərir</a:t>
            </a:r>
            <a:r>
              <a:rPr lang="az-Latn-AZ" altLang="en-US" sz="1300">
                <a:latin typeface="Arial" panose="020B0604020202020204" pitchFamily="34" charset="0"/>
              </a:rPr>
              <a:t> (göndərir)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e) SendMail iş (Job)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class -ı</a:t>
            </a:r>
            <a:endParaRPr lang="en-US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Observer</a:t>
            </a:r>
            <a:r>
              <a:rPr lang="az-Latn-AZ" altLang="en-US" sz="1300" b="1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SendMail::dispatch() </a:t>
            </a:r>
            <a:r>
              <a:rPr lang="en-US" altLang="en-US" sz="1300">
                <a:latin typeface="Arial" panose="020B0604020202020204" pitchFamily="34" charset="0"/>
              </a:rPr>
              <a:t>ilə bu </a:t>
            </a:r>
            <a:r>
              <a:rPr lang="az-Latn-AZ" altLang="en-US" sz="1300" b="1">
                <a:latin typeface="Arial" panose="020B0604020202020204" pitchFamily="34" charset="0"/>
              </a:rPr>
              <a:t>job</a:t>
            </a:r>
            <a:r>
              <a:rPr lang="az-Latn-AZ" altLang="en-US" sz="1300">
                <a:latin typeface="Arial" panose="020B0604020202020204" pitchFamily="34" charset="0"/>
              </a:rPr>
              <a:t> -u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Queue</a:t>
            </a:r>
            <a:r>
              <a:rPr lang="en-US" altLang="en-US" sz="1300">
                <a:latin typeface="Arial" panose="020B0604020202020204" pitchFamily="34" charset="0"/>
              </a:rPr>
              <a:t>-ya göndərir.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 u="sng">
                <a:solidFill>
                  <a:srgbClr val="00B0F0"/>
                </a:solidFill>
                <a:latin typeface="Arial" panose="020B0604020202020204" pitchFamily="34" charset="0"/>
              </a:rPr>
              <a:t>app\Jobs\SendMail.php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Burada </a:t>
            </a:r>
            <a:r>
              <a:rPr lang="az-Latn-AZ" altLang="en-US" sz="1300" b="1">
                <a:latin typeface="Arial" panose="020B0604020202020204" pitchFamily="34" charset="0"/>
              </a:rPr>
              <a:t>handle() </a:t>
            </a:r>
            <a:r>
              <a:rPr lang="az-Latn-AZ" altLang="en-US" sz="1300">
                <a:latin typeface="Arial" panose="020B0604020202020204" pitchFamily="34" charset="0"/>
              </a:rPr>
              <a:t>metodu, Laravel Queue</a:t>
            </a:r>
            <a:r>
              <a:rPr lang="az-Latn-AZ" altLang="en-US" sz="1300" b="1">
                <a:latin typeface="Arial" panose="020B0604020202020204" pitchFamily="34" charset="0"/>
              </a:rPr>
              <a:t> job </a:t>
            </a:r>
            <a:r>
              <a:rPr lang="az-Latn-AZ" altLang="en-US" sz="1300">
                <a:latin typeface="Arial" panose="020B0604020202020204" pitchFamily="34" charset="0"/>
              </a:rPr>
              <a:t>-u tərəfindən işə salınır və </a:t>
            </a:r>
            <a:r>
              <a:rPr lang="az-Latn-AZ" altLang="en-US" sz="1300" b="1">
                <a:latin typeface="Arial" panose="020B0604020202020204" pitchFamily="34" charset="0"/>
              </a:rPr>
              <a:t>PostPublished</a:t>
            </a:r>
            <a:r>
              <a:rPr lang="az-Latn-AZ" altLang="en-US" sz="1300">
                <a:latin typeface="Arial" panose="020B0604020202020204" pitchFamily="34" charset="0"/>
              </a:rPr>
              <a:t> maili göndərilir.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6D9CB-F3BF-E246-76F1-96382CDE4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080950"/>
            <a:ext cx="3004504" cy="1811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85A417-492C-1AE2-4FA9-5BDBC6DD5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88" y="4960347"/>
            <a:ext cx="2931029" cy="16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8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33A94-8513-642B-98DA-1B08D4E3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EE7470-F57D-035D-DB4E-D4D21FF3976F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Observer istifadəsinin üstünlükləri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Kodun təmiz saxlanması – Controller və ya Model kodu şişməz.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Avtomatlaşdırılmış iş axını – Məsələn, yeni post yaradıldıqda avtomatik mail göndərilməsi.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Test və debugging asanlığı – Hadisə əsaslı kodu izləmək və test etmək daha rahatdır.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Separation of Concerns prinsipinə uyğundur.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Separation of Concerns (SoC) prinsipi </a:t>
            </a:r>
            <a:r>
              <a:rPr lang="en-US" altLang="en-US" sz="1300">
                <a:latin typeface="Arial" panose="020B0604020202020204" pitchFamily="34" charset="0"/>
              </a:rPr>
              <a:t>— proqramlaşdırmada çox vacib olan arxitektura prinsiplərindən biridir. Bu prinsipin məqsədi — bir tətbiqin fərqli funksiyalarını və məsuliyyətlərini ayrı-ayrı hissələrə bölməkdir.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Sadə Təriflə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“Hər bir modul və ya hissə yalnız bir işə cavabdeh olmalıdır.”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Yəni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Bir sinif yalnız bir məsuliyyəti daşısın.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Bir funksiyadan yalnız bir məqsəd üçün istifadə olunsun.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Məntiq (logic), görünüş (view), məlumat bazası əməliyyatları (data access) bir-birinə qarışmasın.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044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SoC real nümunə ilə: Laravel kontekstində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Tutaq ki, yeni </a:t>
            </a:r>
            <a:r>
              <a:rPr lang="en-US" altLang="en-US" sz="1300" b="1">
                <a:latin typeface="Arial" panose="020B0604020202020204" pitchFamily="34" charset="0"/>
              </a:rPr>
              <a:t>Post</a:t>
            </a:r>
            <a:r>
              <a:rPr lang="en-US" altLang="en-US" sz="1300">
                <a:latin typeface="Arial" panose="020B0604020202020204" pitchFamily="34" charset="0"/>
              </a:rPr>
              <a:t> yaradıldıqda istifadəçiyə </a:t>
            </a:r>
            <a:r>
              <a:rPr lang="en-US" altLang="en-US" sz="1300" b="1">
                <a:latin typeface="Arial" panose="020B0604020202020204" pitchFamily="34" charset="0"/>
              </a:rPr>
              <a:t>email</a:t>
            </a:r>
            <a:r>
              <a:rPr lang="en-US" altLang="en-US" sz="1300">
                <a:latin typeface="Arial" panose="020B0604020202020204" pitchFamily="34" charset="0"/>
              </a:rPr>
              <a:t> göndərmək istəyirik.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en-US" sz="1300" b="1">
                <a:latin typeface="Arial" panose="020B0604020202020204" pitchFamily="34" charset="0"/>
              </a:rPr>
              <a:t>Separation of Concerns-a zidd nümunə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Əgər bu əməliyyatı birbaşa </a:t>
            </a:r>
            <a:r>
              <a:rPr lang="en-US" altLang="en-US" sz="1300" b="1">
                <a:latin typeface="Arial" panose="020B0604020202020204" pitchFamily="34" charset="0"/>
              </a:rPr>
              <a:t>PostController</a:t>
            </a:r>
            <a:r>
              <a:rPr lang="en-US" altLang="en-US" sz="1300">
                <a:latin typeface="Arial" panose="020B0604020202020204" pitchFamily="34" charset="0"/>
              </a:rPr>
              <a:t> daxilində belə etsək: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 b="1">
                <a:latin typeface="Arial" panose="020B0604020202020204" pitchFamily="34" charset="0"/>
              </a:rPr>
              <a:t>Bu halda controller həm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Verilənləri yazır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Mail göndərir</a:t>
            </a:r>
          </a:p>
          <a:p>
            <a:pPr>
              <a:lnSpc>
                <a:spcPct val="150000"/>
              </a:lnSpc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Bu isə iki məsuliyyət deməkdir. Bu, </a:t>
            </a:r>
            <a:r>
              <a:rPr lang="en-US" altLang="en-US" sz="1300" b="1">
                <a:latin typeface="Arial" panose="020B0604020202020204" pitchFamily="34" charset="0"/>
              </a:rPr>
              <a:t>SoC</a:t>
            </a:r>
            <a:r>
              <a:rPr lang="en-US" altLang="en-US" sz="1300">
                <a:latin typeface="Arial" panose="020B0604020202020204" pitchFamily="34" charset="0"/>
              </a:rPr>
              <a:t> prinsipinə ziddir.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DE339-B215-6398-FD69-321E182B0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943020"/>
            <a:ext cx="4467849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36B47-1D7D-107A-467D-96F534BB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C82BDD-08B5-6F9D-7331-28048ED88E8F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Doğru yanaşma (SoC ilə uyğun)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Controller: sadəcə post yaratmaq məsuliyyətini daşıyır.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Observer: post yaradıldığını "müşahidə" edir.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Job: mail göndərmə məsuliyyətini daşıyır.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Mail class: mail görünüşünü idarə edir.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Beləliklə hər hissə yalnız bir məsuliyyəti yerinə yetirir.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043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2798-4234-1934-11B7-15111C096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E31AE0-FBD0-3C31-E966-F4E2C91A852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Sistemə giriş edirik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86AC23-7711-D92F-4A54-B3F9D93AF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303" y="1123150"/>
            <a:ext cx="8754697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39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AF1F6-CEAF-93B9-7B94-D4C3A5330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838B08-5C4E-A17D-B64C-8281424F1EE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QUEUE</a:t>
            </a:r>
            <a:r>
              <a:rPr lang="az-Latn-AZ" altLang="en-US" sz="1300">
                <a:latin typeface="Arial" panose="020B0604020202020204" pitchFamily="34" charset="0"/>
              </a:rPr>
              <a:t> -nu işə salırıq.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8A7BFB-41DF-0CE2-294B-5FCAA5C47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993181"/>
            <a:ext cx="12192000" cy="86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72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4C52-9A25-E0B9-5043-6FD9ADAB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17977-7595-E195-BF3C-BF38B70E879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Verilənlər bazasına məlumat yazırıq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D28DF-D7D8-2E0D-71BD-FB06D5119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538" y="0"/>
            <a:ext cx="6299462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2963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A3DF-BA11-B551-FCB1-DCDC855C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2120F3-C0E3-4F05-9492-6FFF9324318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 </a:t>
            </a:r>
            <a:r>
              <a:rPr lang="az-Latn-AZ" altLang="en-US" sz="1300">
                <a:latin typeface="Arial" panose="020B0604020202020204" pitchFamily="34" charset="0"/>
              </a:rPr>
              <a:t>göndərilən zaman, poçtaya bu haqqda mesaj gəlir.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DE47C4-6C67-CFD5-D085-9EF9F1B8B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8792"/>
            <a:ext cx="12192000" cy="50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9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FA01A-F35B-86E4-0BBF-87DCA84C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57694F-0A4A-92DD-C78E-DB879A49D29E}"/>
              </a:ext>
            </a:extLst>
          </p:cNvPr>
          <p:cNvSpPr txBox="1"/>
          <p:nvPr/>
        </p:nvSpPr>
        <p:spPr>
          <a:xfrm>
            <a:off x="217714" y="10575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Ümumi struktur bu cürdür.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F1E43-AE00-D8F5-679B-70AB90490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5021"/>
            <a:ext cx="12192000" cy="632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15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335B-7B88-A37E-B4FB-66135D050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2422DE-BEF7-4123-919F-F2F6ADC7428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1145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2444</TotalTime>
  <Words>545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345</cp:revision>
  <dcterms:created xsi:type="dcterms:W3CDTF">2025-04-12T11:00:44Z</dcterms:created>
  <dcterms:modified xsi:type="dcterms:W3CDTF">2025-06-06T16:51:51Z</dcterms:modified>
</cp:coreProperties>
</file>