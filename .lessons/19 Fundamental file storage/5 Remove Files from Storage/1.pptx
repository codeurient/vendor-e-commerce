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4" r:id="rId4"/>
    <p:sldId id="405" r:id="rId5"/>
    <p:sldId id="406" r:id="rId6"/>
    <p:sldId id="403" r:id="rId7"/>
    <p:sldId id="400" r:id="rId8"/>
    <p:sldId id="407" r:id="rId9"/>
    <p:sldId id="408" r:id="rId10"/>
    <p:sldId id="409" r:id="rId11"/>
    <p:sldId id="410" r:id="rId12"/>
    <p:sldId id="411" r:id="rId13"/>
    <p:sldId id="41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5" y="255046"/>
            <a:ext cx="8483226" cy="513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Bu dərs şəkilləri, faylları necə silə bilərik ona baxaq. İlk öncə manual olaraq eyni şəkli kopyala yapışdır edərək adlarını dəyişdirəcəm.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Ş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əkillərin adlarını dəyişdirdikdən sonra 3 fərqli əmrə göz gəzdirəcəyik: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Laravel-də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Storage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fasadı ilə istifadə olunan bu üç fərqli əmr, faylın hansı "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disk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"dən (yəni konfiqurasiya olunmuş fayl sistemindən) silinəcəyini müəyyən edir.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Yəni, bu üç əmrin arasındakı əsas fərq, faylın hansı yerdə (diskdə) saxlandığına aiddir. Laravel-də Storage istifadə olunanda, fayllar fərqli disklərdə (yəni qovluqlarda) saxlanıla bilər.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Gəlin bu əmrlərin fərqlərinə ətraflı baxaq: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Storage::disk('public')-&gt;delete('/images/image_1.jpg');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Haradan silir?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 bu yerdən silir: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storage/app/public/images/image_1.jpg</a:t>
            </a:r>
          </a:p>
          <a:p>
            <a:pPr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1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yerə </a:t>
            </a:r>
            <a:r>
              <a:rPr kumimoji="0" lang="en-US" altLang="en-US" sz="11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disk </a:t>
            </a:r>
            <a:r>
              <a:rPr kumimoji="0" lang="en-US" altLang="en-US" sz="11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deyilir və bu fayllar veb səhifədən açıq görünə bilər (əgər </a:t>
            </a:r>
            <a:r>
              <a:rPr kumimoji="0" lang="en-US" altLang="en-US" sz="11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php artisan storage:link </a:t>
            </a:r>
            <a:r>
              <a:rPr kumimoji="0" lang="en-US" altLang="en-US" sz="11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işlətmisənsə).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DB5E8F-8EFF-4A7C-34C5-D4F6388C1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751" y="0"/>
            <a:ext cx="334024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C458D5-3811-7EE3-9B1D-918DCA1E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6922"/>
            <a:ext cx="5115639" cy="1076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3A367C-7C40-97CB-9DC7-0699E1BD61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629"/>
          <a:stretch/>
        </p:blipFill>
        <p:spPr>
          <a:xfrm>
            <a:off x="0" y="5600770"/>
            <a:ext cx="2356701" cy="12572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FD5EF6-C86C-62BF-F0CB-88092B4425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700" y="5597123"/>
            <a:ext cx="513456" cy="125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63754" cy="539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2. 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Storage::disk('local')-&gt;delete('images/image_1.jpg’);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Haradan silir?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Faylı bu yerdən silir: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storage/app/images/image_1.jpg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🔐 Bu local diskdir. Buradakı fayllar veb səhifədən görünmür.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Yəni </a:t>
            </a:r>
            <a:r>
              <a:rPr lang="az-Latn-AZ" altLang="en-US" sz="1100" b="1">
                <a:latin typeface="Arial" panose="020B0604020202020204" pitchFamily="34" charset="0"/>
              </a:rPr>
              <a:t>http://localhost/storage/... </a:t>
            </a:r>
            <a:r>
              <a:rPr lang="az-Latn-AZ" altLang="en-US" sz="1100">
                <a:latin typeface="Arial" panose="020B0604020202020204" pitchFamily="34" charset="0"/>
              </a:rPr>
              <a:t>ilə daxil ola bilməzsən.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Storage::delete('images/image_1.jpg’);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Haradan silir?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Bu, Laravel konfiqurasiyasındakı default disk-dən silir.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Əgər </a:t>
            </a:r>
            <a:r>
              <a:rPr lang="az-Latn-AZ" altLang="en-US" sz="1100" b="1">
                <a:latin typeface="Arial" panose="020B0604020202020204" pitchFamily="34" charset="0"/>
              </a:rPr>
              <a:t>.env </a:t>
            </a:r>
            <a:r>
              <a:rPr lang="az-Latn-AZ" altLang="en-US" sz="1100">
                <a:latin typeface="Arial" panose="020B0604020202020204" pitchFamily="34" charset="0"/>
              </a:rPr>
              <a:t>faylında belə yazılıbsa: onda bu əmr, 1-ci əmr kimi işləyəcək.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belə yazılıbsa: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onda bu əmr, 2-ci əmr kimi işləyəcək.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35E22-2A06-8DDA-69DF-4C5B276CA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57753"/>
            <a:ext cx="2105319" cy="552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A37334-66B1-9179-4B67-1D37FE583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" y="5714793"/>
            <a:ext cx="2095792" cy="504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0EAFEE-E0F7-CF5D-F89D-B4F1420B1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060" y="0"/>
            <a:ext cx="58199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18BE1-DB36-0A9E-9540-1173B684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02DE4-3DEB-DCA4-E785-B944F1B378E4}"/>
              </a:ext>
            </a:extLst>
          </p:cNvPr>
          <p:cNvSpPr txBox="1"/>
          <p:nvPr/>
        </p:nvSpPr>
        <p:spPr>
          <a:xfrm>
            <a:off x="217714" y="255046"/>
            <a:ext cx="11756571" cy="38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/>
              <a:t>Sadə Cədvəl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D331DE-70C1-561F-A0C6-8455B6C9A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032278"/>
              </p:ext>
            </p:extLst>
          </p:nvPr>
        </p:nvGraphicFramePr>
        <p:xfrm>
          <a:off x="217714" y="1073329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130471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088472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341660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64304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Əmr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Hansı disk?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Fayl haradadır?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Vebdən görünürmü?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87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public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storage/app/public/...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Bəli (əgər link verilibsə)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927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storage/app/...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Xeyr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Config-dən asılıdır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Asılıdır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00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842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7DB65-5C00-7981-3DC2-6821D7C23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4BF384-B1A2-BDCC-40D3-6C344A62CE56}"/>
              </a:ext>
            </a:extLst>
          </p:cNvPr>
          <p:cNvSpPr txBox="1"/>
          <p:nvPr/>
        </p:nvSpPr>
        <p:spPr>
          <a:xfrm>
            <a:off x="198663" y="196836"/>
            <a:ext cx="11756571" cy="5647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  <a:cs typeface="Arial" panose="020B0604020202020204" pitchFamily="34" charset="0"/>
              </a:rPr>
              <a:t>Silmək üçün </a:t>
            </a:r>
            <a:r>
              <a:rPr lang="az-Latn-AZ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az-Latn-AZ" altLang="en-US" sz="1100">
                <a:latin typeface="Arial" panose="020B0604020202020204" pitchFamily="34" charset="0"/>
                <a:cs typeface="Arial" panose="020B0604020202020204" pitchFamily="34" charset="0"/>
              </a:rPr>
              <a:t> -dən fərqli bir addım olan 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az-Latn-AZ" altLang="en-US" sz="1100">
                <a:latin typeface="Arial" panose="020B0604020202020204" pitchFamily="34" charset="0"/>
                <a:cs typeface="Arial" panose="020B0604020202020204" pitchFamily="34" charset="0"/>
              </a:rPr>
              <a:t> classından istifadə edə bilərik.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kumimoji="0" lang="it-IT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File::delete(...) </a:t>
            </a:r>
            <a:r>
              <a:rPr kumimoji="0" lang="it-IT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nə edir?</a:t>
            </a: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100">
                <a:latin typeface="Arial" panose="020B0604020202020204" pitchFamily="34" charset="0"/>
                <a:cs typeface="Arial" panose="020B0604020202020204" pitchFamily="34" charset="0"/>
              </a:rPr>
              <a:t>Laravel-də </a:t>
            </a:r>
            <a:r>
              <a:rPr lang="az-Latn-AZ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az-Latn-AZ" altLang="en-US" sz="1100">
                <a:latin typeface="Arial" panose="020B0604020202020204" pitchFamily="34" charset="0"/>
                <a:cs typeface="Arial" panose="020B0604020202020204" pitchFamily="34" charset="0"/>
              </a:rPr>
              <a:t> klası, əslində Laravel-in </a:t>
            </a:r>
            <a:r>
              <a:rPr lang="az-Latn-AZ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Illuminate\Support\Facades\File </a:t>
            </a:r>
            <a:r>
              <a:rPr lang="az-Latn-AZ" altLang="en-US" sz="1100">
                <a:latin typeface="Arial" panose="020B0604020202020204" pitchFamily="34" charset="0"/>
                <a:cs typeface="Arial" panose="020B0604020202020204" pitchFamily="34" charset="0"/>
              </a:rPr>
              <a:t>paketidir və fayl sistemi ilə birbaşa işləməyə imkan verir. </a:t>
            </a:r>
          </a:p>
          <a:p>
            <a:pPr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100">
                <a:latin typeface="Arial" panose="020B0604020202020204" pitchFamily="34" charset="0"/>
                <a:cs typeface="Arial" panose="020B0604020202020204" pitchFamily="34" charset="0"/>
              </a:rPr>
              <a:t>Bu metod, göstərilən faylın fiziki olaraq serverdən silinməsini təmin edir. Əgər fayl mövcud deyilsə, heç bir </a:t>
            </a:r>
            <a:r>
              <a:rPr lang="az-Latn-AZ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xəta atmır </a:t>
            </a:r>
            <a:r>
              <a:rPr lang="az-Latn-AZ" altLang="en-US" sz="1100">
                <a:latin typeface="Arial" panose="020B0604020202020204" pitchFamily="34" charset="0"/>
                <a:cs typeface="Arial" panose="020B0604020202020204" pitchFamily="34" charset="0"/>
              </a:rPr>
              <a:t>– sadəcə olaraq heç nə etmir.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storage_path(...)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nədir?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100">
                <a:latin typeface="Arial" panose="020B0604020202020204" pitchFamily="34" charset="0"/>
                <a:cs typeface="Arial" panose="020B0604020202020204" pitchFamily="34" charset="0"/>
              </a:rPr>
              <a:t>Bu, Laravel-in köməkçi funksiyasıdır. O, Laravel-in </a:t>
            </a:r>
            <a:r>
              <a:rPr lang="az-Latn-AZ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az-Latn-AZ" altLang="en-US" sz="1100">
                <a:latin typeface="Arial" panose="020B0604020202020204" pitchFamily="34" charset="0"/>
                <a:cs typeface="Arial" panose="020B0604020202020204" pitchFamily="34" charset="0"/>
              </a:rPr>
              <a:t> qovluğuna tam yol qaytarır. Əgər sən </a:t>
            </a:r>
            <a:r>
              <a:rPr lang="az-Latn-AZ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storage_path('/app/public/images/image_3.jpg') </a:t>
            </a:r>
            <a:r>
              <a:rPr lang="az-Latn-AZ" altLang="en-US" sz="1100">
                <a:latin typeface="Arial" panose="020B0604020202020204" pitchFamily="34" charset="0"/>
                <a:cs typeface="Arial" panose="020B0604020202020204" pitchFamily="34" charset="0"/>
              </a:rPr>
              <a:t>yazırsansa, Laravel bunu belə bir tam yola çevirir:</a:t>
            </a:r>
          </a:p>
          <a:p>
            <a:pPr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Deməli nəticə bu olur:</a:t>
            </a: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4AB45E-70E8-7B4C-9DCD-0D219DDB4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66" y="2099818"/>
            <a:ext cx="2200582" cy="571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FA366A-70FB-9754-9673-71849A1B7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63" y="3514166"/>
            <a:ext cx="3791479" cy="543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CA5A21-7354-1579-3243-F9B8A420C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766" y="4803663"/>
            <a:ext cx="4363059" cy="523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CDB4A2-462B-E643-F9AA-F0E6696C6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766" y="5825870"/>
            <a:ext cx="5010849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92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11C4B-FE5B-3030-A6A8-3B1670DC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BC93F3-D3F9-F07B-D44F-99ADF1F285A2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Sadə şəkildə: bu sətir nə edir?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Bu, əslində bu əmri icra edir: Fiziki olaraq sil →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/laravel-proyektinin-yolu/storage/app/public/images/image_3.jpg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faylını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E950BE-A021-B36F-244B-5B6E2CCA4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82144"/>
            <a:ext cx="5172797" cy="5048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B6981C-60B7-2677-291B-FC870E7AE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751" y="2285336"/>
            <a:ext cx="5527249" cy="457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11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Niyə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Storage::delete(...)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yox,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File::delete(...)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olunur?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"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Laravel-in low-level PHP unlink()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metodunu əvəzləyir" nə deməkdir?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PHP-də faylı silmək üçün əsas (low-level) üsul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unlink()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funksiyasıdır: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PHP funksiyası sistemə deyir ki: “Bu faylı bu yoldan sil.” Əgər fayl mövcud deyilsə,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unlink() xəta verir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2A2C1D-714E-9993-4A95-57DBA0540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387289"/>
              </p:ext>
            </p:extLst>
          </p:nvPr>
        </p:nvGraphicFramePr>
        <p:xfrm>
          <a:off x="217714" y="865939"/>
          <a:ext cx="10547696" cy="1773568"/>
        </p:xfrm>
        <a:graphic>
          <a:graphicData uri="http://schemas.openxmlformats.org/drawingml/2006/table">
            <a:tbl>
              <a:tblPr/>
              <a:tblGrid>
                <a:gridCol w="5273848">
                  <a:extLst>
                    <a:ext uri="{9D8B030D-6E8A-4147-A177-3AD203B41FA5}">
                      <a16:colId xmlns:a16="http://schemas.microsoft.com/office/drawing/2014/main" val="3357166291"/>
                    </a:ext>
                  </a:extLst>
                </a:gridCol>
                <a:gridCol w="5273848">
                  <a:extLst>
                    <a:ext uri="{9D8B030D-6E8A-4147-A177-3AD203B41FA5}">
                      <a16:colId xmlns:a16="http://schemas.microsoft.com/office/drawing/2014/main" val="3968829048"/>
                    </a:ext>
                  </a:extLst>
                </a:gridCol>
              </a:tblGrid>
              <a:tr h="443392">
                <a:tc>
                  <a:txBody>
                    <a:bodyPr/>
                    <a:lstStyle/>
                    <a:p>
                      <a:r>
                        <a:rPr lang="en-US" b="1"/>
                        <a:t>File::delete()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Storage::delete()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464177"/>
                  </a:ext>
                </a:extLst>
              </a:tr>
              <a:tr h="443392">
                <a:tc>
                  <a:txBody>
                    <a:bodyPr/>
                    <a:lstStyle/>
                    <a:p>
                      <a:r>
                        <a:rPr lang="pl-PL"/>
                        <a:t>Fiziki tam yol lazımdır (</a:t>
                      </a:r>
                      <a:r>
                        <a:rPr lang="az-Latn-AZ"/>
                        <a:t> </a:t>
                      </a:r>
                      <a:r>
                        <a:rPr lang="pl-PL" b="1"/>
                        <a:t>/var/www/...</a:t>
                      </a:r>
                      <a:r>
                        <a:rPr lang="az-Latn-AZ" b="1"/>
                        <a:t> </a:t>
                      </a:r>
                      <a:r>
                        <a:rPr lang="pl-PL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Nisbətən yol verilir (</a:t>
                      </a:r>
                      <a:r>
                        <a:rPr lang="az-Latn-AZ"/>
                        <a:t> </a:t>
                      </a:r>
                      <a:r>
                        <a:rPr lang="en-US" b="1"/>
                        <a:t>images/image_3.jpg</a:t>
                      </a:r>
                      <a:r>
                        <a:rPr lang="az-Latn-AZ" b="1"/>
                        <a:t> 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340035"/>
                  </a:ext>
                </a:extLst>
              </a:tr>
              <a:tr h="443392">
                <a:tc>
                  <a:txBody>
                    <a:bodyPr/>
                    <a:lstStyle/>
                    <a:p>
                      <a:r>
                        <a:rPr lang="en-US"/>
                        <a:t>Laravel-in </a:t>
                      </a:r>
                      <a:r>
                        <a:rPr lang="en-US" b="1">
                          <a:solidFill>
                            <a:srgbClr val="FF0000"/>
                          </a:solidFill>
                        </a:rPr>
                        <a:t>low-level PHP unlink() </a:t>
                      </a:r>
                      <a:r>
                        <a:rPr lang="en-US"/>
                        <a:t>metodunu əvəzləyir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v-SE"/>
                        <a:t>Laravel-in </a:t>
                      </a:r>
                      <a:r>
                        <a:rPr lang="sv-SE" b="1">
                          <a:solidFill>
                            <a:srgbClr val="FF0000"/>
                          </a:solidFill>
                        </a:rPr>
                        <a:t>disk() </a:t>
                      </a:r>
                      <a:r>
                        <a:rPr lang="sv-SE"/>
                        <a:t>və </a:t>
                      </a:r>
                      <a:r>
                        <a:rPr lang="sv-SE" b="1">
                          <a:solidFill>
                            <a:srgbClr val="FF0000"/>
                          </a:solidFill>
                        </a:rPr>
                        <a:t>filesystem</a:t>
                      </a:r>
                      <a:r>
                        <a:rPr lang="sv-SE"/>
                        <a:t> ayarlarını istifadə edir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759852"/>
                  </a:ext>
                </a:extLst>
              </a:tr>
              <a:tr h="443392">
                <a:tc>
                  <a:txBody>
                    <a:bodyPr/>
                    <a:lstStyle/>
                    <a:p>
                      <a:r>
                        <a:rPr lang="en-US"/>
                        <a:t>Daha birbaşa və sadədir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Daha çevik və disk əsaslıdır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94501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FE690E0-70FB-1441-B011-87BC748CE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3830988"/>
            <a:ext cx="2572109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Laravel-dəki bu: 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File::delete($file_path); 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əslində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unlink()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funksiyasının üstündə yazılmış etibarlı bir qutu (wrapper) kimidir.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File::delete() → unlink()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funksiyasını təhlükəsiz şəkildə çağırır.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A87BFB-92E4-9662-6AEA-BFE595AD6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978850"/>
              </p:ext>
            </p:extLst>
          </p:nvPr>
        </p:nvGraphicFramePr>
        <p:xfrm>
          <a:off x="217714" y="1244765"/>
          <a:ext cx="10464537" cy="1732089"/>
        </p:xfrm>
        <a:graphic>
          <a:graphicData uri="http://schemas.openxmlformats.org/drawingml/2006/table">
            <a:tbl>
              <a:tblPr/>
              <a:tblGrid>
                <a:gridCol w="3488179">
                  <a:extLst>
                    <a:ext uri="{9D8B030D-6E8A-4147-A177-3AD203B41FA5}">
                      <a16:colId xmlns:a16="http://schemas.microsoft.com/office/drawing/2014/main" val="4143292505"/>
                    </a:ext>
                  </a:extLst>
                </a:gridCol>
                <a:gridCol w="3488179">
                  <a:extLst>
                    <a:ext uri="{9D8B030D-6E8A-4147-A177-3AD203B41FA5}">
                      <a16:colId xmlns:a16="http://schemas.microsoft.com/office/drawing/2014/main" val="182542997"/>
                    </a:ext>
                  </a:extLst>
                </a:gridCol>
                <a:gridCol w="3488179">
                  <a:extLst>
                    <a:ext uri="{9D8B030D-6E8A-4147-A177-3AD203B41FA5}">
                      <a16:colId xmlns:a16="http://schemas.microsoft.com/office/drawing/2014/main" val="3658571982"/>
                    </a:ext>
                  </a:extLst>
                </a:gridCol>
              </a:tblGrid>
              <a:tr h="577363">
                <a:tc>
                  <a:txBody>
                    <a:bodyPr/>
                    <a:lstStyle/>
                    <a:p>
                      <a:r>
                        <a:rPr lang="en-US" b="1"/>
                        <a:t>Funksiya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Fayl yoxdursa nə edir?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Təhlükəsizdirmi?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350208"/>
                  </a:ext>
                </a:extLst>
              </a:tr>
              <a:tr h="577363">
                <a:tc>
                  <a:txBody>
                    <a:bodyPr/>
                    <a:lstStyle/>
                    <a:p>
                      <a:r>
                        <a:rPr lang="en-US"/>
                        <a:t>unlink()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XƏTA atır (Warning)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Yox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552525"/>
                  </a:ext>
                </a:extLst>
              </a:tr>
              <a:tr h="577363">
                <a:tc>
                  <a:txBody>
                    <a:bodyPr/>
                    <a:lstStyle/>
                    <a:p>
                      <a:r>
                        <a:rPr lang="en-US"/>
                        <a:t>File::delete()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Səssizcə heç nə etmir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Bəli (safe wrapper)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474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F6DC9-EEE6-430C-EA74-6EEEF46D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CDD776-84B2-8439-DABC-EE788D11BD24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File::delete(...)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Storage::delete(...)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 yoxdursa nə edir?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Hər ikisi də fayl mövcud deyilsə — sadəcə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qaytarır, amma xəta atmır.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F604BE-42EA-2F80-0861-BC9658249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994396"/>
              </p:ext>
            </p:extLst>
          </p:nvPr>
        </p:nvGraphicFramePr>
        <p:xfrm>
          <a:off x="217714" y="1539012"/>
          <a:ext cx="10587087" cy="1666101"/>
        </p:xfrm>
        <a:graphic>
          <a:graphicData uri="http://schemas.openxmlformats.org/drawingml/2006/table">
            <a:tbl>
              <a:tblPr/>
              <a:tblGrid>
                <a:gridCol w="3529029">
                  <a:extLst>
                    <a:ext uri="{9D8B030D-6E8A-4147-A177-3AD203B41FA5}">
                      <a16:colId xmlns:a16="http://schemas.microsoft.com/office/drawing/2014/main" val="2820549521"/>
                    </a:ext>
                  </a:extLst>
                </a:gridCol>
                <a:gridCol w="3529029">
                  <a:extLst>
                    <a:ext uri="{9D8B030D-6E8A-4147-A177-3AD203B41FA5}">
                      <a16:colId xmlns:a16="http://schemas.microsoft.com/office/drawing/2014/main" val="1378768818"/>
                    </a:ext>
                  </a:extLst>
                </a:gridCol>
                <a:gridCol w="3529029">
                  <a:extLst>
                    <a:ext uri="{9D8B030D-6E8A-4147-A177-3AD203B41FA5}">
                      <a16:colId xmlns:a16="http://schemas.microsoft.com/office/drawing/2014/main" val="1191023449"/>
                    </a:ext>
                  </a:extLst>
                </a:gridCol>
              </a:tblGrid>
              <a:tr h="555367">
                <a:tc>
                  <a:txBody>
                    <a:bodyPr/>
                    <a:lstStyle/>
                    <a:p>
                      <a:r>
                        <a:rPr lang="en-US" b="1"/>
                        <a:t>Metod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Fayl yoxdursa nəticə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Exception atır?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520735"/>
                  </a:ext>
                </a:extLst>
              </a:tr>
              <a:tr h="555367">
                <a:tc>
                  <a:txBody>
                    <a:bodyPr/>
                    <a:lstStyle/>
                    <a:p>
                      <a:r>
                        <a:rPr lang="en-US"/>
                        <a:t>File::delete($path)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Xeyr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689830"/>
                  </a:ext>
                </a:extLst>
              </a:tr>
              <a:tr h="555367">
                <a:tc>
                  <a:txBody>
                    <a:bodyPr/>
                    <a:lstStyle/>
                    <a:p>
                      <a:r>
                        <a:rPr lang="en-US"/>
                        <a:t>Storage::delete($path)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Xeyr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718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52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51F09-C9BD-4E74-9D0F-E199839F0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EDAAF-2DDD-9A43-F58B-9A494C792DD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slaydda is</a:t>
            </a:r>
            <a:r>
              <a:rPr lang="az-Latn-AZ" altLang="en-US" sz="1300">
                <a:latin typeface="Arial" panose="020B0604020202020204" pitchFamily="34" charset="0"/>
              </a:rPr>
              <a:t>ə </a:t>
            </a:r>
            <a:r>
              <a:rPr lang="az-Latn-AZ" altLang="en-US" sz="1300" b="1">
                <a:latin typeface="Arial" panose="020B0604020202020204" pitchFamily="34" charset="0"/>
              </a:rPr>
              <a:t>unlink() </a:t>
            </a:r>
            <a:r>
              <a:rPr lang="az-Latn-AZ" altLang="en-US" sz="1300">
                <a:latin typeface="Arial" panose="020B0604020202020204" pitchFamily="34" charset="0"/>
              </a:rPr>
              <a:t>funksiyası ilə faylı silirik ancaq olmuyan faylı silmək istədikdə `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ErrorException</a:t>
            </a:r>
            <a:r>
              <a:rPr lang="az-Latn-AZ" altLang="en-US" sz="1300">
                <a:latin typeface="Arial" panose="020B0604020202020204" pitchFamily="34" charset="0"/>
              </a:rPr>
              <a:t>` xətası alırıq.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42F715-C5DB-CAF3-EE7C-C67CFA702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676" y="1725354"/>
            <a:ext cx="9703324" cy="51326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288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84F65-09C7-F797-B3C8-5F77A75A9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A715EE-34D0-36FE-FBDB-8D6E7EA076F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9840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9A7A-94A5-4A8E-0DE1-5288609A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042A6A-3B30-C75F-6A45-FA82B6641B0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1971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E073B-FBAC-3EA0-D94F-FF77FB21E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5E4CC6-BF07-BA0A-E55E-AF09945AD69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8060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15A40-6475-52CE-E305-0C22D4AE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07DCC3-3121-BCD2-01C5-449151560B8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695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2675</TotalTime>
  <Words>749</Words>
  <Application>Microsoft Office PowerPoint</Application>
  <PresentationFormat>Widescreen</PresentationFormat>
  <Paragraphs>134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333</cp:revision>
  <dcterms:created xsi:type="dcterms:W3CDTF">2025-04-12T11:00:44Z</dcterms:created>
  <dcterms:modified xsi:type="dcterms:W3CDTF">2025-05-11T20:17:29Z</dcterms:modified>
</cp:coreProperties>
</file>