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160256" y="255046"/>
            <a:ext cx="11858919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Storage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mexanizmi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 faylları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serverdə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bulud sistemlərində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saxlayıb idarə etməyə imkan verən bir sistemdir. Bu mexanizm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 facade-i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filesystems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konfiqurasiya sistemi ilə işləyir.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Storage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mexanizmi, Laravel-in faylları yükləmək, saxlamaq, oxumaq, silmək, və fərqli saxlama sistemləri ilə işləmək üçün təqdim etdiyi abstrakt və modul sistemdir.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xüsusiyyətləri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Lokal fayl saxlama (storage/app, public və s.)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FTP / SFTP ilə uzaq serverə bağlantı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S3, Google Drive kimi bulud yaddaşı ilə inteqrasiya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Faylların adlandırılması, path idarəsi, və görünürlüyünün (public, private) tənzimlənməsi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Asanlıqla dəyişdirilə bilən disk strukturu (local, public, s3 və s.)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418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FTP (File Transfer Protocol) nədir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Təhlükəli ola bilər, çünki şifrən və fayl məzmunun internet üzərindən açıq göndərilir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Faylları serverə yükləmək və yükləmək üçün istifadə olunan köhnə və sadə bir protokoldur.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Adətən port 21 üzərindən işləyir.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Şifrələnmə yoxdur – məlumatlar və şifrələr açıq mətndə ötürülür.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İki bağlantı açır: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 (control) bağlantısı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bağlantısı (məlumat ötürmək üçün)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🔐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SFTP (SSH File Transfer Protocol) nədir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Çox daha təhlükəsizdir və müasir sistemlərdə üstünlük verilir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FTP-yə oxşar görünür, lakin əslində tam fərqli protokoldur.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SSH (Secure Shell) üzərindən işləyir — port 22 istifadə edir.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 şifrələnmiş bağlantıdır: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Məlumatlar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 adı / parol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adları və strukturu — hamısı şifrələnir.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Yalnız bir bağlantı istifadə edir, bu da firewall-lar üçün uyğunluq yaradır.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7F6CC1-46E2-4F09-E5EB-4A9A24120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42972"/>
              </p:ext>
            </p:extLst>
          </p:nvPr>
        </p:nvGraphicFramePr>
        <p:xfrm>
          <a:off x="217714" y="4682714"/>
          <a:ext cx="10515600" cy="19202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8483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577435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05993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/>
                        <a:t>Metrika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FTP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SFTP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319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Protokol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TCP/IP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SSH (Secure Shell)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021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88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Şifrələnmə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041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Təhlükəsizlik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Zəif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Yüksək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9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Bağlantı sayı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 (control +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 (hamısı eyni bağlantıda)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720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Firewall uyumu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Problemli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Daha uyğun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61675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842061-EE09-E292-B6B4-508B549BA641}"/>
              </a:ext>
            </a:extLst>
          </p:cNvPr>
          <p:cNvSpPr/>
          <p:nvPr/>
        </p:nvSpPr>
        <p:spPr>
          <a:xfrm>
            <a:off x="10322352" y="10127"/>
            <a:ext cx="1869648" cy="144160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/>
              <a:t>ƏLAVƏ BİLGİ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513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qədər çox vacib olmasada ilk </a:t>
            </a:r>
            <a:r>
              <a:rPr lang="az-Latn-AZ" altLang="en-US" sz="1100">
                <a:latin typeface="Arial" panose="020B0604020202020204" pitchFamily="34" charset="0"/>
              </a:rPr>
              <a:t>öncə bilməmiz gərəkən şey ` </a:t>
            </a:r>
            <a:r>
              <a:rPr lang="az-Latn-AZ" altLang="en-US" sz="1100" b="1">
                <a:latin typeface="Arial" panose="020B0604020202020204" pitchFamily="34" charset="0"/>
              </a:rPr>
              <a:t>public/index.php </a:t>
            </a:r>
            <a:r>
              <a:rPr lang="az-Latn-AZ" altLang="en-US" sz="1100">
                <a:latin typeface="Arial" panose="020B0604020202020204" pitchFamily="34" charset="0"/>
              </a:rPr>
              <a:t>` faylı haqqındadır.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1)</a:t>
            </a:r>
            <a:r>
              <a:rPr lang="az-Latn-AZ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public/index.php nədir</a:t>
            </a:r>
            <a:r>
              <a:rPr lang="az-Latn-AZ" altLang="en-US" sz="1100">
                <a:latin typeface="Arial" panose="020B0604020202020204" pitchFamily="34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Laravel tətbiqinə gələn bütün </a:t>
            </a:r>
            <a:r>
              <a:rPr lang="az-Latn-AZ" altLang="en-US" sz="1100" b="1">
                <a:latin typeface="Arial" panose="020B0604020202020204" pitchFamily="34" charset="0"/>
              </a:rPr>
              <a:t>HTTP</a:t>
            </a:r>
            <a:r>
              <a:rPr lang="az-Latn-AZ" altLang="en-US" sz="1100">
                <a:latin typeface="Arial" panose="020B0604020202020204" pitchFamily="34" charset="0"/>
              </a:rPr>
              <a:t> sorğularını qarşılayan əsas giriş nöqtəsidir.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 b="1">
                <a:latin typeface="Arial" panose="020B0604020202020204" pitchFamily="34" charset="0"/>
              </a:rPr>
              <a:t>vendor/autoload.php </a:t>
            </a:r>
            <a:r>
              <a:rPr lang="az-Latn-AZ" altLang="en-US" sz="1100">
                <a:latin typeface="Arial" panose="020B0604020202020204" pitchFamily="34" charset="0"/>
              </a:rPr>
              <a:t>və </a:t>
            </a:r>
            <a:r>
              <a:rPr lang="az-Latn-AZ" altLang="en-US" sz="1100" b="1">
                <a:latin typeface="Arial" panose="020B0604020202020204" pitchFamily="34" charset="0"/>
              </a:rPr>
              <a:t>bootstrap/app.php </a:t>
            </a:r>
            <a:r>
              <a:rPr lang="az-Latn-AZ" altLang="en-US" sz="1100">
                <a:latin typeface="Arial" panose="020B0604020202020204" pitchFamily="34" charset="0"/>
              </a:rPr>
              <a:t>fayllarını yükləyərək Laravel-i işə salır.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İstək gəldikdə hansı </a:t>
            </a:r>
            <a:r>
              <a:rPr lang="az-Latn-AZ" altLang="en-US" sz="1100" b="1">
                <a:latin typeface="Arial" panose="020B0604020202020204" pitchFamily="34" charset="0"/>
              </a:rPr>
              <a:t>route</a:t>
            </a:r>
            <a:r>
              <a:rPr lang="az-Latn-AZ" altLang="en-US" sz="1100">
                <a:latin typeface="Arial" panose="020B0604020202020204" pitchFamily="34" charset="0"/>
              </a:rPr>
              <a:t>, </a:t>
            </a:r>
            <a:r>
              <a:rPr lang="az-Latn-AZ" altLang="en-US" sz="1100" b="1">
                <a:latin typeface="Arial" panose="020B0604020202020204" pitchFamily="34" charset="0"/>
              </a:rPr>
              <a:t>controller</a:t>
            </a:r>
            <a:r>
              <a:rPr lang="az-Latn-AZ" altLang="en-US" sz="1100">
                <a:latin typeface="Arial" panose="020B0604020202020204" pitchFamily="34" charset="0"/>
              </a:rPr>
              <a:t>, </a:t>
            </a:r>
            <a:r>
              <a:rPr lang="az-Latn-AZ" altLang="en-US" sz="1100" b="1">
                <a:latin typeface="Arial" panose="020B0604020202020204" pitchFamily="34" charset="0"/>
              </a:rPr>
              <a:t>view</a:t>
            </a:r>
            <a:r>
              <a:rPr lang="az-Latn-AZ" altLang="en-US" sz="1100">
                <a:latin typeface="Arial" panose="020B0604020202020204" pitchFamily="34" charset="0"/>
              </a:rPr>
              <a:t> və ya </a:t>
            </a:r>
            <a:r>
              <a:rPr lang="az-Latn-AZ" altLang="en-US" sz="1100" b="1">
                <a:latin typeface="Arial" panose="020B0604020202020204" pitchFamily="34" charset="0"/>
              </a:rPr>
              <a:t>file</a:t>
            </a:r>
            <a:r>
              <a:rPr lang="az-Latn-AZ" altLang="en-US" sz="1100">
                <a:latin typeface="Arial" panose="020B0604020202020204" pitchFamily="34" charset="0"/>
              </a:rPr>
              <a:t> lazımdırsa onu </a:t>
            </a:r>
            <a:r>
              <a:rPr lang="az-Latn-AZ" altLang="en-US" sz="1100" b="1">
                <a:latin typeface="Arial" panose="020B0604020202020204" pitchFamily="34" charset="0"/>
              </a:rPr>
              <a:t>qaytarmaq</a:t>
            </a:r>
            <a:r>
              <a:rPr lang="az-Latn-AZ" altLang="en-US" sz="1100">
                <a:latin typeface="Arial" panose="020B0604020202020204" pitchFamily="34" charset="0"/>
              </a:rPr>
              <a:t> və </a:t>
            </a:r>
            <a:r>
              <a:rPr lang="az-Latn-AZ" altLang="en-US" sz="1100" b="1">
                <a:latin typeface="Arial" panose="020B0604020202020204" pitchFamily="34" charset="0"/>
              </a:rPr>
              <a:t>göstərmək</a:t>
            </a:r>
            <a:r>
              <a:rPr lang="az-Latn-AZ" altLang="en-US" sz="1100">
                <a:latin typeface="Arial" panose="020B0604020202020204" pitchFamily="34" charset="0"/>
              </a:rPr>
              <a:t> üçün Laravel-i hərəkətə gətirir.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Laravel faylları göstərmək üçün </a:t>
            </a:r>
            <a:r>
              <a:rPr lang="az-Latn-AZ" altLang="en-US" sz="1100" b="1">
                <a:latin typeface="Arial" panose="020B0604020202020204" pitchFamily="34" charset="0"/>
              </a:rPr>
              <a:t>public</a:t>
            </a:r>
            <a:r>
              <a:rPr lang="az-Latn-AZ" altLang="en-US" sz="1100">
                <a:latin typeface="Arial" panose="020B0604020202020204" pitchFamily="34" charset="0"/>
              </a:rPr>
              <a:t> yolundan istifadə edir:</a:t>
            </a:r>
          </a:p>
          <a:p>
            <a:pPr marL="0" lvl="1">
              <a:lnSpc>
                <a:spcPct val="150000"/>
              </a:lnSpc>
            </a:pPr>
            <a:r>
              <a:rPr lang="az-Latn-AZ" altLang="en-US" sz="1100" b="1">
                <a:latin typeface="Arial" panose="020B0604020202020204" pitchFamily="34" charset="0"/>
              </a:rPr>
              <a:t>Məsələn</a:t>
            </a:r>
            <a:r>
              <a:rPr lang="az-Latn-AZ" altLang="en-US" sz="1100">
                <a:latin typeface="Arial" panose="020B0604020202020204" pitchFamily="34" charset="0"/>
              </a:rPr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 b="1">
                <a:solidFill>
                  <a:schemeClr val="accent2"/>
                </a:solidFill>
                <a:latin typeface="Arial" panose="020B0604020202020204" pitchFamily="34" charset="0"/>
              </a:rPr>
              <a:t>Fayl</a:t>
            </a:r>
            <a:r>
              <a:rPr lang="az-Latn-AZ" altLang="en-US" sz="1100">
                <a:latin typeface="Arial" panose="020B0604020202020204" pitchFamily="34" charset="0"/>
              </a:rPr>
              <a:t>: storage/app/public/photo.jpg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 b="1">
                <a:solidFill>
                  <a:schemeClr val="accent2"/>
                </a:solidFill>
                <a:latin typeface="Arial" panose="020B0604020202020204" pitchFamily="34" charset="0"/>
              </a:rPr>
              <a:t>Simvolik link</a:t>
            </a:r>
            <a:r>
              <a:rPr lang="az-Latn-AZ" altLang="en-US" sz="1100">
                <a:latin typeface="Arial" panose="020B0604020202020204" pitchFamily="34" charset="0"/>
              </a:rPr>
              <a:t>: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public/storage</a:t>
            </a:r>
            <a:r>
              <a:rPr lang="az-Latn-AZ" altLang="en-US" sz="1100">
                <a:latin typeface="Arial" panose="020B0604020202020204" pitchFamily="34" charset="0"/>
              </a:rPr>
              <a:t>/photo.jpg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 b="1">
                <a:solidFill>
                  <a:schemeClr val="accent2"/>
                </a:solidFill>
                <a:latin typeface="Arial" panose="020B0604020202020204" pitchFamily="34" charset="0"/>
              </a:rPr>
              <a:t>URL</a:t>
            </a:r>
            <a:r>
              <a:rPr lang="az-Latn-AZ" altLang="en-US" sz="1100">
                <a:latin typeface="Arial" panose="020B0604020202020204" pitchFamily="34" charset="0"/>
              </a:rPr>
              <a:t>: http://your-site.com/storage/photo.jpg   (    bizim hal hazırki vəziyyətimizdə:  ` </a:t>
            </a:r>
            <a:r>
              <a:rPr lang="az-Latn-AZ" altLang="en-US" sz="1100" u="sng">
                <a:solidFill>
                  <a:srgbClr val="00B0F0"/>
                </a:solidFill>
                <a:latin typeface="Arial" panose="020B0604020202020204" pitchFamily="34" charset="0"/>
              </a:rPr>
              <a:t>http://vendor-e-commerce.test/storage/photo.jpg</a:t>
            </a:r>
            <a:r>
              <a:rPr lang="az-Latn-AZ" altLang="en-US" sz="1100">
                <a:latin typeface="Arial" panose="020B0604020202020204" pitchFamily="34" charset="0"/>
              </a:rPr>
              <a:t> `   )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Bu </a:t>
            </a:r>
            <a:r>
              <a:rPr lang="az-Latn-AZ" altLang="en-US" sz="1100" b="1">
                <a:latin typeface="Arial" panose="020B0604020202020204" pitchFamily="34" charset="0"/>
              </a:rPr>
              <a:t>URL</a:t>
            </a:r>
            <a:r>
              <a:rPr lang="az-Latn-AZ" altLang="en-US" sz="1100">
                <a:latin typeface="Arial" panose="020B0604020202020204" pitchFamily="34" charset="0"/>
              </a:rPr>
              <a:t> sorğusu hara düşür? →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public/index.php </a:t>
            </a:r>
            <a:r>
              <a:rPr lang="az-Latn-AZ" altLang="en-US" sz="1100">
                <a:latin typeface="Arial" panose="020B0604020202020204" pitchFamily="34" charset="0"/>
              </a:rPr>
              <a:t>faylına. Laravel bu </a:t>
            </a:r>
            <a:r>
              <a:rPr lang="az-Latn-AZ" altLang="en-US" sz="1100" b="1">
                <a:latin typeface="Arial" panose="020B0604020202020204" pitchFamily="34" charset="0"/>
              </a:rPr>
              <a:t>URL</a:t>
            </a:r>
            <a:r>
              <a:rPr lang="az-Latn-AZ" altLang="en-US" sz="1100">
                <a:latin typeface="Arial" panose="020B0604020202020204" pitchFamily="34" charset="0"/>
              </a:rPr>
              <a:t>- ni qəbul edir, sistemə ötürür, </a:t>
            </a:r>
            <a:r>
              <a:rPr lang="az-Latn-AZ" altLang="en-US" sz="1100" b="1">
                <a:latin typeface="Arial" panose="020B0604020202020204" pitchFamily="34" charset="0"/>
              </a:rPr>
              <a:t>Storage</a:t>
            </a:r>
            <a:r>
              <a:rPr lang="az-Latn-AZ" altLang="en-US" sz="1100">
                <a:latin typeface="Arial" panose="020B0604020202020204" pitchFamily="34" charset="0"/>
              </a:rPr>
              <a:t> vasitəsilə faylı tapır və istifadəçiyə cavab verir. Yəni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public/index.php </a:t>
            </a:r>
            <a:r>
              <a:rPr lang="az-Latn-AZ" altLang="en-US" sz="1100">
                <a:latin typeface="Arial" panose="020B0604020202020204" pitchFamily="34" charset="0"/>
              </a:rPr>
              <a:t>— bütün sorğuların qapısıdır.</a:t>
            </a:r>
          </a:p>
          <a:p>
            <a:pPr marL="0"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az-Latn-AZ" altLang="en-US" sz="1100" b="1">
                <a:latin typeface="Arial" panose="020B0604020202020204" pitchFamily="34" charset="0"/>
              </a:rPr>
              <a:t>Nəticə</a:t>
            </a:r>
            <a:r>
              <a:rPr lang="az-Latn-AZ" altLang="en-US" sz="1100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47BFB4-CE64-4347-CB59-F422996B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29231"/>
              </p:ext>
            </p:extLst>
          </p:nvPr>
        </p:nvGraphicFramePr>
        <p:xfrm>
          <a:off x="310299" y="5394338"/>
          <a:ext cx="10515600" cy="1036320"/>
        </p:xfrm>
        <a:graphic>
          <a:graphicData uri="http://schemas.openxmlformats.org/drawingml/2006/table">
            <a:tbl>
              <a:tblPr/>
              <a:tblGrid>
                <a:gridCol w="2282072">
                  <a:extLst>
                    <a:ext uri="{9D8B030D-6E8A-4147-A177-3AD203B41FA5}">
                      <a16:colId xmlns:a16="http://schemas.microsoft.com/office/drawing/2014/main" val="3354245787"/>
                    </a:ext>
                  </a:extLst>
                </a:gridCol>
                <a:gridCol w="8233528">
                  <a:extLst>
                    <a:ext uri="{9D8B030D-6E8A-4147-A177-3AD203B41FA5}">
                      <a16:colId xmlns:a16="http://schemas.microsoft.com/office/drawing/2014/main" val="21308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Nöqtə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Açıqlama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615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Birbaşa əlaqə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Yoxdur</a:t>
                      </a:r>
                      <a:r>
                        <a:rPr lang="en-US" sz="1100"/>
                        <a:t> – </a:t>
                      </a:r>
                      <a:r>
                        <a:rPr lang="en-US" sz="1100" b="1"/>
                        <a:t>File Storage </a:t>
                      </a:r>
                      <a:r>
                        <a:rPr lang="en-US" sz="1100"/>
                        <a:t>mexanizmi </a:t>
                      </a:r>
                      <a:r>
                        <a:rPr lang="en-US" sz="1100" b="1"/>
                        <a:t>index.php</a:t>
                      </a:r>
                      <a:r>
                        <a:rPr lang="en-US" sz="1100"/>
                        <a:t>-də </a:t>
                      </a:r>
                      <a:r>
                        <a:rPr lang="en-US" sz="1100" b="1"/>
                        <a:t>yazılmır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41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Dolayı əlaqə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Var</a:t>
                      </a:r>
                      <a:r>
                        <a:rPr lang="en-US" sz="1100"/>
                        <a:t> – </a:t>
                      </a:r>
                      <a:r>
                        <a:rPr lang="en-US" sz="1100" b="1"/>
                        <a:t>HTTP</a:t>
                      </a:r>
                      <a:r>
                        <a:rPr lang="en-US" sz="1100"/>
                        <a:t> istəkləri </a:t>
                      </a:r>
                      <a:r>
                        <a:rPr lang="en-US" sz="1100" b="1"/>
                        <a:t>index.php </a:t>
                      </a:r>
                      <a:r>
                        <a:rPr lang="en-US" sz="1100"/>
                        <a:t>vasitəsilə Laravel sisteminə daxil olur, fayl servisi buradan başlayır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57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Nəticə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public/index.php </a:t>
                      </a:r>
                      <a:r>
                        <a:rPr lang="en-US" sz="1100"/>
                        <a:t>bütün sorğuları idarə etdiyi üçün, </a:t>
                      </a:r>
                      <a:r>
                        <a:rPr lang="en-US" sz="1100" b="1"/>
                        <a:t>File Storage </a:t>
                      </a:r>
                      <a:r>
                        <a:rPr lang="en-US" sz="1100"/>
                        <a:t>sistemində saxlanan faylların göstərilməsi də bu faylın "üzərindən keçir"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900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AD39-0CDF-0858-3247-E5849D63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281302-1BBD-5CAD-884A-F043847FB57F}"/>
              </a:ext>
            </a:extLst>
          </p:cNvPr>
          <p:cNvSpPr txBox="1"/>
          <p:nvPr/>
        </p:nvSpPr>
        <p:spPr>
          <a:xfrm>
            <a:off x="217714" y="244918"/>
            <a:ext cx="11756571" cy="4221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Apache və Nginx</a:t>
            </a:r>
            <a:r>
              <a:rPr kumimoji="0" lang="az-Latn-AZ" altLang="en-US" sz="9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haqqında</a:t>
            </a:r>
            <a:r>
              <a:rPr kumimoji="0" lang="az-Latn-AZ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</a:pPr>
            <a:endParaRPr lang="az-Latn-AZ" altLang="en-US" sz="9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Apache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Nginx</a:t>
            </a:r>
            <a:r>
              <a:rPr lang="az-Latn-AZ" altLang="en-US" sz="900">
                <a:latin typeface="Arial" panose="020B0604020202020204" pitchFamily="34" charset="0"/>
              </a:rPr>
              <a:t>,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tətbiqlərinin istəklərə cavab verməsini təmin edən, internetin əsas sütunlarından olan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web server proqramlarıdır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Apache (Apache HTTP Server)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1995-ci ildən aktivdir, ən qədim və geniş yayılmış web serverdir.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 əsaslı dizayn – istədiyin funksiyanı modullar vasitəsilə əlavə edə bilərsən (mod_php, mod_rewrite, mod_ssl, və s.).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Konfiqurasiya elastikliyi – .htaccess faylları ilə qovluq səviyyəsində tənzimləmələr etmək mümkündür.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Multi-Processing Modules (MPMs) vasitəsilə fərqli işləmə modellərini dəstəkləyir: prefork, worker, event.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Nginx (Engine-X)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2004-cü ildə yaradılıb, performans yönümlü və müasir yanaşma təklif edir.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Asinxron və hadisə əsaslı arxitektura – yüksək yüklənmədə daha stabil və sürətlidir.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Statik faylları çox sürətli çatdırır (HTML, JS, CSS, şəkillər).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Reverse Proxy, Load Balancer, və API Gateway kimi də istifadə oluna bilər.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.htaccess faylını dəstəkləmir – bütün konfiqurasiyalar əsas fayl üzərindən edilir.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9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vs Nginx: Müqayisə</a:t>
            </a:r>
            <a:r>
              <a:rPr lang="az-Latn-AZ" altLang="en-US" sz="900">
                <a:latin typeface="Arial" panose="020B0604020202020204" pitchFamily="34" charset="0"/>
              </a:rPr>
              <a:t>: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49F89-B055-72DB-1987-1027977914B4}"/>
              </a:ext>
            </a:extLst>
          </p:cNvPr>
          <p:cNvSpPr/>
          <p:nvPr/>
        </p:nvSpPr>
        <p:spPr>
          <a:xfrm>
            <a:off x="10633434" y="0"/>
            <a:ext cx="1558565" cy="10362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/>
              <a:t>BURANI HƏLƏKİ OXUMA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E650B8-590F-CEF1-FB12-45A0899A5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0961"/>
              </p:ext>
            </p:extLst>
          </p:nvPr>
        </p:nvGraphicFramePr>
        <p:xfrm>
          <a:off x="291445" y="4526280"/>
          <a:ext cx="10515600" cy="2331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539305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044285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7745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Apache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330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Arxitektura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Prosess əsaslı (thread/process)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Asinxron, hadisə əsaslı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76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Performans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Orta / Yüksək yüklərdə zəifləyir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Yüksək / Yüklü sistemlərə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509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Konfiqurasiya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.htaccess var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.htaccess yoxdur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557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PHP ilə işləmə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mod_php ilə birbaşa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PHP-FPM ilə (ayrı prosess)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849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Statik fayl çatdırma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Yavaş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Sürətli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69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Modul dəstəyi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Çox geniş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Mümkün, amma məhduddur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73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Geri proxy (reverse proxy)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Mümkündür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Çox güclüdür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80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Resurs istifadəsi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Daha çox RAM istifadə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Daha az RAM istifadə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63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54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0D5C-F768-450A-81BA-33F2C30D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DDAFF8-711A-80D4-1B53-FC1606A74E87}"/>
              </a:ext>
            </a:extLst>
          </p:cNvPr>
          <p:cNvSpPr txBox="1"/>
          <p:nvPr/>
        </p:nvSpPr>
        <p:spPr>
          <a:xfrm>
            <a:off x="217714" y="255046"/>
            <a:ext cx="11756571" cy="650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Hər ikisi eyni anda istifadə olunurmu?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🔸 1. Adətən biri seçilir: Apache və ya Nginx — layihənin ehtiyacına görə.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🔸 2. Lakin birlikdə də istifadə oluna bilər:</a:t>
            </a: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Ən məşhur kombinasiya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Nginx ön cəbhədə (frontend) → reverse proxy kimi.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Apache arxa planda (backend) → PHP və ya digər dinamik məzmunları işlətmək üçün.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niyə edilir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Nginx çox sürətli şəkildə statik faylları çatdırır.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Apache isə daha çevik .htaccess və PHP idarəsi verir.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Nginx:80 port → Apache:8080 port'a yönləndirir.</a:t>
            </a: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 Tətbiqləri üçün tövsiyə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Qısa nəticə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825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Yalnız biri ilə işləmək </a:t>
            </a:r>
            <a:r>
              <a:rPr lang="az-Latn-AZ" sz="900">
                <a:latin typeface="Arial" panose="020B0604020202020204" pitchFamily="34" charset="0"/>
                <a:cs typeface="Arial" panose="020B0604020202020204" pitchFamily="34" charset="0"/>
              </a:rPr>
              <a:t>kifayətdir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 və çox hallarda kifayətdir.</a:t>
            </a:r>
          </a:p>
          <a:p>
            <a:pPr indent="2825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Performans və komplekslik istəyirsənsə, </a:t>
            </a: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Nginx + Apache 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kombinasiyası istifadə oluna bilər.</a:t>
            </a:r>
          </a:p>
          <a:p>
            <a:pPr indent="2825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Laravel üçün isə, hər iki server tam uyğundur — əsas fərq performans və rahatlıqdır.</a:t>
            </a:r>
          </a:p>
          <a:p>
            <a:pPr>
              <a:lnSpc>
                <a:spcPct val="150000"/>
              </a:lnSpc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Laravel-i </a:t>
            </a: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 üzərində necə deploy etmək olar</a:t>
            </a:r>
            <a:endParaRPr lang="az-Latn-AZ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Laravel-i </a:t>
            </a:r>
            <a:r>
              <a:rPr lang="az-Latn-AZ" sz="900" b="1">
                <a:latin typeface="Arial" panose="020B0604020202020204" pitchFamily="34" charset="0"/>
                <a:cs typeface="Arial" panose="020B0604020202020204" pitchFamily="34" charset="0"/>
              </a:rPr>
              <a:t>Apache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 üzərində necə deploy etmək olar</a:t>
            </a:r>
            <a:endParaRPr lang="az-Latn-AZ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kumimoji="0" lang="az-Latn-AZ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konfiqurasiya</a:t>
            </a:r>
            <a:r>
              <a:rPr kumimoji="0" lang="az-Latn-AZ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ları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ilə necə </a:t>
            </a:r>
            <a:r>
              <a:rPr kumimoji="0" lang="az-Latn-AZ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etmək olar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az-Latn-AZ" altLang="en-US" sz="90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ə ya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load balancing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kimi inkişaf etmiş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istifadəsi</a:t>
            </a:r>
            <a:r>
              <a:rPr kumimoji="0" lang="az-Latn-AZ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nədir haqqında daha sonra oxumaq olar. 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11A3DC-F813-FD6C-939E-85D5F142F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482555"/>
              </p:ext>
            </p:extLst>
          </p:nvPr>
        </p:nvGraphicFramePr>
        <p:xfrm>
          <a:off x="217714" y="3499789"/>
          <a:ext cx="10515600" cy="777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616145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7082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Mühit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Tövsiyə edilən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375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Lokal inkişaf (dev)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Apache – .htaccess ilə rahat işləyir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6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İstehsalat (prod)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Nginx + PHP-FPM – performans və sabitlik üçün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1837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9CE6B1-9E0C-210C-5D76-AA994DE3D177}"/>
              </a:ext>
            </a:extLst>
          </p:cNvPr>
          <p:cNvSpPr/>
          <p:nvPr/>
        </p:nvSpPr>
        <p:spPr>
          <a:xfrm>
            <a:off x="10633434" y="0"/>
            <a:ext cx="1558565" cy="10362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/>
              <a:t>BURANI HƏLƏKİ OXUMA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7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20B4-2CA7-5680-8195-795F48A5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5E972-42C4-0AE3-91F8-B115F0B15473}"/>
              </a:ext>
            </a:extLst>
          </p:cNvPr>
          <p:cNvSpPr txBox="1"/>
          <p:nvPr/>
        </p:nvSpPr>
        <p:spPr>
          <a:xfrm>
            <a:off x="217714" y="255046"/>
            <a:ext cx="11756571" cy="449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storage/app/public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 haqqında məlumat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 Laravel-də istifadəçilərin yüklədiyi şəkillər, sənədlər və s. kimi faylların saxlandığı bir yerdir. Bu fayllar sonradan ictimaiyyətə (public ola bilər) göstərilə bilər.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Başqa sözlə deyək: "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 Laravel-in daxili fayl yaddaşıdır və burada saxlanan fayllar sayt istifadəçilərinə göstərilməsi üçün nəzərdə tutulub.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endParaRPr lang="az-Latn-AZ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qovluğuna yüklənmiş fayllar birbaşa istifadəçiyə göstərilə bilməz.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Onları istifadəçi üçün açıq etmək üçün php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artisan storage:link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əmrini işlədərək bu qovluğu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public/storage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altına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symbolic link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(simvolik keçid) ilə bağlayırıq.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Beləliklə,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storage/app/public/avatar.png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public/storage/avatar.png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olaraq istifadəçiyə görünə bilər. Əsas məqsəd: Faylların server daxilində saxlanılması, lakin istək olduqda public interfeys üzərindən göstərilməsi.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public deyirik? </a:t>
            </a:r>
            <a:r>
              <a:rPr kumimoji="0" lang="az-Latn-AZ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Çünki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 fayllar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iki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cür saxlanır: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(daxili) → storage/app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(görünən) → storage/app/public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20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66C7-1997-ECCF-DF4F-E9E47E61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18F6CC-3F86-5DCD-3F6B-1469807AFB11}"/>
              </a:ext>
            </a:extLst>
          </p:cNvPr>
          <p:cNvSpPr txBox="1"/>
          <p:nvPr/>
        </p:nvSpPr>
        <p:spPr>
          <a:xfrm>
            <a:off x="217714" y="255046"/>
            <a:ext cx="11756571" cy="5964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400">
                <a:latin typeface="Arial" panose="020B0604020202020204" pitchFamily="34" charset="0"/>
              </a:rPr>
              <a:t>Laravel </a:t>
            </a:r>
            <a:r>
              <a:rPr lang="az-Latn-AZ" altLang="en-US" sz="1400" b="1">
                <a:latin typeface="Arial" panose="020B0604020202020204" pitchFamily="34" charset="0"/>
              </a:rPr>
              <a:t>public</a:t>
            </a:r>
            <a:r>
              <a:rPr lang="az-Latn-AZ" altLang="en-US" sz="1400">
                <a:latin typeface="Arial" panose="020B0604020202020204" pitchFamily="34" charset="0"/>
              </a:rPr>
              <a:t> qovluğundakı faylları göstərmək üçün public/storage adlı simvolik link (shortcut) yaradır: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əmr ilə: </a:t>
            </a:r>
            <a:r>
              <a:rPr kumimoji="0" lang="az-Latn-AZ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public/storage  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olur →  </a:t>
            </a:r>
            <a:r>
              <a:rPr kumimoji="0" lang="az-Latn-AZ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Yəni: brauzerdə belə görsənir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1400"/>
              <a:t>Amma əsl fayl burada saxlanır:</a:t>
            </a:r>
            <a:r>
              <a:rPr lang="az-Latn-AZ" sz="1400"/>
              <a:t> </a:t>
            </a:r>
            <a:r>
              <a:rPr lang="az-Latn-AZ" sz="1400" b="1"/>
              <a:t>storage/app/public/image.jpg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Yekun olaraq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şəkillərin və sənədlərin yerləşdiyi real qovluqdur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public/storage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bu qovluğa çıxış verən link-dir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Bunlar birlikdə Laravel-in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storage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mexanizmini təşkil edir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B7707-6B33-8021-9CD7-6C59C842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01032"/>
            <a:ext cx="2095792" cy="514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BDE7C-51B9-FCCA-CEB6-28556CFA3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1965505"/>
            <a:ext cx="3172268" cy="552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6AB7AC-A244-37CF-9608-112AB926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3268083"/>
            <a:ext cx="3143689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4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56CC-75AF-073A-5296-B3F70C5A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A73FF4-0EDE-79D7-40A7-A22D2E7F586F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config/filesystems.php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bu fayl haqqında məlumat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konfiqurasiya faylı Laravel-də istifadə olunan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sistemlərini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disk sürücülərini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tənzimləyir. 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hissə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Laravel-in hansı diski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defolt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olaraq istifadə edəcəyini göstərir.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Disklər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2F399-5C9E-4A95-6B82-A0401CCD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1740"/>
            <a:ext cx="3943900" cy="485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0DE966-4319-3D4B-2D87-BACF4542E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5029"/>
            <a:ext cx="2328421" cy="3202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377A21-2B04-FD05-D72A-A6205DB695D1}"/>
              </a:ext>
            </a:extLst>
          </p:cNvPr>
          <p:cNvSpPr txBox="1"/>
          <p:nvPr/>
        </p:nvSpPr>
        <p:spPr>
          <a:xfrm>
            <a:off x="3711130" y="4848628"/>
            <a:ext cx="84808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Lokal və ya Public Mod?</a:t>
            </a:r>
          </a:p>
          <a:p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Lokal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inkişaf zamanı (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FILESYSTEM_DISK=local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) fayllar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storage/app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altında saxlanılır.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Deploy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zamanı əgər istifadəçiyə açıq şəkil, sənəd göstərmək istəyirsənsə,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FILESYSTEM_DISK=public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və </a:t>
            </a:r>
            <a:r>
              <a:rPr lang="en-US" sz="120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 artisan storage:link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işlətməlisən.</a:t>
            </a:r>
          </a:p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Yəni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>
                <a:latin typeface="Arial" panose="020B0604020202020204" pitchFamily="34" charset="0"/>
                <a:cs typeface="Arial" panose="020B0604020202020204" pitchFamily="34" charset="0"/>
              </a:rPr>
              <a:t>Lokal disk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daha çox daxili proseslər üçün, </a:t>
            </a:r>
            <a:r>
              <a:rPr lang="en-US" sz="1200" b="1" i="1">
                <a:latin typeface="Arial" panose="020B0604020202020204" pitchFamily="34" charset="0"/>
                <a:cs typeface="Arial" panose="020B0604020202020204" pitchFamily="34" charset="0"/>
              </a:rPr>
              <a:t>public disk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isə istifadəçiyə görünən fayllar üçündür.</a:t>
            </a:r>
          </a:p>
        </p:txBody>
      </p:sp>
    </p:spTree>
    <p:extLst>
      <p:ext uri="{BB962C8B-B14F-4D97-AF65-F5344CB8AC3E}">
        <p14:creationId xmlns:p14="http://schemas.microsoft.com/office/powerpoint/2010/main" val="141767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18FE-AC72-5E51-224D-0BF44E34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52E484-0134-6C19-72D4-49B442282B8E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Supported Drivers: "local", "ftp", "sftp", "s3" nədir və ən çox istifadə ediləni hansıdır?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aşağıdakı sürücü növlərini dəstəkləyir: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Ən çox istifadə edilən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Lokal inkişaf üçün: local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İstehsalat mühiti (production): s3 — çünki bu, miqyaslanabilir, etibarlı və global istifadə üçün idealdır.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ECBB17-E05B-7CC8-ECF2-507A9E04F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26638"/>
              </p:ext>
            </p:extLst>
          </p:nvPr>
        </p:nvGraphicFramePr>
        <p:xfrm>
          <a:off x="217714" y="1445687"/>
          <a:ext cx="10515600" cy="1828800"/>
        </p:xfrm>
        <a:graphic>
          <a:graphicData uri="http://schemas.openxmlformats.org/drawingml/2006/table">
            <a:tbl>
              <a:tblPr/>
              <a:tblGrid>
                <a:gridCol w="1066014">
                  <a:extLst>
                    <a:ext uri="{9D8B030D-6E8A-4147-A177-3AD203B41FA5}">
                      <a16:colId xmlns:a16="http://schemas.microsoft.com/office/drawing/2014/main" val="2483917932"/>
                    </a:ext>
                  </a:extLst>
                </a:gridCol>
                <a:gridCol w="9449586">
                  <a:extLst>
                    <a:ext uri="{9D8B030D-6E8A-4147-A177-3AD203B41FA5}">
                      <a16:colId xmlns:a16="http://schemas.microsoft.com/office/drawing/2014/main" val="20323011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9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Fayllar serverdə lokal qovluqda saxlanılır. (ən sadə, defolt)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364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Uzaq serverə FTP protokolu ilə fayl yükləmək üçün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31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sftp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FTP-nin təhlükəsiz versiyası. SSH istifadə edir.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736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Amazon S3 və uyğun bulud saxlama sistemləri üçün. (DigitalOcean Spaces, Wasabi və s.)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518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285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3AF0-06C7-5D07-9F32-DC5AF71C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28056-F940-DC8B-4478-F7FC1A074459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(FILESYSTEM_DISK=local)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filesystems.php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əlaqəsi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 aşağıdakı kimi konfiqurasiya üçün dəyişənləri saxlayır: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dəyişən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config/filesystems.php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belə istifadə olunur: 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Əlaqə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təyin olunan dəyişən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config/filesystems.php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oxunur və Laravel hansı diskin istifadə olunacağını buradan təyin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vaxt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FILESYSTEM_DISK=public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yazmaq lazımdır?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istifadəçiyə yüklədiyi faylı (şəkil, sənəd) birbaşa göstərmək istəyirsənsə.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Storage::disk('public')-&gt;put(...)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asset('storage/filename.jpg')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edəcəksənsə.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vaxt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FILESYSTEM_DISK=local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yazmaq lazımdır?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fayllar yalnız daxili proseslərdə, məsələn, log faylları, cache, və ya istifadəçiyə göstərilməyən fayllar üçün istifadə olunursa.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40E654-C8D6-838F-1129-5D043301A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796"/>
            <a:ext cx="2010056" cy="495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5E9C43-1B5F-E147-9FCB-02299AC48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7026"/>
            <a:ext cx="4067743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8C4CC-E388-C454-4FD2-105F31D1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AFEE59-A5D9-7FAF-A4C6-4DB681759F84}"/>
              </a:ext>
            </a:extLst>
          </p:cNvPr>
          <p:cNvSpPr txBox="1"/>
          <p:nvPr/>
        </p:nvSpPr>
        <p:spPr>
          <a:xfrm>
            <a:off x="217714" y="113644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43368-2E87-49A7-319E-76DCE7342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6682"/>
            <a:ext cx="12192000" cy="62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34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48C0-9912-5BCC-46D8-5F4B06EF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7B1A09-82CD-F63A-8D0F-7F63353A03E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1075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AA7B6-A6F6-43D8-99CD-CA944A4B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9CED35-DAB2-D564-2047-70466D6DCA1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045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3067</TotalTime>
  <Words>1650</Words>
  <Application>Microsoft Office PowerPoint</Application>
  <PresentationFormat>Widescreen</PresentationFormat>
  <Paragraphs>268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339</cp:revision>
  <dcterms:created xsi:type="dcterms:W3CDTF">2025-04-12T11:00:44Z</dcterms:created>
  <dcterms:modified xsi:type="dcterms:W3CDTF">2025-05-09T18:40:31Z</dcterms:modified>
</cp:coreProperties>
</file>