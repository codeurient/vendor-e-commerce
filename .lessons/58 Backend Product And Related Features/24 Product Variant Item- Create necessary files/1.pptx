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4" r:id="rId2"/>
    <p:sldId id="413" r:id="rId3"/>
    <p:sldId id="415" r:id="rId4"/>
    <p:sldId id="416" r:id="rId5"/>
    <p:sldId id="418" r:id="rId6"/>
    <p:sldId id="400" r:id="rId7"/>
    <p:sldId id="419" r:id="rId8"/>
    <p:sldId id="420" r:id="rId9"/>
    <p:sldId id="42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868889-2A3B-038B-1873-508080F4F8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71691"/>
          <a:stretch>
            <a:fillRect/>
          </a:stretch>
        </p:blipFill>
        <p:spPr>
          <a:xfrm>
            <a:off x="418307" y="966662"/>
            <a:ext cx="11355385" cy="8791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ED807D-7E5C-B55C-00A4-91F6E7129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07" y="2518087"/>
            <a:ext cx="10755226" cy="2162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FED523-207C-4513-F567-21DFCFA63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07" y="5352840"/>
            <a:ext cx="855464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routes\admin.php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23561-3C1A-69F0-28BD-4C79E58F7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26123"/>
            <a:ext cx="12192000" cy="493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C4432-347C-6F08-1CAC-51BCFCF2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03E563-80D2-6010-44B8-EE75076EB7E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81C2E-9F6A-E358-58BD-C0E70221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327" y="0"/>
            <a:ext cx="24826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7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CFACA-DBF4-F2C4-600C-2D80F629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419EEF-C883-6176-EE03-2B08CF26C4DD}"/>
              </a:ext>
            </a:extLst>
          </p:cNvPr>
          <p:cNvSpPr txBox="1"/>
          <p:nvPr/>
        </p:nvSpPr>
        <p:spPr>
          <a:xfrm>
            <a:off x="217714" y="255046"/>
            <a:ext cx="11756571" cy="2566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 i="1">
                <a:latin typeface="Arial" panose="020B0604020202020204" pitchFamily="34" charset="0"/>
              </a:rPr>
              <a:t>app\DataTables\</a:t>
            </a:r>
            <a:r>
              <a:rPr lang="en-US" altLang="en-US" sz="1100" b="1" i="1">
                <a:latin typeface="Arial" panose="020B0604020202020204" pitchFamily="34" charset="0"/>
              </a:rPr>
              <a:t>ProductVariantDataTable</a:t>
            </a:r>
            <a:r>
              <a:rPr lang="en-US" altLang="en-US" sz="1100" i="1">
                <a:latin typeface="Arial" panose="020B0604020202020204" pitchFamily="34" charset="0"/>
              </a:rPr>
              <a:t>.php</a:t>
            </a:r>
            <a:r>
              <a:rPr lang="az-Latn-AZ" altLang="en-US" sz="1100" i="1">
                <a:latin typeface="Arial" panose="020B0604020202020204" pitchFamily="34" charset="0"/>
              </a:rPr>
              <a:t> - bu faylda dəyişiklik etmişik.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>
                <a:solidFill>
                  <a:srgbClr val="FF0000"/>
                </a:solidFill>
              </a:rPr>
              <a:t>productId</a:t>
            </a:r>
            <a:r>
              <a:rPr lang="en-US" sz="1400"/>
              <a:t>: Bu parametr əsasən məhsulun </a:t>
            </a:r>
            <a:r>
              <a:rPr lang="en-US" sz="1400" b="1"/>
              <a:t>ID</a:t>
            </a:r>
            <a:r>
              <a:rPr lang="en-US" sz="1400"/>
              <a:t>-sini göstərir. Yəni, bu route </a:t>
            </a:r>
            <a:r>
              <a:rPr lang="en-US" sz="1400" b="1"/>
              <a:t>products-variant-item</a:t>
            </a:r>
            <a:r>
              <a:rPr lang="en-US" sz="1400"/>
              <a:t> səhifəsinə gedərkən, hansı </a:t>
            </a:r>
            <a:r>
              <a:rPr lang="en-US" sz="1400" b="1"/>
              <a:t>məhsulun</a:t>
            </a:r>
            <a:r>
              <a:rPr lang="en-US" sz="1400"/>
              <a:t> variantları ilə əlaqəli əməliyyatlar aparılacağını bilmək üçün istifadə olunur. Məsələn, bir məhsulun müxtəlif variantlarının (rəng, ölçü, qiymət və s.) idarə olunması məqsədilə istifadə olunur.</a:t>
            </a:r>
          </a:p>
          <a:p>
            <a:br>
              <a:rPr lang="en-US" sz="1400"/>
            </a:br>
            <a:endParaRPr lang="en-US" sz="14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>
                <a:solidFill>
                  <a:srgbClr val="FF0000"/>
                </a:solidFill>
              </a:rPr>
              <a:t>variantId</a:t>
            </a:r>
            <a:r>
              <a:rPr lang="en-US" sz="1400"/>
              <a:t>: Bu parametr isə məhsulun müəyyən bir </a:t>
            </a:r>
            <a:r>
              <a:rPr lang="en-US" sz="1400" b="1"/>
              <a:t>variantının</a:t>
            </a:r>
            <a:r>
              <a:rPr lang="en-US" sz="1400"/>
              <a:t> ID-sini göstərir. Hər bir məhsulun bir neçə fərqli variantı ola bilər (məsələn, bir məhsulun fərqli rənglərdə və ölçülərdə versiyaları). Bu route ilə </a:t>
            </a:r>
            <a:r>
              <a:rPr lang="en-US" sz="1400" b="1"/>
              <a:t>müəyyən bir məhsulun </a:t>
            </a:r>
            <a:r>
              <a:rPr lang="en-US" sz="1400" b="1" i="1"/>
              <a:t>konkret bir variantı </a:t>
            </a:r>
            <a:r>
              <a:rPr lang="en-US" sz="1400"/>
              <a:t>ilə əlaqədar əməliyyatlar (məsələn, variant item-ləri göstərmək, əlavə etmək, silmək və s.) aparılacaq.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56EEA3-93BF-A5D5-8EF5-2ED85FEB9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508" y="2585755"/>
            <a:ext cx="6779491" cy="4272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E7D914-C467-CA80-C59F-16F2EE93B2F4}"/>
              </a:ext>
            </a:extLst>
          </p:cNvPr>
          <p:cNvSpPr txBox="1"/>
          <p:nvPr/>
        </p:nvSpPr>
        <p:spPr>
          <a:xfrm>
            <a:off x="217713" y="3159256"/>
            <a:ext cx="4991595" cy="1448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latin typeface="Courier New" panose="02070309020205020404" pitchFamily="49" charset="0"/>
              </a:rPr>
              <a:t>ProductVariantItemController</a:t>
            </a:r>
            <a:r>
              <a:rPr lang="en-US" sz="1200"/>
              <a:t>-in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index</a:t>
            </a:r>
            <a:r>
              <a:rPr lang="en-US" sz="1200"/>
              <a:t> metoduna iki parametr göndərir: </a:t>
            </a:r>
            <a:r>
              <a:rPr lang="en-US" sz="1200" b="1">
                <a:solidFill>
                  <a:srgbClr val="00B050"/>
                </a:solidFill>
                <a:latin typeface="Courier New" panose="02070309020205020404" pitchFamily="49" charset="0"/>
              </a:rPr>
              <a:t>productId</a:t>
            </a:r>
            <a:r>
              <a:rPr lang="en-US" sz="1200"/>
              <a:t> və </a:t>
            </a:r>
            <a:r>
              <a:rPr lang="en-US" sz="1200" b="1">
                <a:solidFill>
                  <a:srgbClr val="0070C0"/>
                </a:solidFill>
                <a:latin typeface="Courier New" panose="02070309020205020404" pitchFamily="49" charset="0"/>
              </a:rPr>
              <a:t>variantId</a:t>
            </a:r>
            <a:r>
              <a:rPr lang="en-US" sz="1200"/>
              <a:t>. Bu da o deməkdir ki, həmin </a:t>
            </a:r>
            <a:r>
              <a:rPr lang="en-US" sz="1200" b="1"/>
              <a:t>metod</a:t>
            </a:r>
            <a:r>
              <a:rPr lang="en-US" sz="1200"/>
              <a:t> bu </a:t>
            </a:r>
            <a:r>
              <a:rPr lang="en-US" sz="1200" b="1" i="1"/>
              <a:t>iki parametri alır</a:t>
            </a:r>
            <a:r>
              <a:rPr lang="en-US" sz="1200" i="1"/>
              <a:t> </a:t>
            </a:r>
            <a:r>
              <a:rPr lang="en-US" sz="1200"/>
              <a:t>və sonra konkret olaraq müəyyən məhsulun müəyyən variantına </a:t>
            </a:r>
            <a:r>
              <a:rPr lang="en-US" sz="1200" b="1"/>
              <a:t>aid variant item</a:t>
            </a:r>
            <a:r>
              <a:rPr lang="en-US" sz="1200"/>
              <a:t>-l</a:t>
            </a:r>
            <a:r>
              <a:rPr lang="az-Latn-AZ" sz="1200"/>
              <a:t>a</a:t>
            </a:r>
            <a:r>
              <a:rPr lang="en-US" sz="1200"/>
              <a:t>r</a:t>
            </a:r>
            <a:r>
              <a:rPr lang="az-Latn-AZ" sz="1200"/>
              <a:t>ı</a:t>
            </a:r>
            <a:r>
              <a:rPr lang="en-US" sz="1200"/>
              <a:t> və ya əlaqədar məlumatları əldə etmək və göstərmək üçün istifadə edir.</a:t>
            </a:r>
          </a:p>
        </p:txBody>
      </p:sp>
    </p:spTree>
    <p:extLst>
      <p:ext uri="{BB962C8B-B14F-4D97-AF65-F5344CB8AC3E}">
        <p14:creationId xmlns:p14="http://schemas.microsoft.com/office/powerpoint/2010/main" val="1537478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FFCE-8F52-0AF1-106D-FC52F043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127073-B7C5-CADC-B508-0B4DB6B3F9DE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app\Http\Controllers\Backend\ProductVariantItemController.php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resources\views\admin\product\product-variant-item\index.blade.php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9E594-9BFE-9558-A975-56DCE15D5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23" y="1459345"/>
            <a:ext cx="10133276" cy="539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01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D702-6621-8E81-B1AB-E8E69063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BCA07D-5159-D4C1-00EA-038F39F0432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362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4908-C7F8-4A39-BD89-7C5A0DFE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926EE-C5BC-68C1-0A2D-3CEF5FE55CB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8003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00297-8013-7331-4BD5-647EEECF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C23C3C-4E11-719E-60D0-2D157BE2FA5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3773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4612</TotalTime>
  <Words>209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2025-10-09T07:49:11Z</dcterms:modified>
</cp:coreProperties>
</file>