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13" r:id="rId2"/>
    <p:sldId id="414" r:id="rId3"/>
    <p:sldId id="415" r:id="rId4"/>
    <p:sldId id="417" r:id="rId5"/>
    <p:sldId id="418" r:id="rId6"/>
    <p:sldId id="419" r:id="rId7"/>
    <p:sldId id="421" r:id="rId8"/>
    <p:sldId id="425" r:id="rId9"/>
    <p:sldId id="427" r:id="rId10"/>
    <p:sldId id="428" r:id="rId11"/>
    <p:sldId id="416" r:id="rId12"/>
    <p:sldId id="429" r:id="rId13"/>
    <p:sldId id="426" r:id="rId14"/>
    <p:sldId id="422" r:id="rId15"/>
    <p:sldId id="423" r:id="rId16"/>
    <p:sldId id="400" r:id="rId17"/>
    <p:sldId id="424" r:id="rId18"/>
    <p:sldId id="420" r:id="rId19"/>
    <p:sldId id="430" r:id="rId20"/>
    <p:sldId id="431" r:id="rId21"/>
    <p:sldId id="432" r:id="rId22"/>
    <p:sldId id="433" r:id="rId23"/>
    <p:sldId id="434" r:id="rId24"/>
    <p:sldId id="435" r:id="rId25"/>
    <p:sldId id="437" r:id="rId26"/>
    <p:sldId id="438" r:id="rId27"/>
    <p:sldId id="439" r:id="rId28"/>
    <p:sldId id="440" r:id="rId29"/>
    <p:sldId id="441" r:id="rId30"/>
    <p:sldId id="442" r:id="rId31"/>
    <p:sldId id="444" r:id="rId32"/>
    <p:sldId id="445" r:id="rId33"/>
    <p:sldId id="447" r:id="rId34"/>
    <p:sldId id="448" r:id="rId35"/>
    <p:sldId id="449" r:id="rId36"/>
    <p:sldId id="450" r:id="rId37"/>
    <p:sldId id="451" r:id="rId38"/>
    <p:sldId id="446" r:id="rId39"/>
    <p:sldId id="452" r:id="rId40"/>
    <p:sldId id="453" r:id="rId41"/>
    <p:sldId id="454" r:id="rId42"/>
    <p:sldId id="455" r:id="rId43"/>
    <p:sldId id="456" r:id="rId44"/>
    <p:sldId id="457" r:id="rId45"/>
    <p:sldId id="436"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58" autoAdjust="0"/>
    <p:restoredTop sz="94660"/>
  </p:normalViewPr>
  <p:slideViewPr>
    <p:cSldViewPr snapToGrid="0">
      <p:cViewPr varScale="1">
        <p:scale>
          <a:sx n="103" d="100"/>
          <a:sy n="103" d="100"/>
        </p:scale>
        <p:origin x="88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749C7-6AF1-F06A-A691-2D0904BC13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2C4716-5D11-E496-5DF5-AB93EA15A6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9E0E94-60F8-08A9-8583-85A6278EDCD1}"/>
              </a:ext>
            </a:extLst>
          </p:cNvPr>
          <p:cNvSpPr>
            <a:spLocks noGrp="1"/>
          </p:cNvSpPr>
          <p:nvPr>
            <p:ph type="dt" sz="half" idx="10"/>
          </p:nvPr>
        </p:nvSpPr>
        <p:spPr/>
        <p:txBody>
          <a:bodyPr/>
          <a:lstStyle/>
          <a:p>
            <a:fld id="{3E102D2E-813C-461C-9963-687A650C48C0}" type="datetimeFigureOut">
              <a:rPr lang="en-US" smtClean="0"/>
              <a:t>7/11/2025</a:t>
            </a:fld>
            <a:endParaRPr lang="en-US"/>
          </a:p>
        </p:txBody>
      </p:sp>
      <p:sp>
        <p:nvSpPr>
          <p:cNvPr id="5" name="Footer Placeholder 4">
            <a:extLst>
              <a:ext uri="{FF2B5EF4-FFF2-40B4-BE49-F238E27FC236}">
                <a16:creationId xmlns:a16="http://schemas.microsoft.com/office/drawing/2014/main" id="{1D25D2C0-6A6A-1795-39EA-D2B99B15C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2BA17-B8CF-C956-3BAE-ECF2A41AEFA7}"/>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390018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E4FAB-ECDB-6D53-0A07-84E133763D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D70C78-0369-C0BE-6BB2-D67C83ABE7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245DE9-8F3A-CEAA-D1C2-306A5613FB98}"/>
              </a:ext>
            </a:extLst>
          </p:cNvPr>
          <p:cNvSpPr>
            <a:spLocks noGrp="1"/>
          </p:cNvSpPr>
          <p:nvPr>
            <p:ph type="dt" sz="half" idx="10"/>
          </p:nvPr>
        </p:nvSpPr>
        <p:spPr/>
        <p:txBody>
          <a:bodyPr/>
          <a:lstStyle/>
          <a:p>
            <a:fld id="{3E102D2E-813C-461C-9963-687A650C48C0}" type="datetimeFigureOut">
              <a:rPr lang="en-US" smtClean="0"/>
              <a:t>7/11/2025</a:t>
            </a:fld>
            <a:endParaRPr lang="en-US"/>
          </a:p>
        </p:txBody>
      </p:sp>
      <p:sp>
        <p:nvSpPr>
          <p:cNvPr id="5" name="Footer Placeholder 4">
            <a:extLst>
              <a:ext uri="{FF2B5EF4-FFF2-40B4-BE49-F238E27FC236}">
                <a16:creationId xmlns:a16="http://schemas.microsoft.com/office/drawing/2014/main" id="{E7587178-B98A-D066-38E8-24CFB058B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B8799-3851-FC31-4E82-08089736B382}"/>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1887047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6F875-BFB8-8FD8-5E3C-9416CDA7F1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7153BA-D9CE-5922-6C11-CD376A01D2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0B4814-23D3-15D6-6FC3-433D73328157}"/>
              </a:ext>
            </a:extLst>
          </p:cNvPr>
          <p:cNvSpPr>
            <a:spLocks noGrp="1"/>
          </p:cNvSpPr>
          <p:nvPr>
            <p:ph type="dt" sz="half" idx="10"/>
          </p:nvPr>
        </p:nvSpPr>
        <p:spPr/>
        <p:txBody>
          <a:bodyPr/>
          <a:lstStyle/>
          <a:p>
            <a:fld id="{3E102D2E-813C-461C-9963-687A650C48C0}" type="datetimeFigureOut">
              <a:rPr lang="en-US" smtClean="0"/>
              <a:t>7/11/2025</a:t>
            </a:fld>
            <a:endParaRPr lang="en-US"/>
          </a:p>
        </p:txBody>
      </p:sp>
      <p:sp>
        <p:nvSpPr>
          <p:cNvPr id="5" name="Footer Placeholder 4">
            <a:extLst>
              <a:ext uri="{FF2B5EF4-FFF2-40B4-BE49-F238E27FC236}">
                <a16:creationId xmlns:a16="http://schemas.microsoft.com/office/drawing/2014/main" id="{0DE22266-9332-467E-4D53-2BF8ADEAB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3D8434-DD44-C9A5-27D2-7EAC962FFA9A}"/>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447081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52CAE-DE06-341E-4399-D3247E99F3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86EC78-459D-1859-3A8C-23C9704340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3B2326-0B17-AA7E-37C9-A0D57E0C65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513603-CDC7-61E2-FB0D-6BFB6A6BEB17}"/>
              </a:ext>
            </a:extLst>
          </p:cNvPr>
          <p:cNvSpPr>
            <a:spLocks noGrp="1"/>
          </p:cNvSpPr>
          <p:nvPr>
            <p:ph type="dt" sz="half" idx="10"/>
          </p:nvPr>
        </p:nvSpPr>
        <p:spPr/>
        <p:txBody>
          <a:bodyPr/>
          <a:lstStyle/>
          <a:p>
            <a:fld id="{3E102D2E-813C-461C-9963-687A650C48C0}" type="datetimeFigureOut">
              <a:rPr lang="en-US" smtClean="0"/>
              <a:t>7/11/2025</a:t>
            </a:fld>
            <a:endParaRPr lang="en-US"/>
          </a:p>
        </p:txBody>
      </p:sp>
      <p:sp>
        <p:nvSpPr>
          <p:cNvPr id="6" name="Footer Placeholder 5">
            <a:extLst>
              <a:ext uri="{FF2B5EF4-FFF2-40B4-BE49-F238E27FC236}">
                <a16:creationId xmlns:a16="http://schemas.microsoft.com/office/drawing/2014/main" id="{072E2347-24BA-CF10-BC28-F28F7AE142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F73D2A-6545-8CE3-BDFF-97D03FCBC9E3}"/>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745642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EFA89-75CF-B6F5-A695-BFFAAFD112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A1A08A-C068-1A71-3E79-E547D624D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07B05D-38DE-BE94-FB07-AF9D6A161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A06C2E-89D4-EB35-B9D0-D351F33095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F05CDE-AC67-E8D7-9D6D-BBF7628348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7A69AD-C843-7C5D-7182-A36BD90FB258}"/>
              </a:ext>
            </a:extLst>
          </p:cNvPr>
          <p:cNvSpPr>
            <a:spLocks noGrp="1"/>
          </p:cNvSpPr>
          <p:nvPr>
            <p:ph type="dt" sz="half" idx="10"/>
          </p:nvPr>
        </p:nvSpPr>
        <p:spPr/>
        <p:txBody>
          <a:bodyPr/>
          <a:lstStyle/>
          <a:p>
            <a:fld id="{3E102D2E-813C-461C-9963-687A650C48C0}" type="datetimeFigureOut">
              <a:rPr lang="en-US" smtClean="0"/>
              <a:t>7/11/2025</a:t>
            </a:fld>
            <a:endParaRPr lang="en-US"/>
          </a:p>
        </p:txBody>
      </p:sp>
      <p:sp>
        <p:nvSpPr>
          <p:cNvPr id="8" name="Footer Placeholder 7">
            <a:extLst>
              <a:ext uri="{FF2B5EF4-FFF2-40B4-BE49-F238E27FC236}">
                <a16:creationId xmlns:a16="http://schemas.microsoft.com/office/drawing/2014/main" id="{CAD254B3-794E-4494-3B5E-DE1DCA6284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F1B43F-C92B-F0FA-656F-E92189BB631E}"/>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3077748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7411-FE25-2681-09D5-DB935A99D5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E1B3A5-4F90-10A7-0566-08E4450E4C7D}"/>
              </a:ext>
            </a:extLst>
          </p:cNvPr>
          <p:cNvSpPr>
            <a:spLocks noGrp="1"/>
          </p:cNvSpPr>
          <p:nvPr>
            <p:ph type="dt" sz="half" idx="10"/>
          </p:nvPr>
        </p:nvSpPr>
        <p:spPr/>
        <p:txBody>
          <a:bodyPr/>
          <a:lstStyle/>
          <a:p>
            <a:fld id="{3E102D2E-813C-461C-9963-687A650C48C0}" type="datetimeFigureOut">
              <a:rPr lang="en-US" smtClean="0"/>
              <a:t>7/11/2025</a:t>
            </a:fld>
            <a:endParaRPr lang="en-US"/>
          </a:p>
        </p:txBody>
      </p:sp>
      <p:sp>
        <p:nvSpPr>
          <p:cNvPr id="4" name="Footer Placeholder 3">
            <a:extLst>
              <a:ext uri="{FF2B5EF4-FFF2-40B4-BE49-F238E27FC236}">
                <a16:creationId xmlns:a16="http://schemas.microsoft.com/office/drawing/2014/main" id="{D10FF90D-049A-DFA9-BF23-68E4966B2D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7E56F7-4F2A-4C51-9C5C-8835FCB77352}"/>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1913699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51AC7A-E461-EE51-26F7-CC09117CBE4E}"/>
              </a:ext>
            </a:extLst>
          </p:cNvPr>
          <p:cNvSpPr>
            <a:spLocks noGrp="1"/>
          </p:cNvSpPr>
          <p:nvPr>
            <p:ph type="dt" sz="half" idx="10"/>
          </p:nvPr>
        </p:nvSpPr>
        <p:spPr/>
        <p:txBody>
          <a:bodyPr/>
          <a:lstStyle/>
          <a:p>
            <a:fld id="{3E102D2E-813C-461C-9963-687A650C48C0}" type="datetimeFigureOut">
              <a:rPr lang="en-US" smtClean="0"/>
              <a:t>7/11/2025</a:t>
            </a:fld>
            <a:endParaRPr lang="en-US"/>
          </a:p>
        </p:txBody>
      </p:sp>
      <p:sp>
        <p:nvSpPr>
          <p:cNvPr id="3" name="Footer Placeholder 2">
            <a:extLst>
              <a:ext uri="{FF2B5EF4-FFF2-40B4-BE49-F238E27FC236}">
                <a16:creationId xmlns:a16="http://schemas.microsoft.com/office/drawing/2014/main" id="{47B81DB4-6D20-0BDA-3385-6BAF06508D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46EFEC-DC5C-F46F-8EAA-04375E470A99}"/>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2905095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0668-6121-1429-0432-B6BF09E5A7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0563FA-56A9-8E9A-BBD8-686661F6B1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7CC895-906C-F45F-5CF8-150E2C9C7C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5A91AD-B0E4-CDF7-6232-9A3A1A15072A}"/>
              </a:ext>
            </a:extLst>
          </p:cNvPr>
          <p:cNvSpPr>
            <a:spLocks noGrp="1"/>
          </p:cNvSpPr>
          <p:nvPr>
            <p:ph type="dt" sz="half" idx="10"/>
          </p:nvPr>
        </p:nvSpPr>
        <p:spPr/>
        <p:txBody>
          <a:bodyPr/>
          <a:lstStyle/>
          <a:p>
            <a:fld id="{3E102D2E-813C-461C-9963-687A650C48C0}" type="datetimeFigureOut">
              <a:rPr lang="en-US" smtClean="0"/>
              <a:t>7/11/2025</a:t>
            </a:fld>
            <a:endParaRPr lang="en-US"/>
          </a:p>
        </p:txBody>
      </p:sp>
      <p:sp>
        <p:nvSpPr>
          <p:cNvPr id="6" name="Footer Placeholder 5">
            <a:extLst>
              <a:ext uri="{FF2B5EF4-FFF2-40B4-BE49-F238E27FC236}">
                <a16:creationId xmlns:a16="http://schemas.microsoft.com/office/drawing/2014/main" id="{F17564E2-A2A5-D9F9-8BFF-1300F609D4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E45CD0-4772-47CB-4E04-C6E1952F218C}"/>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2055101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21F8D-8D32-EE70-E8EA-1B8866D776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A5BE0A-1E41-E609-EAB4-29C2E47F28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00F1B-75F9-957E-DE9A-C579A7559B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6E0FB2-7BBC-670C-2E5E-848B6389578A}"/>
              </a:ext>
            </a:extLst>
          </p:cNvPr>
          <p:cNvSpPr>
            <a:spLocks noGrp="1"/>
          </p:cNvSpPr>
          <p:nvPr>
            <p:ph type="dt" sz="half" idx="10"/>
          </p:nvPr>
        </p:nvSpPr>
        <p:spPr/>
        <p:txBody>
          <a:bodyPr/>
          <a:lstStyle/>
          <a:p>
            <a:fld id="{3E102D2E-813C-461C-9963-687A650C48C0}" type="datetimeFigureOut">
              <a:rPr lang="en-US" smtClean="0"/>
              <a:t>7/11/2025</a:t>
            </a:fld>
            <a:endParaRPr lang="en-US"/>
          </a:p>
        </p:txBody>
      </p:sp>
      <p:sp>
        <p:nvSpPr>
          <p:cNvPr id="6" name="Footer Placeholder 5">
            <a:extLst>
              <a:ext uri="{FF2B5EF4-FFF2-40B4-BE49-F238E27FC236}">
                <a16:creationId xmlns:a16="http://schemas.microsoft.com/office/drawing/2014/main" id="{8857B450-FBA6-ECFA-FC03-FD289B7CB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DBAF75-0F56-6503-A5C3-92BF3181910A}"/>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415507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2E606-DAB7-60A0-54A7-30C3B8D686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1B87FE-1B87-46EA-24B0-72582C4553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4D04BF-24D2-C545-C9B2-9D42CE13E4B7}"/>
              </a:ext>
            </a:extLst>
          </p:cNvPr>
          <p:cNvSpPr>
            <a:spLocks noGrp="1"/>
          </p:cNvSpPr>
          <p:nvPr>
            <p:ph type="dt" sz="half" idx="10"/>
          </p:nvPr>
        </p:nvSpPr>
        <p:spPr/>
        <p:txBody>
          <a:bodyPr/>
          <a:lstStyle/>
          <a:p>
            <a:fld id="{3E102D2E-813C-461C-9963-687A650C48C0}" type="datetimeFigureOut">
              <a:rPr lang="en-US" smtClean="0"/>
              <a:t>7/11/2025</a:t>
            </a:fld>
            <a:endParaRPr lang="en-US"/>
          </a:p>
        </p:txBody>
      </p:sp>
      <p:sp>
        <p:nvSpPr>
          <p:cNvPr id="5" name="Footer Placeholder 4">
            <a:extLst>
              <a:ext uri="{FF2B5EF4-FFF2-40B4-BE49-F238E27FC236}">
                <a16:creationId xmlns:a16="http://schemas.microsoft.com/office/drawing/2014/main" id="{CAC46315-527C-6299-AC4E-6D94F83BF4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08BB5-AB62-C6DE-F7E6-DBC2A7398562}"/>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1808504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4A6F75-369E-75A6-2EAF-D30696F1A1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A90A5E-6EAE-2D15-39D7-94A9D9813F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7F4FAA-D770-59F8-C832-3F0381432E91}"/>
              </a:ext>
            </a:extLst>
          </p:cNvPr>
          <p:cNvSpPr>
            <a:spLocks noGrp="1"/>
          </p:cNvSpPr>
          <p:nvPr>
            <p:ph type="dt" sz="half" idx="10"/>
          </p:nvPr>
        </p:nvSpPr>
        <p:spPr/>
        <p:txBody>
          <a:bodyPr/>
          <a:lstStyle/>
          <a:p>
            <a:fld id="{3E102D2E-813C-461C-9963-687A650C48C0}" type="datetimeFigureOut">
              <a:rPr lang="en-US" smtClean="0"/>
              <a:t>7/11/2025</a:t>
            </a:fld>
            <a:endParaRPr lang="en-US"/>
          </a:p>
        </p:txBody>
      </p:sp>
      <p:sp>
        <p:nvSpPr>
          <p:cNvPr id="5" name="Footer Placeholder 4">
            <a:extLst>
              <a:ext uri="{FF2B5EF4-FFF2-40B4-BE49-F238E27FC236}">
                <a16:creationId xmlns:a16="http://schemas.microsoft.com/office/drawing/2014/main" id="{F8C525A2-B955-B961-6D9D-FF5E6ADFB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D88462-29D7-245D-2CD3-BDC0A85CB575}"/>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2201201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A55957-9CB8-8100-91C5-8B38A9747F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A7E82F-E202-0B0E-3ADE-494F7BD719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383FE4-32CA-3C26-A3E2-C7EF744D7A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102D2E-813C-461C-9963-687A650C48C0}" type="datetimeFigureOut">
              <a:rPr lang="en-US" smtClean="0"/>
              <a:t>7/11/2025</a:t>
            </a:fld>
            <a:endParaRPr lang="en-US"/>
          </a:p>
        </p:txBody>
      </p:sp>
      <p:sp>
        <p:nvSpPr>
          <p:cNvPr id="5" name="Footer Placeholder 4">
            <a:extLst>
              <a:ext uri="{FF2B5EF4-FFF2-40B4-BE49-F238E27FC236}">
                <a16:creationId xmlns:a16="http://schemas.microsoft.com/office/drawing/2014/main" id="{B5086C83-EFC7-D225-20F1-0A98A0F57A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307030-86F5-318F-153D-C5B50107E1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3492E2-EBB2-495F-9EA7-B52B4F712DB9}" type="slidenum">
              <a:rPr lang="en-US" smtClean="0"/>
              <a:t>‹#›</a:t>
            </a:fld>
            <a:endParaRPr lang="en-US"/>
          </a:p>
        </p:txBody>
      </p:sp>
    </p:spTree>
    <p:extLst>
      <p:ext uri="{BB962C8B-B14F-4D97-AF65-F5344CB8AC3E}">
        <p14:creationId xmlns:p14="http://schemas.microsoft.com/office/powerpoint/2010/main" val="1607217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35CBA-29A4-BFD2-CEA7-3290D85ED9F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727ABBC-76D0-B81B-760F-26FC272AF479}"/>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Bu dərs PayPal ilə necə ödəmə sistemi yaradılır onu öyrənəcəyik. Bunun üçün ilk öncə </a:t>
            </a:r>
            <a:r>
              <a:rPr lang="az-Latn-AZ" altLang="en-US" sz="1300" b="1">
                <a:solidFill>
                  <a:srgbClr val="FF0000"/>
                </a:solidFill>
                <a:latin typeface="Arial" panose="020B0604020202020204" pitchFamily="34" charset="0"/>
              </a:rPr>
              <a:t>Developer</a:t>
            </a:r>
            <a:r>
              <a:rPr lang="az-Latn-AZ" altLang="en-US" sz="1300">
                <a:latin typeface="Arial" panose="020B0604020202020204" pitchFamily="34" charset="0"/>
              </a:rPr>
              <a:t> səhifəsinə daxil oluruq.</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74E922AA-14DA-EE8D-E68D-333C9ED9A199}"/>
              </a:ext>
            </a:extLst>
          </p:cNvPr>
          <p:cNvPicPr>
            <a:picLocks noChangeAspect="1"/>
          </p:cNvPicPr>
          <p:nvPr/>
        </p:nvPicPr>
        <p:blipFill>
          <a:blip r:embed="rId2"/>
          <a:stretch>
            <a:fillRect/>
          </a:stretch>
        </p:blipFill>
        <p:spPr>
          <a:xfrm>
            <a:off x="0" y="2698216"/>
            <a:ext cx="12192000" cy="4159784"/>
          </a:xfrm>
          <a:prstGeom prst="rect">
            <a:avLst/>
          </a:prstGeom>
        </p:spPr>
      </p:pic>
    </p:spTree>
    <p:extLst>
      <p:ext uri="{BB962C8B-B14F-4D97-AF65-F5344CB8AC3E}">
        <p14:creationId xmlns:p14="http://schemas.microsoft.com/office/powerpoint/2010/main" val="3863838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23C97-7391-808C-8F93-F1A247B54F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BA728D-9AF8-6C25-DF35-1494919186BC}"/>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kumimoji="0" lang="en-US" altLang="en-US" sz="1300" b="0" i="0" u="none" strike="noStrike" cap="none" normalizeH="0" baseline="0">
                <a:ln>
                  <a:noFill/>
                </a:ln>
                <a:solidFill>
                  <a:schemeClr val="tx1"/>
                </a:solidFill>
                <a:effectLst/>
                <a:latin typeface="Arial" panose="020B0604020202020204" pitchFamily="34" charset="0"/>
              </a:rPr>
              <a:t>.</a:t>
            </a:r>
          </a:p>
        </p:txBody>
      </p:sp>
      <p:pic>
        <p:nvPicPr>
          <p:cNvPr id="4" name="Picture 3">
            <a:extLst>
              <a:ext uri="{FF2B5EF4-FFF2-40B4-BE49-F238E27FC236}">
                <a16:creationId xmlns:a16="http://schemas.microsoft.com/office/drawing/2014/main" id="{42D652A7-0A40-2BE2-2D91-F7E2A3C4CED4}"/>
              </a:ext>
            </a:extLst>
          </p:cNvPr>
          <p:cNvPicPr>
            <a:picLocks noChangeAspect="1"/>
          </p:cNvPicPr>
          <p:nvPr/>
        </p:nvPicPr>
        <p:blipFill>
          <a:blip r:embed="rId2"/>
          <a:stretch>
            <a:fillRect/>
          </a:stretch>
        </p:blipFill>
        <p:spPr>
          <a:xfrm>
            <a:off x="0" y="2613429"/>
            <a:ext cx="12192000" cy="4244571"/>
          </a:xfrm>
          <a:prstGeom prst="rect">
            <a:avLst/>
          </a:prstGeom>
        </p:spPr>
      </p:pic>
    </p:spTree>
    <p:extLst>
      <p:ext uri="{BB962C8B-B14F-4D97-AF65-F5344CB8AC3E}">
        <p14:creationId xmlns:p14="http://schemas.microsoft.com/office/powerpoint/2010/main" val="4233252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0DB5A-C827-1BAC-2131-3275A08BE6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30A214-8A8F-0302-BF52-F8100679F8E9}"/>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kumimoji="0" lang="en-US" altLang="en-US" sz="1300" b="0" i="0" u="none" strike="noStrike" cap="none" normalizeH="0" baseline="0">
                <a:ln>
                  <a:noFill/>
                </a:ln>
                <a:solidFill>
                  <a:schemeClr val="tx1"/>
                </a:solidFill>
                <a:effectLst/>
                <a:latin typeface="Arial" panose="020B0604020202020204" pitchFamily="34" charset="0"/>
              </a:rPr>
              <a:t>.</a:t>
            </a:r>
          </a:p>
        </p:txBody>
      </p:sp>
      <p:pic>
        <p:nvPicPr>
          <p:cNvPr id="4" name="Picture 3">
            <a:extLst>
              <a:ext uri="{FF2B5EF4-FFF2-40B4-BE49-F238E27FC236}">
                <a16:creationId xmlns:a16="http://schemas.microsoft.com/office/drawing/2014/main" id="{E33AA819-151F-C8F2-F01B-60225CFB164E}"/>
              </a:ext>
            </a:extLst>
          </p:cNvPr>
          <p:cNvPicPr>
            <a:picLocks noChangeAspect="1"/>
          </p:cNvPicPr>
          <p:nvPr/>
        </p:nvPicPr>
        <p:blipFill>
          <a:blip r:embed="rId2"/>
          <a:stretch>
            <a:fillRect/>
          </a:stretch>
        </p:blipFill>
        <p:spPr>
          <a:xfrm>
            <a:off x="0" y="1968857"/>
            <a:ext cx="12192000" cy="4889143"/>
          </a:xfrm>
          <a:prstGeom prst="rect">
            <a:avLst/>
          </a:prstGeom>
        </p:spPr>
      </p:pic>
    </p:spTree>
    <p:extLst>
      <p:ext uri="{BB962C8B-B14F-4D97-AF65-F5344CB8AC3E}">
        <p14:creationId xmlns:p14="http://schemas.microsoft.com/office/powerpoint/2010/main" val="731187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D31E0-4631-3712-E489-86C4FD1086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C1067C-A640-45B8-C928-43BBA2C0F5BB}"/>
              </a:ext>
            </a:extLst>
          </p:cNvPr>
          <p:cNvSpPr txBox="1"/>
          <p:nvPr/>
        </p:nvSpPr>
        <p:spPr>
          <a:xfrm>
            <a:off x="217713" y="157684"/>
            <a:ext cx="11756571" cy="355354"/>
          </a:xfrm>
          <a:prstGeom prst="rect">
            <a:avLst/>
          </a:prstGeom>
          <a:noFill/>
        </p:spPr>
        <p:txBody>
          <a:bodyPr wrap="square">
            <a:spAutoFit/>
          </a:bodyPr>
          <a:lstStyle/>
          <a:p>
            <a:pPr>
              <a:lnSpc>
                <a:spcPct val="150000"/>
              </a:lnSpc>
              <a:buNone/>
            </a:pPr>
            <a:r>
              <a:rPr kumimoji="0" lang="az-Latn-AZ" altLang="en-US" sz="1300" b="1" i="0" u="none" strike="noStrike" cap="none" normalizeH="0" baseline="0">
                <a:ln>
                  <a:noFill/>
                </a:ln>
                <a:solidFill>
                  <a:schemeClr val="tx1"/>
                </a:solidFill>
                <a:effectLst/>
                <a:latin typeface="Arial" panose="020B0604020202020204" pitchFamily="34" charset="0"/>
              </a:rPr>
              <a:t>Dashboard</a:t>
            </a:r>
            <a:r>
              <a:rPr kumimoji="0" lang="az-Latn-AZ" altLang="en-US" sz="1300" b="0" i="0" u="none" strike="noStrike" cap="none" normalizeH="0" baseline="0">
                <a:ln>
                  <a:noFill/>
                </a:ln>
                <a:solidFill>
                  <a:schemeClr val="tx1"/>
                </a:solidFill>
                <a:effectLst/>
                <a:latin typeface="Arial" panose="020B0604020202020204" pitchFamily="34" charset="0"/>
              </a:rPr>
              <a:t> səhifəsinə daxil olduqda aşağıdakı kimi bölmələri görəcəyik.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2901EB90-49D5-BD51-AEBE-96F90A8F4CA3}"/>
              </a:ext>
            </a:extLst>
          </p:cNvPr>
          <p:cNvPicPr>
            <a:picLocks noChangeAspect="1"/>
          </p:cNvPicPr>
          <p:nvPr/>
        </p:nvPicPr>
        <p:blipFill>
          <a:blip r:embed="rId2"/>
          <a:stretch>
            <a:fillRect/>
          </a:stretch>
        </p:blipFill>
        <p:spPr>
          <a:xfrm>
            <a:off x="-1" y="606344"/>
            <a:ext cx="12192000" cy="6251656"/>
          </a:xfrm>
          <a:prstGeom prst="rect">
            <a:avLst/>
          </a:prstGeom>
        </p:spPr>
      </p:pic>
    </p:spTree>
    <p:extLst>
      <p:ext uri="{BB962C8B-B14F-4D97-AF65-F5344CB8AC3E}">
        <p14:creationId xmlns:p14="http://schemas.microsoft.com/office/powerpoint/2010/main" val="986505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2B83F-6100-BDDF-E916-FAB492E9C7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2ED248-C42C-A985-CEAE-D9F9C80E45D6}"/>
              </a:ext>
            </a:extLst>
          </p:cNvPr>
          <p:cNvSpPr txBox="1"/>
          <p:nvPr/>
        </p:nvSpPr>
        <p:spPr>
          <a:xfrm>
            <a:off x="217714" y="255046"/>
            <a:ext cx="11756571" cy="5756832"/>
          </a:xfrm>
          <a:prstGeom prst="rect">
            <a:avLst/>
          </a:prstGeom>
          <a:noFill/>
        </p:spPr>
        <p:txBody>
          <a:bodyPr wrap="square">
            <a:spAutoFit/>
          </a:bodyPr>
          <a:lstStyle/>
          <a:p>
            <a:pPr>
              <a:lnSpc>
                <a:spcPct val="150000"/>
              </a:lnSpc>
              <a:buNone/>
            </a:pPr>
            <a:r>
              <a:rPr lang="en-US" altLang="en-US" sz="1300" b="1">
                <a:solidFill>
                  <a:srgbClr val="FF0000"/>
                </a:solidFill>
                <a:latin typeface="Arial" panose="020B0604020202020204" pitchFamily="34" charset="0"/>
              </a:rPr>
              <a:t>PayPal Developer Panelindəki bölmələrin izahı</a:t>
            </a:r>
            <a:r>
              <a:rPr lang="en-US" altLang="en-US" sz="1300">
                <a:latin typeface="Arial" panose="020B0604020202020204" pitchFamily="34" charset="0"/>
              </a:rPr>
              <a:t>:</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 </a:t>
            </a:r>
            <a:r>
              <a:rPr lang="en-US" altLang="en-US" sz="1300" b="1">
                <a:solidFill>
                  <a:srgbClr val="00B050"/>
                </a:solidFill>
                <a:latin typeface="Arial" panose="020B0604020202020204" pitchFamily="34" charset="0"/>
              </a:rPr>
              <a:t>API Credentials</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Nədir? Burada sizə </a:t>
            </a:r>
            <a:r>
              <a:rPr lang="en-US" altLang="en-US" sz="1300" b="1">
                <a:latin typeface="Arial" panose="020B0604020202020204" pitchFamily="34" charset="0"/>
              </a:rPr>
              <a:t>PayPal</a:t>
            </a:r>
            <a:r>
              <a:rPr lang="en-US" altLang="en-US" sz="1300">
                <a:latin typeface="Arial" panose="020B0604020202020204" pitchFamily="34" charset="0"/>
              </a:rPr>
              <a:t> tərəfindən </a:t>
            </a:r>
            <a:r>
              <a:rPr lang="en-US" altLang="en-US" sz="1300" b="1">
                <a:solidFill>
                  <a:srgbClr val="0070C0"/>
                </a:solidFill>
                <a:latin typeface="Arial" panose="020B0604020202020204" pitchFamily="34" charset="0"/>
              </a:rPr>
              <a:t>Client ID </a:t>
            </a:r>
            <a:r>
              <a:rPr lang="en-US" altLang="en-US" sz="1300">
                <a:latin typeface="Arial" panose="020B0604020202020204" pitchFamily="34" charset="0"/>
              </a:rPr>
              <a:t>və </a:t>
            </a:r>
            <a:r>
              <a:rPr lang="en-US" altLang="en-US" sz="1300" b="1">
                <a:solidFill>
                  <a:srgbClr val="0070C0"/>
                </a:solidFill>
                <a:latin typeface="Arial" panose="020B0604020202020204" pitchFamily="34" charset="0"/>
              </a:rPr>
              <a:t>Secret key </a:t>
            </a:r>
            <a:r>
              <a:rPr lang="en-US" altLang="en-US" sz="1300">
                <a:latin typeface="Arial" panose="020B0604020202020204" pitchFamily="34" charset="0"/>
              </a:rPr>
              <a:t>verilir.</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 üçün lazımdır? Bu identifikatorlar sizin tətbiqinizi </a:t>
            </a:r>
            <a:r>
              <a:rPr lang="en-US" altLang="en-US" sz="1300" b="1">
                <a:latin typeface="Arial" panose="020B0604020202020204" pitchFamily="34" charset="0"/>
              </a:rPr>
              <a:t>PayPal</a:t>
            </a:r>
            <a:r>
              <a:rPr lang="en-US" altLang="en-US" sz="1300">
                <a:latin typeface="Arial" panose="020B0604020202020204" pitchFamily="34" charset="0"/>
              </a:rPr>
              <a:t> sisteminə bağlayır.</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az-Latn-AZ" altLang="en-US" sz="1300">
                <a:latin typeface="Arial" panose="020B0604020202020204" pitchFamily="34" charset="0"/>
              </a:rPr>
              <a:t>🔹 </a:t>
            </a:r>
            <a:r>
              <a:rPr lang="az-Latn-AZ" altLang="en-US" sz="1300" b="1">
                <a:solidFill>
                  <a:srgbClr val="00B050"/>
                </a:solidFill>
                <a:latin typeface="Arial" panose="020B0604020202020204" pitchFamily="34" charset="0"/>
              </a:rPr>
              <a:t>Sandbox Accounts</a:t>
            </a:r>
          </a:p>
          <a:p>
            <a:pPr marL="742950" lvl="1" indent="-285750">
              <a:lnSpc>
                <a:spcPct val="150000"/>
              </a:lnSpc>
              <a:buFont typeface="Arial" panose="020B0604020202020204" pitchFamily="34" charset="0"/>
              <a:buChar char="•"/>
            </a:pPr>
            <a:r>
              <a:rPr lang="az-Latn-AZ" altLang="en-US" sz="1300">
                <a:latin typeface="Arial" panose="020B0604020202020204" pitchFamily="34" charset="0"/>
              </a:rPr>
              <a:t>Nədir? Burada test istifadəçiləri (satıcı və alıcı) yaradılır.</a:t>
            </a:r>
          </a:p>
          <a:p>
            <a:pPr marL="742950" lvl="1" indent="-285750">
              <a:lnSpc>
                <a:spcPct val="150000"/>
              </a:lnSpc>
              <a:buFont typeface="Arial" panose="020B0604020202020204" pitchFamily="34" charset="0"/>
              <a:buChar char="•"/>
            </a:pPr>
            <a:r>
              <a:rPr lang="az-Latn-AZ" altLang="en-US" sz="1300">
                <a:latin typeface="Arial" panose="020B0604020202020204" pitchFamily="34" charset="0"/>
              </a:rPr>
              <a:t>İki növ var: Business (satıcı) və Personal (alıcı).</a:t>
            </a:r>
          </a:p>
          <a:p>
            <a:pPr marL="742950" lvl="1" indent="-285750">
              <a:lnSpc>
                <a:spcPct val="150000"/>
              </a:lnSpc>
              <a:buFont typeface="Arial" panose="020B0604020202020204" pitchFamily="34" charset="0"/>
              <a:buChar char="•"/>
            </a:pPr>
            <a:r>
              <a:rPr lang="az-Latn-AZ" altLang="en-US" sz="1300">
                <a:latin typeface="Arial" panose="020B0604020202020204" pitchFamily="34" charset="0"/>
              </a:rPr>
              <a:t>Nə üçün lazımdır? Test zamanı bir istifadəçi kimi ödəniş edib, digər istifadəçi kimi onu qəbul edirsiniz.</a:t>
            </a: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 </a:t>
            </a:r>
            <a:r>
              <a:rPr lang="en-US" altLang="en-US" sz="1300" b="1">
                <a:solidFill>
                  <a:srgbClr val="00B050"/>
                </a:solidFill>
                <a:latin typeface="Arial" panose="020B0604020202020204" pitchFamily="34" charset="0"/>
              </a:rPr>
              <a:t>API Calls</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Nədir? </a:t>
            </a:r>
            <a:r>
              <a:rPr lang="en-US" altLang="en-US" sz="1300" b="1">
                <a:latin typeface="Arial" panose="020B0604020202020204" pitchFamily="34" charset="0"/>
              </a:rPr>
              <a:t>API</a:t>
            </a:r>
            <a:r>
              <a:rPr lang="en-US" altLang="en-US" sz="1300">
                <a:latin typeface="Arial" panose="020B0604020202020204" pitchFamily="34" charset="0"/>
              </a:rPr>
              <a:t> vasitəsilə edilən bütün sorğular (məsələn: order yaratmaq, ödəniş almaq) burada qeyd olunur.</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 üçün lazımdır? Problemləri ayırd etmək, loglara baxmaq üçün istifadə olunur.</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4786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C3B2E-193E-4F23-4860-045CFFC7331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6EA6C5-09D1-1DF5-6A58-86F84AD0D998}"/>
              </a:ext>
            </a:extLst>
          </p:cNvPr>
          <p:cNvSpPr txBox="1"/>
          <p:nvPr/>
        </p:nvSpPr>
        <p:spPr>
          <a:xfrm>
            <a:off x="217714" y="255046"/>
            <a:ext cx="11756571" cy="6056915"/>
          </a:xfrm>
          <a:prstGeom prst="rect">
            <a:avLst/>
          </a:prstGeom>
          <a:noFill/>
        </p:spPr>
        <p:txBody>
          <a:bodyPr wrap="square">
            <a:spAutoFit/>
          </a:bodyPr>
          <a:lstStyle/>
          <a:p>
            <a:pPr>
              <a:lnSpc>
                <a:spcPct val="150000"/>
              </a:lnSpc>
              <a:buNone/>
            </a:pPr>
            <a:r>
              <a:rPr lang="en-US" altLang="en-US" sz="1300">
                <a:latin typeface="Arial" panose="020B0604020202020204" pitchFamily="34" charset="0"/>
              </a:rPr>
              <a:t>🔹 </a:t>
            </a:r>
            <a:r>
              <a:rPr lang="en-US" altLang="en-US" sz="1300" b="1">
                <a:solidFill>
                  <a:srgbClr val="00B050"/>
                </a:solidFill>
                <a:latin typeface="Arial" panose="020B0604020202020204" pitchFamily="34" charset="0"/>
              </a:rPr>
              <a:t>Dev Docs (Developer Documentation)</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Nədir? </a:t>
            </a:r>
            <a:r>
              <a:rPr lang="en-US" altLang="en-US" sz="1300" b="1">
                <a:latin typeface="Arial" panose="020B0604020202020204" pitchFamily="34" charset="0"/>
              </a:rPr>
              <a:t>PayPal</a:t>
            </a:r>
            <a:r>
              <a:rPr lang="en-US" altLang="en-US" sz="1300">
                <a:latin typeface="Arial" panose="020B0604020202020204" pitchFamily="34" charset="0"/>
              </a:rPr>
              <a:t>-ın rəsmi texniki sənədləridir.</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 üçün lazımdır? </a:t>
            </a:r>
            <a:r>
              <a:rPr lang="az-Latn-AZ" altLang="en-US" sz="1300">
                <a:latin typeface="Arial" panose="020B0604020202020204" pitchFamily="34" charset="0"/>
              </a:rPr>
              <a:t>İnkişafçılar</a:t>
            </a:r>
            <a:r>
              <a:rPr lang="en-US" altLang="en-US" sz="1300">
                <a:latin typeface="Arial" panose="020B0604020202020204" pitchFamily="34" charset="0"/>
              </a:rPr>
              <a:t> üçün bütün texniki izahatlar, nümunələr, API sorğuları burada yerləşir.</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r>
              <a:rPr lang="en-US" altLang="en-US" sz="1300">
                <a:latin typeface="Arial" panose="020B0604020202020204" pitchFamily="34" charset="0"/>
              </a:rPr>
              <a:t>🔹 </a:t>
            </a:r>
            <a:r>
              <a:rPr lang="en-US" altLang="en-US" sz="1300" b="1">
                <a:solidFill>
                  <a:srgbClr val="00B050"/>
                </a:solidFill>
                <a:latin typeface="Arial" panose="020B0604020202020204" pitchFamily="34" charset="0"/>
              </a:rPr>
              <a:t>Webhooks Events</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Nədir? Webhook – PayPal sizin saytınıza məlumat göndərir (məsələn, "ödəmə uğurla alındı").</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 üçün lazımdır? Backend-ə ödəniş tamamlandıqda avtomatik məlumat gəlsin deyə.</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“Webhook – PayPal-dan sizin sistemə gələn zəng kimidir: ‘salam, sənin müştərin artıq ödədi’.”</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 </a:t>
            </a:r>
            <a:r>
              <a:rPr lang="en-US" altLang="en-US" sz="1300" b="1">
                <a:solidFill>
                  <a:srgbClr val="00B050"/>
                </a:solidFill>
                <a:latin typeface="Arial" panose="020B0604020202020204" pitchFamily="34" charset="0"/>
              </a:rPr>
              <a:t>Webhooks Simulator</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Nədir? Webhook mesajlarının test edilməsi üçün simulyatordur.</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 üçün lazımdır? Hələ real ödəniş etmədən backend sisteminizi sınaqdan keçirmək üçün.</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 </a:t>
            </a:r>
            <a:r>
              <a:rPr lang="en-US" altLang="en-US" sz="1300" b="1">
                <a:solidFill>
                  <a:srgbClr val="00B050"/>
                </a:solidFill>
                <a:latin typeface="Arial" panose="020B0604020202020204" pitchFamily="34" charset="0"/>
              </a:rPr>
              <a:t>Credit Card Generator</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Nədir? Test üçün istifadə olunan "süni" (fake) kredit kartları verir.</a:t>
            </a:r>
          </a:p>
          <a:p>
            <a:pPr marL="742950" lvl="1" indent="-285750">
              <a:lnSpc>
                <a:spcPct val="150000"/>
              </a:lnSpc>
              <a:buFont typeface="Arial" panose="020B0604020202020204" pitchFamily="34" charset="0"/>
              <a:buChar char="•"/>
            </a:pPr>
            <a:r>
              <a:rPr lang="en-US" altLang="en-US" sz="1300">
                <a:latin typeface="Arial" panose="020B0604020202020204" pitchFamily="34" charset="0"/>
              </a:rPr>
              <a:t>Nə üçün lazımdır? Sandbox alıcı hesabı ilə ödəniş etmək istədikdə bu kartları istifadə edə bilərsiniz.</a:t>
            </a:r>
            <a:endParaRPr lang="az-Latn-AZ" altLang="en-US" sz="1300">
              <a:latin typeface="Arial" panose="020B0604020202020204" pitchFamily="34" charset="0"/>
            </a:endParaRP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46434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90F37-6F34-EF13-9AA1-8AE5C6721B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3A8C1A-14B4-AF01-98D0-2E51C4403E29}"/>
              </a:ext>
            </a:extLst>
          </p:cNvPr>
          <p:cNvSpPr txBox="1"/>
          <p:nvPr/>
        </p:nvSpPr>
        <p:spPr>
          <a:xfrm>
            <a:off x="217714" y="255046"/>
            <a:ext cx="11756571" cy="955518"/>
          </a:xfrm>
          <a:prstGeom prst="rect">
            <a:avLst/>
          </a:prstGeom>
          <a:noFill/>
        </p:spPr>
        <p:txBody>
          <a:bodyPr wrap="square">
            <a:spAutoFit/>
          </a:bodyPr>
          <a:lstStyle/>
          <a:p>
            <a:pPr>
              <a:lnSpc>
                <a:spcPct val="150000"/>
              </a:lnSpc>
              <a:buNone/>
            </a:pPr>
            <a:r>
              <a:rPr lang="en-US" altLang="en-US" sz="1300" b="1">
                <a:solidFill>
                  <a:srgbClr val="FF0000"/>
                </a:solidFill>
                <a:latin typeface="Arial" panose="020B0604020202020204" pitchFamily="34" charset="0"/>
              </a:rPr>
              <a:t>API Credentials </a:t>
            </a:r>
            <a:r>
              <a:rPr lang="az-Latn-AZ" altLang="en-US" sz="1300">
                <a:latin typeface="Arial" panose="020B0604020202020204" pitchFamily="34" charset="0"/>
              </a:rPr>
              <a:t>bölməsinə daxil olduqdan sonra `</a:t>
            </a:r>
            <a:r>
              <a:rPr lang="az-Latn-AZ" altLang="en-US" sz="1300" b="1">
                <a:solidFill>
                  <a:srgbClr val="FF0000"/>
                </a:solidFill>
                <a:latin typeface="Arial" panose="020B0604020202020204" pitchFamily="34" charset="0"/>
              </a:rPr>
              <a:t>Default Application</a:t>
            </a:r>
            <a:r>
              <a:rPr lang="az-Latn-AZ" altLang="en-US" sz="1300">
                <a:latin typeface="Arial" panose="020B0604020202020204" pitchFamily="34" charset="0"/>
              </a:rPr>
              <a:t>` yazısına klikləyirik.</a:t>
            </a: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 2) API Credentials → Default Application</a:t>
            </a:r>
            <a:r>
              <a:rPr lang="az-Latn-AZ" altLang="en-US" sz="1300">
                <a:latin typeface="Arial" panose="020B0604020202020204" pitchFamily="34" charset="0"/>
              </a:rPr>
              <a:t> haqqında olan izah növbəti slaydda....</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E5DD7E62-1E66-E4E6-3B45-DAB53BDA22ED}"/>
              </a:ext>
            </a:extLst>
          </p:cNvPr>
          <p:cNvPicPr>
            <a:picLocks noChangeAspect="1"/>
          </p:cNvPicPr>
          <p:nvPr/>
        </p:nvPicPr>
        <p:blipFill>
          <a:blip r:embed="rId2"/>
          <a:stretch>
            <a:fillRect/>
          </a:stretch>
        </p:blipFill>
        <p:spPr>
          <a:xfrm>
            <a:off x="0" y="1629227"/>
            <a:ext cx="12192000" cy="5228773"/>
          </a:xfrm>
          <a:prstGeom prst="rect">
            <a:avLst/>
          </a:prstGeom>
        </p:spPr>
      </p:pic>
    </p:spTree>
    <p:extLst>
      <p:ext uri="{BB962C8B-B14F-4D97-AF65-F5344CB8AC3E}">
        <p14:creationId xmlns:p14="http://schemas.microsoft.com/office/powerpoint/2010/main" val="3159733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C03AD-36C1-4372-7D19-3662A7880B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F35FBC-BBF1-83CE-2941-7AE8C743002D}"/>
              </a:ext>
            </a:extLst>
          </p:cNvPr>
          <p:cNvSpPr txBox="1"/>
          <p:nvPr/>
        </p:nvSpPr>
        <p:spPr>
          <a:xfrm>
            <a:off x="217714" y="255046"/>
            <a:ext cx="11756571" cy="4556504"/>
          </a:xfrm>
          <a:prstGeom prst="rect">
            <a:avLst/>
          </a:prstGeom>
          <a:noFill/>
        </p:spPr>
        <p:txBody>
          <a:bodyPr wrap="square">
            <a:spAutoFit/>
          </a:bodyPr>
          <a:lstStyle/>
          <a:p>
            <a:pPr>
              <a:lnSpc>
                <a:spcPct val="150000"/>
              </a:lnSpc>
              <a:buNone/>
            </a:pPr>
            <a:r>
              <a:rPr lang="en-US" altLang="en-US" sz="1300">
                <a:latin typeface="Arial" panose="020B0604020202020204" pitchFamily="34" charset="0"/>
              </a:rPr>
              <a:t>🔹 </a:t>
            </a:r>
            <a:r>
              <a:rPr lang="en-US" altLang="en-US" sz="1300" b="1">
                <a:solidFill>
                  <a:srgbClr val="00B050"/>
                </a:solidFill>
                <a:latin typeface="Arial" panose="020B0604020202020204" pitchFamily="34" charset="0"/>
              </a:rPr>
              <a:t>Client ID</a:t>
            </a:r>
          </a:p>
          <a:p>
            <a:pPr>
              <a:lnSpc>
                <a:spcPct val="150000"/>
              </a:lnSpc>
              <a:buNone/>
            </a:pPr>
            <a:r>
              <a:rPr lang="en-US" altLang="en-US" sz="1300">
                <a:latin typeface="Arial" panose="020B0604020202020204" pitchFamily="34" charset="0"/>
              </a:rPr>
              <a:t>Unikal identifikatordur. Sizin tətbiq bu ID ilə PayPal serverinə tanıdılır.</a:t>
            </a:r>
          </a:p>
          <a:p>
            <a:pPr>
              <a:lnSpc>
                <a:spcPct val="150000"/>
              </a:lnSpc>
              <a:buNone/>
            </a:pPr>
            <a:endParaRPr lang="az-Latn-AZ" altLang="en-US" sz="1300">
              <a:latin typeface="Arial" panose="020B0604020202020204" pitchFamily="34" charset="0"/>
            </a:endParaRPr>
          </a:p>
          <a:p>
            <a:pPr>
              <a:lnSpc>
                <a:spcPct val="150000"/>
              </a:lnSpc>
              <a:buNone/>
            </a:pPr>
            <a:endParaRPr lang="en-US" altLang="en-US" sz="1300">
              <a:latin typeface="Arial" panose="020B0604020202020204" pitchFamily="34" charset="0"/>
            </a:endParaRPr>
          </a:p>
          <a:p>
            <a:pPr>
              <a:lnSpc>
                <a:spcPct val="150000"/>
              </a:lnSpc>
              <a:buNone/>
            </a:pPr>
            <a:r>
              <a:rPr lang="en-US" altLang="en-US" sz="1300">
                <a:latin typeface="Arial" panose="020B0604020202020204" pitchFamily="34" charset="0"/>
              </a:rPr>
              <a:t>🔹 </a:t>
            </a:r>
            <a:r>
              <a:rPr lang="en-US" altLang="en-US" sz="1300" b="1">
                <a:solidFill>
                  <a:srgbClr val="00B050"/>
                </a:solidFill>
                <a:latin typeface="Arial" panose="020B0604020202020204" pitchFamily="34" charset="0"/>
              </a:rPr>
              <a:t>Secret Key</a:t>
            </a:r>
          </a:p>
          <a:p>
            <a:pPr>
              <a:lnSpc>
                <a:spcPct val="150000"/>
              </a:lnSpc>
              <a:buNone/>
            </a:pPr>
            <a:r>
              <a:rPr lang="en-US" altLang="en-US" sz="1300">
                <a:latin typeface="Arial" panose="020B0604020202020204" pitchFamily="34" charset="0"/>
              </a:rPr>
              <a:t>Bu, "şəxsi parol" kimidir. Sizin tətbiq bu parol ilə PayPal-a sorğu göndərmək hüququ qazanır.</a:t>
            </a:r>
          </a:p>
          <a:p>
            <a:pPr>
              <a:lnSpc>
                <a:spcPct val="150000"/>
              </a:lnSpc>
              <a:buNone/>
            </a:pPr>
            <a:r>
              <a:rPr lang="en-US" altLang="en-US" sz="1300">
                <a:latin typeface="Arial" panose="020B0604020202020204" pitchFamily="34" charset="0"/>
              </a:rPr>
              <a:t>⚠️ Diqqət: Bu məlumatları heç kimlə paylaşmaq olmaz – təhlükəsizlik baxımından çox vacibdir.</a:t>
            </a:r>
          </a:p>
          <a:p>
            <a:pPr>
              <a:lnSpc>
                <a:spcPct val="150000"/>
              </a:lnSpc>
              <a:buNone/>
            </a:pPr>
            <a:endParaRPr lang="az-Latn-AZ" altLang="en-US" sz="1300">
              <a:latin typeface="Arial" panose="020B0604020202020204" pitchFamily="34" charset="0"/>
            </a:endParaRPr>
          </a:p>
          <a:p>
            <a:pPr>
              <a:lnSpc>
                <a:spcPct val="150000"/>
              </a:lnSpc>
              <a:buNone/>
            </a:pPr>
            <a:endParaRPr lang="en-US" altLang="en-US" sz="1300">
              <a:latin typeface="Arial" panose="020B0604020202020204" pitchFamily="34" charset="0"/>
            </a:endParaRPr>
          </a:p>
          <a:p>
            <a:pPr>
              <a:lnSpc>
                <a:spcPct val="150000"/>
              </a:lnSpc>
              <a:buNone/>
            </a:pPr>
            <a:r>
              <a:rPr lang="en-US" altLang="en-US" sz="1300">
                <a:latin typeface="Arial" panose="020B0604020202020204" pitchFamily="34" charset="0"/>
              </a:rPr>
              <a:t>🔹 </a:t>
            </a:r>
            <a:r>
              <a:rPr lang="en-US" altLang="en-US" sz="1300" b="1">
                <a:solidFill>
                  <a:srgbClr val="00B050"/>
                </a:solidFill>
                <a:latin typeface="Arial" panose="020B0604020202020204" pitchFamily="34" charset="0"/>
              </a:rPr>
              <a:t>Sandbox URL</a:t>
            </a:r>
          </a:p>
          <a:p>
            <a:pPr>
              <a:lnSpc>
                <a:spcPct val="150000"/>
              </a:lnSpc>
              <a:buNone/>
            </a:pPr>
            <a:r>
              <a:rPr lang="en-US" altLang="en-US" sz="1300">
                <a:latin typeface="Arial" panose="020B0604020202020204" pitchFamily="34" charset="0"/>
              </a:rPr>
              <a:t>Yalnız test zamanı istifadə olunur. Gerçək ödənişlərlə əlaqəsi yoxdur.</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5939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49A52-1791-0BC1-F48B-9299CC7CCD3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450C59C-1436-39C0-E665-18584C14BD52}"/>
              </a:ext>
            </a:extLst>
          </p:cNvPr>
          <p:cNvSpPr txBox="1"/>
          <p:nvPr/>
        </p:nvSpPr>
        <p:spPr>
          <a:xfrm>
            <a:off x="217713" y="124417"/>
            <a:ext cx="11756571" cy="6356997"/>
          </a:xfrm>
          <a:prstGeom prst="rect">
            <a:avLst/>
          </a:prstGeom>
          <a:noFill/>
        </p:spPr>
        <p:txBody>
          <a:bodyPr wrap="square">
            <a:spAutoFit/>
          </a:bodyPr>
          <a:lstStyle/>
          <a:p>
            <a:pPr>
              <a:lnSpc>
                <a:spcPct val="150000"/>
              </a:lnSpc>
              <a:buNone/>
            </a:pPr>
            <a:r>
              <a:rPr lang="en-US" altLang="en-US" sz="1300" b="1">
                <a:solidFill>
                  <a:srgbClr val="FF0000"/>
                </a:solidFill>
                <a:latin typeface="Arial" panose="020B0604020202020204" pitchFamily="34" charset="0"/>
              </a:rPr>
              <a:t>Sandbox accounts </a:t>
            </a:r>
            <a:r>
              <a:rPr lang="en-US" altLang="en-US" sz="1300">
                <a:latin typeface="Arial" panose="020B0604020202020204" pitchFamily="34" charset="0"/>
              </a:rPr>
              <a:t>ha</a:t>
            </a:r>
            <a:r>
              <a:rPr lang="az-Latn-AZ" altLang="en-US" sz="1300">
                <a:latin typeface="Arial" panose="020B0604020202020204" pitchFamily="34" charset="0"/>
              </a:rPr>
              <a:t>qqında...</a:t>
            </a: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b="1">
                <a:latin typeface="Arial" panose="020B0604020202020204" pitchFamily="34" charset="0"/>
              </a:rPr>
              <a:t>PayPal Sandbox nədir və nə üçün lazımdır?</a:t>
            </a:r>
            <a:endParaRPr lang="az-Latn-AZ" altLang="en-US" sz="1300" b="1">
              <a:latin typeface="Arial" panose="020B0604020202020204" pitchFamily="34" charset="0"/>
            </a:endParaRPr>
          </a:p>
          <a:p>
            <a:pPr>
              <a:lnSpc>
                <a:spcPct val="150000"/>
              </a:lnSpc>
              <a:buNone/>
            </a:pPr>
            <a:endParaRPr lang="en-US" altLang="en-US" sz="1300" b="1">
              <a:latin typeface="Arial" panose="020B0604020202020204" pitchFamily="34" charset="0"/>
            </a:endParaRPr>
          </a:p>
          <a:p>
            <a:pPr>
              <a:lnSpc>
                <a:spcPct val="150000"/>
              </a:lnSpc>
              <a:buNone/>
            </a:pPr>
            <a:r>
              <a:rPr lang="en-US" altLang="en-US" sz="1300">
                <a:latin typeface="Arial" panose="020B0604020202020204" pitchFamily="34" charset="0"/>
              </a:rPr>
              <a:t>Sandbox – "qum qutusu" deməkdir. Bu rejimdə real pul olmadan, test ödənişləri etmək mümkündür. Yəni siz öz saytınızda ödəniş sistemini quraşdırdıqda, əvvəlcə "sandbox" rejimində onu yoxlayırsınız ki, hər şey düzgün işləyir ya yox.</a:t>
            </a:r>
          </a:p>
          <a:p>
            <a:pPr>
              <a:lnSpc>
                <a:spcPct val="150000"/>
              </a:lnSpc>
              <a:buNone/>
            </a:pPr>
            <a:endParaRPr lang="en-US" altLang="en-US" sz="1300">
              <a:latin typeface="Arial" panose="020B0604020202020204" pitchFamily="34" charset="0"/>
            </a:endParaRPr>
          </a:p>
          <a:p>
            <a:pPr>
              <a:lnSpc>
                <a:spcPct val="150000"/>
              </a:lnSpc>
              <a:buNone/>
            </a:pPr>
            <a:r>
              <a:rPr lang="en-US" altLang="en-US" sz="1300">
                <a:latin typeface="Arial" panose="020B0604020202020204" pitchFamily="34" charset="0"/>
              </a:rPr>
              <a:t>Niyə lazımdır? Çünki birbaşa "live" rejimdə səhv kod real pul itkisinə səbəb ola bilər.</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86D795A8-A204-62BD-28CE-5B2E15803BD0}"/>
              </a:ext>
            </a:extLst>
          </p:cNvPr>
          <p:cNvPicPr>
            <a:picLocks noChangeAspect="1"/>
          </p:cNvPicPr>
          <p:nvPr/>
        </p:nvPicPr>
        <p:blipFill>
          <a:blip r:embed="rId2"/>
          <a:stretch>
            <a:fillRect/>
          </a:stretch>
        </p:blipFill>
        <p:spPr>
          <a:xfrm>
            <a:off x="0" y="611211"/>
            <a:ext cx="12192000" cy="32656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86662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3A760-9BBF-4233-BE25-30D43EB343B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17AFE4-771E-7639-9525-9BC620AB0B61}"/>
              </a:ext>
            </a:extLst>
          </p:cNvPr>
          <p:cNvSpPr txBox="1"/>
          <p:nvPr/>
        </p:nvSpPr>
        <p:spPr>
          <a:xfrm>
            <a:off x="164840" y="3797974"/>
            <a:ext cx="11756571" cy="655436"/>
          </a:xfrm>
          <a:prstGeom prst="rect">
            <a:avLst/>
          </a:prstGeom>
          <a:noFill/>
        </p:spPr>
        <p:txBody>
          <a:bodyPr wrap="square">
            <a:spAutoFit/>
          </a:bodyPr>
          <a:lstStyle/>
          <a:p>
            <a:pPr>
              <a:lnSpc>
                <a:spcPct val="150000"/>
              </a:lnSpc>
              <a:buNone/>
            </a:pPr>
            <a:r>
              <a:rPr lang="en-US" altLang="en-US" sz="1300">
                <a:latin typeface="Arial" panose="020B0604020202020204" pitchFamily="34" charset="0"/>
              </a:rPr>
              <a:t>3) </a:t>
            </a:r>
            <a:r>
              <a:rPr lang="en-US" altLang="en-US" sz="1300" b="1">
                <a:solidFill>
                  <a:srgbClr val="00B050"/>
                </a:solidFill>
                <a:latin typeface="Arial" panose="020B0604020202020204" pitchFamily="34" charset="0"/>
              </a:rPr>
              <a:t>Sandbox Accounts</a:t>
            </a:r>
          </a:p>
          <a:p>
            <a:pPr>
              <a:lnSpc>
                <a:spcPct val="150000"/>
              </a:lnSpc>
              <a:buNone/>
            </a:pPr>
            <a:r>
              <a:rPr lang="en-US" altLang="en-US" sz="1300">
                <a:latin typeface="Arial" panose="020B0604020202020204" pitchFamily="34" charset="0"/>
              </a:rPr>
              <a:t>Burada sizin iki əsas test hesabınız var:</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62007A4-CBFB-D17D-E621-2968C1EE6C22}"/>
              </a:ext>
            </a:extLst>
          </p:cNvPr>
          <p:cNvPicPr>
            <a:picLocks noChangeAspect="1"/>
          </p:cNvPicPr>
          <p:nvPr/>
        </p:nvPicPr>
        <p:blipFill>
          <a:blip r:embed="rId2"/>
          <a:stretch>
            <a:fillRect/>
          </a:stretch>
        </p:blipFill>
        <p:spPr>
          <a:xfrm>
            <a:off x="0" y="-1"/>
            <a:ext cx="12192000" cy="33123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4" name="Table 3">
            <a:extLst>
              <a:ext uri="{FF2B5EF4-FFF2-40B4-BE49-F238E27FC236}">
                <a16:creationId xmlns:a16="http://schemas.microsoft.com/office/drawing/2014/main" id="{6611E271-024F-C7BA-C1B6-5D27BB86CFF9}"/>
              </a:ext>
            </a:extLst>
          </p:cNvPr>
          <p:cNvGraphicFramePr>
            <a:graphicFrameLocks noGrp="1"/>
          </p:cNvGraphicFramePr>
          <p:nvPr>
            <p:extLst>
              <p:ext uri="{D42A27DB-BD31-4B8C-83A1-F6EECF244321}">
                <p14:modId xmlns:p14="http://schemas.microsoft.com/office/powerpoint/2010/main" val="3070160661"/>
              </p:ext>
            </p:extLst>
          </p:nvPr>
        </p:nvGraphicFramePr>
        <p:xfrm>
          <a:off x="164840" y="4939019"/>
          <a:ext cx="10559144" cy="1657722"/>
        </p:xfrm>
        <a:graphic>
          <a:graphicData uri="http://schemas.openxmlformats.org/drawingml/2006/table">
            <a:tbl>
              <a:tblPr/>
              <a:tblGrid>
                <a:gridCol w="1772735">
                  <a:extLst>
                    <a:ext uri="{9D8B030D-6E8A-4147-A177-3AD203B41FA5}">
                      <a16:colId xmlns:a16="http://schemas.microsoft.com/office/drawing/2014/main" val="4102801106"/>
                    </a:ext>
                  </a:extLst>
                </a:gridCol>
                <a:gridCol w="8786409">
                  <a:extLst>
                    <a:ext uri="{9D8B030D-6E8A-4147-A177-3AD203B41FA5}">
                      <a16:colId xmlns:a16="http://schemas.microsoft.com/office/drawing/2014/main" val="3861610404"/>
                    </a:ext>
                  </a:extLst>
                </a:gridCol>
              </a:tblGrid>
              <a:tr h="552574">
                <a:tc>
                  <a:txBody>
                    <a:bodyPr/>
                    <a:lstStyle/>
                    <a:p>
                      <a:pPr>
                        <a:buNone/>
                      </a:pPr>
                      <a:r>
                        <a:rPr lang="en-US" b="1"/>
                        <a:t>Hesab tipi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buNone/>
                      </a:pPr>
                      <a:r>
                        <a:rPr lang="en-US" b="1"/>
                        <a:t>İstifadə məqsədi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79653359"/>
                  </a:ext>
                </a:extLst>
              </a:tr>
              <a:tr h="552574">
                <a:tc>
                  <a:txBody>
                    <a:bodyPr/>
                    <a:lstStyle/>
                    <a:p>
                      <a:pPr>
                        <a:buNone/>
                      </a:pPr>
                      <a:r>
                        <a:rPr lang="en-US" b="1"/>
                        <a:t>Business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Satıcıdır – pul qəbul edir. Saytınız bu hesabla əlaqəli olacaq.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5738071"/>
                  </a:ext>
                </a:extLst>
              </a:tr>
              <a:tr h="552574">
                <a:tc>
                  <a:txBody>
                    <a:bodyPr/>
                    <a:lstStyle/>
                    <a:p>
                      <a:pPr>
                        <a:buNone/>
                      </a:pPr>
                      <a:r>
                        <a:rPr lang="en-US" b="1"/>
                        <a:t>Personal</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Müştəridir – bu hesabla test ödənişləri edirsiniz.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3330904"/>
                  </a:ext>
                </a:extLst>
              </a:tr>
            </a:tbl>
          </a:graphicData>
        </a:graphic>
      </p:graphicFrame>
    </p:spTree>
    <p:extLst>
      <p:ext uri="{BB962C8B-B14F-4D97-AF65-F5344CB8AC3E}">
        <p14:creationId xmlns:p14="http://schemas.microsoft.com/office/powerpoint/2010/main" val="1620348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9291B-DC26-C7A9-512A-F16BF2BA0A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C69EA0-4FE9-E613-B9CF-C7EE4EB1BB1A}"/>
              </a:ext>
            </a:extLst>
          </p:cNvPr>
          <p:cNvSpPr txBox="1"/>
          <p:nvPr/>
        </p:nvSpPr>
        <p:spPr>
          <a:xfrm>
            <a:off x="217714" y="255046"/>
            <a:ext cx="11756571" cy="1555682"/>
          </a:xfrm>
          <a:prstGeom prst="rect">
            <a:avLst/>
          </a:prstGeom>
          <a:noFill/>
        </p:spPr>
        <p:txBody>
          <a:bodyPr wrap="square">
            <a:spAutoFit/>
          </a:bodyPr>
          <a:lstStyle/>
          <a:p>
            <a:pPr>
              <a:lnSpc>
                <a:spcPct val="150000"/>
              </a:lnSpc>
              <a:buNone/>
            </a:pPr>
            <a:r>
              <a:rPr lang="en-US" altLang="en-US" sz="1300" b="1">
                <a:solidFill>
                  <a:srgbClr val="FF0000"/>
                </a:solidFill>
                <a:latin typeface="Arial" panose="020B0604020202020204" pitchFamily="34" charset="0"/>
              </a:rPr>
              <a:t>Laravel üçün PayPal Paketinin Qurulması və Konfiqurasiyası</a:t>
            </a:r>
            <a:r>
              <a:rPr lang="az-Latn-AZ" altLang="en-US" sz="1300">
                <a:latin typeface="Arial" panose="020B0604020202020204" pitchFamily="34" charset="0"/>
              </a:rPr>
              <a:t>.</a:t>
            </a:r>
          </a:p>
          <a:p>
            <a:pPr>
              <a:lnSpc>
                <a:spcPct val="150000"/>
              </a:lnSpc>
              <a:buNone/>
            </a:pPr>
            <a:r>
              <a:rPr lang="az-Latn-AZ" altLang="en-US" sz="1300">
                <a:latin typeface="Arial" panose="020B0604020202020204" pitchFamily="34" charset="0"/>
              </a:rPr>
              <a:t>1. </a:t>
            </a:r>
            <a:r>
              <a:rPr lang="az-Latn-AZ" altLang="en-US" sz="1300" u="sng">
                <a:solidFill>
                  <a:srgbClr val="00B0F0"/>
                </a:solidFill>
                <a:latin typeface="Arial" panose="020B0604020202020204" pitchFamily="34" charset="0"/>
              </a:rPr>
              <a:t>https://github.com/srmklive/laravel-paypal</a:t>
            </a:r>
          </a:p>
          <a:p>
            <a:pPr>
              <a:lnSpc>
                <a:spcPct val="150000"/>
              </a:lnSpc>
              <a:buNone/>
            </a:pPr>
            <a:r>
              <a:rPr lang="az-Latn-AZ" altLang="en-US" sz="1300">
                <a:latin typeface="Arial" panose="020B0604020202020204" pitchFamily="34" charset="0"/>
              </a:rPr>
              <a:t>2. </a:t>
            </a:r>
            <a:r>
              <a:rPr lang="az-Latn-AZ" altLang="en-US" sz="1300" u="sng">
                <a:solidFill>
                  <a:srgbClr val="00B0F0"/>
                </a:solidFill>
                <a:latin typeface="Arial" panose="020B0604020202020204" pitchFamily="34" charset="0"/>
              </a:rPr>
              <a:t>https://srmklive.github.io/laravel-paypal/docs.html</a:t>
            </a: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az-Latn-AZ" altLang="en-US" sz="1300">
                <a:latin typeface="Arial" panose="020B0604020202020204" pitchFamily="34" charset="0"/>
              </a:rPr>
              <a:t>Birinci</a:t>
            </a:r>
            <a:r>
              <a:rPr lang="en-US" altLang="en-US" sz="1300">
                <a:latin typeface="Arial" panose="020B0604020202020204" pitchFamily="34" charset="0"/>
              </a:rPr>
              <a:t> əmrlə biz Laravel layihəmizə </a:t>
            </a:r>
            <a:r>
              <a:rPr lang="en-US" altLang="en-US" sz="1300" b="1">
                <a:solidFill>
                  <a:srgbClr val="0070C0"/>
                </a:solidFill>
                <a:latin typeface="Arial" panose="020B0604020202020204" pitchFamily="34" charset="0"/>
              </a:rPr>
              <a:t>srmklive/laravel-paypal </a:t>
            </a:r>
            <a:r>
              <a:rPr lang="en-US" altLang="en-US" sz="1300">
                <a:latin typeface="Arial" panose="020B0604020202020204" pitchFamily="34" charset="0"/>
              </a:rPr>
              <a:t>adlı hazır bir </a:t>
            </a:r>
            <a:r>
              <a:rPr lang="en-US" altLang="en-US" sz="1300" b="1">
                <a:latin typeface="Arial" panose="020B0604020202020204" pitchFamily="34" charset="0"/>
              </a:rPr>
              <a:t>PayPal</a:t>
            </a:r>
            <a:r>
              <a:rPr lang="en-US" altLang="en-US" sz="1300">
                <a:latin typeface="Arial" panose="020B0604020202020204" pitchFamily="34" charset="0"/>
              </a:rPr>
              <a:t> kitabxanası əlavə edirik</a:t>
            </a:r>
            <a:r>
              <a:rPr lang="az-Latn-AZ" altLang="en-US" sz="1300">
                <a:latin typeface="Arial" panose="020B0604020202020204" pitchFamily="34" charset="0"/>
              </a:rPr>
              <a:t> ( </a:t>
            </a:r>
            <a:r>
              <a:rPr lang="az-Latn-AZ" altLang="en-US" sz="1300" b="1">
                <a:latin typeface="Arial" panose="020B0604020202020204" pitchFamily="34" charset="0"/>
              </a:rPr>
              <a:t>composer require srmklive/paypal:~3.0 </a:t>
            </a:r>
            <a:r>
              <a:rPr lang="az-Latn-AZ" altLang="en-US" sz="1300">
                <a:latin typeface="Arial" panose="020B0604020202020204" pitchFamily="34" charset="0"/>
              </a:rPr>
              <a:t>)</a:t>
            </a:r>
            <a:r>
              <a:rPr lang="en-US" altLang="en-US" sz="1300">
                <a:latin typeface="Arial" panose="020B0604020202020204" pitchFamily="34" charset="0"/>
              </a:rPr>
              <a:t>.</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E68D0181-9F80-6999-4718-8C0AEB6C6C64}"/>
              </a:ext>
            </a:extLst>
          </p:cNvPr>
          <p:cNvPicPr>
            <a:picLocks noChangeAspect="1"/>
          </p:cNvPicPr>
          <p:nvPr/>
        </p:nvPicPr>
        <p:blipFill>
          <a:blip r:embed="rId2"/>
          <a:stretch>
            <a:fillRect/>
          </a:stretch>
        </p:blipFill>
        <p:spPr>
          <a:xfrm>
            <a:off x="5486400" y="2106232"/>
            <a:ext cx="6705600" cy="4751768"/>
          </a:xfrm>
          <a:prstGeom prst="rect">
            <a:avLst/>
          </a:prstGeom>
        </p:spPr>
      </p:pic>
      <p:sp>
        <p:nvSpPr>
          <p:cNvPr id="5" name="TextBox 4">
            <a:extLst>
              <a:ext uri="{FF2B5EF4-FFF2-40B4-BE49-F238E27FC236}">
                <a16:creationId xmlns:a16="http://schemas.microsoft.com/office/drawing/2014/main" id="{D474D877-C502-24C1-21B4-8410C9BFB7D7}"/>
              </a:ext>
            </a:extLst>
          </p:cNvPr>
          <p:cNvSpPr txBox="1"/>
          <p:nvPr/>
        </p:nvSpPr>
        <p:spPr>
          <a:xfrm>
            <a:off x="217714" y="2772853"/>
            <a:ext cx="4163785" cy="2534027"/>
          </a:xfrm>
          <a:prstGeom prst="rect">
            <a:avLst/>
          </a:prstGeom>
          <a:noFill/>
        </p:spPr>
        <p:txBody>
          <a:bodyPr wrap="square">
            <a:spAutoFit/>
          </a:bodyPr>
          <a:lstStyle/>
          <a:p>
            <a:pPr algn="ctr">
              <a:lnSpc>
                <a:spcPct val="150000"/>
              </a:lnSpc>
            </a:pPr>
            <a:r>
              <a:rPr lang="en-US">
                <a:latin typeface="Arial" panose="020B0604020202020204" pitchFamily="34" charset="0"/>
                <a:cs typeface="Arial" panose="020B0604020202020204" pitchFamily="34" charset="0"/>
              </a:rPr>
              <a:t>“Bu paket Laravel üçün xüsusi olaraq hazırlanıb. Biz bu paketi əlavə etməklə, artıq sıfırdan </a:t>
            </a:r>
            <a:r>
              <a:rPr lang="en-US" b="1">
                <a:latin typeface="Arial" panose="020B0604020202020204" pitchFamily="34" charset="0"/>
                <a:cs typeface="Arial" panose="020B0604020202020204" pitchFamily="34" charset="0"/>
              </a:rPr>
              <a:t>PayPal</a:t>
            </a:r>
            <a:r>
              <a:rPr lang="en-US">
                <a:latin typeface="Arial" panose="020B0604020202020204" pitchFamily="34" charset="0"/>
                <a:cs typeface="Arial" panose="020B0604020202020204" pitchFamily="34" charset="0"/>
              </a:rPr>
              <a:t> kodu yazmağa ehtiyac qalmır. Əvəzində </a:t>
            </a:r>
            <a:r>
              <a:rPr lang="en-US" b="1">
                <a:latin typeface="Arial" panose="020B0604020202020204" pitchFamily="34" charset="0"/>
                <a:cs typeface="Arial" panose="020B0604020202020204" pitchFamily="34" charset="0"/>
              </a:rPr>
              <a:t>createOrder()</a:t>
            </a:r>
            <a:r>
              <a:rPr lang="en-US">
                <a:latin typeface="Arial" panose="020B0604020202020204" pitchFamily="34" charset="0"/>
                <a:cs typeface="Arial" panose="020B0604020202020204" pitchFamily="34" charset="0"/>
              </a:rPr>
              <a:t>, </a:t>
            </a:r>
            <a:r>
              <a:rPr lang="en-US" b="1">
                <a:latin typeface="Arial" panose="020B0604020202020204" pitchFamily="34" charset="0"/>
                <a:cs typeface="Arial" panose="020B0604020202020204" pitchFamily="34" charset="0"/>
              </a:rPr>
              <a:t>capturePayment() </a:t>
            </a:r>
            <a:r>
              <a:rPr lang="en-US">
                <a:latin typeface="Arial" panose="020B0604020202020204" pitchFamily="34" charset="0"/>
                <a:cs typeface="Arial" panose="020B0604020202020204" pitchFamily="34" charset="0"/>
              </a:rPr>
              <a:t>kimi hazır funksiyalarla işləyəcəyik.”</a:t>
            </a:r>
          </a:p>
        </p:txBody>
      </p:sp>
    </p:spTree>
    <p:extLst>
      <p:ext uri="{BB962C8B-B14F-4D97-AF65-F5344CB8AC3E}">
        <p14:creationId xmlns:p14="http://schemas.microsoft.com/office/powerpoint/2010/main" val="1396548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C0759-FA97-49DC-275C-62A17A5304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992BD4-BB43-A816-AE2A-66EBC615E068}"/>
              </a:ext>
            </a:extLst>
          </p:cNvPr>
          <p:cNvSpPr txBox="1"/>
          <p:nvPr/>
        </p:nvSpPr>
        <p:spPr>
          <a:xfrm>
            <a:off x="217714" y="255046"/>
            <a:ext cx="11756571" cy="655436"/>
          </a:xfrm>
          <a:prstGeom prst="rect">
            <a:avLst/>
          </a:prstGeom>
          <a:noFill/>
        </p:spPr>
        <p:txBody>
          <a:bodyPr wrap="square">
            <a:spAutoFit/>
          </a:bodyPr>
          <a:lstStyle/>
          <a:p>
            <a:pPr>
              <a:lnSpc>
                <a:spcPct val="150000"/>
              </a:lnSpc>
              <a:buNone/>
            </a:pPr>
            <a:r>
              <a:rPr lang="en-US" altLang="en-US" sz="1300">
                <a:latin typeface="Arial" panose="020B0604020202020204" pitchFamily="34" charset="0"/>
              </a:rPr>
              <a:t>Bu əmr Laravel-də paketin konfiqurasiya faylını (</a:t>
            </a:r>
            <a:r>
              <a:rPr lang="en-US" altLang="en-US" sz="1300" b="1">
                <a:solidFill>
                  <a:srgbClr val="0070C0"/>
                </a:solidFill>
                <a:latin typeface="Arial" panose="020B0604020202020204" pitchFamily="34" charset="0"/>
              </a:rPr>
              <a:t>config/paypal.php</a:t>
            </a:r>
            <a:r>
              <a:rPr lang="en-US" altLang="en-US" sz="1300">
                <a:latin typeface="Arial" panose="020B0604020202020204" pitchFamily="34" charset="0"/>
              </a:rPr>
              <a:t>) layihəmizə əlavə edir. Yəni bu fayl sayəsində biz </a:t>
            </a:r>
            <a:r>
              <a:rPr lang="en-US" altLang="en-US" sz="1300" b="1">
                <a:solidFill>
                  <a:srgbClr val="00B050"/>
                </a:solidFill>
                <a:latin typeface="Arial" panose="020B0604020202020204" pitchFamily="34" charset="0"/>
              </a:rPr>
              <a:t>.env</a:t>
            </a:r>
            <a:r>
              <a:rPr lang="en-US" altLang="en-US" sz="1300">
                <a:latin typeface="Arial" panose="020B0604020202020204" pitchFamily="34" charset="0"/>
              </a:rPr>
              <a:t>-də yazdığımız </a:t>
            </a:r>
            <a:r>
              <a:rPr lang="en-US" altLang="en-US" sz="1300" b="1">
                <a:latin typeface="Arial" panose="020B0604020202020204" pitchFamily="34" charset="0"/>
              </a:rPr>
              <a:t>Client ID </a:t>
            </a:r>
            <a:r>
              <a:rPr lang="en-US" altLang="en-US" sz="1300">
                <a:latin typeface="Arial" panose="020B0604020202020204" pitchFamily="34" charset="0"/>
              </a:rPr>
              <a:t>və </a:t>
            </a:r>
            <a:r>
              <a:rPr lang="en-US" altLang="en-US" sz="1300" b="1">
                <a:latin typeface="Arial" panose="020B0604020202020204" pitchFamily="34" charset="0"/>
              </a:rPr>
              <a:t>Secret Key</a:t>
            </a:r>
            <a:r>
              <a:rPr lang="en-US" altLang="en-US" sz="1300">
                <a:latin typeface="Arial" panose="020B0604020202020204" pitchFamily="34" charset="0"/>
              </a:rPr>
              <a:t>-i oxudaraq </a:t>
            </a:r>
            <a:r>
              <a:rPr lang="en-US" altLang="en-US" sz="1300" b="1">
                <a:latin typeface="Arial" panose="020B0604020202020204" pitchFamily="34" charset="0"/>
              </a:rPr>
              <a:t>PayPal API </a:t>
            </a:r>
            <a:r>
              <a:rPr lang="en-US" altLang="en-US" sz="1300">
                <a:latin typeface="Arial" panose="020B0604020202020204" pitchFamily="34" charset="0"/>
              </a:rPr>
              <a:t>ilə əlaqə quracağıq.</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6793DD23-2CB3-1CB0-7762-5B58BB491DAE}"/>
              </a:ext>
            </a:extLst>
          </p:cNvPr>
          <p:cNvPicPr>
            <a:picLocks noChangeAspect="1"/>
          </p:cNvPicPr>
          <p:nvPr/>
        </p:nvPicPr>
        <p:blipFill>
          <a:blip r:embed="rId2"/>
          <a:stretch>
            <a:fillRect/>
          </a:stretch>
        </p:blipFill>
        <p:spPr>
          <a:xfrm>
            <a:off x="217714" y="1111094"/>
            <a:ext cx="6582694" cy="381053"/>
          </a:xfrm>
          <a:prstGeom prst="rect">
            <a:avLst/>
          </a:prstGeom>
        </p:spPr>
      </p:pic>
      <p:pic>
        <p:nvPicPr>
          <p:cNvPr id="6" name="Picture 5">
            <a:extLst>
              <a:ext uri="{FF2B5EF4-FFF2-40B4-BE49-F238E27FC236}">
                <a16:creationId xmlns:a16="http://schemas.microsoft.com/office/drawing/2014/main" id="{BC2DFB85-13A6-7EDC-08E7-3A8E6D0FCE25}"/>
              </a:ext>
            </a:extLst>
          </p:cNvPr>
          <p:cNvPicPr>
            <a:picLocks noChangeAspect="1"/>
          </p:cNvPicPr>
          <p:nvPr/>
        </p:nvPicPr>
        <p:blipFill>
          <a:blip r:embed="rId3"/>
          <a:srcRect l="657" r="-1"/>
          <a:stretch>
            <a:fillRect/>
          </a:stretch>
        </p:blipFill>
        <p:spPr>
          <a:xfrm>
            <a:off x="0" y="2043404"/>
            <a:ext cx="10694763" cy="4814596"/>
          </a:xfrm>
          <a:prstGeom prst="rect">
            <a:avLst/>
          </a:prstGeom>
        </p:spPr>
      </p:pic>
    </p:spTree>
    <p:extLst>
      <p:ext uri="{BB962C8B-B14F-4D97-AF65-F5344CB8AC3E}">
        <p14:creationId xmlns:p14="http://schemas.microsoft.com/office/powerpoint/2010/main" val="1643000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59C91-0654-080C-3051-BBF9C77C2CF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4978E96-F31E-F881-9EEA-A76038FEC7A7}"/>
              </a:ext>
            </a:extLst>
          </p:cNvPr>
          <p:cNvSpPr txBox="1"/>
          <p:nvPr/>
        </p:nvSpPr>
        <p:spPr>
          <a:xfrm>
            <a:off x="217714" y="255046"/>
            <a:ext cx="6565641" cy="2455929"/>
          </a:xfrm>
          <a:prstGeom prst="rect">
            <a:avLst/>
          </a:prstGeom>
          <a:noFill/>
        </p:spPr>
        <p:txBody>
          <a:bodyPr wrap="square">
            <a:spAutoFit/>
          </a:bodyPr>
          <a:lstStyle/>
          <a:p>
            <a:pPr>
              <a:lnSpc>
                <a:spcPct val="150000"/>
              </a:lnSpc>
              <a:buNone/>
            </a:pPr>
            <a:r>
              <a:rPr lang="en-US" altLang="en-US" sz="1300" b="1">
                <a:solidFill>
                  <a:srgbClr val="0070C0"/>
                </a:solidFill>
                <a:latin typeface="Arial" panose="020B0604020202020204" pitchFamily="34" charset="0"/>
              </a:rPr>
              <a:t>.env </a:t>
            </a:r>
            <a:r>
              <a:rPr lang="en-US" altLang="en-US" sz="1300">
                <a:latin typeface="Arial" panose="020B0604020202020204" pitchFamily="34" charset="0"/>
              </a:rPr>
              <a:t>Faylında Ayarlar və </a:t>
            </a:r>
            <a:r>
              <a:rPr lang="en-US" altLang="en-US" sz="1300" b="1">
                <a:latin typeface="Arial" panose="020B0604020202020204" pitchFamily="34" charset="0"/>
              </a:rPr>
              <a:t>API</a:t>
            </a:r>
            <a:r>
              <a:rPr lang="en-US" altLang="en-US" sz="1300">
                <a:latin typeface="Arial" panose="020B0604020202020204" pitchFamily="34" charset="0"/>
              </a:rPr>
              <a:t> Məlumatların Girişi</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Bu, sistemin hazırda “</a:t>
            </a:r>
            <a:r>
              <a:rPr lang="en-US" altLang="en-US" sz="1300" b="1">
                <a:latin typeface="Arial" panose="020B0604020202020204" pitchFamily="34" charset="0"/>
              </a:rPr>
              <a:t>test rejimi</a:t>
            </a:r>
            <a:r>
              <a:rPr lang="en-US" altLang="en-US" sz="1300">
                <a:latin typeface="Arial" panose="020B0604020202020204" pitchFamily="34" charset="0"/>
              </a:rPr>
              <a:t>”ndə (</a:t>
            </a:r>
            <a:r>
              <a:rPr lang="en-US" altLang="en-US" sz="1300" b="1">
                <a:latin typeface="Arial" panose="020B0604020202020204" pitchFamily="34" charset="0"/>
              </a:rPr>
              <a:t>sandbox</a:t>
            </a:r>
            <a:r>
              <a:rPr lang="en-US" altLang="en-US" sz="1300">
                <a:latin typeface="Arial" panose="020B0604020202020204" pitchFamily="34" charset="0"/>
              </a:rPr>
              <a:t>) işlədiyini bildirir. Əgər siz </a:t>
            </a:r>
            <a:r>
              <a:rPr lang="en-US" altLang="en-US" sz="1300" b="1">
                <a:latin typeface="Arial" panose="020B0604020202020204" pitchFamily="34" charset="0"/>
              </a:rPr>
              <a:t>live</a:t>
            </a:r>
            <a:r>
              <a:rPr lang="en-US" altLang="en-US" sz="1300">
                <a:latin typeface="Arial" panose="020B0604020202020204" pitchFamily="34" charset="0"/>
              </a:rPr>
              <a:t> yazsaydınız, o zaman real ödəniş rejiminə keçmiş olardınız. ⚠️ Test vaxtı həmişə </a:t>
            </a:r>
            <a:r>
              <a:rPr lang="en-US" altLang="en-US" sz="1300" b="1">
                <a:latin typeface="Arial" panose="020B0604020202020204" pitchFamily="34" charset="0"/>
              </a:rPr>
              <a:t>sandbox</a:t>
            </a:r>
            <a:r>
              <a:rPr lang="en-US" altLang="en-US" sz="1300">
                <a:latin typeface="Arial" panose="020B0604020202020204" pitchFamily="34" charset="0"/>
              </a:rPr>
              <a:t>, real satışda isə </a:t>
            </a:r>
            <a:r>
              <a:rPr lang="en-US" altLang="en-US" sz="1300" b="1">
                <a:latin typeface="Arial" panose="020B0604020202020204" pitchFamily="34" charset="0"/>
              </a:rPr>
              <a:t>live</a:t>
            </a:r>
            <a:r>
              <a:rPr lang="en-US" altLang="en-US" sz="1300">
                <a:latin typeface="Arial" panose="020B0604020202020204" pitchFamily="34" charset="0"/>
              </a:rPr>
              <a:t>.</a:t>
            </a:r>
            <a:r>
              <a:rPr lang="az-Latn-AZ" altLang="en-US" sz="1300">
                <a:latin typeface="Arial" panose="020B0604020202020204" pitchFamily="34" charset="0"/>
              </a:rPr>
              <a:t> “Bu parametr sistemə deyir ki, biz hazırda real pul deyil, süni test pulları ilə işləyirik. Yəni alver ‘görünür’, amma bank kartı istifadə olunmur.”</a:t>
            </a:r>
          </a:p>
        </p:txBody>
      </p:sp>
      <p:pic>
        <p:nvPicPr>
          <p:cNvPr id="4" name="Picture 3">
            <a:extLst>
              <a:ext uri="{FF2B5EF4-FFF2-40B4-BE49-F238E27FC236}">
                <a16:creationId xmlns:a16="http://schemas.microsoft.com/office/drawing/2014/main" id="{09EDB45F-846D-FB65-15B6-1A410220330E}"/>
              </a:ext>
            </a:extLst>
          </p:cNvPr>
          <p:cNvPicPr>
            <a:picLocks noChangeAspect="1"/>
          </p:cNvPicPr>
          <p:nvPr/>
        </p:nvPicPr>
        <p:blipFill>
          <a:blip r:embed="rId2"/>
          <a:stretch>
            <a:fillRect/>
          </a:stretch>
        </p:blipFill>
        <p:spPr>
          <a:xfrm>
            <a:off x="217714" y="808143"/>
            <a:ext cx="1676634" cy="352474"/>
          </a:xfrm>
          <a:prstGeom prst="rect">
            <a:avLst/>
          </a:prstGeom>
        </p:spPr>
      </p:pic>
      <p:pic>
        <p:nvPicPr>
          <p:cNvPr id="6" name="Picture 5">
            <a:extLst>
              <a:ext uri="{FF2B5EF4-FFF2-40B4-BE49-F238E27FC236}">
                <a16:creationId xmlns:a16="http://schemas.microsoft.com/office/drawing/2014/main" id="{C368F701-4695-D380-1E99-FEA658B2DC3A}"/>
              </a:ext>
            </a:extLst>
          </p:cNvPr>
          <p:cNvPicPr>
            <a:picLocks noChangeAspect="1"/>
          </p:cNvPicPr>
          <p:nvPr/>
        </p:nvPicPr>
        <p:blipFill>
          <a:blip r:embed="rId3"/>
          <a:stretch>
            <a:fillRect/>
          </a:stretch>
        </p:blipFill>
        <p:spPr>
          <a:xfrm>
            <a:off x="217714" y="3981385"/>
            <a:ext cx="3905795" cy="647790"/>
          </a:xfrm>
          <a:prstGeom prst="rect">
            <a:avLst/>
          </a:prstGeom>
        </p:spPr>
      </p:pic>
      <p:pic>
        <p:nvPicPr>
          <p:cNvPr id="8" name="Picture 7">
            <a:extLst>
              <a:ext uri="{FF2B5EF4-FFF2-40B4-BE49-F238E27FC236}">
                <a16:creationId xmlns:a16="http://schemas.microsoft.com/office/drawing/2014/main" id="{1BD79010-3E5A-FE2E-68B4-94F7BAA9AB7E}"/>
              </a:ext>
            </a:extLst>
          </p:cNvPr>
          <p:cNvPicPr>
            <a:picLocks noChangeAspect="1"/>
          </p:cNvPicPr>
          <p:nvPr/>
        </p:nvPicPr>
        <p:blipFill>
          <a:blip r:embed="rId4"/>
          <a:stretch>
            <a:fillRect/>
          </a:stretch>
        </p:blipFill>
        <p:spPr>
          <a:xfrm>
            <a:off x="6783355" y="-1"/>
            <a:ext cx="5408645" cy="1753539"/>
          </a:xfrm>
          <a:prstGeom prst="rect">
            <a:avLst/>
          </a:prstGeom>
        </p:spPr>
      </p:pic>
      <p:sp>
        <p:nvSpPr>
          <p:cNvPr id="10" name="TextBox 9">
            <a:extLst>
              <a:ext uri="{FF2B5EF4-FFF2-40B4-BE49-F238E27FC236}">
                <a16:creationId xmlns:a16="http://schemas.microsoft.com/office/drawing/2014/main" id="{00FDC237-A6A8-8174-9ED1-FFFE0A403813}"/>
              </a:ext>
            </a:extLst>
          </p:cNvPr>
          <p:cNvSpPr txBox="1"/>
          <p:nvPr/>
        </p:nvSpPr>
        <p:spPr>
          <a:xfrm>
            <a:off x="217714" y="4703820"/>
            <a:ext cx="11641493" cy="2031325"/>
          </a:xfrm>
          <a:prstGeom prst="rect">
            <a:avLst/>
          </a:prstGeom>
          <a:noFill/>
        </p:spPr>
        <p:txBody>
          <a:bodyPr wrap="square">
            <a:spAutoFit/>
          </a:bodyPr>
          <a:lstStyle/>
          <a:p>
            <a:pPr>
              <a:lnSpc>
                <a:spcPct val="150000"/>
              </a:lnSpc>
              <a:buNone/>
            </a:pPr>
            <a:r>
              <a:rPr lang="en-US" altLang="en-US" sz="1200">
                <a:latin typeface="Arial" panose="020B0604020202020204" pitchFamily="34" charset="0"/>
                <a:cs typeface="Arial" panose="020B0604020202020204" pitchFamily="34" charset="0"/>
              </a:rPr>
              <a:t>Bunlar </a:t>
            </a:r>
            <a:r>
              <a:rPr lang="en-US" altLang="en-US" sz="1200" b="1">
                <a:latin typeface="Arial" panose="020B0604020202020204" pitchFamily="34" charset="0"/>
                <a:cs typeface="Arial" panose="020B0604020202020204" pitchFamily="34" charset="0"/>
              </a:rPr>
              <a:t>PayPal</a:t>
            </a:r>
            <a:r>
              <a:rPr lang="en-US" altLang="en-US" sz="1200">
                <a:latin typeface="Arial" panose="020B0604020202020204" pitchFamily="34" charset="0"/>
                <a:cs typeface="Arial" panose="020B0604020202020204" pitchFamily="34" charset="0"/>
              </a:rPr>
              <a:t>-ın sizin üçün yaratdığı şəxsi identifikatorlardır.</a:t>
            </a:r>
          </a:p>
          <a:p>
            <a:pPr marL="742950" lvl="1" indent="-285750">
              <a:lnSpc>
                <a:spcPct val="150000"/>
              </a:lnSpc>
              <a:buFont typeface="Arial" panose="020B0604020202020204" pitchFamily="34" charset="0"/>
              <a:buChar char="•"/>
            </a:pPr>
            <a:r>
              <a:rPr lang="en-US" altLang="en-US" sz="1200" b="1">
                <a:latin typeface="Arial" panose="020B0604020202020204" pitchFamily="34" charset="0"/>
                <a:cs typeface="Arial" panose="020B0604020202020204" pitchFamily="34" charset="0"/>
              </a:rPr>
              <a:t>Client ID </a:t>
            </a:r>
            <a:r>
              <a:rPr lang="en-US" altLang="en-US" sz="1200">
                <a:latin typeface="Arial" panose="020B0604020202020204" pitchFamily="34" charset="0"/>
                <a:cs typeface="Arial" panose="020B0604020202020204" pitchFamily="34" charset="0"/>
              </a:rPr>
              <a:t>– saytınızın PayPal tərəfindən tanınması üçün istifadə olunur.</a:t>
            </a:r>
          </a:p>
          <a:p>
            <a:pPr marL="742950" lvl="1" indent="-285750">
              <a:lnSpc>
                <a:spcPct val="150000"/>
              </a:lnSpc>
              <a:buFont typeface="Arial" panose="020B0604020202020204" pitchFamily="34" charset="0"/>
              <a:buChar char="•"/>
            </a:pPr>
            <a:r>
              <a:rPr lang="en-US" altLang="en-US" sz="1200" b="1">
                <a:latin typeface="Arial" panose="020B0604020202020204" pitchFamily="34" charset="0"/>
                <a:cs typeface="Arial" panose="020B0604020202020204" pitchFamily="34" charset="0"/>
              </a:rPr>
              <a:t>Secret Key </a:t>
            </a:r>
            <a:r>
              <a:rPr lang="en-US" altLang="en-US" sz="1200">
                <a:latin typeface="Arial" panose="020B0604020202020204" pitchFamily="34" charset="0"/>
                <a:cs typeface="Arial" panose="020B0604020202020204" pitchFamily="34" charset="0"/>
              </a:rPr>
              <a:t>– sistemə daxil olmaq üçün "parol" kimidir.</a:t>
            </a:r>
          </a:p>
          <a:p>
            <a:pPr>
              <a:lnSpc>
                <a:spcPct val="150000"/>
              </a:lnSpc>
              <a:buNone/>
            </a:pPr>
            <a:endParaRPr lang="en-US" altLang="en-US" sz="1200">
              <a:latin typeface="Arial" panose="020B0604020202020204" pitchFamily="34" charset="0"/>
              <a:cs typeface="Arial" panose="020B0604020202020204" pitchFamily="34" charset="0"/>
            </a:endParaRPr>
          </a:p>
          <a:p>
            <a:pPr>
              <a:lnSpc>
                <a:spcPct val="150000"/>
              </a:lnSpc>
              <a:buNone/>
            </a:pPr>
            <a:r>
              <a:rPr lang="en-US" altLang="en-US" sz="1200">
                <a:latin typeface="Arial" panose="020B0604020202020204" pitchFamily="34" charset="0"/>
                <a:cs typeface="Arial" panose="020B0604020202020204" pitchFamily="34" charset="0"/>
              </a:rPr>
              <a:t>Bu məlumatlar </a:t>
            </a:r>
            <a:r>
              <a:rPr lang="en-US" altLang="en-US" sz="1200" b="1">
                <a:latin typeface="Arial" panose="020B0604020202020204" pitchFamily="34" charset="0"/>
                <a:cs typeface="Arial" panose="020B0604020202020204" pitchFamily="34" charset="0"/>
              </a:rPr>
              <a:t>https://developer.paypal.com </a:t>
            </a:r>
            <a:r>
              <a:rPr lang="en-US" altLang="en-US" sz="1200">
                <a:latin typeface="Arial" panose="020B0604020202020204" pitchFamily="34" charset="0"/>
                <a:cs typeface="Arial" panose="020B0604020202020204" pitchFamily="34" charset="0"/>
              </a:rPr>
              <a:t>→ </a:t>
            </a:r>
            <a:r>
              <a:rPr lang="en-US" altLang="en-US" sz="1200" b="1">
                <a:latin typeface="Arial" panose="020B0604020202020204" pitchFamily="34" charset="0"/>
                <a:cs typeface="Arial" panose="020B0604020202020204" pitchFamily="34" charset="0"/>
              </a:rPr>
              <a:t>API credentials </a:t>
            </a:r>
            <a:r>
              <a:rPr lang="en-US" altLang="en-US" sz="1200">
                <a:latin typeface="Arial" panose="020B0604020202020204" pitchFamily="34" charset="0"/>
                <a:cs typeface="Arial" panose="020B0604020202020204" pitchFamily="34" charset="0"/>
              </a:rPr>
              <a:t>bölməsindən alınır.</a:t>
            </a:r>
          </a:p>
          <a:p>
            <a:endParaRPr lang="az-Latn-AZ" sz="1200">
              <a:latin typeface="Arial" panose="020B0604020202020204" pitchFamily="34" charset="0"/>
              <a:cs typeface="Arial" panose="020B0604020202020204" pitchFamily="34" charset="0"/>
            </a:endParaRPr>
          </a:p>
          <a:p>
            <a:endParaRPr lang="az-Latn-AZ" sz="1200">
              <a:latin typeface="Arial" panose="020B0604020202020204" pitchFamily="34" charset="0"/>
              <a:cs typeface="Arial" panose="020B0604020202020204" pitchFamily="34" charset="0"/>
            </a:endParaRPr>
          </a:p>
          <a:p>
            <a:r>
              <a:rPr lang="en-US" sz="1200">
                <a:latin typeface="Arial" panose="020B0604020202020204" pitchFamily="34" charset="0"/>
                <a:cs typeface="Arial" panose="020B0604020202020204" pitchFamily="34" charset="0"/>
              </a:rPr>
              <a:t>“Sistem PayPal ilə danışmaq üçün bu iki məlumatdan istifadə edir. Bu sanki pasport və parol kimidir. PayPal sizə inanmasa, ödənişi həyata keçirməyəcək.”</a:t>
            </a:r>
          </a:p>
        </p:txBody>
      </p:sp>
    </p:spTree>
    <p:extLst>
      <p:ext uri="{BB962C8B-B14F-4D97-AF65-F5344CB8AC3E}">
        <p14:creationId xmlns:p14="http://schemas.microsoft.com/office/powerpoint/2010/main" val="4056125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30393-4D6E-C8C2-9426-DD8B6B9234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B6D111-49C1-BD82-F5B5-37870D4BCA7F}"/>
              </a:ext>
            </a:extLst>
          </p:cNvPr>
          <p:cNvSpPr txBox="1"/>
          <p:nvPr/>
        </p:nvSpPr>
        <p:spPr>
          <a:xfrm>
            <a:off x="217714" y="255046"/>
            <a:ext cx="11756571" cy="2731004"/>
          </a:xfrm>
          <a:prstGeom prst="rect">
            <a:avLst/>
          </a:prstGeom>
          <a:noFill/>
        </p:spPr>
        <p:txBody>
          <a:bodyPr wrap="square">
            <a:spAutoFit/>
          </a:bodyPr>
          <a:lstStyle/>
          <a:p>
            <a:pPr>
              <a:lnSpc>
                <a:spcPct val="150000"/>
              </a:lnSpc>
              <a:buNone/>
            </a:pPr>
            <a:r>
              <a:rPr lang="az-Latn-AZ" altLang="en-US" sz="1300" b="1">
                <a:latin typeface="Arial" panose="020B0604020202020204" pitchFamily="34" charset="0"/>
              </a:rPr>
              <a:t>Özət</a:t>
            </a:r>
            <a:r>
              <a:rPr lang="az-Latn-AZ" altLang="en-US" sz="1300">
                <a:latin typeface="Arial" panose="020B0604020202020204" pitchFamily="34" charset="0"/>
              </a:rPr>
              <a:t>:</a:t>
            </a:r>
          </a:p>
          <a:p>
            <a:pPr marL="285750" indent="-285750">
              <a:lnSpc>
                <a:spcPct val="200000"/>
              </a:lnSpc>
              <a:buFont typeface="Arial" panose="020B0604020202020204" pitchFamily="34" charset="0"/>
              <a:buChar char="•"/>
            </a:pPr>
            <a:r>
              <a:rPr lang="en-US" altLang="en-US" sz="1300">
                <a:latin typeface="Arial" panose="020B0604020202020204" pitchFamily="34" charset="0"/>
              </a:rPr>
              <a:t>“Biz Laravel üçün hazır PayPal kitabxasını əlavə etdik. </a:t>
            </a:r>
            <a:endParaRPr lang="az-Latn-AZ" altLang="en-US" sz="1300">
              <a:latin typeface="Arial" panose="020B0604020202020204" pitchFamily="34" charset="0"/>
            </a:endParaRPr>
          </a:p>
          <a:p>
            <a:pPr marL="285750" indent="-285750">
              <a:lnSpc>
                <a:spcPct val="200000"/>
              </a:lnSpc>
              <a:buFont typeface="Arial" panose="020B0604020202020204" pitchFamily="34" charset="0"/>
              <a:buChar char="•"/>
            </a:pPr>
            <a:r>
              <a:rPr lang="en-US" altLang="en-US" sz="1300">
                <a:latin typeface="Arial" panose="020B0604020202020204" pitchFamily="34" charset="0"/>
              </a:rPr>
              <a:t>Bu kitabxana bizə hazır funksiyalar təqdim edir. </a:t>
            </a:r>
            <a:endParaRPr lang="az-Latn-AZ" altLang="en-US" sz="1300">
              <a:latin typeface="Arial" panose="020B0604020202020204" pitchFamily="34" charset="0"/>
            </a:endParaRPr>
          </a:p>
          <a:p>
            <a:pPr marL="285750" indent="-285750">
              <a:lnSpc>
                <a:spcPct val="200000"/>
              </a:lnSpc>
              <a:buFont typeface="Arial" panose="020B0604020202020204" pitchFamily="34" charset="0"/>
              <a:buChar char="•"/>
            </a:pPr>
            <a:r>
              <a:rPr lang="en-US" altLang="en-US" sz="1300">
                <a:latin typeface="Arial" panose="020B0604020202020204" pitchFamily="34" charset="0"/>
              </a:rPr>
              <a:t>Sonra PayPal-ın ‘developer paneli’ndə öz test hesablarımızı yaratdıq </a:t>
            </a:r>
            <a:endParaRPr lang="az-Latn-AZ" altLang="en-US" sz="1300">
              <a:latin typeface="Arial" panose="020B0604020202020204" pitchFamily="34" charset="0"/>
            </a:endParaRPr>
          </a:p>
          <a:p>
            <a:pPr marL="285750" indent="-285750">
              <a:lnSpc>
                <a:spcPct val="200000"/>
              </a:lnSpc>
              <a:buFont typeface="Arial" panose="020B0604020202020204" pitchFamily="34" charset="0"/>
              <a:buChar char="•"/>
            </a:pPr>
            <a:r>
              <a:rPr lang="az-Latn-AZ" altLang="en-US" sz="1300">
                <a:latin typeface="Arial" panose="020B0604020202020204" pitchFamily="34" charset="0"/>
              </a:rPr>
              <a:t>S</a:t>
            </a:r>
            <a:r>
              <a:rPr lang="en-US" altLang="en-US" sz="1300">
                <a:latin typeface="Arial" panose="020B0604020202020204" pitchFamily="34" charset="0"/>
              </a:rPr>
              <a:t>aytımıza bu hesabların identifikatorlarını (Client ID və Secret) yazdıq. </a:t>
            </a:r>
            <a:endParaRPr lang="az-Latn-AZ" altLang="en-US" sz="1300">
              <a:latin typeface="Arial" panose="020B0604020202020204" pitchFamily="34" charset="0"/>
            </a:endParaRPr>
          </a:p>
          <a:p>
            <a:pPr marL="285750" indent="-285750">
              <a:lnSpc>
                <a:spcPct val="200000"/>
              </a:lnSpc>
              <a:buFont typeface="Arial" panose="020B0604020202020204" pitchFamily="34" charset="0"/>
              <a:buChar char="•"/>
            </a:pPr>
            <a:r>
              <a:rPr lang="en-US" altLang="en-US" sz="1300">
                <a:latin typeface="Arial" panose="020B0604020202020204" pitchFamily="34" charset="0"/>
              </a:rPr>
              <a:t>Sistemimiz indi test rejimindədir, yəni heç bir real pul istifadəsi yoxdur. </a:t>
            </a:r>
            <a:endParaRPr lang="az-Latn-AZ" altLang="en-US" sz="1300">
              <a:latin typeface="Arial" panose="020B0604020202020204" pitchFamily="34" charset="0"/>
            </a:endParaRPr>
          </a:p>
          <a:p>
            <a:pPr marL="285750" indent="-285750">
              <a:lnSpc>
                <a:spcPct val="200000"/>
              </a:lnSpc>
              <a:buFont typeface="Arial" panose="020B0604020202020204" pitchFamily="34" charset="0"/>
              <a:buChar char="•"/>
            </a:pPr>
            <a:r>
              <a:rPr lang="en-US" altLang="en-US" sz="1300">
                <a:latin typeface="Arial" panose="020B0604020202020204" pitchFamily="34" charset="0"/>
              </a:rPr>
              <a:t>Biz burada sadəcə ödəniş prosesini sınaqdan keçiririk.”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19826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268F-8E23-9EF0-6452-291F2A332AE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2D3B77F-2176-BC72-3BE7-85359B8EEA8B}"/>
              </a:ext>
            </a:extLst>
          </p:cNvPr>
          <p:cNvSpPr txBox="1"/>
          <p:nvPr/>
        </p:nvSpPr>
        <p:spPr>
          <a:xfrm>
            <a:off x="133738" y="189731"/>
            <a:ext cx="11756571" cy="1555682"/>
          </a:xfrm>
          <a:prstGeom prst="rect">
            <a:avLst/>
          </a:prstGeom>
          <a:noFill/>
        </p:spPr>
        <p:txBody>
          <a:bodyPr wrap="square">
            <a:spAutoFit/>
          </a:bodyPr>
          <a:lstStyle/>
          <a:p>
            <a:pPr>
              <a:lnSpc>
                <a:spcPct val="150000"/>
              </a:lnSpc>
              <a:buNone/>
            </a:pPr>
            <a:r>
              <a:rPr lang="en-US" altLang="en-US" sz="1300">
                <a:latin typeface="Arial" panose="020B0604020202020204" pitchFamily="34" charset="0"/>
              </a:rPr>
              <a:t>Laravel-də </a:t>
            </a:r>
            <a:r>
              <a:rPr lang="en-US" altLang="en-US" sz="1300" b="1">
                <a:solidFill>
                  <a:srgbClr val="0070C0"/>
                </a:solidFill>
                <a:latin typeface="Arial" panose="020B0604020202020204" pitchFamily="34" charset="0"/>
              </a:rPr>
              <a:t>app/Http/Controllers/Gateways </a:t>
            </a:r>
            <a:r>
              <a:rPr lang="en-US" altLang="en-US" sz="1300">
                <a:latin typeface="Arial" panose="020B0604020202020204" pitchFamily="34" charset="0"/>
              </a:rPr>
              <a:t>qovluğunda </a:t>
            </a:r>
            <a:endParaRPr lang="az-Latn-AZ" altLang="en-US" sz="1300">
              <a:latin typeface="Arial" panose="020B0604020202020204" pitchFamily="34" charset="0"/>
            </a:endParaRPr>
          </a:p>
          <a:p>
            <a:pPr>
              <a:lnSpc>
                <a:spcPct val="150000"/>
              </a:lnSpc>
              <a:buNone/>
            </a:pPr>
            <a:r>
              <a:rPr lang="en-US" altLang="en-US" sz="1300" b="1">
                <a:solidFill>
                  <a:srgbClr val="FF0000"/>
                </a:solidFill>
                <a:latin typeface="Arial" panose="020B0604020202020204" pitchFamily="34" charset="0"/>
              </a:rPr>
              <a:t>PaypalController</a:t>
            </a:r>
            <a:r>
              <a:rPr lang="en-US" altLang="en-US" sz="1300">
                <a:latin typeface="Arial" panose="020B0604020202020204" pitchFamily="34" charset="0"/>
              </a:rPr>
              <a:t> adlı bir kontroller yaradır</a:t>
            </a:r>
            <a:r>
              <a:rPr lang="az-Latn-AZ" altLang="en-US" sz="1300">
                <a:latin typeface="Arial" panose="020B0604020202020204" pitchFamily="34" charset="0"/>
              </a:rPr>
              <a:t>ıq</a:t>
            </a:r>
            <a:r>
              <a:rPr lang="en-US" altLang="en-US" sz="1300">
                <a:latin typeface="Arial" panose="020B0604020202020204" pitchFamily="34" charset="0"/>
              </a:rPr>
              <a:t>. Bu kontroller vasitəsilə </a:t>
            </a:r>
            <a:endParaRPr lang="az-Latn-AZ" altLang="en-US" sz="1300">
              <a:latin typeface="Arial" panose="020B0604020202020204" pitchFamily="34" charset="0"/>
            </a:endParaRPr>
          </a:p>
          <a:p>
            <a:pPr>
              <a:lnSpc>
                <a:spcPct val="150000"/>
              </a:lnSpc>
              <a:buNone/>
            </a:pPr>
            <a:r>
              <a:rPr lang="en-US" altLang="en-US" sz="1300" b="1">
                <a:latin typeface="Arial" panose="020B0604020202020204" pitchFamily="34" charset="0"/>
              </a:rPr>
              <a:t>PayPal</a:t>
            </a:r>
            <a:r>
              <a:rPr lang="en-US" altLang="en-US" sz="1300">
                <a:latin typeface="Arial" panose="020B0604020202020204" pitchFamily="34" charset="0"/>
              </a:rPr>
              <a:t> ödənişi </a:t>
            </a:r>
            <a:r>
              <a:rPr lang="en-US" altLang="en-US" sz="1300" b="1">
                <a:latin typeface="Arial" panose="020B0604020202020204" pitchFamily="34" charset="0"/>
              </a:rPr>
              <a:t>başlatma</a:t>
            </a:r>
            <a:r>
              <a:rPr lang="en-US" altLang="en-US" sz="1300">
                <a:latin typeface="Arial" panose="020B0604020202020204" pitchFamily="34" charset="0"/>
              </a:rPr>
              <a:t>, </a:t>
            </a:r>
            <a:r>
              <a:rPr lang="en-US" altLang="en-US" sz="1300" b="1">
                <a:latin typeface="Arial" panose="020B0604020202020204" pitchFamily="34" charset="0"/>
              </a:rPr>
              <a:t>uğur</a:t>
            </a:r>
            <a:r>
              <a:rPr lang="en-US" altLang="en-US" sz="1300">
                <a:latin typeface="Arial" panose="020B0604020202020204" pitchFamily="34" charset="0"/>
              </a:rPr>
              <a:t> və </a:t>
            </a:r>
            <a:r>
              <a:rPr lang="en-US" altLang="en-US" sz="1300" b="1">
                <a:latin typeface="Arial" panose="020B0604020202020204" pitchFamily="34" charset="0"/>
              </a:rPr>
              <a:t>ləğv</a:t>
            </a:r>
            <a:r>
              <a:rPr lang="en-US" altLang="en-US" sz="1300">
                <a:latin typeface="Arial" panose="020B0604020202020204" pitchFamily="34" charset="0"/>
              </a:rPr>
              <a:t> cavablarını idarə edəcəyik.  </a:t>
            </a:r>
            <a:endParaRPr lang="az-Latn-AZ" altLang="en-US" sz="1300">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r>
              <a:rPr lang="en-US" altLang="en-US" sz="1300">
                <a:latin typeface="Arial" panose="020B0604020202020204" pitchFamily="34" charset="0"/>
              </a:rPr>
              <a:t>"Kontroller Laravel-də işləyən bir beyin kimidir. İstifadəçidən gələn sorğunu (məsələn: </a:t>
            </a:r>
            <a:r>
              <a:rPr lang="en-US" altLang="en-US" sz="1300" b="1">
                <a:latin typeface="Arial" panose="020B0604020202020204" pitchFamily="34" charset="0"/>
              </a:rPr>
              <a:t>'buy now</a:t>
            </a:r>
            <a:r>
              <a:rPr lang="en-US" altLang="en-US" sz="1300">
                <a:latin typeface="Arial" panose="020B0604020202020204" pitchFamily="34" charset="0"/>
              </a:rPr>
              <a:t>') alır və uyğun cavab verir."</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38C34189-4226-FC1E-96F1-E9E877275AD7}"/>
              </a:ext>
            </a:extLst>
          </p:cNvPr>
          <p:cNvPicPr>
            <a:picLocks noChangeAspect="1"/>
          </p:cNvPicPr>
          <p:nvPr/>
        </p:nvPicPr>
        <p:blipFill>
          <a:blip r:embed="rId2"/>
          <a:stretch>
            <a:fillRect/>
          </a:stretch>
        </p:blipFill>
        <p:spPr>
          <a:xfrm>
            <a:off x="5449078" y="0"/>
            <a:ext cx="6742922" cy="1243631"/>
          </a:xfrm>
          <a:prstGeom prst="rect">
            <a:avLst/>
          </a:prstGeom>
        </p:spPr>
      </p:pic>
    </p:spTree>
    <p:extLst>
      <p:ext uri="{BB962C8B-B14F-4D97-AF65-F5344CB8AC3E}">
        <p14:creationId xmlns:p14="http://schemas.microsoft.com/office/powerpoint/2010/main" val="3604300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25D7D-A080-F22B-7E8D-36EC827289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3F16A3-A6E8-401E-847B-09570DC6E4CB}"/>
              </a:ext>
            </a:extLst>
          </p:cNvPr>
          <p:cNvSpPr txBox="1"/>
          <p:nvPr/>
        </p:nvSpPr>
        <p:spPr>
          <a:xfrm>
            <a:off x="217714" y="255046"/>
            <a:ext cx="11756571" cy="4256422"/>
          </a:xfrm>
          <a:prstGeom prst="rect">
            <a:avLst/>
          </a:prstGeom>
          <a:noFill/>
        </p:spPr>
        <p:txBody>
          <a:bodyPr wrap="square">
            <a:spAutoFit/>
          </a:bodyPr>
          <a:lstStyle/>
          <a:p>
            <a:pPr>
              <a:lnSpc>
                <a:spcPct val="150000"/>
              </a:lnSpc>
              <a:buNone/>
            </a:pPr>
            <a:r>
              <a:rPr lang="fr-FR" altLang="en-US" sz="1300" b="1">
                <a:latin typeface="Arial" panose="020B0604020202020204" pitchFamily="34" charset="0"/>
              </a:rPr>
              <a:t>Route Tanımlamaları </a:t>
            </a:r>
            <a:r>
              <a:rPr lang="fr-FR" altLang="en-US" sz="1300">
                <a:latin typeface="Arial" panose="020B0604020202020204" pitchFamily="34" charset="0"/>
              </a:rPr>
              <a:t>( </a:t>
            </a:r>
            <a:r>
              <a:rPr lang="fr-FR" altLang="en-US" sz="1300" b="1">
                <a:solidFill>
                  <a:srgbClr val="0070C0"/>
                </a:solidFill>
                <a:latin typeface="Arial" panose="020B0604020202020204" pitchFamily="34" charset="0"/>
              </a:rPr>
              <a:t>routes/web.php </a:t>
            </a:r>
            <a:r>
              <a:rPr lang="fr-FR" altLang="en-US" sz="1300">
                <a:latin typeface="Arial" panose="020B0604020202020204" pitchFamily="34" charset="0"/>
              </a:rPr>
              <a:t>).</a:t>
            </a:r>
          </a:p>
          <a:p>
            <a:pPr>
              <a:lnSpc>
                <a:spcPct val="150000"/>
              </a:lnSpc>
              <a:buNone/>
            </a:pPr>
            <a:endParaRPr kumimoji="0" lang="fr-FR"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en-US" altLang="en-US" sz="1300">
              <a:latin typeface="Arial" panose="020B0604020202020204" pitchFamily="34" charset="0"/>
            </a:endParaRP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en-US" altLang="en-US" sz="1300">
              <a:latin typeface="Arial" panose="020B0604020202020204" pitchFamily="34" charset="0"/>
            </a:endParaRP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Laravel saytında 3 ünvan (URL route) yaradır</a:t>
            </a:r>
            <a:r>
              <a:rPr lang="az-Latn-AZ" altLang="en-US" sz="1300">
                <a:latin typeface="Arial" panose="020B0604020202020204" pitchFamily="34" charset="0"/>
              </a:rPr>
              <a:t>ıq</a:t>
            </a:r>
            <a:r>
              <a:rPr lang="en-US" altLang="en-US" sz="1300">
                <a:latin typeface="Arial" panose="020B0604020202020204" pitchFamily="34" charset="0"/>
              </a:rPr>
              <a:t>:</a:t>
            </a:r>
          </a:p>
          <a:p>
            <a:pPr marL="742950" lvl="1" indent="-285750">
              <a:lnSpc>
                <a:spcPct val="150000"/>
              </a:lnSpc>
              <a:buFont typeface="Arial" panose="020B0604020202020204" pitchFamily="34" charset="0"/>
              <a:buChar char="•"/>
            </a:pPr>
            <a:r>
              <a:rPr lang="en-US" altLang="en-US" sz="1300" b="1">
                <a:latin typeface="Arial" panose="020B0604020202020204" pitchFamily="34" charset="0"/>
              </a:rPr>
              <a:t>/paypal/payment </a:t>
            </a:r>
            <a:r>
              <a:rPr lang="en-US" altLang="en-US" sz="1300">
                <a:latin typeface="Arial" panose="020B0604020202020204" pitchFamily="34" charset="0"/>
              </a:rPr>
              <a:t>→ Ödəniş başlatmaq üçün</a:t>
            </a:r>
          </a:p>
          <a:p>
            <a:pPr marL="742950" lvl="1" indent="-285750">
              <a:lnSpc>
                <a:spcPct val="150000"/>
              </a:lnSpc>
              <a:buFont typeface="Arial" panose="020B0604020202020204" pitchFamily="34" charset="0"/>
              <a:buChar char="•"/>
            </a:pPr>
            <a:r>
              <a:rPr lang="en-US" altLang="en-US" sz="1300" b="1">
                <a:latin typeface="Arial" panose="020B0604020202020204" pitchFamily="34" charset="0"/>
              </a:rPr>
              <a:t>/paypal/success </a:t>
            </a:r>
            <a:r>
              <a:rPr lang="en-US" altLang="en-US" sz="1300">
                <a:latin typeface="Arial" panose="020B0604020202020204" pitchFamily="34" charset="0"/>
              </a:rPr>
              <a:t>→ Uğurlu ödənişdən sonra yönləndiriləcək</a:t>
            </a:r>
          </a:p>
          <a:p>
            <a:pPr marL="742950" lvl="1" indent="-285750">
              <a:lnSpc>
                <a:spcPct val="150000"/>
              </a:lnSpc>
              <a:buFont typeface="Arial" panose="020B0604020202020204" pitchFamily="34" charset="0"/>
              <a:buChar char="•"/>
            </a:pPr>
            <a:r>
              <a:rPr lang="en-US" altLang="en-US" sz="1300" b="1">
                <a:latin typeface="Arial" panose="020B0604020202020204" pitchFamily="34" charset="0"/>
              </a:rPr>
              <a:t>/paypal/cancel </a:t>
            </a:r>
            <a:r>
              <a:rPr lang="en-US" altLang="en-US" sz="1300">
                <a:latin typeface="Arial" panose="020B0604020202020204" pitchFamily="34" charset="0"/>
              </a:rPr>
              <a:t>→ İstifadəçi ödənişi ləğv etsə yönləndiriləcək</a:t>
            </a: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"Bu yollar (</a:t>
            </a:r>
            <a:r>
              <a:rPr lang="en-US" altLang="en-US" sz="1300" b="1">
                <a:latin typeface="Arial" panose="020B0604020202020204" pitchFamily="34" charset="0"/>
              </a:rPr>
              <a:t>route</a:t>
            </a:r>
            <a:r>
              <a:rPr lang="en-US" altLang="en-US" sz="1300">
                <a:latin typeface="Arial" panose="020B0604020202020204" pitchFamily="34" charset="0"/>
              </a:rPr>
              <a:t>-lar) saytımıza </a:t>
            </a:r>
            <a:r>
              <a:rPr lang="en-US" altLang="en-US" sz="1300" b="1">
                <a:latin typeface="Arial" panose="020B0604020202020204" pitchFamily="34" charset="0"/>
              </a:rPr>
              <a:t>PayPal</a:t>
            </a:r>
            <a:r>
              <a:rPr lang="en-US" altLang="en-US" sz="1300">
                <a:latin typeface="Arial" panose="020B0604020202020204" pitchFamily="34" charset="0"/>
              </a:rPr>
              <a:t> ödənişi üçün qapılar açır. Sayta </a:t>
            </a:r>
            <a:r>
              <a:rPr lang="en-US" altLang="en-US" sz="1300" b="1">
                <a:latin typeface="Arial" panose="020B0604020202020204" pitchFamily="34" charset="0"/>
              </a:rPr>
              <a:t>'buy now</a:t>
            </a:r>
            <a:r>
              <a:rPr lang="en-US" altLang="en-US" sz="1300">
                <a:latin typeface="Arial" panose="020B0604020202020204" pitchFamily="34" charset="0"/>
              </a:rPr>
              <a:t>' düyməsi basıldıqda, ödənişi başlatmaq üçün </a:t>
            </a:r>
            <a:r>
              <a:rPr lang="en-US" altLang="en-US" sz="1300" b="1">
                <a:latin typeface="Arial" panose="020B0604020202020204" pitchFamily="34" charset="0"/>
              </a:rPr>
              <a:t>paypal/payment </a:t>
            </a:r>
            <a:r>
              <a:rPr lang="en-US" altLang="en-US" sz="1300">
                <a:latin typeface="Arial" panose="020B0604020202020204" pitchFamily="34" charset="0"/>
              </a:rPr>
              <a:t>ünvanına müraciət edilir."</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0BF23464-37D5-F757-8EAE-2C65AAA2BF45}"/>
              </a:ext>
            </a:extLst>
          </p:cNvPr>
          <p:cNvPicPr>
            <a:picLocks noChangeAspect="1"/>
          </p:cNvPicPr>
          <p:nvPr/>
        </p:nvPicPr>
        <p:blipFill>
          <a:blip r:embed="rId2"/>
          <a:stretch>
            <a:fillRect/>
          </a:stretch>
        </p:blipFill>
        <p:spPr>
          <a:xfrm>
            <a:off x="217714" y="732805"/>
            <a:ext cx="7087589" cy="895475"/>
          </a:xfrm>
          <a:prstGeom prst="rect">
            <a:avLst/>
          </a:prstGeom>
        </p:spPr>
      </p:pic>
    </p:spTree>
    <p:extLst>
      <p:ext uri="{BB962C8B-B14F-4D97-AF65-F5344CB8AC3E}">
        <p14:creationId xmlns:p14="http://schemas.microsoft.com/office/powerpoint/2010/main" val="3095838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78F57-53CF-55B4-E043-9DC2F5223E6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ADC22A-BE51-C49C-323D-8CD552BA3B4E}"/>
              </a:ext>
            </a:extLst>
          </p:cNvPr>
          <p:cNvSpPr txBox="1"/>
          <p:nvPr/>
        </p:nvSpPr>
        <p:spPr>
          <a:xfrm>
            <a:off x="217714" y="255046"/>
            <a:ext cx="11756571" cy="4856586"/>
          </a:xfrm>
          <a:prstGeom prst="rect">
            <a:avLst/>
          </a:prstGeom>
          <a:noFill/>
        </p:spPr>
        <p:txBody>
          <a:bodyPr wrap="square">
            <a:spAutoFit/>
          </a:bodyPr>
          <a:lstStyle/>
          <a:p>
            <a:pPr>
              <a:lnSpc>
                <a:spcPct val="150000"/>
              </a:lnSpc>
              <a:buNone/>
            </a:pPr>
            <a:r>
              <a:rPr lang="en-US" altLang="en-US" sz="1300" b="1">
                <a:latin typeface="Arial" panose="020B0604020202020204" pitchFamily="34" charset="0"/>
              </a:rPr>
              <a:t>View Faylı </a:t>
            </a:r>
            <a:r>
              <a:rPr lang="en-US" altLang="en-US" sz="1300">
                <a:latin typeface="Arial" panose="020B0604020202020204" pitchFamily="34" charset="0"/>
              </a:rPr>
              <a:t>(</a:t>
            </a:r>
            <a:r>
              <a:rPr lang="az-Latn-AZ" altLang="en-US" sz="1300">
                <a:latin typeface="Arial" panose="020B0604020202020204" pitchFamily="34" charset="0"/>
              </a:rPr>
              <a:t> </a:t>
            </a:r>
            <a:r>
              <a:rPr lang="en-US" altLang="en-US" sz="1300" b="1">
                <a:solidFill>
                  <a:srgbClr val="0070C0"/>
                </a:solidFill>
                <a:latin typeface="Arial" panose="020B0604020202020204" pitchFamily="34" charset="0"/>
              </a:rPr>
              <a:t>resources/views/welcome.blade.php</a:t>
            </a:r>
            <a:r>
              <a:rPr lang="az-Latn-AZ" altLang="en-US" sz="1300" b="1">
                <a:solidFill>
                  <a:srgbClr val="0070C0"/>
                </a:solidFill>
                <a:latin typeface="Arial" panose="020B0604020202020204" pitchFamily="34" charset="0"/>
              </a:rPr>
              <a:t> </a:t>
            </a:r>
            <a:r>
              <a:rPr lang="en-US" altLang="en-US" sz="1300">
                <a:latin typeface="Arial" panose="020B0604020202020204" pitchFamily="34" charset="0"/>
              </a:rPr>
              <a:t>)</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r>
              <a:rPr lang="en-US" altLang="en-US" sz="1300" b="1">
                <a:latin typeface="Arial" panose="020B0604020202020204" pitchFamily="34" charset="0"/>
              </a:rPr>
              <a:t>Nə edir?</a:t>
            </a:r>
          </a:p>
          <a:p>
            <a:pPr marL="742950" lvl="1" indent="-285750">
              <a:lnSpc>
                <a:spcPct val="150000"/>
              </a:lnSpc>
              <a:buFont typeface="Arial" panose="020B0604020202020204" pitchFamily="34" charset="0"/>
              <a:buChar char="•"/>
            </a:pPr>
            <a:r>
              <a:rPr lang="en-US" altLang="en-US" sz="1300" b="1">
                <a:latin typeface="Arial" panose="020B0604020202020204" pitchFamily="34" charset="0"/>
              </a:rPr>
              <a:t>Buy Now </a:t>
            </a:r>
            <a:r>
              <a:rPr lang="en-US" altLang="en-US" sz="1300">
                <a:latin typeface="Arial" panose="020B0604020202020204" pitchFamily="34" charset="0"/>
              </a:rPr>
              <a:t>düyməsi var.</a:t>
            </a:r>
            <a:endParaRPr lang="az-Latn-AZ" altLang="en-US" sz="1300">
              <a:latin typeface="Arial" panose="020B0604020202020204" pitchFamily="34" charset="0"/>
            </a:endParaRPr>
          </a:p>
          <a:p>
            <a:pPr lvl="1">
              <a:lnSpc>
                <a:spcPct val="150000"/>
              </a:lnSpc>
            </a:pPr>
            <a:endParaRPr lang="en-US" altLang="en-US" sz="1300">
              <a:latin typeface="Arial" panose="020B0604020202020204" pitchFamily="34" charset="0"/>
            </a:endParaRPr>
          </a:p>
          <a:p>
            <a:pPr marL="742950" lvl="1" indent="-285750">
              <a:lnSpc>
                <a:spcPct val="150000"/>
              </a:lnSpc>
              <a:buFont typeface="Arial" panose="020B0604020202020204" pitchFamily="34" charset="0"/>
              <a:buChar char="•"/>
            </a:pPr>
            <a:r>
              <a:rPr lang="en-US" altLang="en-US" sz="1300">
                <a:latin typeface="Arial" panose="020B0604020202020204" pitchFamily="34" charset="0"/>
              </a:rPr>
              <a:t>Bu düyməyə klik ediləndə, form</a:t>
            </a:r>
            <a:r>
              <a:rPr lang="az-Latn-AZ" altLang="en-US" sz="1300">
                <a:latin typeface="Arial" panose="020B0604020202020204" pitchFamily="34" charset="0"/>
              </a:rPr>
              <a:t>,</a:t>
            </a:r>
            <a:r>
              <a:rPr lang="en-US" altLang="en-US" sz="1300">
                <a:latin typeface="Arial" panose="020B0604020202020204" pitchFamily="34" charset="0"/>
              </a:rPr>
              <a:t> </a:t>
            </a:r>
            <a:r>
              <a:rPr lang="en-US" altLang="en-US" sz="1300" b="1">
                <a:latin typeface="Arial" panose="020B0604020202020204" pitchFamily="34" charset="0"/>
              </a:rPr>
              <a:t>POST</a:t>
            </a:r>
            <a:r>
              <a:rPr lang="en-US" altLang="en-US" sz="1300">
                <a:latin typeface="Arial" panose="020B0604020202020204" pitchFamily="34" charset="0"/>
              </a:rPr>
              <a:t> metodu ilə </a:t>
            </a:r>
            <a:endParaRPr lang="az-Latn-AZ" altLang="en-US" sz="1300">
              <a:latin typeface="Arial" panose="020B0604020202020204" pitchFamily="34" charset="0"/>
            </a:endParaRPr>
          </a:p>
          <a:p>
            <a:pPr lvl="1">
              <a:lnSpc>
                <a:spcPct val="150000"/>
              </a:lnSpc>
            </a:pPr>
            <a:r>
              <a:rPr lang="az-Latn-AZ" altLang="en-US" sz="1300">
                <a:latin typeface="Arial" panose="020B0604020202020204" pitchFamily="34" charset="0"/>
              </a:rPr>
              <a:t>      </a:t>
            </a:r>
            <a:r>
              <a:rPr lang="en-US" altLang="en-US" sz="1300" b="1">
                <a:latin typeface="Arial" panose="020B0604020202020204" pitchFamily="34" charset="0"/>
              </a:rPr>
              <a:t>paypal.payment </a:t>
            </a:r>
            <a:r>
              <a:rPr lang="en-US" altLang="en-US" sz="1300">
                <a:latin typeface="Arial" panose="020B0604020202020204" pitchFamily="34" charset="0"/>
              </a:rPr>
              <a:t>route-una (</a:t>
            </a:r>
            <a:r>
              <a:rPr lang="az-Latn-AZ" altLang="en-US" sz="1300">
                <a:latin typeface="Arial" panose="020B0604020202020204" pitchFamily="34" charset="0"/>
              </a:rPr>
              <a:t> </a:t>
            </a:r>
            <a:r>
              <a:rPr lang="en-US" altLang="en-US" sz="1300" b="1">
                <a:latin typeface="Arial" panose="020B0604020202020204" pitchFamily="34" charset="0"/>
              </a:rPr>
              <a:t>/paypal/payment</a:t>
            </a:r>
            <a:r>
              <a:rPr lang="az-Latn-AZ" altLang="en-US" sz="1300" b="1">
                <a:latin typeface="Arial" panose="020B0604020202020204" pitchFamily="34" charset="0"/>
              </a:rPr>
              <a:t> </a:t>
            </a:r>
            <a:r>
              <a:rPr lang="en-US" altLang="en-US" sz="1300">
                <a:latin typeface="Arial" panose="020B0604020202020204" pitchFamily="34" charset="0"/>
              </a:rPr>
              <a:t>) göndərilir.</a:t>
            </a:r>
            <a:endParaRPr lang="az-Latn-AZ" altLang="en-US" sz="1300">
              <a:latin typeface="Arial" panose="020B0604020202020204" pitchFamily="34" charset="0"/>
            </a:endParaRPr>
          </a:p>
          <a:p>
            <a:pPr lvl="1">
              <a:lnSpc>
                <a:spcPct val="150000"/>
              </a:lnSpc>
            </a:pPr>
            <a:endParaRPr lang="en-US" altLang="en-US" sz="1300">
              <a:latin typeface="Arial" panose="020B0604020202020204" pitchFamily="34" charset="0"/>
            </a:endParaRPr>
          </a:p>
          <a:p>
            <a:pPr marL="742950" lvl="1" indent="-285750">
              <a:lnSpc>
                <a:spcPct val="150000"/>
              </a:lnSpc>
              <a:buFont typeface="Arial" panose="020B0604020202020204" pitchFamily="34" charset="0"/>
              <a:buChar char="•"/>
            </a:pPr>
            <a:r>
              <a:rPr lang="en-US" altLang="en-US" sz="1300" b="1">
                <a:latin typeface="Arial" panose="020B0604020202020204" pitchFamily="34" charset="0"/>
              </a:rPr>
              <a:t>price</a:t>
            </a:r>
            <a:r>
              <a:rPr lang="en-US" altLang="en-US" sz="1300">
                <a:latin typeface="Arial" panose="020B0604020202020204" pitchFamily="34" charset="0"/>
              </a:rPr>
              <a:t> dəyişəni ilə</a:t>
            </a:r>
            <a:r>
              <a:rPr lang="az-Latn-AZ" altLang="en-US" sz="1300">
                <a:latin typeface="Arial" panose="020B0604020202020204" pitchFamily="34" charset="0"/>
              </a:rPr>
              <a:t> </a:t>
            </a:r>
            <a:r>
              <a:rPr lang="az-Latn-AZ" altLang="en-US" sz="1300" b="1">
                <a:latin typeface="Arial" panose="020B0604020202020204" pitchFamily="34" charset="0"/>
              </a:rPr>
              <a:t>controller</a:t>
            </a:r>
            <a:r>
              <a:rPr lang="az-Latn-AZ" altLang="en-US" sz="1300">
                <a:latin typeface="Arial" panose="020B0604020202020204" pitchFamily="34" charset="0"/>
              </a:rPr>
              <a:t> -in </a:t>
            </a:r>
            <a:r>
              <a:rPr lang="en-US" altLang="en-US" sz="1300" b="1">
                <a:latin typeface="Arial" panose="020B0604020202020204" pitchFamily="34" charset="0"/>
              </a:rPr>
              <a:t>$request </a:t>
            </a:r>
            <a:r>
              <a:rPr lang="az-Latn-AZ" altLang="en-US" sz="1300">
                <a:latin typeface="Arial" panose="020B0604020202020204" pitchFamily="34" charset="0"/>
              </a:rPr>
              <a:t>parametrinə</a:t>
            </a:r>
            <a:r>
              <a:rPr lang="en-US" altLang="en-US" sz="1300">
                <a:latin typeface="Arial" panose="020B0604020202020204" pitchFamily="34" charset="0"/>
              </a:rPr>
              <a:t> </a:t>
            </a:r>
            <a:r>
              <a:rPr lang="en-US" altLang="en-US" sz="1300" b="1">
                <a:latin typeface="Arial" panose="020B0604020202020204" pitchFamily="34" charset="0"/>
              </a:rPr>
              <a:t>40 USD </a:t>
            </a:r>
            <a:endParaRPr lang="az-Latn-AZ" altLang="en-US" sz="1300" b="1">
              <a:latin typeface="Arial" panose="020B0604020202020204" pitchFamily="34" charset="0"/>
            </a:endParaRPr>
          </a:p>
          <a:p>
            <a:pPr lvl="1">
              <a:lnSpc>
                <a:spcPct val="150000"/>
              </a:lnSpc>
            </a:pPr>
            <a:r>
              <a:rPr lang="az-Latn-AZ" altLang="en-US" sz="1300">
                <a:latin typeface="Arial" panose="020B0604020202020204" pitchFamily="34" charset="0"/>
              </a:rPr>
              <a:t>      </a:t>
            </a:r>
            <a:r>
              <a:rPr lang="en-US" altLang="en-US" sz="1300">
                <a:latin typeface="Arial" panose="020B0604020202020204" pitchFamily="34" charset="0"/>
              </a:rPr>
              <a:t>ödəniş göndərilir.</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"Buradakı </a:t>
            </a:r>
            <a:r>
              <a:rPr lang="en-US" altLang="en-US" sz="1300" b="1">
                <a:latin typeface="Arial" panose="020B0604020202020204" pitchFamily="34" charset="0"/>
              </a:rPr>
              <a:t>form</a:t>
            </a:r>
            <a:r>
              <a:rPr lang="en-US" altLang="en-US" sz="1300">
                <a:latin typeface="Arial" panose="020B0604020202020204" pitchFamily="34" charset="0"/>
              </a:rPr>
              <a:t> ödəniş başlatmaq üçündür. Sanki 'müştəri 40 dollar verib bu məhsulu almaq istəyir' – deyə serverə məlumat ötür</a:t>
            </a:r>
            <a:r>
              <a:rPr lang="az-Latn-AZ" altLang="en-US" sz="1300">
                <a:latin typeface="Arial" panose="020B0604020202020204" pitchFamily="34" charset="0"/>
              </a:rPr>
              <a:t>ül</a:t>
            </a:r>
            <a:r>
              <a:rPr lang="en-US" altLang="en-US" sz="1300">
                <a:latin typeface="Arial" panose="020B0604020202020204" pitchFamily="34" charset="0"/>
              </a:rPr>
              <a:t>ür."</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7792B0B2-5EE3-FB82-39F1-121228A765EF}"/>
              </a:ext>
            </a:extLst>
          </p:cNvPr>
          <p:cNvPicPr>
            <a:picLocks noChangeAspect="1"/>
          </p:cNvPicPr>
          <p:nvPr/>
        </p:nvPicPr>
        <p:blipFill>
          <a:blip r:embed="rId2"/>
          <a:stretch>
            <a:fillRect/>
          </a:stretch>
        </p:blipFill>
        <p:spPr>
          <a:xfrm>
            <a:off x="6081500" y="0"/>
            <a:ext cx="6110500" cy="4254759"/>
          </a:xfrm>
          <a:prstGeom prst="rect">
            <a:avLst/>
          </a:prstGeom>
        </p:spPr>
      </p:pic>
    </p:spTree>
    <p:extLst>
      <p:ext uri="{BB962C8B-B14F-4D97-AF65-F5344CB8AC3E}">
        <p14:creationId xmlns:p14="http://schemas.microsoft.com/office/powerpoint/2010/main" val="2770413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F8562-3C19-5C22-AF55-6D0EE44F0D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631F65-F8B9-C2C1-427F-D6E035131BF6}"/>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lang="en-US" altLang="en-US" sz="1300" b="1">
                <a:latin typeface="Arial" panose="020B0604020202020204" pitchFamily="34" charset="0"/>
              </a:rPr>
              <a:t>PaypalController.php </a:t>
            </a:r>
            <a:r>
              <a:rPr lang="en-US" altLang="en-US" sz="1300">
                <a:latin typeface="Arial" panose="020B0604020202020204" pitchFamily="34" charset="0"/>
              </a:rPr>
              <a:t>– payment() </a:t>
            </a:r>
            <a:r>
              <a:rPr lang="az-Latn-AZ" altLang="en-US" sz="1300">
                <a:latin typeface="Arial" panose="020B0604020202020204" pitchFamily="34" charset="0"/>
              </a:rPr>
              <a:t>m</a:t>
            </a:r>
            <a:r>
              <a:rPr lang="en-US" altLang="en-US" sz="1300">
                <a:latin typeface="Arial" panose="020B0604020202020204" pitchFamily="34" charset="0"/>
              </a:rPr>
              <a:t>etodu</a:t>
            </a:r>
            <a:r>
              <a:rPr lang="az-Latn-AZ" altLang="en-US" sz="1300">
                <a:latin typeface="Arial" panose="020B0604020202020204" pitchFamily="34" charset="0"/>
              </a:rPr>
              <a:t> ilə </a:t>
            </a:r>
            <a:r>
              <a:rPr lang="en-US" altLang="en-US" sz="1300" b="1">
                <a:latin typeface="Arial" panose="020B0604020202020204" pitchFamily="34" charset="0"/>
              </a:rPr>
              <a:t>$request </a:t>
            </a:r>
            <a:r>
              <a:rPr lang="az-Latn-AZ" altLang="en-US" sz="1300">
                <a:latin typeface="Arial" panose="020B0604020202020204" pitchFamily="34" charset="0"/>
              </a:rPr>
              <a:t>parametrinin dəyərini ekrana çap edərək </a:t>
            </a:r>
            <a:r>
              <a:rPr lang="az-Latn-AZ" altLang="en-US" sz="1300" b="1">
                <a:latin typeface="Arial" panose="020B0604020202020204" pitchFamily="34" charset="0"/>
              </a:rPr>
              <a:t>form</a:t>
            </a:r>
            <a:r>
              <a:rPr lang="az-Latn-AZ" altLang="en-US" sz="1300">
                <a:latin typeface="Arial" panose="020B0604020202020204" pitchFamily="34" charset="0"/>
              </a:rPr>
              <a:t> -dan </a:t>
            </a:r>
            <a:r>
              <a:rPr lang="az-Latn-AZ" altLang="en-US" sz="1300" b="1">
                <a:latin typeface="Arial" panose="020B0604020202020204" pitchFamily="34" charset="0"/>
              </a:rPr>
              <a:t>POST</a:t>
            </a:r>
            <a:r>
              <a:rPr lang="az-Latn-AZ" altLang="en-US" sz="1300">
                <a:latin typeface="Arial" panose="020B0604020202020204" pitchFamily="34" charset="0"/>
              </a:rPr>
              <a:t> metodu ilə göndərilən dəyəri görə bilərsiz.</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19DB62A8-1ACD-2246-1FD4-C4137EA3F38E}"/>
              </a:ext>
            </a:extLst>
          </p:cNvPr>
          <p:cNvPicPr>
            <a:picLocks noChangeAspect="1"/>
          </p:cNvPicPr>
          <p:nvPr/>
        </p:nvPicPr>
        <p:blipFill>
          <a:blip r:embed="rId2"/>
          <a:stretch>
            <a:fillRect/>
          </a:stretch>
        </p:blipFill>
        <p:spPr>
          <a:xfrm>
            <a:off x="4004394" y="2164243"/>
            <a:ext cx="8187606" cy="4693757"/>
          </a:xfrm>
          <a:prstGeom prst="rect">
            <a:avLst/>
          </a:prstGeom>
        </p:spPr>
      </p:pic>
    </p:spTree>
    <p:extLst>
      <p:ext uri="{BB962C8B-B14F-4D97-AF65-F5344CB8AC3E}">
        <p14:creationId xmlns:p14="http://schemas.microsoft.com/office/powerpoint/2010/main" val="2769803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1F4F8-A74A-FC53-CCFC-948256E586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0CF2165-BD8E-D451-1982-330E138856BE}"/>
              </a:ext>
            </a:extLst>
          </p:cNvPr>
          <p:cNvSpPr txBox="1"/>
          <p:nvPr/>
        </p:nvSpPr>
        <p:spPr>
          <a:xfrm>
            <a:off x="217714" y="255046"/>
            <a:ext cx="11756571" cy="4856586"/>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Burada isə ilk 3 sətrdəki kod ilə Yeni </a:t>
            </a:r>
            <a:r>
              <a:rPr lang="az-Latn-AZ" altLang="en-US" sz="1300" b="1">
                <a:latin typeface="Arial" panose="020B0604020202020204" pitchFamily="34" charset="0"/>
              </a:rPr>
              <a:t>PayPal client </a:t>
            </a:r>
            <a:r>
              <a:rPr lang="az-Latn-AZ" altLang="en-US" sz="1300">
                <a:latin typeface="Arial" panose="020B0604020202020204" pitchFamily="34" charset="0"/>
              </a:rPr>
              <a:t>yaradırıq. </a:t>
            </a:r>
          </a:p>
          <a:p>
            <a:pPr>
              <a:lnSpc>
                <a:spcPct val="150000"/>
              </a:lnSpc>
              <a:buNone/>
            </a:pPr>
            <a:r>
              <a:rPr lang="az-Latn-AZ" altLang="en-US" sz="1300">
                <a:latin typeface="Arial" panose="020B0604020202020204" pitchFamily="34" charset="0"/>
              </a:rPr>
              <a:t>Sonra isə, </a:t>
            </a:r>
            <a:r>
              <a:rPr lang="az-Latn-AZ" altLang="en-US" sz="1300" b="1">
                <a:latin typeface="Arial" panose="020B0604020202020204" pitchFamily="34" charset="0"/>
              </a:rPr>
              <a:t>.env </a:t>
            </a:r>
            <a:r>
              <a:rPr lang="az-Latn-AZ" altLang="en-US" sz="1300">
                <a:latin typeface="Arial" panose="020B0604020202020204" pitchFamily="34" charset="0"/>
              </a:rPr>
              <a:t>və </a:t>
            </a:r>
            <a:r>
              <a:rPr lang="az-Latn-AZ" altLang="en-US" sz="1300" b="1">
                <a:latin typeface="Arial" panose="020B0604020202020204" pitchFamily="34" charset="0"/>
              </a:rPr>
              <a:t>config/paypal.php</a:t>
            </a:r>
            <a:r>
              <a:rPr lang="az-Latn-AZ" altLang="en-US" sz="1300">
                <a:latin typeface="Arial" panose="020B0604020202020204" pitchFamily="34" charset="0"/>
              </a:rPr>
              <a:t>-dəki məlumatlarla </a:t>
            </a:r>
            <a:r>
              <a:rPr lang="az-Latn-AZ" altLang="en-US" sz="1300" b="1">
                <a:latin typeface="Arial" panose="020B0604020202020204" pitchFamily="34" charset="0"/>
              </a:rPr>
              <a:t>PayPal API</a:t>
            </a:r>
            <a:r>
              <a:rPr lang="az-Latn-AZ" altLang="en-US" sz="1300">
                <a:latin typeface="Arial" panose="020B0604020202020204" pitchFamily="34" charset="0"/>
              </a:rPr>
              <a:t>-yə giriş </a:t>
            </a:r>
            <a:r>
              <a:rPr lang="az-Latn-AZ" altLang="en-US" sz="1300" b="1">
                <a:latin typeface="Arial" panose="020B0604020202020204" pitchFamily="34" charset="0"/>
              </a:rPr>
              <a:t>tokeni</a:t>
            </a:r>
            <a:r>
              <a:rPr lang="az-Latn-AZ" altLang="en-US" sz="1300">
                <a:latin typeface="Arial" panose="020B0604020202020204" pitchFamily="34" charset="0"/>
              </a:rPr>
              <a:t> alırıq</a:t>
            </a: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r>
              <a:rPr kumimoji="0" lang="az-Latn-AZ" altLang="en-US" sz="1300" b="0" i="0" u="none" strike="noStrike" cap="none" normalizeH="0" baseline="0">
                <a:ln>
                  <a:noFill/>
                </a:ln>
                <a:solidFill>
                  <a:schemeClr val="tx1"/>
                </a:solidFill>
                <a:effectLst/>
                <a:latin typeface="Arial" panose="020B0604020202020204" pitchFamily="34" charset="0"/>
              </a:rPr>
              <a:t>Qısaca </a:t>
            </a:r>
            <a:r>
              <a:rPr lang="az-Latn-AZ" altLang="en-US" sz="1300">
                <a:latin typeface="Arial" panose="020B0604020202020204" pitchFamily="34" charset="0"/>
              </a:rPr>
              <a:t>"bu hissədə PayPal-a bağlanırıq. PayPal bizə deyir: 'OK, sənə güvənirəm. Bu tokenlə </a:t>
            </a:r>
          </a:p>
          <a:p>
            <a:pPr>
              <a:lnSpc>
                <a:spcPct val="150000"/>
              </a:lnSpc>
              <a:buNone/>
            </a:pPr>
            <a:r>
              <a:rPr lang="az-Latn-AZ" altLang="en-US" sz="1300">
                <a:latin typeface="Arial" panose="020B0604020202020204" pitchFamily="34" charset="0"/>
              </a:rPr>
              <a:t>mənimlə danışa bilərsən.’»</a:t>
            </a: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az-Latn-AZ" altLang="en-US" sz="1300">
                <a:latin typeface="Arial" panose="020B0604020202020204" pitchFamily="34" charset="0"/>
              </a:rPr>
              <a:t>Ardı növbəti slaydda....</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7C768653-169D-2D09-D6F3-CA99EF5396DB}"/>
              </a:ext>
            </a:extLst>
          </p:cNvPr>
          <p:cNvPicPr>
            <a:picLocks noChangeAspect="1"/>
          </p:cNvPicPr>
          <p:nvPr/>
        </p:nvPicPr>
        <p:blipFill>
          <a:blip r:embed="rId2"/>
          <a:stretch>
            <a:fillRect/>
          </a:stretch>
        </p:blipFill>
        <p:spPr>
          <a:xfrm>
            <a:off x="7800362" y="0"/>
            <a:ext cx="4391638" cy="5153744"/>
          </a:xfrm>
          <a:prstGeom prst="rect">
            <a:avLst/>
          </a:prstGeom>
        </p:spPr>
      </p:pic>
      <p:pic>
        <p:nvPicPr>
          <p:cNvPr id="6" name="Picture 5">
            <a:extLst>
              <a:ext uri="{FF2B5EF4-FFF2-40B4-BE49-F238E27FC236}">
                <a16:creationId xmlns:a16="http://schemas.microsoft.com/office/drawing/2014/main" id="{14F84E22-EAD1-4C7C-0ECA-439152E5CD38}"/>
              </a:ext>
            </a:extLst>
          </p:cNvPr>
          <p:cNvPicPr>
            <a:picLocks noChangeAspect="1"/>
          </p:cNvPicPr>
          <p:nvPr/>
        </p:nvPicPr>
        <p:blipFill>
          <a:blip r:embed="rId3"/>
          <a:stretch>
            <a:fillRect/>
          </a:stretch>
        </p:blipFill>
        <p:spPr>
          <a:xfrm>
            <a:off x="217714" y="1216275"/>
            <a:ext cx="4039164" cy="1133633"/>
          </a:xfrm>
          <a:prstGeom prst="rect">
            <a:avLst/>
          </a:prstGeom>
        </p:spPr>
      </p:pic>
    </p:spTree>
    <p:extLst>
      <p:ext uri="{BB962C8B-B14F-4D97-AF65-F5344CB8AC3E}">
        <p14:creationId xmlns:p14="http://schemas.microsoft.com/office/powerpoint/2010/main" val="268971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F62E1-45F1-6F20-5260-5F5FBEE548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92AB02-4838-3DFC-E736-DB2D48B31E15}"/>
              </a:ext>
            </a:extLst>
          </p:cNvPr>
          <p:cNvSpPr txBox="1"/>
          <p:nvPr/>
        </p:nvSpPr>
        <p:spPr>
          <a:xfrm>
            <a:off x="217714" y="255046"/>
            <a:ext cx="11756571" cy="4356449"/>
          </a:xfrm>
          <a:prstGeom prst="rect">
            <a:avLst/>
          </a:prstGeom>
          <a:noFill/>
        </p:spPr>
        <p:txBody>
          <a:bodyPr wrap="square">
            <a:spAutoFit/>
          </a:bodyPr>
          <a:lstStyle/>
          <a:p>
            <a:pPr>
              <a:lnSpc>
                <a:spcPct val="150000"/>
              </a:lnSpc>
              <a:buNone/>
            </a:pPr>
            <a:r>
              <a:rPr lang="en-US" altLang="en-US" sz="1300">
                <a:latin typeface="Arial" panose="020B0604020202020204" pitchFamily="34" charset="0"/>
              </a:rPr>
              <a:t>Bu kod </a:t>
            </a:r>
            <a:r>
              <a:rPr lang="en-US" altLang="en-US" sz="1300" b="1">
                <a:latin typeface="Arial" panose="020B0604020202020204" pitchFamily="34" charset="0"/>
              </a:rPr>
              <a:t>PayPal</a:t>
            </a:r>
            <a:r>
              <a:rPr lang="en-US" altLang="en-US" sz="1300">
                <a:latin typeface="Arial" panose="020B0604020202020204" pitchFamily="34" charset="0"/>
              </a:rPr>
              <a:t>-da yeni bir sifariş yaradır.</a:t>
            </a:r>
          </a:p>
          <a:p>
            <a:pPr marL="742950" lvl="1" indent="-285750">
              <a:lnSpc>
                <a:spcPct val="200000"/>
              </a:lnSpc>
              <a:buFont typeface="Arial" panose="020B0604020202020204" pitchFamily="34" charset="0"/>
              <a:buChar char="•"/>
            </a:pPr>
            <a:r>
              <a:rPr lang="en-US" altLang="en-US" sz="1300" b="1">
                <a:latin typeface="Arial" panose="020B0604020202020204" pitchFamily="34" charset="0"/>
              </a:rPr>
              <a:t>intent: CAPTURE </a:t>
            </a:r>
            <a:r>
              <a:rPr lang="en-US" altLang="en-US" sz="1300">
                <a:latin typeface="Arial" panose="020B0604020202020204" pitchFamily="34" charset="0"/>
              </a:rPr>
              <a:t>→ Ödəniş tamamlandıqda avtomatik olaraq pulu almaq üçün.</a:t>
            </a:r>
          </a:p>
          <a:p>
            <a:pPr marL="742950" lvl="1" indent="-285750">
              <a:lnSpc>
                <a:spcPct val="200000"/>
              </a:lnSpc>
              <a:buFont typeface="Arial" panose="020B0604020202020204" pitchFamily="34" charset="0"/>
              <a:buChar char="•"/>
            </a:pPr>
            <a:r>
              <a:rPr lang="en-US" altLang="en-US" sz="1300" b="1">
                <a:latin typeface="Arial" panose="020B0604020202020204" pitchFamily="34" charset="0"/>
              </a:rPr>
              <a:t>return_url </a:t>
            </a:r>
            <a:r>
              <a:rPr lang="en-US" altLang="en-US" sz="1300">
                <a:latin typeface="Arial" panose="020B0604020202020204" pitchFamily="34" charset="0"/>
              </a:rPr>
              <a:t>→ İstifadəçi uğurla ödəniş edəndə yönləndiriləcək.</a:t>
            </a:r>
          </a:p>
          <a:p>
            <a:pPr marL="742950" lvl="1" indent="-285750">
              <a:lnSpc>
                <a:spcPct val="200000"/>
              </a:lnSpc>
              <a:buFont typeface="Arial" panose="020B0604020202020204" pitchFamily="34" charset="0"/>
              <a:buChar char="•"/>
            </a:pPr>
            <a:r>
              <a:rPr lang="en-US" altLang="en-US" sz="1300" b="1">
                <a:latin typeface="Arial" panose="020B0604020202020204" pitchFamily="34" charset="0"/>
              </a:rPr>
              <a:t>cancel_url </a:t>
            </a:r>
            <a:r>
              <a:rPr lang="en-US" altLang="en-US" sz="1300">
                <a:latin typeface="Arial" panose="020B0604020202020204" pitchFamily="34" charset="0"/>
              </a:rPr>
              <a:t>→ İstifadəçi ödənişdən imtina edəndə yönləndiriləcək.</a:t>
            </a:r>
          </a:p>
          <a:p>
            <a:pPr marL="742950" lvl="1" indent="-285750">
              <a:lnSpc>
                <a:spcPct val="200000"/>
              </a:lnSpc>
              <a:buFont typeface="Arial" panose="020B0604020202020204" pitchFamily="34" charset="0"/>
              <a:buChar char="•"/>
            </a:pPr>
            <a:r>
              <a:rPr lang="en-US" altLang="en-US" sz="1300" b="1">
                <a:latin typeface="Arial" panose="020B0604020202020204" pitchFamily="34" charset="0"/>
              </a:rPr>
              <a:t>amount</a:t>
            </a:r>
            <a:r>
              <a:rPr lang="en-US" altLang="en-US" sz="1300">
                <a:latin typeface="Arial" panose="020B0604020202020204" pitchFamily="34" charset="0"/>
              </a:rPr>
              <a:t> → Ödəniləcək məbləğ (gəlir form-dan).</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"Bu hissədə PayPal-a deyirik: 'Mən bu adamdan 40 dollar almaq istəyirəm. Əgər razı olsa, </a:t>
            </a:r>
            <a:r>
              <a:rPr lang="az-Latn-AZ" altLang="en-US" sz="1300">
                <a:latin typeface="Arial" panose="020B0604020202020204" pitchFamily="34" charset="0"/>
              </a:rPr>
              <a:t>onu </a:t>
            </a:r>
            <a:r>
              <a:rPr lang="en-US" altLang="en-US" sz="1300">
                <a:latin typeface="Arial" panose="020B0604020202020204" pitchFamily="34" charset="0"/>
              </a:rPr>
              <a:t>bu </a:t>
            </a:r>
            <a:endParaRPr lang="az-Latn-AZ" altLang="en-US" sz="1300">
              <a:latin typeface="Arial" panose="020B0604020202020204" pitchFamily="34" charset="0"/>
            </a:endParaRPr>
          </a:p>
          <a:p>
            <a:pPr>
              <a:lnSpc>
                <a:spcPct val="150000"/>
              </a:lnSpc>
              <a:buNone/>
            </a:pPr>
            <a:r>
              <a:rPr lang="en-US" altLang="en-US" sz="1300">
                <a:latin typeface="Arial" panose="020B0604020202020204" pitchFamily="34" charset="0"/>
              </a:rPr>
              <a:t>ünvana qaytar; yox deyərsə, bu ünvana.’"</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br>
              <a:rPr kumimoji="0" lang="az-Latn-AZ" altLang="en-US" sz="1300" b="0" i="0" u="none" strike="noStrike" cap="none" normalizeH="0" baseline="0">
                <a:ln>
                  <a:noFill/>
                </a:ln>
                <a:solidFill>
                  <a:schemeClr val="tx1"/>
                </a:solidFill>
                <a:effectLst/>
                <a:latin typeface="Arial" panose="020B0604020202020204" pitchFamily="34" charset="0"/>
              </a:rPr>
            </a:br>
            <a:br>
              <a:rPr kumimoji="0" lang="az-Latn-AZ" altLang="en-US" sz="1300" b="0" i="0" u="none" strike="noStrike" cap="none" normalizeH="0" baseline="0">
                <a:ln>
                  <a:noFill/>
                </a:ln>
                <a:solidFill>
                  <a:schemeClr val="tx1"/>
                </a:solidFill>
                <a:effectLst/>
                <a:latin typeface="Arial" panose="020B0604020202020204" pitchFamily="34" charset="0"/>
              </a:rPr>
            </a:br>
            <a:br>
              <a:rPr kumimoji="0" lang="az-Latn-AZ" altLang="en-US" sz="1300" b="0" i="0" u="none" strike="noStrike" cap="none" normalizeH="0" baseline="0">
                <a:ln>
                  <a:noFill/>
                </a:ln>
                <a:solidFill>
                  <a:schemeClr val="tx1"/>
                </a:solidFill>
                <a:effectLst/>
                <a:latin typeface="Arial" panose="020B0604020202020204" pitchFamily="34" charset="0"/>
              </a:rPr>
            </a:br>
            <a:r>
              <a:rPr kumimoji="0" lang="az-Latn-AZ" altLang="en-US" sz="1300" b="0" i="0" u="none" strike="noStrike" cap="none" normalizeH="0" baseline="0">
                <a:ln>
                  <a:noFill/>
                </a:ln>
                <a:solidFill>
                  <a:schemeClr val="tx1"/>
                </a:solidFill>
                <a:effectLst/>
                <a:latin typeface="Arial" panose="020B0604020202020204" pitchFamily="34" charset="0"/>
              </a:rPr>
              <a:t>Ardı növbəti slaydda....</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F53328E5-4FF7-3B72-8E8D-8518F62ED593}"/>
              </a:ext>
            </a:extLst>
          </p:cNvPr>
          <p:cNvPicPr>
            <a:picLocks noChangeAspect="1"/>
          </p:cNvPicPr>
          <p:nvPr/>
        </p:nvPicPr>
        <p:blipFill>
          <a:blip r:embed="rId2"/>
          <a:stretch>
            <a:fillRect/>
          </a:stretch>
        </p:blipFill>
        <p:spPr>
          <a:xfrm>
            <a:off x="8457679" y="0"/>
            <a:ext cx="3734321" cy="3600953"/>
          </a:xfrm>
          <a:prstGeom prst="rect">
            <a:avLst/>
          </a:prstGeom>
        </p:spPr>
      </p:pic>
    </p:spTree>
    <p:extLst>
      <p:ext uri="{BB962C8B-B14F-4D97-AF65-F5344CB8AC3E}">
        <p14:creationId xmlns:p14="http://schemas.microsoft.com/office/powerpoint/2010/main" val="950095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27FBE-D35F-324C-C433-35E609CA59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DF3F5BB-546C-0969-A5CC-08271F0EB4BF}"/>
              </a:ext>
            </a:extLst>
          </p:cNvPr>
          <p:cNvSpPr txBox="1"/>
          <p:nvPr/>
        </p:nvSpPr>
        <p:spPr>
          <a:xfrm>
            <a:off x="217714" y="255046"/>
            <a:ext cx="11756571" cy="1555682"/>
          </a:xfrm>
          <a:prstGeom prst="rect">
            <a:avLst/>
          </a:prstGeom>
          <a:noFill/>
        </p:spPr>
        <p:txBody>
          <a:bodyPr wrap="square">
            <a:spAutoFit/>
          </a:bodyPr>
          <a:lstStyle/>
          <a:p>
            <a:pPr>
              <a:lnSpc>
                <a:spcPct val="150000"/>
              </a:lnSpc>
              <a:buNone/>
            </a:pPr>
            <a:r>
              <a:rPr lang="en-US" altLang="en-US" sz="1300" b="1">
                <a:latin typeface="Arial" panose="020B0604020202020204" pitchFamily="34" charset="0"/>
              </a:rPr>
              <a:t>dd()</a:t>
            </a:r>
            <a:r>
              <a:rPr lang="en-US" altLang="en-US" sz="1300">
                <a:latin typeface="Arial" panose="020B0604020202020204" pitchFamily="34" charset="0"/>
              </a:rPr>
              <a:t> metodu ilə cavabı (</a:t>
            </a:r>
            <a:r>
              <a:rPr lang="az-Latn-AZ" altLang="en-US" sz="1300">
                <a:latin typeface="Arial" panose="020B0604020202020204" pitchFamily="34" charset="0"/>
              </a:rPr>
              <a:t>  </a:t>
            </a:r>
            <a:r>
              <a:rPr lang="en-US" altLang="en-US" sz="1300">
                <a:latin typeface="Arial" panose="020B0604020202020204" pitchFamily="34" charset="0"/>
              </a:rPr>
              <a:t>PayPal serverindən gələn məlumatı</a:t>
            </a:r>
            <a:r>
              <a:rPr lang="az-Latn-AZ" altLang="en-US" sz="1300">
                <a:latin typeface="Arial" panose="020B0604020202020204" pitchFamily="34" charset="0"/>
              </a:rPr>
              <a:t>  </a:t>
            </a:r>
            <a:r>
              <a:rPr lang="en-US" altLang="en-US" sz="1300">
                <a:latin typeface="Arial" panose="020B0604020202020204" pitchFamily="34" charset="0"/>
              </a:rPr>
              <a:t>) ekrana çıxarırıq.</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r>
              <a:rPr lang="en-US" altLang="en-US" sz="1300">
                <a:latin typeface="Arial" panose="020B0604020202020204" pitchFamily="34" charset="0"/>
              </a:rPr>
              <a:t>Nəticədə gələn məlumat bu formadadır:</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E47440C4-C119-8E60-33C8-BDF860B64A3D}"/>
              </a:ext>
            </a:extLst>
          </p:cNvPr>
          <p:cNvPicPr>
            <a:picLocks noChangeAspect="1"/>
          </p:cNvPicPr>
          <p:nvPr/>
        </p:nvPicPr>
        <p:blipFill>
          <a:blip r:embed="rId2"/>
          <a:stretch>
            <a:fillRect/>
          </a:stretch>
        </p:blipFill>
        <p:spPr>
          <a:xfrm>
            <a:off x="217714" y="753300"/>
            <a:ext cx="1514686" cy="457264"/>
          </a:xfrm>
          <a:prstGeom prst="rect">
            <a:avLst/>
          </a:prstGeom>
        </p:spPr>
      </p:pic>
      <p:pic>
        <p:nvPicPr>
          <p:cNvPr id="6" name="Picture 5">
            <a:extLst>
              <a:ext uri="{FF2B5EF4-FFF2-40B4-BE49-F238E27FC236}">
                <a16:creationId xmlns:a16="http://schemas.microsoft.com/office/drawing/2014/main" id="{A0B0035A-1FAB-613A-69D1-4C65EDAD9052}"/>
              </a:ext>
            </a:extLst>
          </p:cNvPr>
          <p:cNvPicPr>
            <a:picLocks noChangeAspect="1"/>
          </p:cNvPicPr>
          <p:nvPr/>
        </p:nvPicPr>
        <p:blipFill>
          <a:blip r:embed="rId3"/>
          <a:stretch>
            <a:fillRect/>
          </a:stretch>
        </p:blipFill>
        <p:spPr>
          <a:xfrm>
            <a:off x="217714" y="2077503"/>
            <a:ext cx="6325483" cy="4401164"/>
          </a:xfrm>
          <a:prstGeom prst="rect">
            <a:avLst/>
          </a:prstGeom>
        </p:spPr>
      </p:pic>
    </p:spTree>
    <p:extLst>
      <p:ext uri="{BB962C8B-B14F-4D97-AF65-F5344CB8AC3E}">
        <p14:creationId xmlns:p14="http://schemas.microsoft.com/office/powerpoint/2010/main" val="532772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B7244-3C5D-017B-9308-A6D7E89DDE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1D408B-1C09-7E90-FA28-70C0C8FF7785}"/>
              </a:ext>
            </a:extLst>
          </p:cNvPr>
          <p:cNvSpPr txBox="1"/>
          <p:nvPr/>
        </p:nvSpPr>
        <p:spPr>
          <a:xfrm>
            <a:off x="217714" y="255046"/>
            <a:ext cx="11756571" cy="5756832"/>
          </a:xfrm>
          <a:prstGeom prst="rect">
            <a:avLst/>
          </a:prstGeom>
          <a:noFill/>
        </p:spPr>
        <p:txBody>
          <a:bodyPr wrap="square">
            <a:spAutoFit/>
          </a:bodyPr>
          <a:lstStyle/>
          <a:p>
            <a:pPr>
              <a:lnSpc>
                <a:spcPct val="150000"/>
              </a:lnSpc>
              <a:buNone/>
            </a:pPr>
            <a:r>
              <a:rPr lang="en-US" altLang="en-US" sz="1300">
                <a:latin typeface="Arial" panose="020B0604020202020204" pitchFamily="34" charset="0"/>
              </a:rPr>
              <a:t>Bu linkə istifadəçini yönləndirmək lazımdır ki, </a:t>
            </a:r>
            <a:r>
              <a:rPr lang="en-US" altLang="en-US" sz="1300" b="1">
                <a:latin typeface="Arial" panose="020B0604020202020204" pitchFamily="34" charset="0"/>
              </a:rPr>
              <a:t>PayPal</a:t>
            </a:r>
            <a:r>
              <a:rPr lang="en-US" altLang="en-US" sz="1300">
                <a:latin typeface="Arial" panose="020B0604020202020204" pitchFamily="34" charset="0"/>
              </a:rPr>
              <a:t> saytında </a:t>
            </a:r>
            <a:endParaRPr lang="az-Latn-AZ" altLang="en-US" sz="1300">
              <a:latin typeface="Arial" panose="020B0604020202020204" pitchFamily="34" charset="0"/>
            </a:endParaRPr>
          </a:p>
          <a:p>
            <a:pPr>
              <a:lnSpc>
                <a:spcPct val="150000"/>
              </a:lnSpc>
              <a:buNone/>
            </a:pPr>
            <a:r>
              <a:rPr lang="en-US" altLang="en-US" sz="1300">
                <a:latin typeface="Arial" panose="020B0604020202020204" pitchFamily="34" charset="0"/>
              </a:rPr>
              <a:t>ödənişi təsdiqləsin.</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az-Latn-AZ" altLang="en-US" sz="1300">
                <a:latin typeface="Arial" panose="020B0604020202020204" pitchFamily="34" charset="0"/>
              </a:rPr>
              <a:t>İndi controller -dəki </a:t>
            </a:r>
            <a:r>
              <a:rPr lang="az-Latn-AZ" altLang="en-US" sz="1300" b="1">
                <a:latin typeface="Arial" panose="020B0604020202020204" pitchFamily="34" charset="0"/>
              </a:rPr>
              <a:t>payment() </a:t>
            </a:r>
            <a:r>
              <a:rPr lang="az-Latn-AZ" altLang="en-US" sz="1300">
                <a:latin typeface="Arial" panose="020B0604020202020204" pitchFamily="34" charset="0"/>
              </a:rPr>
              <a:t>funksiyasının ardını yazmağa keçmədən əvvəl növbəti slaydda, sandbox hesabımıza giriş edək. </a:t>
            </a: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az-Latn-AZ" altLang="en-US" sz="1300">
                <a:latin typeface="Arial" panose="020B0604020202020204" pitchFamily="34" charset="0"/>
              </a:rPr>
              <a:t>Çünki kodu tamamladıqdan sonra `</a:t>
            </a:r>
            <a:r>
              <a:rPr lang="az-Latn-AZ" altLang="en-US" sz="1300" b="1">
                <a:latin typeface="Arial" panose="020B0604020202020204" pitchFamily="34" charset="0"/>
              </a:rPr>
              <a:t>Buy </a:t>
            </a:r>
            <a:r>
              <a:rPr lang="en-US" altLang="en-US" sz="1300" b="1">
                <a:latin typeface="Arial" panose="020B0604020202020204" pitchFamily="34" charset="0"/>
              </a:rPr>
              <a:t>now</a:t>
            </a:r>
            <a:r>
              <a:rPr lang="az-Latn-AZ" altLang="en-US" sz="1300">
                <a:latin typeface="Arial" panose="020B0604020202020204" pitchFamily="34" charset="0"/>
              </a:rPr>
              <a:t>`</a:t>
            </a:r>
            <a:r>
              <a:rPr lang="en-US" altLang="en-US" sz="1300">
                <a:latin typeface="Arial" panose="020B0604020202020204" pitchFamily="34" charset="0"/>
              </a:rPr>
              <a:t> </a:t>
            </a:r>
            <a:r>
              <a:rPr lang="az-Latn-AZ" altLang="en-US" sz="1300">
                <a:latin typeface="Arial" panose="020B0604020202020204" pitchFamily="34" charset="0"/>
              </a:rPr>
              <a:t>düyməsini kliklədiyimiz zaman, bu kod vasitəsi ilə alıcı kimi yönlənəcəyik </a:t>
            </a:r>
            <a:r>
              <a:rPr lang="az-Latn-AZ" altLang="en-US" sz="1300" b="1">
                <a:latin typeface="Arial" panose="020B0604020202020204" pitchFamily="34" charset="0"/>
              </a:rPr>
              <a:t>sandbox test mühitinə </a:t>
            </a:r>
            <a:r>
              <a:rPr lang="az-Latn-AZ" altLang="en-US" sz="1300">
                <a:latin typeface="Arial" panose="020B0604020202020204" pitchFamily="34" charset="0"/>
              </a:rPr>
              <a:t>və guya məhsulu alan bir alıcı imişik kimi hesabımızdan </a:t>
            </a:r>
            <a:r>
              <a:rPr lang="az-Latn-AZ" altLang="en-US" sz="1300" b="1">
                <a:latin typeface="Arial" panose="020B0604020202020204" pitchFamily="34" charset="0"/>
              </a:rPr>
              <a:t>40 dollar </a:t>
            </a:r>
            <a:r>
              <a:rPr lang="az-Latn-AZ" altLang="en-US" sz="1300">
                <a:latin typeface="Arial" panose="020B0604020202020204" pitchFamily="34" charset="0"/>
              </a:rPr>
              <a:t>silinəcək.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B229BF28-A51C-12B6-A114-285B8572C9D5}"/>
              </a:ext>
            </a:extLst>
          </p:cNvPr>
          <p:cNvPicPr>
            <a:picLocks noChangeAspect="1"/>
          </p:cNvPicPr>
          <p:nvPr/>
        </p:nvPicPr>
        <p:blipFill>
          <a:blip r:embed="rId2"/>
          <a:stretch>
            <a:fillRect/>
          </a:stretch>
        </p:blipFill>
        <p:spPr>
          <a:xfrm>
            <a:off x="5695043" y="0"/>
            <a:ext cx="6496957" cy="2467319"/>
          </a:xfrm>
          <a:prstGeom prst="rect">
            <a:avLst/>
          </a:prstGeom>
        </p:spPr>
      </p:pic>
      <p:pic>
        <p:nvPicPr>
          <p:cNvPr id="6" name="Picture 5">
            <a:extLst>
              <a:ext uri="{FF2B5EF4-FFF2-40B4-BE49-F238E27FC236}">
                <a16:creationId xmlns:a16="http://schemas.microsoft.com/office/drawing/2014/main" id="{7ECF776B-830A-A2CE-B7AA-31083F5CBD1E}"/>
              </a:ext>
            </a:extLst>
          </p:cNvPr>
          <p:cNvPicPr>
            <a:picLocks noChangeAspect="1"/>
          </p:cNvPicPr>
          <p:nvPr/>
        </p:nvPicPr>
        <p:blipFill>
          <a:blip r:embed="rId3"/>
          <a:stretch>
            <a:fillRect/>
          </a:stretch>
        </p:blipFill>
        <p:spPr>
          <a:xfrm>
            <a:off x="217714" y="1081553"/>
            <a:ext cx="2429214" cy="504895"/>
          </a:xfrm>
          <a:prstGeom prst="rect">
            <a:avLst/>
          </a:prstGeom>
        </p:spPr>
      </p:pic>
    </p:spTree>
    <p:extLst>
      <p:ext uri="{BB962C8B-B14F-4D97-AF65-F5344CB8AC3E}">
        <p14:creationId xmlns:p14="http://schemas.microsoft.com/office/powerpoint/2010/main" val="2253451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5D504-3A73-6535-3174-5E47F56937D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E30751-BDC4-4413-9DCA-1430E7F012A1}"/>
              </a:ext>
            </a:extLst>
          </p:cNvPr>
          <p:cNvSpPr txBox="1"/>
          <p:nvPr/>
        </p:nvSpPr>
        <p:spPr>
          <a:xfrm>
            <a:off x="267476" y="3425502"/>
            <a:ext cx="11924523" cy="655436"/>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Yuxarıdakı </a:t>
            </a:r>
            <a:r>
              <a:rPr lang="az-Latn-AZ" altLang="en-US" sz="1300" b="1">
                <a:latin typeface="Arial" panose="020B0604020202020204" pitchFamily="34" charset="0"/>
              </a:rPr>
              <a:t>Sandbox</a:t>
            </a:r>
            <a:r>
              <a:rPr lang="az-Latn-AZ" altLang="en-US" sz="1300">
                <a:latin typeface="Arial" panose="020B0604020202020204" pitchFamily="34" charset="0"/>
              </a:rPr>
              <a:t> yazısına klikləyərək aşağıdakı səhifəyə daxil oluruq. </a:t>
            </a:r>
            <a:r>
              <a:rPr lang="az-Latn-AZ" altLang="en-US" sz="1300" b="1">
                <a:latin typeface="Arial" panose="020B0604020202020204" pitchFamily="34" charset="0"/>
              </a:rPr>
              <a:t>Sandbox</a:t>
            </a:r>
            <a:r>
              <a:rPr lang="az-Latn-AZ" altLang="en-US" sz="1300">
                <a:latin typeface="Arial" panose="020B0604020202020204" pitchFamily="34" charset="0"/>
              </a:rPr>
              <a:t> saytının </a:t>
            </a:r>
            <a:r>
              <a:rPr lang="az-Latn-AZ" altLang="en-US" sz="1300" b="1" i="1">
                <a:latin typeface="Arial" panose="020B0604020202020204" pitchFamily="34" charset="0"/>
              </a:rPr>
              <a:t>linkini</a:t>
            </a:r>
            <a:r>
              <a:rPr lang="az-Latn-AZ" altLang="en-US" sz="1300">
                <a:latin typeface="Arial" panose="020B0604020202020204" pitchFamily="34" charset="0"/>
              </a:rPr>
              <a:t>, </a:t>
            </a:r>
            <a:r>
              <a:rPr lang="az-Latn-AZ" altLang="en-US" sz="1300" b="1" i="1">
                <a:latin typeface="Arial" panose="020B0604020202020204" pitchFamily="34" charset="0"/>
              </a:rPr>
              <a:t>personal gmaili </a:t>
            </a:r>
            <a:r>
              <a:rPr lang="az-Latn-AZ" altLang="en-US" sz="1300">
                <a:latin typeface="Arial" panose="020B0604020202020204" pitchFamily="34" charset="0"/>
              </a:rPr>
              <a:t>və </a:t>
            </a:r>
            <a:r>
              <a:rPr lang="az-Latn-AZ" altLang="en-US" sz="1300" b="1" i="1">
                <a:latin typeface="Arial" panose="020B0604020202020204" pitchFamily="34" charset="0"/>
              </a:rPr>
              <a:t>şifrəni</a:t>
            </a:r>
            <a:r>
              <a:rPr lang="az-Latn-AZ" altLang="en-US" sz="1300">
                <a:latin typeface="Arial" panose="020B0604020202020204" pitchFamily="34" charset="0"/>
              </a:rPr>
              <a:t> istifadə edərək hesaba daxil olmalıyıq. Bu sandbox hesabı “</a:t>
            </a:r>
            <a:r>
              <a:rPr lang="az-Latn-AZ" altLang="en-US" sz="1300" b="1">
                <a:latin typeface="Arial" panose="020B0604020202020204" pitchFamily="34" charset="0"/>
              </a:rPr>
              <a:t>Personal</a:t>
            </a:r>
            <a:r>
              <a:rPr lang="az-Latn-AZ" altLang="en-US" sz="1300">
                <a:latin typeface="Arial" panose="020B0604020202020204" pitchFamily="34" charset="0"/>
              </a:rPr>
              <a:t>” (alıcı) tipində test istifadəçisidir. Bu hesaba girib ödəniş zamanı alıcı kimi davranırsınız.</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1CB2D0B9-B934-C207-D79C-8E698B37ABEC}"/>
              </a:ext>
            </a:extLst>
          </p:cNvPr>
          <p:cNvPicPr>
            <a:picLocks noChangeAspect="1"/>
          </p:cNvPicPr>
          <p:nvPr/>
        </p:nvPicPr>
        <p:blipFill>
          <a:blip r:embed="rId2"/>
          <a:stretch>
            <a:fillRect/>
          </a:stretch>
        </p:blipFill>
        <p:spPr>
          <a:xfrm>
            <a:off x="-1" y="4234486"/>
            <a:ext cx="12192000" cy="26235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9A34993A-9EBB-6182-8C67-B45F6C86318D}"/>
              </a:ext>
            </a:extLst>
          </p:cNvPr>
          <p:cNvPicPr>
            <a:picLocks noChangeAspect="1"/>
          </p:cNvPicPr>
          <p:nvPr/>
        </p:nvPicPr>
        <p:blipFill>
          <a:blip r:embed="rId3"/>
          <a:stretch>
            <a:fillRect/>
          </a:stretch>
        </p:blipFill>
        <p:spPr>
          <a:xfrm>
            <a:off x="0" y="0"/>
            <a:ext cx="12192000" cy="32719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33313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9622A-E989-EAD1-13A2-330730F92F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A5B6F1B-FD0D-9D78-B3A2-CF263DC6A3A2}"/>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kumimoji="0" lang="az-Latn-AZ" altLang="en-US" sz="1300" b="0" i="0" u="none" strike="noStrike" cap="none" normalizeH="0" baseline="0">
                <a:ln>
                  <a:noFill/>
                </a:ln>
                <a:solidFill>
                  <a:schemeClr val="tx1"/>
                </a:solidFill>
                <a:effectLst/>
                <a:latin typeface="Arial" panose="020B0604020202020204" pitchFamily="34" charset="0"/>
              </a:rPr>
              <a:t>Hesabımız budur və guya hesabımızda </a:t>
            </a:r>
            <a:r>
              <a:rPr lang="az-Latn-AZ" altLang="en-US" sz="1300">
                <a:latin typeface="Arial" panose="020B0604020202020204" pitchFamily="34" charset="0"/>
              </a:rPr>
              <a:t>5000 dollar pul var. </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A1A02BFF-3864-F092-88AF-3FEAD2496299}"/>
              </a:ext>
            </a:extLst>
          </p:cNvPr>
          <p:cNvPicPr>
            <a:picLocks noChangeAspect="1"/>
          </p:cNvPicPr>
          <p:nvPr/>
        </p:nvPicPr>
        <p:blipFill>
          <a:blip r:embed="rId2"/>
          <a:stretch>
            <a:fillRect/>
          </a:stretch>
        </p:blipFill>
        <p:spPr>
          <a:xfrm>
            <a:off x="0" y="4140889"/>
            <a:ext cx="12192000" cy="27171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33453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A0ABC-5AA2-219B-B2E7-B7CB2846F7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557036-F01F-B58E-8C1A-1B26F84A00D1}"/>
              </a:ext>
            </a:extLst>
          </p:cNvPr>
          <p:cNvSpPr txBox="1"/>
          <p:nvPr/>
        </p:nvSpPr>
        <p:spPr>
          <a:xfrm>
            <a:off x="217715" y="217724"/>
            <a:ext cx="6183086" cy="6152133"/>
          </a:xfrm>
          <a:prstGeom prst="rect">
            <a:avLst/>
          </a:prstGeom>
          <a:noFill/>
        </p:spPr>
        <p:txBody>
          <a:bodyPr wrap="square">
            <a:spAutoFit/>
          </a:bodyPr>
          <a:lstStyle/>
          <a:p>
            <a:pPr>
              <a:lnSpc>
                <a:spcPct val="150000"/>
              </a:lnSpc>
              <a:buNone/>
            </a:pPr>
            <a:r>
              <a:rPr lang="az-Latn-AZ" altLang="en-US" sz="1200">
                <a:latin typeface="Arial" panose="020B0604020202020204" pitchFamily="34" charset="0"/>
              </a:rPr>
              <a:t>İndi kodu izah edək. Bir hissəsini izah etmişdik indi isə sadəcə yeni hissəni izah edək.</a:t>
            </a: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200" b="1">
                <a:latin typeface="Arial" panose="020B0604020202020204" pitchFamily="34" charset="0"/>
              </a:rPr>
              <a:t>Addım-addım izah</a:t>
            </a:r>
            <a:r>
              <a:rPr lang="en-US" altLang="en-US" sz="1200">
                <a:latin typeface="Arial" panose="020B0604020202020204" pitchFamily="34" charset="0"/>
              </a:rPr>
              <a:t>:</a:t>
            </a:r>
          </a:p>
          <a:p>
            <a:pPr marL="228600" indent="-228600">
              <a:lnSpc>
                <a:spcPct val="150000"/>
              </a:lnSpc>
              <a:buFont typeface="+mj-lt"/>
              <a:buAutoNum type="arabicPeriod"/>
            </a:pPr>
            <a:r>
              <a:rPr lang="en-US" altLang="en-US" sz="1200">
                <a:latin typeface="Arial" panose="020B0604020202020204" pitchFamily="34" charset="0"/>
              </a:rPr>
              <a:t>Sifariş uğurla yaradılıbsa (id mövcuddursa), növbəti mərhələyə keçilir.</a:t>
            </a:r>
          </a:p>
          <a:p>
            <a:pPr marL="228600" indent="-228600">
              <a:lnSpc>
                <a:spcPct val="150000"/>
              </a:lnSpc>
              <a:buFont typeface="+mj-lt"/>
              <a:buAutoNum type="arabicPeriod"/>
            </a:pPr>
            <a:r>
              <a:rPr lang="en-US" altLang="en-US" sz="1200" b="1">
                <a:latin typeface="Arial" panose="020B0604020202020204" pitchFamily="34" charset="0"/>
              </a:rPr>
              <a:t>$response['links'] </a:t>
            </a:r>
            <a:r>
              <a:rPr lang="en-US" altLang="en-US" sz="1200">
                <a:latin typeface="Arial" panose="020B0604020202020204" pitchFamily="34" charset="0"/>
              </a:rPr>
              <a:t>içində </a:t>
            </a:r>
            <a:r>
              <a:rPr lang="en-US" altLang="en-US" sz="1200" b="1">
                <a:latin typeface="Arial" panose="020B0604020202020204" pitchFamily="34" charset="0"/>
              </a:rPr>
              <a:t>approve</a:t>
            </a:r>
            <a:r>
              <a:rPr lang="en-US" altLang="en-US" sz="1200">
                <a:latin typeface="Arial" panose="020B0604020202020204" pitchFamily="34" charset="0"/>
              </a:rPr>
              <a:t> link axtarılır:</a:t>
            </a:r>
            <a:r>
              <a:rPr lang="az-Latn-AZ" altLang="en-US" sz="1200">
                <a:latin typeface="Arial" panose="020B0604020202020204" pitchFamily="34" charset="0"/>
              </a:rPr>
              <a:t> Bu link PayPal-ın, istifadəçini yönləndirəcəyi </a:t>
            </a:r>
            <a:r>
              <a:rPr lang="az-Latn-AZ" altLang="en-US" sz="1200" b="1">
                <a:latin typeface="Arial" panose="020B0604020202020204" pitchFamily="34" charset="0"/>
              </a:rPr>
              <a:t>checkout</a:t>
            </a:r>
            <a:r>
              <a:rPr lang="az-Latn-AZ" altLang="en-US" sz="1200">
                <a:latin typeface="Arial" panose="020B0604020202020204" pitchFamily="34" charset="0"/>
              </a:rPr>
              <a:t> səhifəsidir – istifadəçi ödənişi orada təsdiqləyir.</a:t>
            </a: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200">
                <a:latin typeface="Arial" panose="020B0604020202020204" pitchFamily="34" charset="0"/>
              </a:rPr>
              <a:t>İstifadəçi bu linkə yönləndirilir:</a:t>
            </a:r>
            <a:endParaRPr lang="az-Latn-AZ" altLang="en-US" sz="1200">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r>
              <a:rPr lang="en-US" altLang="en-US" sz="1200">
                <a:latin typeface="Arial" panose="020B0604020202020204" pitchFamily="34" charset="0"/>
              </a:rPr>
              <a:t>Əgər sifariş yaradılmasa və ya </a:t>
            </a:r>
            <a:r>
              <a:rPr lang="en-US" altLang="en-US" sz="1200" b="1">
                <a:latin typeface="Arial" panose="020B0604020202020204" pitchFamily="34" charset="0"/>
              </a:rPr>
              <a:t>id</a:t>
            </a:r>
            <a:r>
              <a:rPr lang="en-US" altLang="en-US" sz="1200">
                <a:latin typeface="Arial" panose="020B0604020202020204" pitchFamily="34" charset="0"/>
              </a:rPr>
              <a:t> tapılmazsa</a:t>
            </a:r>
            <a:r>
              <a:rPr lang="az-Latn-AZ" altLang="en-US" sz="1200">
                <a:latin typeface="Arial" panose="020B0604020202020204" pitchFamily="34" charset="0"/>
              </a:rPr>
              <a:t> onda `</a:t>
            </a:r>
            <a:r>
              <a:rPr lang="az-Latn-AZ" altLang="en-US" sz="1200" b="1">
                <a:latin typeface="Arial" panose="020B0604020202020204" pitchFamily="34" charset="0"/>
              </a:rPr>
              <a:t>paypal.cancel</a:t>
            </a:r>
            <a:r>
              <a:rPr lang="az-Latn-AZ" altLang="en-US" sz="1200">
                <a:latin typeface="Arial" panose="020B0604020202020204" pitchFamily="34" charset="0"/>
              </a:rPr>
              <a:t>` linkinə yönləndirilir</a:t>
            </a:r>
            <a:r>
              <a:rPr lang="en-US" altLang="en-US" sz="1200">
                <a:latin typeface="Arial" panose="020B0604020202020204" pitchFamily="34" charset="0"/>
              </a:rPr>
              <a:t>:</a:t>
            </a:r>
            <a:endParaRPr kumimoji="0" lang="en-US" altLang="en-US" sz="12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2F3E6DC2-A19E-8E04-0958-68C880BFC717}"/>
              </a:ext>
            </a:extLst>
          </p:cNvPr>
          <p:cNvPicPr>
            <a:picLocks noChangeAspect="1"/>
          </p:cNvPicPr>
          <p:nvPr/>
        </p:nvPicPr>
        <p:blipFill>
          <a:blip r:embed="rId2"/>
          <a:stretch>
            <a:fillRect/>
          </a:stretch>
        </p:blipFill>
        <p:spPr>
          <a:xfrm>
            <a:off x="217715" y="720255"/>
            <a:ext cx="4210638" cy="2095792"/>
          </a:xfrm>
          <a:prstGeom prst="rect">
            <a:avLst/>
          </a:prstGeom>
        </p:spPr>
      </p:pic>
      <p:pic>
        <p:nvPicPr>
          <p:cNvPr id="8" name="Picture 7">
            <a:extLst>
              <a:ext uri="{FF2B5EF4-FFF2-40B4-BE49-F238E27FC236}">
                <a16:creationId xmlns:a16="http://schemas.microsoft.com/office/drawing/2014/main" id="{59FC6FE1-D766-7078-025D-D663AAAA8B41}"/>
              </a:ext>
            </a:extLst>
          </p:cNvPr>
          <p:cNvPicPr>
            <a:picLocks noChangeAspect="1"/>
          </p:cNvPicPr>
          <p:nvPr/>
        </p:nvPicPr>
        <p:blipFill>
          <a:blip r:embed="rId3"/>
          <a:stretch>
            <a:fillRect/>
          </a:stretch>
        </p:blipFill>
        <p:spPr>
          <a:xfrm>
            <a:off x="217715" y="4397662"/>
            <a:ext cx="2495898" cy="390580"/>
          </a:xfrm>
          <a:prstGeom prst="rect">
            <a:avLst/>
          </a:prstGeom>
        </p:spPr>
      </p:pic>
      <p:pic>
        <p:nvPicPr>
          <p:cNvPr id="10" name="Picture 9">
            <a:extLst>
              <a:ext uri="{FF2B5EF4-FFF2-40B4-BE49-F238E27FC236}">
                <a16:creationId xmlns:a16="http://schemas.microsoft.com/office/drawing/2014/main" id="{AC99C2C4-0BC4-00F8-F137-F933A87BBE5C}"/>
              </a:ext>
            </a:extLst>
          </p:cNvPr>
          <p:cNvPicPr>
            <a:picLocks noChangeAspect="1"/>
          </p:cNvPicPr>
          <p:nvPr/>
        </p:nvPicPr>
        <p:blipFill>
          <a:blip r:embed="rId4"/>
          <a:stretch>
            <a:fillRect/>
          </a:stretch>
        </p:blipFill>
        <p:spPr>
          <a:xfrm>
            <a:off x="217715" y="5498619"/>
            <a:ext cx="3296110" cy="352474"/>
          </a:xfrm>
          <a:prstGeom prst="rect">
            <a:avLst/>
          </a:prstGeom>
        </p:spPr>
      </p:pic>
      <p:pic>
        <p:nvPicPr>
          <p:cNvPr id="12" name="Picture 11">
            <a:extLst>
              <a:ext uri="{FF2B5EF4-FFF2-40B4-BE49-F238E27FC236}">
                <a16:creationId xmlns:a16="http://schemas.microsoft.com/office/drawing/2014/main" id="{819B7ED1-38B6-9E66-C70D-4BAB0AD747EC}"/>
              </a:ext>
            </a:extLst>
          </p:cNvPr>
          <p:cNvPicPr>
            <a:picLocks noChangeAspect="1"/>
          </p:cNvPicPr>
          <p:nvPr/>
        </p:nvPicPr>
        <p:blipFill>
          <a:blip r:embed="rId5"/>
          <a:stretch>
            <a:fillRect/>
          </a:stretch>
        </p:blipFill>
        <p:spPr>
          <a:xfrm>
            <a:off x="217715" y="6318539"/>
            <a:ext cx="3372321" cy="333422"/>
          </a:xfrm>
          <a:prstGeom prst="rect">
            <a:avLst/>
          </a:prstGeom>
        </p:spPr>
      </p:pic>
      <p:pic>
        <p:nvPicPr>
          <p:cNvPr id="14" name="Picture 13">
            <a:extLst>
              <a:ext uri="{FF2B5EF4-FFF2-40B4-BE49-F238E27FC236}">
                <a16:creationId xmlns:a16="http://schemas.microsoft.com/office/drawing/2014/main" id="{5AA98D95-608C-A164-5E50-198B387FF8D1}"/>
              </a:ext>
            </a:extLst>
          </p:cNvPr>
          <p:cNvPicPr>
            <a:picLocks noChangeAspect="1"/>
          </p:cNvPicPr>
          <p:nvPr/>
        </p:nvPicPr>
        <p:blipFill>
          <a:blip r:embed="rId6"/>
          <a:stretch>
            <a:fillRect/>
          </a:stretch>
        </p:blipFill>
        <p:spPr>
          <a:xfrm>
            <a:off x="6715408" y="0"/>
            <a:ext cx="5476592" cy="6858000"/>
          </a:xfrm>
          <a:prstGeom prst="rect">
            <a:avLst/>
          </a:prstGeom>
        </p:spPr>
      </p:pic>
    </p:spTree>
    <p:extLst>
      <p:ext uri="{BB962C8B-B14F-4D97-AF65-F5344CB8AC3E}">
        <p14:creationId xmlns:p14="http://schemas.microsoft.com/office/powerpoint/2010/main" val="1496634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AB377-EDF5-61B2-529F-8F31679D79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4A41C7-30E1-312C-75EB-DF4FD848355D}"/>
              </a:ext>
            </a:extLst>
          </p:cNvPr>
          <p:cNvSpPr txBox="1"/>
          <p:nvPr/>
        </p:nvSpPr>
        <p:spPr>
          <a:xfrm>
            <a:off x="217714" y="255046"/>
            <a:ext cx="11756571" cy="4556504"/>
          </a:xfrm>
          <a:prstGeom prst="rect">
            <a:avLst/>
          </a:prstGeom>
          <a:noFill/>
        </p:spPr>
        <p:txBody>
          <a:bodyPr wrap="square">
            <a:spAutoFit/>
          </a:bodyPr>
          <a:lstStyle/>
          <a:p>
            <a:pPr>
              <a:lnSpc>
                <a:spcPct val="150000"/>
              </a:lnSpc>
              <a:buNone/>
            </a:pPr>
            <a:r>
              <a:rPr lang="en-US" altLang="en-US" sz="1300">
                <a:latin typeface="Arial" panose="020B0604020202020204" pitchFamily="34" charset="0"/>
              </a:rPr>
              <a:t>"Əgər PayPal sifarişi uğurla yaratdısa, </a:t>
            </a:r>
            <a:r>
              <a:rPr lang="en-US" altLang="en-US" sz="1300" b="1">
                <a:solidFill>
                  <a:srgbClr val="0070C0"/>
                </a:solidFill>
                <a:latin typeface="Arial" panose="020B0604020202020204" pitchFamily="34" charset="0"/>
              </a:rPr>
              <a:t>istifadəçini</a:t>
            </a:r>
            <a:r>
              <a:rPr lang="en-US" altLang="en-US" sz="1300">
                <a:latin typeface="Arial" panose="020B0604020202020204" pitchFamily="34" charset="0"/>
              </a:rPr>
              <a:t> təsdiqləmə səhifəsinə yönləndiririk. Əgər nəsə səhv gedibsə, ləğv səhifəsinə qaytarırıq.“ </a:t>
            </a: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b="1">
                <a:latin typeface="Arial" panose="020B0604020202020204" pitchFamily="34" charset="0"/>
              </a:rPr>
              <a:t>NOT</a:t>
            </a:r>
            <a:r>
              <a:rPr lang="en-US" altLang="en-US" sz="1300">
                <a:latin typeface="Arial" panose="020B0604020202020204" pitchFamily="34" charset="0"/>
              </a:rPr>
              <a:t>: </a:t>
            </a:r>
            <a:r>
              <a:rPr lang="az-Latn-AZ" altLang="en-US" sz="1300">
                <a:latin typeface="Arial" panose="020B0604020202020204" pitchFamily="34" charset="0"/>
              </a:rPr>
              <a:t>T</a:t>
            </a:r>
            <a:r>
              <a:rPr lang="en-US" altLang="en-US" sz="1300">
                <a:latin typeface="Arial" panose="020B0604020202020204" pitchFamily="34" charset="0"/>
              </a:rPr>
              <a:t>əsdiqləmə səhifəsi</a:t>
            </a:r>
            <a:r>
              <a:rPr lang="az-Latn-AZ" altLang="en-US" sz="1300">
                <a:latin typeface="Arial" panose="020B0604020202020204" pitchFamily="34" charset="0"/>
              </a:rPr>
              <a:t> aşağıdakı kimi görünür ancaq saniyələr içində sistem bizi çölə atacaq çünki, PayPal Sandbox Business hesabımız "AZ" regionundadır, Personal hesabımız da "AZ" göstərir. Bəzi sandbox ölkələri (o cümlədən bəzi AZ test regionları) PayPal-ın tam dəstəklədiyi ödəniş axınlarını dəstəkləmir.</a:t>
            </a:r>
            <a:r>
              <a:rPr lang="en-US" altLang="en-US" sz="1300">
                <a:latin typeface="Arial" panose="020B0604020202020204" pitchFamily="34" charset="0"/>
              </a:rPr>
              <a:t> </a:t>
            </a:r>
            <a:r>
              <a:rPr lang="en-US" altLang="en-US" sz="1300" b="1">
                <a:solidFill>
                  <a:srgbClr val="7030A0"/>
                </a:solidFill>
                <a:latin typeface="Arial" panose="020B0604020202020204" pitchFamily="34" charset="0"/>
              </a:rPr>
              <a:t>Yaxud ba</a:t>
            </a:r>
            <a:r>
              <a:rPr lang="az-Latn-AZ" altLang="en-US" sz="1300" b="1">
                <a:solidFill>
                  <a:srgbClr val="7030A0"/>
                </a:solidFill>
                <a:latin typeface="Arial" panose="020B0604020202020204" pitchFamily="34" charset="0"/>
              </a:rPr>
              <a:t>şqa səbəbdə ola bilər</a:t>
            </a:r>
            <a:r>
              <a:rPr lang="az-Latn-AZ" altLang="en-US" sz="1300">
                <a:latin typeface="Arial" panose="020B0604020202020204" pitchFamily="34" charset="0"/>
              </a:rPr>
              <a:t>. Bizdəki problem sırf REGİON ilə əlaqəlidir.</a:t>
            </a: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az-Latn-AZ" altLang="en-US" sz="1300">
                <a:latin typeface="Arial" panose="020B0604020202020204" pitchFamily="34" charset="0"/>
              </a:rPr>
              <a:t>Bu səhifə saniyələr içində atır və növbəti slaydda olan alert mesajını görəcəyik....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71F90E09-FF59-0A4D-C919-15A9E26A04F2}"/>
              </a:ext>
            </a:extLst>
          </p:cNvPr>
          <p:cNvPicPr>
            <a:picLocks noChangeAspect="1"/>
          </p:cNvPicPr>
          <p:nvPr/>
        </p:nvPicPr>
        <p:blipFill>
          <a:blip r:embed="rId2"/>
          <a:srcRect b="48028"/>
          <a:stretch>
            <a:fillRect/>
          </a:stretch>
        </p:blipFill>
        <p:spPr>
          <a:xfrm>
            <a:off x="-1" y="1976736"/>
            <a:ext cx="12192000" cy="18325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95750B1C-1DDD-1173-20E2-B1DCAA683B3A}"/>
              </a:ext>
            </a:extLst>
          </p:cNvPr>
          <p:cNvPicPr>
            <a:picLocks noChangeAspect="1"/>
          </p:cNvPicPr>
          <p:nvPr/>
        </p:nvPicPr>
        <p:blipFill>
          <a:blip r:embed="rId3"/>
          <a:stretch>
            <a:fillRect/>
          </a:stretch>
        </p:blipFill>
        <p:spPr>
          <a:xfrm>
            <a:off x="-1" y="4881264"/>
            <a:ext cx="12192000" cy="19767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309626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AFE81-0114-C680-28C3-0F7D1B1215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419BEA-956E-7FFB-871A-EB45FE4645C3}"/>
              </a:ext>
            </a:extLst>
          </p:cNvPr>
          <p:cNvSpPr txBox="1"/>
          <p:nvPr/>
        </p:nvSpPr>
        <p:spPr>
          <a:xfrm>
            <a:off x="217714" y="255046"/>
            <a:ext cx="11756571" cy="655436"/>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Bunu düzəltmək üçün US regionlu hesab yarada bilərsiz. Əvvəlki slaydda izahını tamamlamadığım </a:t>
            </a:r>
            <a:r>
              <a:rPr lang="az-Latn-AZ" altLang="en-US" sz="1300" b="1">
                <a:solidFill>
                  <a:srgbClr val="FF0000"/>
                </a:solidFill>
                <a:latin typeface="Arial" panose="020B0604020202020204" pitchFamily="34" charset="0"/>
              </a:rPr>
              <a:t>success() </a:t>
            </a:r>
            <a:r>
              <a:rPr lang="az-Latn-AZ" altLang="en-US" sz="1300">
                <a:latin typeface="Arial" panose="020B0604020202020204" pitchFamily="34" charset="0"/>
              </a:rPr>
              <a:t>funksiyasını növbəti slaydda izah edərək tamamlayaq sonra bu REGİON ilə əlaqəli problemidə düzəldəcəm.....</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20AC53D9-60FA-EED8-F9E6-CAC67AB97862}"/>
              </a:ext>
            </a:extLst>
          </p:cNvPr>
          <p:cNvPicPr>
            <a:picLocks noChangeAspect="1"/>
          </p:cNvPicPr>
          <p:nvPr/>
        </p:nvPicPr>
        <p:blipFill>
          <a:blip r:embed="rId2"/>
          <a:stretch>
            <a:fillRect/>
          </a:stretch>
        </p:blipFill>
        <p:spPr>
          <a:xfrm>
            <a:off x="2617648" y="1366549"/>
            <a:ext cx="6620799" cy="41249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68141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BAC12-C90D-9B4D-CC3C-E9E0F39CC7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9D2073-7711-14A3-BFA8-941EA523ADFF}"/>
              </a:ext>
            </a:extLst>
          </p:cNvPr>
          <p:cNvSpPr txBox="1"/>
          <p:nvPr/>
        </p:nvSpPr>
        <p:spPr>
          <a:xfrm>
            <a:off x="74645" y="255046"/>
            <a:ext cx="12027159" cy="1555682"/>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İstifadəçi `</a:t>
            </a:r>
            <a:r>
              <a:rPr lang="az-Latn-AZ" altLang="en-US" sz="1300" b="1">
                <a:latin typeface="Arial" panose="020B0604020202020204" pitchFamily="34" charset="0"/>
              </a:rPr>
              <a:t>Buy </a:t>
            </a:r>
            <a:r>
              <a:rPr lang="en-US" altLang="en-US" sz="1300" b="1">
                <a:latin typeface="Arial" panose="020B0604020202020204" pitchFamily="34" charset="0"/>
              </a:rPr>
              <a:t>now</a:t>
            </a:r>
            <a:r>
              <a:rPr lang="az-Latn-AZ" altLang="en-US" sz="1300">
                <a:latin typeface="Arial" panose="020B0604020202020204" pitchFamily="34" charset="0"/>
              </a:rPr>
              <a:t>`</a:t>
            </a:r>
            <a:r>
              <a:rPr lang="en-US" altLang="en-US" sz="1300">
                <a:latin typeface="Arial" panose="020B0604020202020204" pitchFamily="34" charset="0"/>
              </a:rPr>
              <a:t> </a:t>
            </a:r>
            <a:r>
              <a:rPr lang="az-Latn-AZ" altLang="en-US" sz="1300">
                <a:latin typeface="Arial" panose="020B0604020202020204" pitchFamily="34" charset="0"/>
              </a:rPr>
              <a:t>düyməsini kliklədikdə token yaradılır və </a:t>
            </a:r>
            <a:r>
              <a:rPr lang="az-Latn-AZ" altLang="en-US" sz="1300" b="1">
                <a:solidFill>
                  <a:srgbClr val="0070C0"/>
                </a:solidFill>
                <a:latin typeface="Arial" panose="020B0604020202020204" pitchFamily="34" charset="0"/>
              </a:rPr>
              <a:t>capturePaymentOrder($request-&gt;token)</a:t>
            </a:r>
            <a:r>
              <a:rPr lang="az-Latn-AZ" altLang="en-US" sz="1300">
                <a:latin typeface="Arial" panose="020B0604020202020204" pitchFamily="34" charset="0"/>
              </a:rPr>
              <a:t> funksiyası PayPal-dan </a:t>
            </a:r>
            <a:r>
              <a:rPr lang="en-US" altLang="en-US" sz="1300">
                <a:latin typeface="Arial" panose="020B0604020202020204" pitchFamily="34" charset="0"/>
              </a:rPr>
              <a:t>“</a:t>
            </a:r>
            <a:r>
              <a:rPr lang="az-Latn-AZ" altLang="en-US" sz="1300">
                <a:latin typeface="Arial" panose="020B0604020202020204" pitchFamily="34" charset="0"/>
              </a:rPr>
              <a:t>bu tokenə sahib istifadəçi üçün ödəmənin tamamlanmasını</a:t>
            </a:r>
            <a:r>
              <a:rPr lang="en-US" altLang="en-US" sz="1300">
                <a:latin typeface="Arial" panose="020B0604020202020204" pitchFamily="34" charset="0"/>
              </a:rPr>
              <a:t>”</a:t>
            </a:r>
            <a:r>
              <a:rPr lang="az-Latn-AZ" altLang="en-US" sz="1300">
                <a:latin typeface="Arial" panose="020B0604020202020204" pitchFamily="34" charset="0"/>
              </a:rPr>
              <a:t> tələb edir.</a:t>
            </a:r>
            <a:endParaRPr lang="en-US" altLang="en-US" sz="1300">
              <a:latin typeface="Arial" panose="020B0604020202020204" pitchFamily="34" charset="0"/>
            </a:endParaRP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“İstifadəçi PayPal-da ödənişi təsdiqlədikdən sonra, bizim sistem bu ödənişi son olaraq təsdiqləyir (capture edir). Əgər ödəniş uğurlu olarsa, </a:t>
            </a:r>
            <a:r>
              <a:rPr lang="en-US" altLang="en-US" sz="1300" b="1">
                <a:latin typeface="Arial" panose="020B0604020202020204" pitchFamily="34" charset="0"/>
              </a:rPr>
              <a:t>'Paid Successfully</a:t>
            </a:r>
            <a:r>
              <a:rPr lang="en-US" altLang="en-US" sz="1300">
                <a:latin typeface="Arial" panose="020B0604020202020204" pitchFamily="34" charset="0"/>
              </a:rPr>
              <a:t>' yazısı çıxır.”</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F6F50272-9699-9DAA-77DD-30A2562EB0C1}"/>
              </a:ext>
            </a:extLst>
          </p:cNvPr>
          <p:cNvPicPr>
            <a:picLocks noChangeAspect="1"/>
          </p:cNvPicPr>
          <p:nvPr/>
        </p:nvPicPr>
        <p:blipFill>
          <a:blip r:embed="rId2"/>
          <a:stretch>
            <a:fillRect/>
          </a:stretch>
        </p:blipFill>
        <p:spPr>
          <a:xfrm>
            <a:off x="0" y="1995287"/>
            <a:ext cx="6011114" cy="2867425"/>
          </a:xfrm>
          <a:prstGeom prst="rect">
            <a:avLst/>
          </a:prstGeom>
        </p:spPr>
      </p:pic>
    </p:spTree>
    <p:extLst>
      <p:ext uri="{BB962C8B-B14F-4D97-AF65-F5344CB8AC3E}">
        <p14:creationId xmlns:p14="http://schemas.microsoft.com/office/powerpoint/2010/main" val="9640401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294F6-5A86-A2E0-FE3E-70152DD4FE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9ECE7D-6C8A-E426-4A56-DC25E93A5E34}"/>
              </a:ext>
            </a:extLst>
          </p:cNvPr>
          <p:cNvSpPr txBox="1"/>
          <p:nvPr/>
        </p:nvSpPr>
        <p:spPr>
          <a:xfrm>
            <a:off x="217714" y="255046"/>
            <a:ext cx="11756571" cy="2155847"/>
          </a:xfrm>
          <a:prstGeom prst="rect">
            <a:avLst/>
          </a:prstGeom>
          <a:noFill/>
        </p:spPr>
        <p:txBody>
          <a:bodyPr wrap="square">
            <a:spAutoFit/>
          </a:bodyPr>
          <a:lstStyle/>
          <a:p>
            <a:pPr>
              <a:lnSpc>
                <a:spcPct val="150000"/>
              </a:lnSpc>
              <a:buNone/>
            </a:pPr>
            <a:r>
              <a:rPr lang="en-US" altLang="en-US" sz="1300" b="1">
                <a:solidFill>
                  <a:srgbClr val="FF0000"/>
                </a:solidFill>
                <a:latin typeface="Arial" panose="020B0604020202020204" pitchFamily="34" charset="0"/>
              </a:rPr>
              <a:t>cancel() </a:t>
            </a:r>
            <a:r>
              <a:rPr lang="en-US" altLang="en-US" sz="1300">
                <a:latin typeface="Arial" panose="020B0604020202020204" pitchFamily="34" charset="0"/>
              </a:rPr>
              <a:t>Metodu – Ləğv Olunmuş Ödəniş</a:t>
            </a: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İstifadəçi PayPal səhifəsində ödənişi imtina edərsə, sistem bu metoda gəlir. Sadə şəkildə istifadəçiyə "ödəniş alınmadı" deyilir. “Bu metod istifadəçi ödənişi ləğv etdikdə işə düşür. Məsələn, alıcı PayPal-da ‘Cancel’ düyməsinə basarsa, sistem onu buraya yönləndirir.”</a:t>
            </a:r>
            <a:endParaRPr kumimoji="0" lang="en-US"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en-US" altLang="en-US" sz="1300">
              <a:latin typeface="Arial" panose="020B0604020202020204" pitchFamily="34" charset="0"/>
            </a:endParaRP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A4533073-CEDF-48A5-EED3-A0DF9C17F36A}"/>
              </a:ext>
            </a:extLst>
          </p:cNvPr>
          <p:cNvPicPr>
            <a:picLocks noChangeAspect="1"/>
          </p:cNvPicPr>
          <p:nvPr/>
        </p:nvPicPr>
        <p:blipFill>
          <a:blip r:embed="rId2"/>
          <a:stretch>
            <a:fillRect/>
          </a:stretch>
        </p:blipFill>
        <p:spPr>
          <a:xfrm>
            <a:off x="217714" y="1762933"/>
            <a:ext cx="2343477" cy="962159"/>
          </a:xfrm>
          <a:prstGeom prst="rect">
            <a:avLst/>
          </a:prstGeom>
        </p:spPr>
      </p:pic>
    </p:spTree>
    <p:extLst>
      <p:ext uri="{BB962C8B-B14F-4D97-AF65-F5344CB8AC3E}">
        <p14:creationId xmlns:p14="http://schemas.microsoft.com/office/powerpoint/2010/main" val="28939355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FE82D-721F-153B-6C9F-D76CC709A2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2281F2-E73B-EA50-2B05-A90C6EBB2C4B}"/>
              </a:ext>
            </a:extLst>
          </p:cNvPr>
          <p:cNvSpPr txBox="1"/>
          <p:nvPr/>
        </p:nvSpPr>
        <p:spPr>
          <a:xfrm>
            <a:off x="217714" y="255046"/>
            <a:ext cx="11756571" cy="955518"/>
          </a:xfrm>
          <a:prstGeom prst="rect">
            <a:avLst/>
          </a:prstGeom>
          <a:noFill/>
        </p:spPr>
        <p:txBody>
          <a:bodyPr wrap="square">
            <a:spAutoFit/>
          </a:bodyPr>
          <a:lstStyle/>
          <a:p>
            <a:pPr>
              <a:lnSpc>
                <a:spcPct val="150000"/>
              </a:lnSpc>
              <a:buNone/>
            </a:pPr>
            <a:r>
              <a:rPr kumimoji="0" lang="az-Latn-AZ" altLang="en-US" sz="1300" b="0" i="0" u="none" strike="noStrike" cap="none" normalizeH="0" baseline="0">
                <a:ln>
                  <a:noFill/>
                </a:ln>
                <a:solidFill>
                  <a:schemeClr val="tx1"/>
                </a:solidFill>
                <a:effectLst/>
                <a:latin typeface="Arial" panose="020B0604020202020204" pitchFamily="34" charset="0"/>
              </a:rPr>
              <a:t>Yeni region əlavə etmək üçün</a:t>
            </a:r>
            <a:r>
              <a:rPr lang="az-Latn-AZ" altLang="en-US" sz="1300">
                <a:latin typeface="Arial" panose="020B0604020202020204" pitchFamily="34" charset="0"/>
              </a:rPr>
              <a:t>:</a:t>
            </a: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az-Latn-AZ" altLang="en-US" sz="1300">
                <a:latin typeface="Arial" panose="020B0604020202020204" pitchFamily="34" charset="0"/>
              </a:rPr>
              <a:t>1. `</a:t>
            </a:r>
            <a:r>
              <a:rPr lang="az-Latn-AZ" altLang="en-US" sz="1300" b="1">
                <a:solidFill>
                  <a:srgbClr val="0070C0"/>
                </a:solidFill>
                <a:latin typeface="Arial" panose="020B0604020202020204" pitchFamily="34" charset="0"/>
              </a:rPr>
              <a:t>Sandbox test accounts</a:t>
            </a:r>
            <a:r>
              <a:rPr lang="az-Latn-AZ" altLang="en-US" sz="1300">
                <a:latin typeface="Arial" panose="020B0604020202020204" pitchFamily="34" charset="0"/>
              </a:rPr>
              <a:t>` səhifəsinə daxil oluruq və `</a:t>
            </a:r>
            <a:r>
              <a:rPr lang="az-Latn-AZ" altLang="en-US" sz="1300" b="1">
                <a:solidFill>
                  <a:srgbClr val="00B050"/>
                </a:solidFill>
                <a:latin typeface="Arial" panose="020B0604020202020204" pitchFamily="34" charset="0"/>
              </a:rPr>
              <a:t>Create account</a:t>
            </a:r>
            <a:r>
              <a:rPr lang="az-Latn-AZ" altLang="en-US" sz="1300">
                <a:latin typeface="Arial" panose="020B0604020202020204" pitchFamily="34" charset="0"/>
              </a:rPr>
              <a:t>` düyməsinə klikləyirik. </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310ACE63-726C-C096-F760-EB49F58AF621}"/>
              </a:ext>
            </a:extLst>
          </p:cNvPr>
          <p:cNvPicPr>
            <a:picLocks noChangeAspect="1"/>
          </p:cNvPicPr>
          <p:nvPr/>
        </p:nvPicPr>
        <p:blipFill>
          <a:blip r:embed="rId2"/>
          <a:stretch>
            <a:fillRect/>
          </a:stretch>
        </p:blipFill>
        <p:spPr>
          <a:xfrm>
            <a:off x="-1" y="1348008"/>
            <a:ext cx="12192000" cy="15120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41525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0B7A9-B9B9-2659-0C14-2E4EF6777A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65BD849-F104-DB5E-3C30-137FDE66CF13}"/>
              </a:ext>
            </a:extLst>
          </p:cNvPr>
          <p:cNvSpPr txBox="1"/>
          <p:nvPr/>
        </p:nvSpPr>
        <p:spPr>
          <a:xfrm>
            <a:off x="217714" y="255046"/>
            <a:ext cx="11756571" cy="655436"/>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Sonra isə həm Personal həmdə Business accountlar</a:t>
            </a:r>
          </a:p>
          <a:p>
            <a:pPr>
              <a:lnSpc>
                <a:spcPct val="150000"/>
              </a:lnSpc>
              <a:buNone/>
            </a:pPr>
            <a:r>
              <a:rPr kumimoji="0" lang="az-Latn-AZ" altLang="en-US" sz="1300" b="0" i="0" u="none" strike="noStrike" cap="none" normalizeH="0" baseline="0">
                <a:ln>
                  <a:noFill/>
                </a:ln>
                <a:solidFill>
                  <a:schemeClr val="tx1"/>
                </a:solidFill>
                <a:effectLst/>
                <a:latin typeface="Arial" panose="020B0604020202020204" pitchFamily="34" charset="0"/>
              </a:rPr>
              <a:t>yaradırıq.</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EFDFFD12-2C56-C95D-160F-9CA6FF425409}"/>
              </a:ext>
            </a:extLst>
          </p:cNvPr>
          <p:cNvPicPr>
            <a:picLocks noChangeAspect="1"/>
          </p:cNvPicPr>
          <p:nvPr/>
        </p:nvPicPr>
        <p:blipFill>
          <a:blip r:embed="rId2"/>
          <a:stretch>
            <a:fillRect/>
          </a:stretch>
        </p:blipFill>
        <p:spPr>
          <a:xfrm>
            <a:off x="5113937" y="522991"/>
            <a:ext cx="7078063" cy="63350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45334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0F79F-44C7-0A13-45F8-6DFB72C124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80AA78-5F47-817E-9B46-40F435E5F042}"/>
              </a:ext>
            </a:extLst>
          </p:cNvPr>
          <p:cNvSpPr txBox="1"/>
          <p:nvPr/>
        </p:nvSpPr>
        <p:spPr>
          <a:xfrm>
            <a:off x="217714" y="255046"/>
            <a:ext cx="11756571" cy="1855764"/>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Yaradılan yeni accountlar. </a:t>
            </a:r>
          </a:p>
          <a:p>
            <a:pPr>
              <a:lnSpc>
                <a:spcPct val="150000"/>
              </a:lnSpc>
              <a:buNone/>
            </a:pPr>
            <a:endParaRPr lang="az-Latn-AZ" altLang="en-US" sz="1300">
              <a:latin typeface="Arial" panose="020B0604020202020204" pitchFamily="34" charset="0"/>
            </a:endParaRPr>
          </a:p>
          <a:p>
            <a:pPr>
              <a:lnSpc>
                <a:spcPct val="150000"/>
              </a:lnSpc>
              <a:buNone/>
            </a:pPr>
            <a:r>
              <a:rPr kumimoji="0" lang="az-Latn-AZ" altLang="en-US" sz="1300" b="0" i="0" u="none" strike="noStrike" cap="none" normalizeH="0" baseline="0">
                <a:ln>
                  <a:noFill/>
                </a:ln>
                <a:solidFill>
                  <a:schemeClr val="tx1"/>
                </a:solidFill>
                <a:effectLst/>
                <a:latin typeface="Arial" panose="020B0604020202020204" pitchFamily="34" charset="0"/>
              </a:rPr>
              <a:t>Ancaq ilk dəfə account yaratdıqda </a:t>
            </a:r>
            <a:r>
              <a:rPr kumimoji="0" lang="az-Latn-AZ" altLang="en-US" sz="1300" b="1" i="0" u="none" strike="noStrike" cap="none" normalizeH="0" baseline="0">
                <a:ln>
                  <a:noFill/>
                </a:ln>
                <a:solidFill>
                  <a:schemeClr val="tx1"/>
                </a:solidFill>
                <a:effectLst/>
                <a:latin typeface="Arial" panose="020B0604020202020204" pitchFamily="34" charset="0"/>
              </a:rPr>
              <a:t>APPS</a:t>
            </a:r>
            <a:r>
              <a:rPr kumimoji="0" lang="az-Latn-AZ" altLang="en-US" sz="1300" b="0" i="0" u="none" strike="noStrike" cap="none" normalizeH="0" baseline="0">
                <a:ln>
                  <a:noFill/>
                </a:ln>
                <a:solidFill>
                  <a:schemeClr val="tx1"/>
                </a:solidFill>
                <a:effectLst/>
                <a:latin typeface="Arial" panose="020B0604020202020204" pitchFamily="34" charset="0"/>
              </a:rPr>
              <a:t> sütununda </a:t>
            </a:r>
            <a:r>
              <a:rPr kumimoji="0" lang="az-Latn-AZ" altLang="en-US" sz="1300" b="1" i="0" u="none" strike="noStrike" cap="none" normalizeH="0" baseline="0">
                <a:ln>
                  <a:noFill/>
                </a:ln>
                <a:solidFill>
                  <a:schemeClr val="tx1"/>
                </a:solidFill>
                <a:effectLst/>
                <a:latin typeface="Arial" panose="020B0604020202020204" pitchFamily="34" charset="0"/>
              </a:rPr>
              <a:t>1</a:t>
            </a:r>
            <a:r>
              <a:rPr kumimoji="0" lang="az-Latn-AZ" altLang="en-US" sz="1300" b="0" i="0" u="none" strike="noStrike" cap="none" normalizeH="0" baseline="0">
                <a:ln>
                  <a:noFill/>
                </a:ln>
                <a:solidFill>
                  <a:schemeClr val="tx1"/>
                </a:solidFill>
                <a:effectLst/>
                <a:latin typeface="Arial" panose="020B0604020202020204" pitchFamily="34" charset="0"/>
              </a:rPr>
              <a:t> ədədi olmayacaq sizdə. Məndədə yox </a:t>
            </a:r>
            <a:r>
              <a:rPr lang="az-Latn-AZ" altLang="en-US" sz="1300">
                <a:latin typeface="Arial" panose="020B0604020202020204" pitchFamily="34" charset="0"/>
              </a:rPr>
              <a:t>idi. Çünki </a:t>
            </a:r>
            <a:r>
              <a:rPr lang="az-Latn-AZ" altLang="en-US" sz="1300" b="1">
                <a:latin typeface="Arial" panose="020B0604020202020204" pitchFamily="34" charset="0"/>
              </a:rPr>
              <a:t>Business sandbox </a:t>
            </a:r>
            <a:r>
              <a:rPr lang="az-Latn-AZ" altLang="en-US" sz="1300">
                <a:latin typeface="Arial" panose="020B0604020202020204" pitchFamily="34" charset="0"/>
              </a:rPr>
              <a:t>hesabımız aktivdir, amma “Test App” (API app) ona bağlanmayıb</a:t>
            </a: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en-US" altLang="en-US" sz="1300">
                <a:latin typeface="Arial" panose="020B0604020202020204" pitchFamily="34" charset="0"/>
              </a:rPr>
              <a:t>Əgər bağlı deyilsə, yeni App </a:t>
            </a:r>
            <a:r>
              <a:rPr lang="az-Latn-AZ" altLang="en-US" sz="1300">
                <a:latin typeface="Arial" panose="020B0604020202020204" pitchFamily="34" charset="0"/>
              </a:rPr>
              <a:t>yaradaraq</a:t>
            </a:r>
            <a:r>
              <a:rPr lang="en-US" altLang="en-US" sz="1300">
                <a:latin typeface="Arial" panose="020B0604020202020204" pitchFamily="34" charset="0"/>
              </a:rPr>
              <a:t> onu bu Business (US) hesabı</a:t>
            </a:r>
            <a:r>
              <a:rPr lang="az-Latn-AZ" altLang="en-US" sz="1300">
                <a:latin typeface="Arial" panose="020B0604020202020204" pitchFamily="34" charset="0"/>
              </a:rPr>
              <a:t>m</a:t>
            </a:r>
            <a:r>
              <a:rPr lang="en-US" altLang="en-US" sz="1300">
                <a:latin typeface="Arial" panose="020B0604020202020204" pitchFamily="34" charset="0"/>
              </a:rPr>
              <a:t>ıza bağla</a:t>
            </a:r>
            <a:r>
              <a:rPr lang="az-Latn-AZ" altLang="en-US" sz="1300">
                <a:latin typeface="Arial" panose="020B0604020202020204" pitchFamily="34" charset="0"/>
              </a:rPr>
              <a:t>malıyıq. Ardı növbəti slaydda....</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89CD8C18-D06D-3F7A-B0C0-2B9EFB9B7F20}"/>
              </a:ext>
            </a:extLst>
          </p:cNvPr>
          <p:cNvPicPr>
            <a:picLocks noChangeAspect="1"/>
          </p:cNvPicPr>
          <p:nvPr/>
        </p:nvPicPr>
        <p:blipFill>
          <a:blip r:embed="rId2"/>
          <a:stretch>
            <a:fillRect/>
          </a:stretch>
        </p:blipFill>
        <p:spPr>
          <a:xfrm>
            <a:off x="-1" y="2328091"/>
            <a:ext cx="12192000" cy="45299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06586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3F539-A84F-5F7B-14D4-B4235A9634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B7A778-9ED7-2AC5-ABD0-C1900583FF20}"/>
              </a:ext>
            </a:extLst>
          </p:cNvPr>
          <p:cNvSpPr txBox="1"/>
          <p:nvPr/>
        </p:nvSpPr>
        <p:spPr>
          <a:xfrm>
            <a:off x="217714" y="255046"/>
            <a:ext cx="11756571" cy="355354"/>
          </a:xfrm>
          <a:prstGeom prst="rect">
            <a:avLst/>
          </a:prstGeom>
          <a:noFill/>
        </p:spPr>
        <p:txBody>
          <a:bodyPr wrap="square">
            <a:spAutoFit/>
          </a:bodyPr>
          <a:lstStyle/>
          <a:p>
            <a:pPr>
              <a:lnSpc>
                <a:spcPct val="150000"/>
              </a:lnSpc>
            </a:pPr>
            <a:r>
              <a:rPr lang="az-Latn-AZ" altLang="en-US" sz="1300">
                <a:latin typeface="Arial" panose="020B0604020202020204" pitchFamily="34" charset="0"/>
              </a:rPr>
              <a:t>2. </a:t>
            </a:r>
            <a:r>
              <a:rPr lang="az-Latn-AZ" altLang="en-US" sz="1300" b="1">
                <a:latin typeface="Arial" panose="020B0604020202020204" pitchFamily="34" charset="0"/>
              </a:rPr>
              <a:t>Business sandbox </a:t>
            </a:r>
            <a:r>
              <a:rPr lang="az-Latn-AZ" altLang="en-US" sz="1300">
                <a:latin typeface="Arial" panose="020B0604020202020204" pitchFamily="34" charset="0"/>
              </a:rPr>
              <a:t>hesabımıza yeni </a:t>
            </a:r>
            <a:r>
              <a:rPr lang="az-Latn-AZ" altLang="en-US" sz="1300" b="1">
                <a:latin typeface="Arial" panose="020B0604020202020204" pitchFamily="34" charset="0"/>
              </a:rPr>
              <a:t>APP</a:t>
            </a:r>
            <a:r>
              <a:rPr lang="az-Latn-AZ" altLang="en-US" sz="1300">
                <a:latin typeface="Arial" panose="020B0604020202020204" pitchFamily="34" charset="0"/>
              </a:rPr>
              <a:t> -ni bağlamaq üçün `</a:t>
            </a:r>
            <a:r>
              <a:rPr lang="az-Latn-AZ" altLang="en-US" sz="1300" b="1">
                <a:latin typeface="Arial" panose="020B0604020202020204" pitchFamily="34" charset="0"/>
              </a:rPr>
              <a:t>API Credentials</a:t>
            </a:r>
            <a:r>
              <a:rPr lang="az-Latn-AZ" altLang="en-US" sz="1300">
                <a:latin typeface="Arial" panose="020B0604020202020204" pitchFamily="34" charset="0"/>
              </a:rPr>
              <a:t>` səhifəsinə daxil oluruq və `</a:t>
            </a:r>
            <a:r>
              <a:rPr lang="az-Latn-AZ" altLang="en-US" sz="1300" b="1">
                <a:solidFill>
                  <a:srgbClr val="00B050"/>
                </a:solidFill>
                <a:latin typeface="Arial" panose="020B0604020202020204" pitchFamily="34" charset="0"/>
              </a:rPr>
              <a:t>Create App</a:t>
            </a:r>
            <a:r>
              <a:rPr lang="az-Latn-AZ" altLang="en-US" sz="1300">
                <a:latin typeface="Arial" panose="020B0604020202020204" pitchFamily="34" charset="0"/>
              </a:rPr>
              <a:t>` düyməsinə klikləyirik. </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B318AED9-D150-581C-E5E7-373FEACF2635}"/>
              </a:ext>
            </a:extLst>
          </p:cNvPr>
          <p:cNvPicPr>
            <a:picLocks noChangeAspect="1"/>
          </p:cNvPicPr>
          <p:nvPr/>
        </p:nvPicPr>
        <p:blipFill>
          <a:blip r:embed="rId2"/>
          <a:stretch>
            <a:fillRect/>
          </a:stretch>
        </p:blipFill>
        <p:spPr>
          <a:xfrm>
            <a:off x="-1" y="984721"/>
            <a:ext cx="12192000" cy="34516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21419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04CB-C9B5-5C17-D2F1-3D629C53AE4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F7F24F-3313-C6BC-CE15-CE434891BD4A}"/>
              </a:ext>
            </a:extLst>
          </p:cNvPr>
          <p:cNvSpPr txBox="1"/>
          <p:nvPr/>
        </p:nvSpPr>
        <p:spPr>
          <a:xfrm>
            <a:off x="217714" y="255046"/>
            <a:ext cx="11756571" cy="4213141"/>
          </a:xfrm>
          <a:prstGeom prst="rect">
            <a:avLst/>
          </a:prstGeom>
          <a:noFill/>
        </p:spPr>
        <p:txBody>
          <a:bodyPr wrap="square">
            <a:spAutoFit/>
          </a:bodyPr>
          <a:lstStyle/>
          <a:p>
            <a:pPr>
              <a:lnSpc>
                <a:spcPct val="150000"/>
              </a:lnSpc>
              <a:buNone/>
            </a:pPr>
            <a:r>
              <a:rPr lang="az-Latn-AZ" altLang="en-US" sz="1200">
                <a:latin typeface="Arial" panose="020B0604020202020204" pitchFamily="34" charset="0"/>
              </a:rPr>
              <a:t>Sonra </a:t>
            </a:r>
            <a:r>
              <a:rPr lang="az-Latn-AZ" altLang="en-US" sz="1200" b="1">
                <a:latin typeface="Arial" panose="020B0604020202020204" pitchFamily="34" charset="0"/>
              </a:rPr>
              <a:t>US</a:t>
            </a:r>
            <a:r>
              <a:rPr lang="az-Latn-AZ" altLang="en-US" sz="1200">
                <a:latin typeface="Arial" panose="020B0604020202020204" pitchFamily="34" charset="0"/>
              </a:rPr>
              <a:t> regionunu seçərək </a:t>
            </a:r>
            <a:r>
              <a:rPr lang="az-Latn-AZ" altLang="en-US" sz="1200" b="1">
                <a:latin typeface="Arial" panose="020B0604020202020204" pitchFamily="34" charset="0"/>
              </a:rPr>
              <a:t>Create App </a:t>
            </a:r>
            <a:r>
              <a:rPr lang="az-Latn-AZ" altLang="en-US" sz="1200">
                <a:latin typeface="Arial" panose="020B0604020202020204" pitchFamily="34" charset="0"/>
              </a:rPr>
              <a:t>düyməsini klikləyirik.</a:t>
            </a: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endParaRPr kumimoji="0" lang="az-Latn-AZ" altLang="en-US" sz="12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endParaRPr lang="az-Latn-AZ" altLang="en-US" sz="1200">
              <a:latin typeface="Arial" panose="020B0604020202020204" pitchFamily="34" charset="0"/>
            </a:endParaRPr>
          </a:p>
          <a:p>
            <a:pPr>
              <a:lnSpc>
                <a:spcPct val="150000"/>
              </a:lnSpc>
              <a:buNone/>
            </a:pPr>
            <a:r>
              <a:rPr kumimoji="0" lang="az-Latn-AZ" altLang="en-US" sz="1200" b="0" i="0" u="none" strike="noStrike" cap="none" normalizeH="0" baseline="0">
                <a:ln>
                  <a:noFill/>
                </a:ln>
                <a:solidFill>
                  <a:schemeClr val="tx1"/>
                </a:solidFill>
                <a:effectLst/>
                <a:latin typeface="Arial" panose="020B0604020202020204" pitchFamily="34" charset="0"/>
              </a:rPr>
              <a:t>Və budur yeni Regionumuz ya</a:t>
            </a:r>
            <a:r>
              <a:rPr lang="az-Latn-AZ" altLang="en-US" sz="1200">
                <a:latin typeface="Arial" panose="020B0604020202020204" pitchFamily="34" charset="0"/>
              </a:rPr>
              <a:t>radıldı. İndi Bu `</a:t>
            </a:r>
            <a:r>
              <a:rPr lang="az-Latn-AZ" altLang="en-US" sz="1200" b="1">
                <a:latin typeface="Arial" panose="020B0604020202020204" pitchFamily="34" charset="0"/>
              </a:rPr>
              <a:t>US APP</a:t>
            </a:r>
            <a:r>
              <a:rPr lang="az-Latn-AZ" altLang="en-US" sz="1200">
                <a:latin typeface="Arial" panose="020B0604020202020204" pitchFamily="34" charset="0"/>
              </a:rPr>
              <a:t>` yazısına klikləyirik. Ardı növbəti slaydda ...</a:t>
            </a:r>
            <a:endParaRPr kumimoji="0" lang="az-Latn-AZ" altLang="en-US" sz="12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3027B062-B94E-A9D6-FB98-CA687511E58A}"/>
              </a:ext>
            </a:extLst>
          </p:cNvPr>
          <p:cNvPicPr>
            <a:picLocks noChangeAspect="1"/>
          </p:cNvPicPr>
          <p:nvPr/>
        </p:nvPicPr>
        <p:blipFill>
          <a:blip r:embed="rId2"/>
          <a:stretch>
            <a:fillRect/>
          </a:stretch>
        </p:blipFill>
        <p:spPr>
          <a:xfrm>
            <a:off x="7412459" y="0"/>
            <a:ext cx="4779541"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539BDF77-D8FC-A63C-DDE1-087820EC0209}"/>
              </a:ext>
            </a:extLst>
          </p:cNvPr>
          <p:cNvPicPr>
            <a:picLocks noChangeAspect="1"/>
          </p:cNvPicPr>
          <p:nvPr/>
        </p:nvPicPr>
        <p:blipFill>
          <a:blip r:embed="rId3"/>
          <a:stretch>
            <a:fillRect/>
          </a:stretch>
        </p:blipFill>
        <p:spPr>
          <a:xfrm>
            <a:off x="0" y="4823927"/>
            <a:ext cx="5527955" cy="19522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592200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25A0F-D81A-11AE-AA32-36BF3FB1F6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CCFCBC-C86C-B9AF-D1A1-D4EAE2021127}"/>
              </a:ext>
            </a:extLst>
          </p:cNvPr>
          <p:cNvSpPr txBox="1"/>
          <p:nvPr/>
        </p:nvSpPr>
        <p:spPr>
          <a:xfrm>
            <a:off x="217714" y="255046"/>
            <a:ext cx="11756571" cy="2756011"/>
          </a:xfrm>
          <a:prstGeom prst="rect">
            <a:avLst/>
          </a:prstGeom>
          <a:noFill/>
        </p:spPr>
        <p:txBody>
          <a:bodyPr wrap="square">
            <a:spAutoFit/>
          </a:bodyPr>
          <a:lstStyle/>
          <a:p>
            <a:pPr>
              <a:lnSpc>
                <a:spcPct val="150000"/>
              </a:lnSpc>
              <a:buNone/>
            </a:pPr>
            <a:r>
              <a:rPr lang="en-US" altLang="en-US" sz="1300">
                <a:latin typeface="Arial" panose="020B0604020202020204" pitchFamily="34" charset="0"/>
              </a:rPr>
              <a:t>Yeni yaradılmış App-dan alınan </a:t>
            </a:r>
            <a:r>
              <a:rPr lang="en-US" altLang="en-US" sz="1300" b="1">
                <a:solidFill>
                  <a:srgbClr val="0070C0"/>
                </a:solidFill>
                <a:latin typeface="Arial" panose="020B0604020202020204" pitchFamily="34" charset="0"/>
              </a:rPr>
              <a:t>Client ID </a:t>
            </a:r>
            <a:r>
              <a:rPr lang="en-US" altLang="en-US" sz="1300">
                <a:latin typeface="Arial" panose="020B0604020202020204" pitchFamily="34" charset="0"/>
              </a:rPr>
              <a:t>və </a:t>
            </a:r>
            <a:r>
              <a:rPr lang="en-US" altLang="en-US" sz="1300" b="1">
                <a:solidFill>
                  <a:srgbClr val="0070C0"/>
                </a:solidFill>
                <a:latin typeface="Arial" panose="020B0604020202020204" pitchFamily="34" charset="0"/>
              </a:rPr>
              <a:t>Secret</a:t>
            </a:r>
            <a:r>
              <a:rPr lang="en-US" altLang="en-US" sz="1300">
                <a:latin typeface="Arial" panose="020B0604020202020204" pitchFamily="34" charset="0"/>
              </a:rPr>
              <a:t> məlumatlarını </a:t>
            </a:r>
            <a:r>
              <a:rPr lang="en-US" altLang="en-US" sz="1300" b="1">
                <a:solidFill>
                  <a:srgbClr val="FF0000"/>
                </a:solidFill>
                <a:latin typeface="Arial" panose="020B0604020202020204" pitchFamily="34" charset="0"/>
              </a:rPr>
              <a:t>.env</a:t>
            </a:r>
            <a:r>
              <a:rPr lang="en-US" altLang="en-US" sz="1300">
                <a:latin typeface="Arial" panose="020B0604020202020204" pitchFamily="34" charset="0"/>
              </a:rPr>
              <a:t>-də bu şəkildə dəyişi</a:t>
            </a:r>
            <a:r>
              <a:rPr lang="az-Latn-AZ" altLang="en-US" sz="1300">
                <a:latin typeface="Arial" panose="020B0604020202020204" pitchFamily="34" charset="0"/>
              </a:rPr>
              <a:t>rik</a:t>
            </a:r>
            <a:r>
              <a:rPr lang="en-US" altLang="en-US" sz="1300">
                <a:latin typeface="Arial" panose="020B0604020202020204" pitchFamily="34" charset="0"/>
              </a:rPr>
              <a:t>:</a:t>
            </a: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endParaRPr lang="az-Latn-AZ" altLang="en-US" sz="1300">
              <a:latin typeface="Arial" panose="020B0604020202020204" pitchFamily="34" charset="0"/>
            </a:endParaRPr>
          </a:p>
          <a:p>
            <a:pPr>
              <a:lnSpc>
                <a:spcPct val="150000"/>
              </a:lnSpc>
              <a:buNone/>
            </a:pPr>
            <a:endParaRPr kumimoji="0" lang="az-Latn-AZ"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az-Latn-AZ" altLang="en-US" sz="1300">
                <a:latin typeface="Arial" panose="020B0604020202020204" pitchFamily="34" charset="0"/>
              </a:rPr>
              <a:t>Əvvəlki keş məlumatları aşağıdakı əmrlər ilə silərək.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48320EDF-CFF8-AADA-7E4F-EA3FA4DFE350}"/>
              </a:ext>
            </a:extLst>
          </p:cNvPr>
          <p:cNvPicPr>
            <a:picLocks noChangeAspect="1"/>
          </p:cNvPicPr>
          <p:nvPr/>
        </p:nvPicPr>
        <p:blipFill>
          <a:blip r:embed="rId2"/>
          <a:stretch>
            <a:fillRect/>
          </a:stretch>
        </p:blipFill>
        <p:spPr>
          <a:xfrm>
            <a:off x="0" y="757575"/>
            <a:ext cx="8888065" cy="733527"/>
          </a:xfrm>
          <a:prstGeom prst="rect">
            <a:avLst/>
          </a:prstGeom>
        </p:spPr>
      </p:pic>
      <p:pic>
        <p:nvPicPr>
          <p:cNvPr id="7" name="Picture 6">
            <a:extLst>
              <a:ext uri="{FF2B5EF4-FFF2-40B4-BE49-F238E27FC236}">
                <a16:creationId xmlns:a16="http://schemas.microsoft.com/office/drawing/2014/main" id="{D4DDA4C8-3D42-2303-8B23-0A5052590D67}"/>
              </a:ext>
            </a:extLst>
          </p:cNvPr>
          <p:cNvPicPr>
            <a:picLocks noChangeAspect="1"/>
          </p:cNvPicPr>
          <p:nvPr/>
        </p:nvPicPr>
        <p:blipFill>
          <a:blip r:embed="rId3"/>
          <a:stretch>
            <a:fillRect/>
          </a:stretch>
        </p:blipFill>
        <p:spPr>
          <a:xfrm>
            <a:off x="0" y="3111826"/>
            <a:ext cx="5277587" cy="1810003"/>
          </a:xfrm>
          <a:prstGeom prst="rect">
            <a:avLst/>
          </a:prstGeom>
        </p:spPr>
      </p:pic>
    </p:spTree>
    <p:extLst>
      <p:ext uri="{BB962C8B-B14F-4D97-AF65-F5344CB8AC3E}">
        <p14:creationId xmlns:p14="http://schemas.microsoft.com/office/powerpoint/2010/main" val="1731954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4A219-A95B-D3FA-CD1C-2003D837CF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710561-DABB-B409-E6C9-339DAAF2140A}"/>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3. Sandbox profilinə yeni US regionunun hesab məlumatları ilə daxil oluruq və tətbiqimizi bir daha test edirik.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2A58E8C9-1F38-4244-7D18-4EF40EF662E6}"/>
              </a:ext>
            </a:extLst>
          </p:cNvPr>
          <p:cNvPicPr>
            <a:picLocks noChangeAspect="1"/>
          </p:cNvPicPr>
          <p:nvPr/>
        </p:nvPicPr>
        <p:blipFill>
          <a:blip r:embed="rId2"/>
          <a:stretch>
            <a:fillRect/>
          </a:stretch>
        </p:blipFill>
        <p:spPr>
          <a:xfrm>
            <a:off x="0" y="827159"/>
            <a:ext cx="12192000" cy="43266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139104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7DF51-118B-8556-6503-B66E004BA4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AF3D35-808A-E1B1-1DD1-6E42162E42A7}"/>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kumimoji="0" lang="en-US" altLang="en-US" sz="1300" b="0" i="0" u="none" strike="noStrike" cap="none" normalizeH="0" baseline="0">
                <a:ln>
                  <a:noFill/>
                </a:ln>
                <a:solidFill>
                  <a:schemeClr val="tx1"/>
                </a:solidFill>
                <a:effectLst/>
                <a:latin typeface="Arial" panose="020B0604020202020204" pitchFamily="34" charset="0"/>
              </a:rPr>
              <a:t>.</a:t>
            </a:r>
          </a:p>
        </p:txBody>
      </p:sp>
      <p:pic>
        <p:nvPicPr>
          <p:cNvPr id="4" name="Picture 3">
            <a:extLst>
              <a:ext uri="{FF2B5EF4-FFF2-40B4-BE49-F238E27FC236}">
                <a16:creationId xmlns:a16="http://schemas.microsoft.com/office/drawing/2014/main" id="{603B887C-F98D-F294-3AFA-780BE9A09B3B}"/>
              </a:ext>
            </a:extLst>
          </p:cNvPr>
          <p:cNvPicPr>
            <a:picLocks noChangeAspect="1"/>
          </p:cNvPicPr>
          <p:nvPr/>
        </p:nvPicPr>
        <p:blipFill>
          <a:blip r:embed="rId2"/>
          <a:stretch>
            <a:fillRect/>
          </a:stretch>
        </p:blipFill>
        <p:spPr>
          <a:xfrm>
            <a:off x="3681074" y="255046"/>
            <a:ext cx="4829849" cy="63921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688509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206B8-ED40-AD97-AD68-2E3FFA65FC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6A823C-1E7E-93E3-F6C2-8E0EAE859233}"/>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kumimoji="0" lang="en-US" altLang="en-US" sz="1300" b="0" i="0" u="none" strike="noStrike" cap="none" normalizeH="0" baseline="0">
                <a:ln>
                  <a:noFill/>
                </a:ln>
                <a:solidFill>
                  <a:schemeClr val="tx1"/>
                </a:solidFill>
                <a:effectLst/>
                <a:latin typeface="Arial" panose="020B0604020202020204" pitchFamily="34" charset="0"/>
              </a:rPr>
              <a:t>.</a:t>
            </a:r>
          </a:p>
        </p:txBody>
      </p:sp>
      <p:pic>
        <p:nvPicPr>
          <p:cNvPr id="4" name="Picture 3">
            <a:extLst>
              <a:ext uri="{FF2B5EF4-FFF2-40B4-BE49-F238E27FC236}">
                <a16:creationId xmlns:a16="http://schemas.microsoft.com/office/drawing/2014/main" id="{DC2542FF-E7D4-15E4-E23D-DABC8120214C}"/>
              </a:ext>
            </a:extLst>
          </p:cNvPr>
          <p:cNvPicPr>
            <a:picLocks noChangeAspect="1"/>
          </p:cNvPicPr>
          <p:nvPr/>
        </p:nvPicPr>
        <p:blipFill>
          <a:blip r:embed="rId2"/>
          <a:stretch>
            <a:fillRect/>
          </a:stretch>
        </p:blipFill>
        <p:spPr>
          <a:xfrm>
            <a:off x="0" y="1160868"/>
            <a:ext cx="12192000" cy="45362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43608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113B6-75B8-781F-434A-68ACDA1435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585624-48A8-57C0-2671-5E1B0D71C0F0}"/>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kumimoji="0" lang="az-Latn-AZ" altLang="en-US" sz="1300" b="0" i="0" u="none" strike="noStrike" cap="none" normalizeH="0" baseline="0">
                <a:ln>
                  <a:noFill/>
                </a:ln>
                <a:solidFill>
                  <a:schemeClr val="tx1"/>
                </a:solidFill>
                <a:effectLst/>
                <a:latin typeface="Arial" panose="020B0604020202020204" pitchFamily="34" charset="0"/>
              </a:rPr>
              <a:t>İndi yenidən `</a:t>
            </a:r>
            <a:r>
              <a:rPr kumimoji="0" lang="az-Latn-AZ" altLang="en-US" sz="1300" b="1" i="0" u="none" strike="noStrike" cap="none" normalizeH="0" baseline="0">
                <a:ln>
                  <a:noFill/>
                </a:ln>
                <a:solidFill>
                  <a:schemeClr val="tx1"/>
                </a:solidFill>
                <a:effectLst/>
                <a:latin typeface="Arial" panose="020B0604020202020204" pitchFamily="34" charset="0"/>
              </a:rPr>
              <a:t>Buy </a:t>
            </a:r>
            <a:r>
              <a:rPr kumimoji="0" lang="en-US" altLang="en-US" sz="1300" b="1" i="0" u="none" strike="noStrike" cap="none" normalizeH="0" baseline="0">
                <a:ln>
                  <a:noFill/>
                </a:ln>
                <a:solidFill>
                  <a:schemeClr val="tx1"/>
                </a:solidFill>
                <a:effectLst/>
                <a:latin typeface="Arial" panose="020B0604020202020204" pitchFamily="34" charset="0"/>
              </a:rPr>
              <a:t>now</a:t>
            </a:r>
            <a:r>
              <a:rPr kumimoji="0" lang="az-Latn-AZ" altLang="en-US" sz="1300" b="0" i="0" u="none" strike="noStrike" cap="none" normalizeH="0" baseline="0">
                <a:ln>
                  <a:noFill/>
                </a:ln>
                <a:solidFill>
                  <a:schemeClr val="tx1"/>
                </a:solidFill>
                <a:effectLst/>
                <a:latin typeface="Arial" panose="020B0604020202020204" pitchFamily="34" charset="0"/>
              </a:rPr>
              <a:t>` düyməsini klikləyirik.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0CA6422B-6AAD-C777-D752-7D5DD74FF2CB}"/>
              </a:ext>
            </a:extLst>
          </p:cNvPr>
          <p:cNvPicPr>
            <a:picLocks noChangeAspect="1"/>
          </p:cNvPicPr>
          <p:nvPr/>
        </p:nvPicPr>
        <p:blipFill>
          <a:blip r:embed="rId2"/>
          <a:stretch>
            <a:fillRect/>
          </a:stretch>
        </p:blipFill>
        <p:spPr>
          <a:xfrm>
            <a:off x="0" y="1724536"/>
            <a:ext cx="12192000" cy="34089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833036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A2EA9-9AB9-DE59-E5D2-0CE684EAA7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267FEF-6181-8EC0-3CFC-AB4D380134EF}"/>
              </a:ext>
            </a:extLst>
          </p:cNvPr>
          <p:cNvSpPr txBox="1"/>
          <p:nvPr/>
        </p:nvSpPr>
        <p:spPr>
          <a:xfrm>
            <a:off x="217714" y="255046"/>
            <a:ext cx="11756571" cy="655436"/>
          </a:xfrm>
          <a:prstGeom prst="rect">
            <a:avLst/>
          </a:prstGeom>
          <a:noFill/>
        </p:spPr>
        <p:txBody>
          <a:bodyPr wrap="square">
            <a:spAutoFit/>
          </a:bodyPr>
          <a:lstStyle/>
          <a:p>
            <a:pPr>
              <a:lnSpc>
                <a:spcPct val="150000"/>
              </a:lnSpc>
              <a:buNone/>
            </a:pPr>
            <a:r>
              <a:rPr kumimoji="0" lang="az-Latn-AZ" altLang="en-US" sz="1300" b="0" i="0" u="none" strike="noStrike" cap="none" normalizeH="0" baseline="0">
                <a:ln>
                  <a:noFill/>
                </a:ln>
                <a:solidFill>
                  <a:schemeClr val="tx1"/>
                </a:solidFill>
                <a:effectLst/>
                <a:latin typeface="Arial" panose="020B0604020202020204" pitchFamily="34" charset="0"/>
              </a:rPr>
              <a:t>Ödəməni tamamlaması ü</a:t>
            </a:r>
            <a:r>
              <a:rPr lang="az-Latn-AZ" altLang="en-US" sz="1300">
                <a:latin typeface="Arial" panose="020B0604020202020204" pitchFamily="34" charset="0"/>
              </a:rPr>
              <a:t>çün istifadəçinin PayPal hesabı açılıq. İstifadəçi `</a:t>
            </a:r>
            <a:r>
              <a:rPr lang="en-US" altLang="en-US" sz="1300" b="1">
                <a:latin typeface="Arial" panose="020B0604020202020204" pitchFamily="34" charset="0"/>
              </a:rPr>
              <a:t>Review Order</a:t>
            </a:r>
            <a:r>
              <a:rPr lang="az-Latn-AZ" altLang="en-US" sz="1300">
                <a:latin typeface="Arial" panose="020B0604020202020204" pitchFamily="34" charset="0"/>
              </a:rPr>
              <a:t>`</a:t>
            </a:r>
            <a:r>
              <a:rPr lang="en-US" altLang="en-US" sz="1300">
                <a:latin typeface="Arial" panose="020B0604020202020204" pitchFamily="34" charset="0"/>
              </a:rPr>
              <a:t> </a:t>
            </a:r>
            <a:r>
              <a:rPr lang="az-Latn-AZ" altLang="en-US" sz="1300">
                <a:latin typeface="Arial" panose="020B0604020202020204" pitchFamily="34" charset="0"/>
              </a:rPr>
              <a:t>düyməsini kliklədikdə ödəmə tamamlanacaq və ekranda '</a:t>
            </a:r>
            <a:r>
              <a:rPr lang="az-Latn-AZ" altLang="en-US" sz="1300" b="1">
                <a:latin typeface="Arial" panose="020B0604020202020204" pitchFamily="34" charset="0"/>
              </a:rPr>
              <a:t>Paid Successfully</a:t>
            </a:r>
            <a:r>
              <a:rPr lang="az-Latn-AZ" altLang="en-US" sz="1300">
                <a:latin typeface="Arial" panose="020B0604020202020204" pitchFamily="34" charset="0"/>
              </a:rPr>
              <a:t>’ yazısı görsənəcək.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27A80CD4-371F-5509-E5C0-54E24C3D7457}"/>
              </a:ext>
            </a:extLst>
          </p:cNvPr>
          <p:cNvPicPr>
            <a:picLocks noChangeAspect="1"/>
          </p:cNvPicPr>
          <p:nvPr/>
        </p:nvPicPr>
        <p:blipFill>
          <a:blip r:embed="rId2"/>
          <a:stretch>
            <a:fillRect/>
          </a:stretch>
        </p:blipFill>
        <p:spPr>
          <a:xfrm>
            <a:off x="0" y="1108255"/>
            <a:ext cx="12192000" cy="57497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36662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F7BAB-E5C0-3E32-0C48-68EBCE18E2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47E204-23BF-3070-32E1-41D8FC350184}"/>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kumimoji="0" lang="az-Latn-AZ" altLang="en-US" sz="1300" b="0" i="0" u="none" strike="noStrike" cap="none" normalizeH="0" baseline="0">
                <a:ln>
                  <a:noFill/>
                </a:ln>
                <a:solidFill>
                  <a:schemeClr val="tx1"/>
                </a:solidFill>
                <a:effectLst/>
                <a:latin typeface="Arial" panose="020B0604020202020204" pitchFamily="34" charset="0"/>
              </a:rPr>
              <a:t>Ödəmə uğurla tamamlandı.</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2A11C4FF-DE27-BFF8-4058-135F854811D9}"/>
              </a:ext>
            </a:extLst>
          </p:cNvPr>
          <p:cNvPicPr>
            <a:picLocks noChangeAspect="1"/>
          </p:cNvPicPr>
          <p:nvPr/>
        </p:nvPicPr>
        <p:blipFill>
          <a:blip r:embed="rId2"/>
          <a:stretch>
            <a:fillRect/>
          </a:stretch>
        </p:blipFill>
        <p:spPr>
          <a:xfrm>
            <a:off x="1837730" y="2776446"/>
            <a:ext cx="8516539" cy="13051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436894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4CAA7-AF78-D612-4065-B3DD19243F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C3F012-6AFB-8F11-8C38-24A0E05485B8}"/>
              </a:ext>
            </a:extLst>
          </p:cNvPr>
          <p:cNvSpPr txBox="1"/>
          <p:nvPr/>
        </p:nvSpPr>
        <p:spPr>
          <a:xfrm>
            <a:off x="217714" y="143079"/>
            <a:ext cx="11756571" cy="612155"/>
          </a:xfrm>
          <a:prstGeom prst="rect">
            <a:avLst/>
          </a:prstGeom>
          <a:noFill/>
        </p:spPr>
        <p:txBody>
          <a:bodyPr wrap="square">
            <a:spAutoFit/>
          </a:bodyPr>
          <a:lstStyle/>
          <a:p>
            <a:pPr>
              <a:lnSpc>
                <a:spcPct val="150000"/>
              </a:lnSpc>
              <a:buNone/>
            </a:pPr>
            <a:r>
              <a:rPr lang="en-US" altLang="en-US" sz="1200" b="1">
                <a:latin typeface="Arial" panose="020B0604020202020204" pitchFamily="34" charset="0"/>
              </a:rPr>
              <a:t>Sandbox</a:t>
            </a:r>
            <a:r>
              <a:rPr lang="en-US" altLang="en-US" sz="1200">
                <a:latin typeface="Arial" panose="020B0604020202020204" pitchFamily="34" charset="0"/>
              </a:rPr>
              <a:t> mühitində "mən məhsul satıram, alıcılar mənə pul ödəyir" deyən tərəf </a:t>
            </a:r>
            <a:r>
              <a:rPr lang="en-US" altLang="en-US" sz="1200" b="1">
                <a:latin typeface="Arial" panose="020B0604020202020204" pitchFamily="34" charset="0"/>
              </a:rPr>
              <a:t>Business sandbox </a:t>
            </a:r>
            <a:r>
              <a:rPr lang="en-US" altLang="en-US" sz="1200">
                <a:latin typeface="Arial" panose="020B0604020202020204" pitchFamily="34" charset="0"/>
              </a:rPr>
              <a:t>hesabıdır.</a:t>
            </a:r>
            <a:r>
              <a:rPr lang="az-Latn-AZ" altLang="en-US" sz="1200">
                <a:latin typeface="Arial" panose="020B0604020202020204" pitchFamily="34" charset="0"/>
              </a:rPr>
              <a:t> Buradakı `</a:t>
            </a:r>
            <a:r>
              <a:rPr lang="az-Latn-AZ" altLang="en-US" sz="1200" b="1">
                <a:solidFill>
                  <a:srgbClr val="FF0000"/>
                </a:solidFill>
                <a:latin typeface="Arial" panose="020B0604020202020204" pitchFamily="34" charset="0"/>
              </a:rPr>
              <a:t>View Notifications</a:t>
            </a:r>
            <a:r>
              <a:rPr lang="az-Latn-AZ" altLang="en-US" sz="1200">
                <a:latin typeface="Arial" panose="020B0604020202020204" pitchFamily="34" charset="0"/>
              </a:rPr>
              <a:t>` bölməsi, sandbox Business hesabımızla bağlı bütün ödəniş hadisələrini (payment events) və əlaqəli bildirişləri əks etdirir.</a:t>
            </a:r>
            <a:endParaRPr kumimoji="0" lang="en-US" altLang="en-US" sz="12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E855A625-1F8B-9CDB-28A2-B75F65FE516D}"/>
              </a:ext>
            </a:extLst>
          </p:cNvPr>
          <p:cNvPicPr>
            <a:picLocks noChangeAspect="1"/>
          </p:cNvPicPr>
          <p:nvPr/>
        </p:nvPicPr>
        <p:blipFill>
          <a:blip r:embed="rId2"/>
          <a:stretch>
            <a:fillRect/>
          </a:stretch>
        </p:blipFill>
        <p:spPr>
          <a:xfrm>
            <a:off x="1436914" y="1303470"/>
            <a:ext cx="10661780" cy="54114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433328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8C5DA-09D1-2564-8D63-47A37C6D15F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0AC70B-4EED-D8D1-4325-70A33945CB56}"/>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Satıcının hesabındakı alıcı məlumatlar.</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699AD11C-4F42-072E-BE3A-DA5FB433BEE1}"/>
              </a:ext>
            </a:extLst>
          </p:cNvPr>
          <p:cNvPicPr>
            <a:picLocks noChangeAspect="1"/>
          </p:cNvPicPr>
          <p:nvPr/>
        </p:nvPicPr>
        <p:blipFill>
          <a:blip r:embed="rId2"/>
          <a:stretch>
            <a:fillRect/>
          </a:stretch>
        </p:blipFill>
        <p:spPr>
          <a:xfrm>
            <a:off x="0" y="1044722"/>
            <a:ext cx="12192000" cy="5813278"/>
          </a:xfrm>
          <a:prstGeom prst="rect">
            <a:avLst/>
          </a:prstGeom>
        </p:spPr>
      </p:pic>
    </p:spTree>
    <p:extLst>
      <p:ext uri="{BB962C8B-B14F-4D97-AF65-F5344CB8AC3E}">
        <p14:creationId xmlns:p14="http://schemas.microsoft.com/office/powerpoint/2010/main" val="27610999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20F84-0051-F401-9672-369DC1FB60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3D5C1F-4D0D-F9C0-0401-32E17BFA98DB}"/>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kumimoji="0" lang="en-US" altLang="en-US" sz="13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4201337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A5615-B444-14AF-FF9B-1733A1777E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E1C5EB-C4A4-59B3-0A06-DD708AB37D09}"/>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kumimoji="0" lang="en-US" altLang="en-US" sz="13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783456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6585</TotalTime>
  <Words>1957</Words>
  <Application>Microsoft Office PowerPoint</Application>
  <PresentationFormat>Widescreen</PresentationFormat>
  <Paragraphs>284</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411</cp:revision>
  <dcterms:created xsi:type="dcterms:W3CDTF">2025-04-12T11:00:44Z</dcterms:created>
  <dcterms:modified xsi:type="dcterms:W3CDTF">2025-07-12T21:01:11Z</dcterms:modified>
</cp:coreProperties>
</file>