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8" r:id="rId6"/>
    <p:sldId id="405" r:id="rId7"/>
    <p:sldId id="406" r:id="rId8"/>
    <p:sldId id="407" r:id="rId9"/>
    <p:sldId id="409" r:id="rId10"/>
    <p:sldId id="410" r:id="rId11"/>
    <p:sldId id="4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5" y="255046"/>
            <a:ext cx="7988824" cy="6020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Storing Data at Session in Laravel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sessiyaya məlumat saxlamaq üçün bir neçə üsul təqdim edir. Ən çox istifadə olunan metodlar:</a:t>
            </a: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-&gt;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session()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-&gt;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put(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100" b="1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-&gt;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session()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-&gt;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put(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key1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=&gt;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val1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key2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=&gt;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val2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session(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’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=&gt;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]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qlobal helper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Açıqlama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put('user_id', 35)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sessiya dəyişəni yaradılır və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35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dəyəri verilir.</a:t>
            </a:r>
          </a:p>
          <a:p>
            <a:pPr>
              <a:lnSpc>
                <a:spcPct val="200000"/>
              </a:lnSpc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redirect('get-session')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sessiyada saxlanmış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dd()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göstərilir.</a:t>
            </a:r>
          </a:p>
          <a:p>
            <a:pPr>
              <a:lnSpc>
                <a:spcPct val="150000"/>
              </a:lnSpc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783499-BD82-1F13-6D61-D9961C292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453" y="0"/>
            <a:ext cx="3771547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96905E-F9CF-4B57-2D46-3E181AD82309}"/>
              </a:ext>
            </a:extLst>
          </p:cNvPr>
          <p:cNvGrpSpPr/>
          <p:nvPr/>
        </p:nvGrpSpPr>
        <p:grpSpPr>
          <a:xfrm>
            <a:off x="5373278" y="4025244"/>
            <a:ext cx="2833260" cy="2832755"/>
            <a:chOff x="3771548" y="2903525"/>
            <a:chExt cx="4029637" cy="395447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DF9D57C-39FB-120D-3CC6-6DAC9A732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1548" y="2903525"/>
              <a:ext cx="4029637" cy="762106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595E873-BE3D-6C73-E65E-343BF5375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77374" y="4213781"/>
              <a:ext cx="4023811" cy="264421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A5974E71-60A5-3D5B-46A0-AC7BCD3C4AF5}"/>
                </a:ext>
              </a:extLst>
            </p:cNvPr>
            <p:cNvSpPr/>
            <p:nvPr/>
          </p:nvSpPr>
          <p:spPr>
            <a:xfrm>
              <a:off x="5626110" y="3762029"/>
              <a:ext cx="320511" cy="355354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Açıqlama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put([ 'a' =&gt; 'b', 'c' =&gt; 'd' ])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ilə birdən çox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key=&gt;value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cütü sessiyaya bir anda yazılır.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Əvvəlki sessiya məlumatları silinmir — əlavə olunur və ya eyni açar varsa əvəzlənir.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817624-E8BB-A44E-CD63-88CF46B8D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123" y="0"/>
            <a:ext cx="3629877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96BAFD2-D444-204A-254A-C2F9806D5F9C}"/>
              </a:ext>
            </a:extLst>
          </p:cNvPr>
          <p:cNvGrpSpPr/>
          <p:nvPr/>
        </p:nvGrpSpPr>
        <p:grpSpPr>
          <a:xfrm>
            <a:off x="4709507" y="2801178"/>
            <a:ext cx="3641254" cy="3986122"/>
            <a:chOff x="4492691" y="2867166"/>
            <a:chExt cx="3641254" cy="398612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37D944D-0B01-A77A-E04E-42BB397F6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4068" y="2867166"/>
              <a:ext cx="3629877" cy="792308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2D21B5D-8BD2-A682-7633-4C2E65C3D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2431"/>
            <a:stretch/>
          </p:blipFill>
          <p:spPr>
            <a:xfrm>
              <a:off x="4492691" y="4015819"/>
              <a:ext cx="3641254" cy="283746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CD14785B-6B01-6E25-B401-20007241BC9F}"/>
                </a:ext>
              </a:extLst>
            </p:cNvPr>
            <p:cNvSpPr/>
            <p:nvPr/>
          </p:nvSpPr>
          <p:spPr>
            <a:xfrm>
              <a:off x="6231118" y="3683517"/>
              <a:ext cx="349888" cy="308258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7606533" cy="3333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Açıqlama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obyektinə ehtiyac yoxdur.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session(['key' =&gt; 'value'])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sessiya məlumatları əlavə edilir.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metod daha qısa və oxunaqlıdır, lakin Laravel arxada yenə də eyni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SessionManager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obyektindən istifadə edir.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FB77E-2DAB-CAA6-9DC5-782B632D3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494" y="0"/>
            <a:ext cx="4180506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124B397-4289-25C0-F184-78A08A7A7DD2}"/>
              </a:ext>
            </a:extLst>
          </p:cNvPr>
          <p:cNvGrpSpPr/>
          <p:nvPr/>
        </p:nvGrpSpPr>
        <p:grpSpPr>
          <a:xfrm>
            <a:off x="4008044" y="2734176"/>
            <a:ext cx="3685718" cy="4123824"/>
            <a:chOff x="3876069" y="2734176"/>
            <a:chExt cx="3685718" cy="412382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1EB03B-D0BC-0AAF-97BA-F8FE69AC5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6069" y="2734176"/>
              <a:ext cx="3685718" cy="6504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AF84A4C-B93F-C16D-00BF-7FE3B96A6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76069" y="3798613"/>
              <a:ext cx="3685718" cy="3059387"/>
            </a:xfrm>
            <a:prstGeom prst="rect">
              <a:avLst/>
            </a:prstGeom>
          </p:spPr>
        </p:pic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CC340814-9690-FA4C-9929-61054537318A}"/>
                </a:ext>
              </a:extLst>
            </p:cNvPr>
            <p:cNvSpPr/>
            <p:nvPr/>
          </p:nvSpPr>
          <p:spPr>
            <a:xfrm>
              <a:off x="5558672" y="3429000"/>
              <a:ext cx="320511" cy="355354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435DD-2CD5-A90C-190A-5817C34C5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C4BC2B-F2C6-6F7C-730A-37C31F8F22A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Fərqlərin Cədvəli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C2ECAA-98FE-C88B-4148-F82D41FCF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583017"/>
              </p:ext>
            </p:extLst>
          </p:nvPr>
        </p:nvGraphicFramePr>
        <p:xfrm>
          <a:off x="217714" y="983301"/>
          <a:ext cx="11635706" cy="2342004"/>
        </p:xfrm>
        <a:graphic>
          <a:graphicData uri="http://schemas.openxmlformats.org/drawingml/2006/table">
            <a:tbl>
              <a:tblPr/>
              <a:tblGrid>
                <a:gridCol w="919426">
                  <a:extLst>
                    <a:ext uri="{9D8B030D-6E8A-4147-A177-3AD203B41FA5}">
                      <a16:colId xmlns:a16="http://schemas.microsoft.com/office/drawing/2014/main" val="699910080"/>
                    </a:ext>
                  </a:extLst>
                </a:gridCol>
                <a:gridCol w="5358140">
                  <a:extLst>
                    <a:ext uri="{9D8B030D-6E8A-4147-A177-3AD203B41FA5}">
                      <a16:colId xmlns:a16="http://schemas.microsoft.com/office/drawing/2014/main" val="2180009960"/>
                    </a:ext>
                  </a:extLst>
                </a:gridCol>
                <a:gridCol w="5358140">
                  <a:extLst>
                    <a:ext uri="{9D8B030D-6E8A-4147-A177-3AD203B41FA5}">
                      <a16:colId xmlns:a16="http://schemas.microsoft.com/office/drawing/2014/main" val="3978951132"/>
                    </a:ext>
                  </a:extLst>
                </a:gridCol>
              </a:tblGrid>
              <a:tr h="585501">
                <a:tc>
                  <a:txBody>
                    <a:bodyPr/>
                    <a:lstStyle/>
                    <a:p>
                      <a:r>
                        <a:rPr lang="en-US" b="1"/>
                        <a:t>Kod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Metod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314503"/>
                  </a:ext>
                </a:extLst>
              </a:tr>
              <a:tr h="585501">
                <a:tc>
                  <a:txBody>
                    <a:bodyPr/>
                    <a:lstStyle/>
                    <a:p>
                      <a:r>
                        <a:rPr lang="en-US" b="1"/>
                        <a:t>a)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$request-&gt;session()-&gt;put('key', val)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Tək dəyər sessiyaya yazmaq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815402"/>
                  </a:ext>
                </a:extLst>
              </a:tr>
              <a:tr h="585501">
                <a:tc>
                  <a:txBody>
                    <a:bodyPr/>
                    <a:lstStyle/>
                    <a:p>
                      <a:r>
                        <a:rPr lang="en-US" b="1"/>
                        <a:t>b)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$request-&gt;session()-&gt;put([...])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Birdən çox dəyəri bir anda yazmaq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150072"/>
                  </a:ext>
                </a:extLst>
              </a:tr>
              <a:tr h="585501">
                <a:tc>
                  <a:txBody>
                    <a:bodyPr/>
                    <a:lstStyle/>
                    <a:p>
                      <a:r>
                        <a:rPr lang="en-US" b="1"/>
                        <a:t>c)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session(['key' =&gt; val])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Qlobal helper, daha qısa və rahat yazılış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727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69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0CD74-C43A-5686-069E-AD2715D3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7E8AF5-DD6B-D1BE-F28D-A111B4966E70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Əlavə Məlumat (Təhlükəsizlik və Təcrübə)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Sessiyaya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şifrəli məlumat saxlamaq istəyirsinizsə,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konfiqurasiyasını aktiv edin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config/session.php – 'encrypt' =&gt; true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Şəxsi və ya kritik məlumatları (şifrə, token və s.) sessiyada birbaşa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saxlamamaq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tövsiyə olunur — əvəzində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saxlayıb, lazım olan məlumatları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verilənlər bazasından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çəkə bilərsiniz.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5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DC148-3EBC-2C36-BEAA-8B1093AB4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851024-34EB-980F-6E31-A4E1FB82BFFC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Kritik Məlumatları Sessiyada Saxlamamaq nə deməkdir?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sessiya sistemində istənilən məlumatı saxlamaq mümkündür.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üsulla kritik (şəxsi, gizli) məlumatları sessiyaya yazmaq mümkündür. Amma bu təhlükəli və səhv yanaşmadır.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Niyə təhlükəlidir?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sərt disklərdə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(file driver),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verilənlər bazasında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(database driver),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Memcached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kimi sistemlərdə saxlanılır.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bu sistemlərdən biri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kompromisə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uğrasa (məsələn, server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olunsa), istifadəçilərin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şifrələri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tokenləri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əldə oluna bilər.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məlumatlar şifrələnməmiş və ya zəif qorunan şəkildə saxlanırsa, hücumçu onu rahatlıqla oxuya bilər.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F854B0-340E-CF33-1266-F006EAD78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47738"/>
            <a:ext cx="2905530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0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F98C-7E99-095E-1DA4-BB46F61A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DB5C6B-F9E9-D45B-B825-F3A2E2919E4F}"/>
              </a:ext>
            </a:extLst>
          </p:cNvPr>
          <p:cNvSpPr txBox="1"/>
          <p:nvPr/>
        </p:nvSpPr>
        <p:spPr>
          <a:xfrm>
            <a:off x="217714" y="255046"/>
            <a:ext cx="11756571" cy="624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Doğru yanaşma nədir? 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Əvəzində sessiyada təkcə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username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kimi məlumat saxlamaq tövsiyə olunur.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/>
              <a:t>Sonra lazım olan digər məlumatlar (email, rol, şifrə və s.) verilənlər bazasından çəkilir: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Həyat Nümunəsi ilə Təsəvvür Edin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🔐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Yanlış üsul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sən bank kartının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kodunu sessiyada saxlayırsan.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Doğru üsul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sən sadəcə istifadəçinin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-sini saxlayırsan, digər məlumatları ehtiyac olduqda bank sistemindən soruşursan.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B433E-E95A-B301-9863-010B7CEBB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97261"/>
            <a:ext cx="2105319" cy="952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C714E0-6741-349C-FF30-CFE3F2D6C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217529"/>
            <a:ext cx="3267531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5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B9CF-705C-2D76-B5C9-12D70FAD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E9FB4-B003-22F9-8DB1-458BDE6A95F7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Ümumi Qayda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F4EBC3-FEAB-32C6-3B46-E8492C6EE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543925"/>
              </p:ext>
            </p:extLst>
          </p:nvPr>
        </p:nvGraphicFramePr>
        <p:xfrm>
          <a:off x="217714" y="996500"/>
          <a:ext cx="11756571" cy="1869246"/>
        </p:xfrm>
        <a:graphic>
          <a:graphicData uri="http://schemas.openxmlformats.org/drawingml/2006/table">
            <a:tbl>
              <a:tblPr/>
              <a:tblGrid>
                <a:gridCol w="5391234">
                  <a:extLst>
                    <a:ext uri="{9D8B030D-6E8A-4147-A177-3AD203B41FA5}">
                      <a16:colId xmlns:a16="http://schemas.microsoft.com/office/drawing/2014/main" val="440513709"/>
                    </a:ext>
                  </a:extLst>
                </a:gridCol>
                <a:gridCol w="2130458">
                  <a:extLst>
                    <a:ext uri="{9D8B030D-6E8A-4147-A177-3AD203B41FA5}">
                      <a16:colId xmlns:a16="http://schemas.microsoft.com/office/drawing/2014/main" val="1285996696"/>
                    </a:ext>
                  </a:extLst>
                </a:gridCol>
                <a:gridCol w="4234879">
                  <a:extLst>
                    <a:ext uri="{9D8B030D-6E8A-4147-A177-3AD203B41FA5}">
                      <a16:colId xmlns:a16="http://schemas.microsoft.com/office/drawing/2014/main" val="547759086"/>
                    </a:ext>
                  </a:extLst>
                </a:gridCol>
              </a:tblGrid>
              <a:tr h="623082">
                <a:tc>
                  <a:txBody>
                    <a:bodyPr/>
                    <a:lstStyle/>
                    <a:p>
                      <a:r>
                        <a:rPr lang="en-US" b="1"/>
                        <a:t>Məlumat Növü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Sessiyada Saxlamaq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Qeyd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848180"/>
                  </a:ext>
                </a:extLst>
              </a:tr>
              <a:tr h="623082">
                <a:tc>
                  <a:txBody>
                    <a:bodyPr/>
                    <a:lstStyle/>
                    <a:p>
                      <a:r>
                        <a:rPr lang="en-US"/>
                        <a:t>user_id, locale, theme, cart_items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</a:t>
                      </a:r>
                      <a:r>
                        <a:rPr lang="en-US" b="1"/>
                        <a:t>Bəli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Normal istifadə üçün uyğundur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665714"/>
                  </a:ext>
                </a:extLst>
              </a:tr>
              <a:tr h="623082">
                <a:tc>
                  <a:txBody>
                    <a:bodyPr/>
                    <a:lstStyle/>
                    <a:p>
                      <a:r>
                        <a:rPr lang="en-US"/>
                        <a:t>password, token, secret_key, PIN, credit_card_number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</a:t>
                      </a:r>
                      <a:r>
                        <a:rPr lang="en-US" b="1"/>
                        <a:t>Xeyr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Heç vaxt</a:t>
                      </a:r>
                      <a:r>
                        <a:rPr lang="en-US"/>
                        <a:t> birbaşa sessiyada saxlanmamalıdır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583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206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315C4-B0AE-59C2-81CF-9E0F8A7F0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59DF7B-B7B9-C223-4B2B-46A6EDB1EB5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965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3425B-36E7-C297-A941-1CE9AA4B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A94772-0E92-1914-D97F-0CF222A3099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0308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3A29-DC91-3A90-7443-58C7FA291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ABC221-976C-A0DD-30E7-FACFF7D3D8F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0435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2684</TotalTime>
  <Words>521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341</cp:revision>
  <dcterms:created xsi:type="dcterms:W3CDTF">2025-04-12T11:00:44Z</dcterms:created>
  <dcterms:modified xsi:type="dcterms:W3CDTF">2025-05-27T11:54:45Z</dcterms:modified>
</cp:coreProperties>
</file>