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9"/>
  </p:notesMasterIdLst>
  <p:sldIdLst>
    <p:sldId id="413" r:id="rId2"/>
    <p:sldId id="415" r:id="rId3"/>
    <p:sldId id="416" r:id="rId4"/>
    <p:sldId id="417" r:id="rId5"/>
    <p:sldId id="418" r:id="rId6"/>
    <p:sldId id="419" r:id="rId7"/>
    <p:sldId id="420" r:id="rId8"/>
    <p:sldId id="421" r:id="rId9"/>
    <p:sldId id="422" r:id="rId10"/>
    <p:sldId id="423" r:id="rId11"/>
    <p:sldId id="424" r:id="rId12"/>
    <p:sldId id="425" r:id="rId13"/>
    <p:sldId id="426" r:id="rId14"/>
    <p:sldId id="427" r:id="rId15"/>
    <p:sldId id="445" r:id="rId16"/>
    <p:sldId id="446" r:id="rId17"/>
    <p:sldId id="447" r:id="rId18"/>
    <p:sldId id="448" r:id="rId19"/>
    <p:sldId id="450" r:id="rId20"/>
    <p:sldId id="449" r:id="rId21"/>
    <p:sldId id="451" r:id="rId22"/>
    <p:sldId id="452" r:id="rId23"/>
    <p:sldId id="453" r:id="rId24"/>
    <p:sldId id="454" r:id="rId25"/>
    <p:sldId id="455" r:id="rId26"/>
    <p:sldId id="456" r:id="rId27"/>
    <p:sldId id="457" r:id="rId28"/>
    <p:sldId id="458" r:id="rId29"/>
    <p:sldId id="428" r:id="rId30"/>
    <p:sldId id="429" r:id="rId31"/>
    <p:sldId id="430" r:id="rId32"/>
    <p:sldId id="431" r:id="rId33"/>
    <p:sldId id="432" r:id="rId34"/>
    <p:sldId id="433" r:id="rId35"/>
    <p:sldId id="434" r:id="rId36"/>
    <p:sldId id="459" r:id="rId37"/>
    <p:sldId id="460" r:id="rId38"/>
    <p:sldId id="461" r:id="rId39"/>
    <p:sldId id="435" r:id="rId40"/>
    <p:sldId id="436" r:id="rId41"/>
    <p:sldId id="437" r:id="rId42"/>
    <p:sldId id="438" r:id="rId43"/>
    <p:sldId id="462" r:id="rId44"/>
    <p:sldId id="463" r:id="rId45"/>
    <p:sldId id="464" r:id="rId46"/>
    <p:sldId id="465" r:id="rId47"/>
    <p:sldId id="439" r:id="rId48"/>
    <p:sldId id="440" r:id="rId49"/>
    <p:sldId id="441" r:id="rId50"/>
    <p:sldId id="442" r:id="rId51"/>
    <p:sldId id="443" r:id="rId52"/>
    <p:sldId id="444" r:id="rId53"/>
    <p:sldId id="414" r:id="rId54"/>
    <p:sldId id="400" r:id="rId55"/>
    <p:sldId id="466" r:id="rId56"/>
    <p:sldId id="467" r:id="rId57"/>
    <p:sldId id="468" r:id="rId58"/>
    <p:sldId id="469" r:id="rId59"/>
    <p:sldId id="470" r:id="rId60"/>
    <p:sldId id="471" r:id="rId61"/>
    <p:sldId id="472" r:id="rId62"/>
    <p:sldId id="473" r:id="rId63"/>
    <p:sldId id="474" r:id="rId64"/>
    <p:sldId id="475" r:id="rId65"/>
    <p:sldId id="477" r:id="rId66"/>
    <p:sldId id="478" r:id="rId67"/>
    <p:sldId id="483" r:id="rId68"/>
    <p:sldId id="484" r:id="rId69"/>
    <p:sldId id="485" r:id="rId70"/>
    <p:sldId id="486" r:id="rId71"/>
    <p:sldId id="479" r:id="rId72"/>
    <p:sldId id="480" r:id="rId73"/>
    <p:sldId id="481" r:id="rId74"/>
    <p:sldId id="482" r:id="rId75"/>
    <p:sldId id="476" r:id="rId76"/>
    <p:sldId id="487" r:id="rId77"/>
    <p:sldId id="488" r:id="rId7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96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908BF-04AC-4206-A1BB-909FF99C5071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2302AD-9A5A-4426-9B4F-6643BD258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372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302AD-9A5A-4426-9B4F-6643BD258ACA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565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7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455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Stripe</a:t>
            </a:r>
            <a:r>
              <a:rPr lang="en-US" altLang="en-US" sz="1300">
                <a:latin typeface="Arial" panose="020B0604020202020204" pitchFamily="34" charset="0"/>
              </a:rPr>
              <a:t> Azərbaycanda rəsmi dəstək vermədiyi üçün çox developer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2Checkout</a:t>
            </a:r>
            <a:r>
              <a:rPr lang="en-US" altLang="en-US" sz="1300">
                <a:latin typeface="Arial" panose="020B0604020202020204" pitchFamily="34" charset="0"/>
              </a:rPr>
              <a:t> (indi adı </a:t>
            </a:r>
            <a:r>
              <a:rPr lang="en-US" altLang="en-US" sz="1300" b="1">
                <a:latin typeface="Arial" panose="020B0604020202020204" pitchFamily="34" charset="0"/>
              </a:rPr>
              <a:t>Verifone</a:t>
            </a:r>
            <a:r>
              <a:rPr lang="en-US" altLang="en-US" sz="1300">
                <a:latin typeface="Arial" panose="020B0604020202020204" pitchFamily="34" charset="0"/>
              </a:rPr>
              <a:t>) xidmətinə yönəlir. Gəlin </a:t>
            </a:r>
            <a:r>
              <a:rPr lang="en-US" altLang="en-US" sz="1300" b="1">
                <a:latin typeface="Arial" panose="020B0604020202020204" pitchFamily="34" charset="0"/>
              </a:rPr>
              <a:t>2Checkout</a:t>
            </a:r>
            <a:r>
              <a:rPr lang="en-US" altLang="en-US" sz="1300">
                <a:latin typeface="Arial" panose="020B0604020202020204" pitchFamily="34" charset="0"/>
              </a:rPr>
              <a:t> haqqında hər şeyi ətraflı, addım-addım və sadə dillə izah edək</a:t>
            </a:r>
            <a:r>
              <a:rPr lang="az-Latn-AZ" altLang="en-US" sz="1300">
                <a:latin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2Checkout</a:t>
            </a:r>
            <a:r>
              <a:rPr lang="en-US" altLang="en-US" sz="1300">
                <a:latin typeface="Arial" panose="020B0604020202020204" pitchFamily="34" charset="0"/>
              </a:rPr>
              <a:t> – beynəlxalq ödəniş sistemi platformasıdır. Satıcılar (siz) bu platforma vasitəsilə: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2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💳 VISA, MasterCard, Maestro, American Express kimi kredit/debet kartları ilə ödəniş qəbul edə bilər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🌍 Ödənişləri beynəlxalq alıcılardan ala bilər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💰 Pul çıxarışını bank hesabına (SEPA, SWIFT) edə bilər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📄 Vergi, compliance və fraud yoxlamalarını avtomatik idarə edir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Stripe kimi müasir, amma daha çox ölkədə əlçatan və Azərbaycan üçün də uyğundur.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A70EA-4C64-95D7-4F25-6F6E9B8D0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DA229E-BCAF-64C7-9EE2-900D6F5BD42A}"/>
              </a:ext>
            </a:extLst>
          </p:cNvPr>
          <p:cNvSpPr txBox="1"/>
          <p:nvPr/>
        </p:nvSpPr>
        <p:spPr>
          <a:xfrm>
            <a:off x="217714" y="255046"/>
            <a:ext cx="11756571" cy="2455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2Checkout</a:t>
            </a:r>
            <a:r>
              <a:rPr lang="az-Latn-AZ" altLang="en-US" sz="1300" b="1">
                <a:latin typeface="Arial" panose="020B0604020202020204" pitchFamily="34" charset="0"/>
              </a:rPr>
              <a:t> işləmək</a:t>
            </a:r>
            <a:r>
              <a:rPr lang="en-US" altLang="en-US" sz="1300" b="1">
                <a:latin typeface="Arial" panose="020B0604020202020204" pitchFamily="34" charset="0"/>
              </a:rPr>
              <a:t> </a:t>
            </a:r>
            <a:r>
              <a:rPr lang="az-Latn-AZ" altLang="en-US" sz="1300" b="1">
                <a:latin typeface="Arial" panose="020B0604020202020204" pitchFamily="34" charset="0"/>
              </a:rPr>
              <a:t>üçün </a:t>
            </a:r>
            <a:r>
              <a:rPr lang="en-US" altLang="en-US" sz="1300" b="1">
                <a:latin typeface="Arial" panose="020B0604020202020204" pitchFamily="34" charset="0"/>
              </a:rPr>
              <a:t>iki üsul təklif edir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1. </a:t>
            </a: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Hosted Checkout (asandır)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Alıcı sizdən ödəniş etmək istəyəndə — saytınızdan </a:t>
            </a:r>
            <a:r>
              <a:rPr lang="en-US" altLang="en-US" sz="1300" u="sng">
                <a:solidFill>
                  <a:srgbClr val="00B0F0"/>
                </a:solidFill>
                <a:latin typeface="Arial" panose="020B0604020202020204" pitchFamily="34" charset="0"/>
              </a:rPr>
              <a:t>https://secure.2checkout.com/checkout/purchase</a:t>
            </a:r>
            <a:r>
              <a:rPr lang="en-US" altLang="en-US" sz="1300">
                <a:latin typeface="Arial" panose="020B0604020202020204" pitchFamily="34" charset="0"/>
              </a:rPr>
              <a:t> ünvanına yönləndirilir. Ödəniş </a:t>
            </a:r>
            <a:r>
              <a:rPr lang="en-US" altLang="en-US" sz="1300" b="1">
                <a:latin typeface="Arial" panose="020B0604020202020204" pitchFamily="34" charset="0"/>
              </a:rPr>
              <a:t>2Checkout</a:t>
            </a:r>
            <a:r>
              <a:rPr lang="en-US" altLang="en-US" sz="1300">
                <a:latin typeface="Arial" panose="020B0604020202020204" pitchFamily="34" charset="0"/>
              </a:rPr>
              <a:t>-un saytında tamamlanır. Sizə sonra cavab (callback) gəlir.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2. </a:t>
            </a: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Inline Checkout / REST API (çətin, daha peşəkar)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Siz ödənişi saytınızdan ayrılmadan </a:t>
            </a:r>
            <a:r>
              <a:rPr lang="en-US" altLang="en-US" sz="1300" b="1">
                <a:latin typeface="Arial" panose="020B0604020202020204" pitchFamily="34" charset="0"/>
              </a:rPr>
              <a:t>JavaScript</a:t>
            </a:r>
            <a:r>
              <a:rPr lang="en-US" altLang="en-US" sz="1300">
                <a:latin typeface="Arial" panose="020B0604020202020204" pitchFamily="34" charset="0"/>
              </a:rPr>
              <a:t> ilə və ya server vasitəsilə </a:t>
            </a:r>
            <a:r>
              <a:rPr lang="en-US" altLang="en-US" sz="1300" b="1">
                <a:latin typeface="Arial" panose="020B0604020202020204" pitchFamily="34" charset="0"/>
              </a:rPr>
              <a:t>2Checkout API </a:t>
            </a:r>
            <a:r>
              <a:rPr lang="en-US" altLang="en-US" sz="1300">
                <a:latin typeface="Arial" panose="020B0604020202020204" pitchFamily="34" charset="0"/>
              </a:rPr>
              <a:t>ilə icra edirsiniz.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296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91B7F-69F0-20E5-AE66-84226A08C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D9AE99-5B05-4A7C-DB2F-BEFFF596FC1C}"/>
              </a:ext>
            </a:extLst>
          </p:cNvPr>
          <p:cNvSpPr txBox="1"/>
          <p:nvPr/>
        </p:nvSpPr>
        <p:spPr>
          <a:xfrm>
            <a:off x="217714" y="255046"/>
            <a:ext cx="11756571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Azərbaycandan satıcı hesabı necə açılır?</a:t>
            </a:r>
            <a:endParaRPr lang="az-Latn-AZ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🔹 </a:t>
            </a:r>
            <a:r>
              <a:rPr lang="en-US" altLang="en-US" sz="1300" b="1">
                <a:latin typeface="Arial" panose="020B0604020202020204" pitchFamily="34" charset="0"/>
              </a:rPr>
              <a:t>Addımlar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en-US" altLang="en-US" sz="1300">
                <a:latin typeface="Arial" panose="020B0604020202020204" pitchFamily="34" charset="0"/>
              </a:rPr>
              <a:t>Sayta keçin: </a:t>
            </a:r>
            <a:r>
              <a:rPr lang="en-US" altLang="en-US" sz="1300" b="1" u="sng">
                <a:solidFill>
                  <a:srgbClr val="00B0F0"/>
                </a:solidFill>
                <a:latin typeface="Arial" panose="020B0604020202020204" pitchFamily="34" charset="0"/>
              </a:rPr>
              <a:t>https://www.2checkout.com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Sign Up → Business </a:t>
            </a:r>
            <a:r>
              <a:rPr lang="az-Latn-AZ" altLang="en-US" sz="1300">
                <a:latin typeface="Arial" panose="020B0604020202020204" pitchFamily="34" charset="0"/>
              </a:rPr>
              <a:t>avtomatik seçili olur.</a:t>
            </a:r>
            <a:endParaRPr lang="en-US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Qeydiyyat zamanı ölkə olaraq "Azerbaijan" seçin ✅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Sizdən bu sənədləri istəyə bilər</a:t>
            </a:r>
            <a:r>
              <a:rPr lang="az-Latn-AZ" altLang="en-US" sz="1300">
                <a:latin typeface="Arial" panose="020B0604020202020204" pitchFamily="34" charset="0"/>
              </a:rPr>
              <a:t> ( məndən ilkin qeydiyyat zaman istəmədi. Ola bilərki </a:t>
            </a:r>
            <a:r>
              <a:rPr lang="az-Latn-AZ" altLang="en-US" sz="1300" b="1">
                <a:latin typeface="Arial" panose="020B0604020202020204" pitchFamily="34" charset="0"/>
              </a:rPr>
              <a:t>test</a:t>
            </a:r>
            <a:r>
              <a:rPr lang="az-Latn-AZ" altLang="en-US" sz="1300">
                <a:latin typeface="Arial" panose="020B0604020202020204" pitchFamily="34" charset="0"/>
              </a:rPr>
              <a:t> yox </a:t>
            </a:r>
            <a:r>
              <a:rPr lang="az-Latn-AZ" altLang="en-US" sz="1300" b="1">
                <a:latin typeface="Arial" panose="020B0604020202020204" pitchFamily="34" charset="0"/>
              </a:rPr>
              <a:t>real</a:t>
            </a:r>
            <a:r>
              <a:rPr lang="az-Latn-AZ" altLang="en-US" sz="1300">
                <a:latin typeface="Arial" panose="020B0604020202020204" pitchFamily="34" charset="0"/>
              </a:rPr>
              <a:t> istifadə mühidində tələb etsin )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Şəxsi sənəd və ya VÖEN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Bank hesabı rekvizitləri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Saytınızın URL və TOS (Terms of Service)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Qeyd</a:t>
            </a:r>
            <a:r>
              <a:rPr lang="en-US" altLang="en-US" sz="1300">
                <a:latin typeface="Arial" panose="020B0604020202020204" pitchFamily="34" charset="0"/>
              </a:rPr>
              <a:t>: Onların compliance komandası bir neçə gündə hesabı aktivləşdirir. Əgər saytınız real, qanuni fəaliyyət göstərirsə – problem olmur.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57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DEA4A-034E-BBDA-2555-F6D2FD6ED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3CD45B-BC04-CC28-347C-DA3C69523D59}"/>
              </a:ext>
            </a:extLst>
          </p:cNvPr>
          <p:cNvSpPr txBox="1"/>
          <p:nvPr/>
        </p:nvSpPr>
        <p:spPr>
          <a:xfrm>
            <a:off x="217714" y="255046"/>
            <a:ext cx="11756571" cy="2455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Laravel və 2Checkout inteqrasiyası mümkündürmü?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Bəli. Laravel ilə </a:t>
            </a:r>
            <a:r>
              <a:rPr lang="en-US" altLang="en-US" sz="1300" b="1">
                <a:latin typeface="Arial" panose="020B0604020202020204" pitchFamily="34" charset="0"/>
              </a:rPr>
              <a:t>REST API </a:t>
            </a:r>
            <a:r>
              <a:rPr lang="en-US" altLang="en-US" sz="1300">
                <a:latin typeface="Arial" panose="020B0604020202020204" pitchFamily="34" charset="0"/>
              </a:rPr>
              <a:t>və </a:t>
            </a:r>
            <a:r>
              <a:rPr lang="en-US" altLang="en-US" sz="1300" b="1">
                <a:latin typeface="Arial" panose="020B0604020202020204" pitchFamily="34" charset="0"/>
              </a:rPr>
              <a:t>Hosted Checkout </a:t>
            </a:r>
            <a:r>
              <a:rPr lang="en-US" altLang="en-US" sz="1300">
                <a:latin typeface="Arial" panose="020B0604020202020204" pitchFamily="34" charset="0"/>
              </a:rPr>
              <a:t>versiyası rahatlıqla işləyir.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Laravel üçün xüsusi </a:t>
            </a:r>
            <a:r>
              <a:rPr lang="en-US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2checkout/2checkout-php SDK </a:t>
            </a:r>
            <a:r>
              <a:rPr lang="en-US" altLang="en-US" sz="1300">
                <a:latin typeface="Arial" panose="020B0604020202020204" pitchFamily="34" charset="0"/>
              </a:rPr>
              <a:t>mövcuddur: </a:t>
            </a:r>
            <a:r>
              <a:rPr lang="en-US" altLang="en-US" sz="1300" u="sng">
                <a:solidFill>
                  <a:srgbClr val="00B0F0"/>
                </a:solidFill>
                <a:latin typeface="Arial" panose="020B0604020202020204" pitchFamily="34" charset="0"/>
              </a:rPr>
              <a:t>https://github.com/2Checkout/2checkout-php-sdk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12 </a:t>
            </a:r>
            <a:r>
              <a:rPr lang="az-Latn-AZ" altLang="en-US" sz="1300">
                <a:latin typeface="Arial" panose="020B0604020202020204" pitchFamily="34" charset="0"/>
              </a:rPr>
              <a:t>-ci slaydda bu paketi endirəcəyik. İndi 5ci slayda keçid edərək saytdan qeydiyyatdan keçək.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EC741D-EE19-21C7-8E25-7EB7ED1AD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366414"/>
            <a:ext cx="3191320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18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57762-958E-35EF-0CE7-A98F7F9A6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584070-5AF4-FEE5-3F0F-E08E4CB1C36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55DD4A-4AF8-FD39-16F9-600CCAFFC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6346"/>
            <a:ext cx="12192000" cy="509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40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D6757-2BB5-3691-B215-C931A604B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131CCE-1C5A-E1F1-66A0-EC55AD4395F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B4457C-56B1-D6CB-DA2F-8866A522A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891" y="275785"/>
            <a:ext cx="4420217" cy="63064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92931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FDC2B-8693-09FD-52BE-D5EBBF2AE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1A5404-B2BB-9C0B-AB9D-BFA1AAA7654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BBC722-4844-E8F8-1637-3B30B378E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397977"/>
            <a:ext cx="12192000" cy="446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559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A178F-2F93-FFFA-5362-4244CBF81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7B0952-1568-7667-6E1F-D0AA3E4E739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DE7E2F-305C-9A1B-A52B-9FF2B6C0E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4381"/>
            <a:ext cx="12192000" cy="56036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8574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C93B7-EDB1-B5D1-E98A-5A55D14D1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5A30DB-0484-197C-4A0B-29B77F6FD56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042937-A46F-CF9B-855B-65C6DF2F8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26954"/>
            <a:ext cx="12192000" cy="38310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4534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09C54-DAD0-3BDF-6FF9-2CC0084F3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E5AA71-F175-9DFB-F4E1-709AAB01495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A4311A-82A9-1F37-2229-9FC162CA5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99270"/>
            <a:ext cx="12192000" cy="24587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76427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EBB82-E551-7EB7-FE9A-4B014D1B6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E002F9-9935-7829-5354-2F53A87CEB2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26D3E8-1562-192E-4261-C6399BEB2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0719" y="255046"/>
            <a:ext cx="4744112" cy="62683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5813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21555-6EDC-2E9F-F9A3-D2D158465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0B0E30-D33D-5696-DC1D-8520E6014CAB}"/>
              </a:ext>
            </a:extLst>
          </p:cNvPr>
          <p:cNvSpPr txBox="1"/>
          <p:nvPr/>
        </p:nvSpPr>
        <p:spPr>
          <a:xfrm>
            <a:off x="217714" y="255046"/>
            <a:ext cx="1175657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u="sng">
                <a:solidFill>
                  <a:srgbClr val="00B0F0"/>
                </a:solidFill>
                <a:latin typeface="Arial" panose="020B0604020202020204" pitchFamily="34" charset="0"/>
              </a:rPr>
              <a:t>https://github.com/2Checkout/2checkout-php-sdk</a:t>
            </a:r>
            <a:endParaRPr lang="az-Latn-AZ" altLang="en-US" sz="1300" u="sng">
              <a:solidFill>
                <a:srgbClr val="00B0F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1D2756-3ADF-3A78-FBF7-655C8A8A1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610167"/>
            <a:ext cx="12192000" cy="524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655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2A916-9244-DE97-F760-1B7559469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60F337-22F0-E32C-FDEC-487035E4830E}"/>
              </a:ext>
            </a:extLst>
          </p:cNvPr>
          <p:cNvSpPr txBox="1"/>
          <p:nvPr/>
        </p:nvSpPr>
        <p:spPr>
          <a:xfrm>
            <a:off x="217715" y="255046"/>
            <a:ext cx="4531568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Endirdiyimiz qovluğu Vendor qolvuğuna yerləşdiririk.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629380-E626-6432-7A3C-F1F9D8506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0117" y="0"/>
            <a:ext cx="71418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119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FC8B4-638E-35A0-DCF5-9369E4A4E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025189-3FDE-E221-9ACE-01F139A93D7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Qovluğun adından </a:t>
            </a:r>
            <a:r>
              <a:rPr lang="az-Latn-AZ" altLang="en-US" sz="1300" b="1">
                <a:latin typeface="Arial" panose="020B0604020202020204" pitchFamily="34" charset="0"/>
              </a:rPr>
              <a:t>MAİN</a:t>
            </a:r>
            <a:r>
              <a:rPr lang="az-Latn-AZ" altLang="en-US" sz="1300">
                <a:latin typeface="Arial" panose="020B0604020202020204" pitchFamily="34" charset="0"/>
              </a:rPr>
              <a:t> sözünü silirik.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662DC9-2246-217D-CE56-3B74DD6B1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7155" y="0"/>
            <a:ext cx="2114845" cy="584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294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9C4CA-C201-2093-05D0-B7636C6A9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9A9885-AA9C-4DA2-73D1-F09BB3CF0A50}"/>
              </a:ext>
            </a:extLst>
          </p:cNvPr>
          <p:cNvSpPr txBox="1"/>
          <p:nvPr/>
        </p:nvSpPr>
        <p:spPr>
          <a:xfrm>
            <a:off x="121298" y="255046"/>
            <a:ext cx="7793382" cy="5044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composer.json </a:t>
            </a:r>
            <a:r>
              <a:rPr lang="en-US" altLang="en-US" sz="1200">
                <a:latin typeface="Arial" panose="020B0604020202020204" pitchFamily="34" charset="0"/>
              </a:rPr>
              <a:t>faylında bu sətirin əlavə olunması: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200">
                <a:latin typeface="Arial" panose="020B0604020202020204" pitchFamily="34" charset="0"/>
              </a:rPr>
              <a:t>📌 Nə üçün bu files bölməsi əlavə olunur?</a:t>
            </a:r>
          </a:p>
          <a:p>
            <a:pPr>
              <a:lnSpc>
                <a:spcPct val="150000"/>
              </a:lnSpc>
            </a:pPr>
            <a:r>
              <a:rPr lang="en-US" altLang="en-US" sz="1200" b="1">
                <a:latin typeface="Arial" panose="020B0604020202020204" pitchFamily="34" charset="0"/>
              </a:rPr>
              <a:t>Laravel</a:t>
            </a:r>
            <a:r>
              <a:rPr lang="en-US" altLang="en-US" sz="1200">
                <a:latin typeface="Arial" panose="020B0604020202020204" pitchFamily="34" charset="0"/>
              </a:rPr>
              <a:t> və </a:t>
            </a:r>
            <a:r>
              <a:rPr lang="en-US" altLang="en-US" sz="1200" b="1">
                <a:latin typeface="Arial" panose="020B0604020202020204" pitchFamily="34" charset="0"/>
              </a:rPr>
              <a:t>Composer</a:t>
            </a:r>
            <a:r>
              <a:rPr lang="en-US" altLang="en-US" sz="1200">
                <a:latin typeface="Arial" panose="020B0604020202020204" pitchFamily="34" charset="0"/>
              </a:rPr>
              <a:t> avtomatik olaraq </a:t>
            </a:r>
            <a:r>
              <a:rPr lang="en-US" altLang="en-US" sz="1200" b="1">
                <a:latin typeface="Arial" panose="020B0604020202020204" pitchFamily="34" charset="0"/>
              </a:rPr>
              <a:t>PSR-4</a:t>
            </a:r>
            <a:r>
              <a:rPr lang="en-US" altLang="en-US" sz="1200">
                <a:latin typeface="Arial" panose="020B0604020202020204" pitchFamily="34" charset="0"/>
              </a:rPr>
              <a:t> və </a:t>
            </a:r>
            <a:r>
              <a:rPr lang="en-US" altLang="en-US" sz="1200" b="1">
                <a:latin typeface="Arial" panose="020B0604020202020204" pitchFamily="34" charset="0"/>
              </a:rPr>
              <a:t>PSR-0</a:t>
            </a:r>
            <a:r>
              <a:rPr lang="en-US" altLang="en-US" sz="1200">
                <a:latin typeface="Arial" panose="020B0604020202020204" pitchFamily="34" charset="0"/>
              </a:rPr>
              <a:t> standartlarına uyğun </a:t>
            </a:r>
            <a:r>
              <a:rPr lang="en-US" altLang="en-US" sz="1200" b="1">
                <a:latin typeface="Arial" panose="020B0604020202020204" pitchFamily="34" charset="0"/>
              </a:rPr>
              <a:t>PHP class</a:t>
            </a:r>
            <a:r>
              <a:rPr lang="en-US" altLang="en-US" sz="1200">
                <a:latin typeface="Arial" panose="020B0604020202020204" pitchFamily="34" charset="0"/>
              </a:rPr>
              <a:t>-ları autoload edir. Amma bəzi SDK-lar (xüsusilə köhnə və ya PSR uyğun olmayanlar), öz autoloader skriptlərini istifadə edirlər (yəni öz require ilə class-larını daxil edirlər).</a:t>
            </a:r>
          </a:p>
          <a:p>
            <a:pPr>
              <a:lnSpc>
                <a:spcPct val="150000"/>
              </a:lnSpc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200" b="1">
                <a:latin typeface="Arial" panose="020B0604020202020204" pitchFamily="34" charset="0"/>
              </a:rPr>
              <a:t>vendor/2checkout-php-sdk/autoloader.php </a:t>
            </a:r>
            <a:r>
              <a:rPr lang="en-US" altLang="en-US" sz="1200">
                <a:latin typeface="Arial" panose="020B0604020202020204" pitchFamily="34" charset="0"/>
              </a:rPr>
              <a:t>faylı bu cür </a:t>
            </a:r>
            <a:r>
              <a:rPr lang="en-US" altLang="en-US" sz="1200" b="1">
                <a:latin typeface="Arial" panose="020B0604020202020204" pitchFamily="34" charset="0"/>
              </a:rPr>
              <a:t>autoload</a:t>
            </a:r>
            <a:r>
              <a:rPr lang="en-US" altLang="en-US" sz="1200">
                <a:latin typeface="Arial" panose="020B0604020202020204" pitchFamily="34" charset="0"/>
              </a:rPr>
              <a:t> fayldır və bütün </a:t>
            </a:r>
            <a:r>
              <a:rPr lang="en-US" altLang="en-US" sz="1200" b="1">
                <a:latin typeface="Arial" panose="020B0604020202020204" pitchFamily="34" charset="0"/>
              </a:rPr>
              <a:t>SDK</a:t>
            </a:r>
            <a:r>
              <a:rPr lang="en-US" altLang="en-US" sz="1200">
                <a:latin typeface="Arial" panose="020B0604020202020204" pitchFamily="34" charset="0"/>
              </a:rPr>
              <a:t> fayllarını yükləyir.</a:t>
            </a:r>
          </a:p>
          <a:p>
            <a:pPr>
              <a:lnSpc>
                <a:spcPct val="150000"/>
              </a:lnSpc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200">
                <a:latin typeface="Arial" panose="020B0604020202020204" pitchFamily="34" charset="0"/>
              </a:rPr>
              <a:t>✅ </a:t>
            </a:r>
            <a:r>
              <a:rPr lang="en-US" altLang="en-US" sz="1200" b="1">
                <a:latin typeface="Arial" panose="020B0604020202020204" pitchFamily="34" charset="0"/>
              </a:rPr>
              <a:t>Bu sətrin məqsədi</a:t>
            </a:r>
            <a:r>
              <a:rPr lang="en-US" altLang="en-US" sz="1200">
                <a:latin typeface="Arial" panose="020B0604020202020204" pitchFamily="34" charset="0"/>
              </a:rPr>
              <a:t>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>
                <a:latin typeface="Arial" panose="020B0604020202020204" pitchFamily="34" charset="0"/>
              </a:rPr>
              <a:t>Laravel sistemində bu fayl avtomatik olaraq yüklənsin.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 b="1">
                <a:latin typeface="Arial" panose="020B0604020202020204" pitchFamily="34" charset="0"/>
              </a:rPr>
              <a:t>2Checkout </a:t>
            </a:r>
            <a:r>
              <a:rPr lang="en-US" altLang="en-US" sz="1200">
                <a:latin typeface="Arial" panose="020B0604020202020204" pitchFamily="34" charset="0"/>
              </a:rPr>
              <a:t>SDK-nın class-ları əl ilə require etməyə ehtiyac qalmasın.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>
                <a:latin typeface="Arial" panose="020B0604020202020204" pitchFamily="34" charset="0"/>
              </a:rPr>
              <a:t>Əgər bu faylı əlavə etməsəniz, </a:t>
            </a:r>
            <a:r>
              <a:rPr lang="en-US" altLang="en-US" sz="1200" b="1">
                <a:latin typeface="Arial" panose="020B0604020202020204" pitchFamily="34" charset="0"/>
              </a:rPr>
              <a:t>Class not found </a:t>
            </a:r>
            <a:r>
              <a:rPr lang="en-US" altLang="en-US" sz="1200">
                <a:latin typeface="Arial" panose="020B0604020202020204" pitchFamily="34" charset="0"/>
              </a:rPr>
              <a:t>xətası ilə qarşılaşa bilərsiniz.</a:t>
            </a:r>
          </a:p>
          <a:p>
            <a:pPr>
              <a:lnSpc>
                <a:spcPct val="150000"/>
              </a:lnSpc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2F5C26-2E6E-990B-0D7E-BFF2985BE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0108" y="0"/>
            <a:ext cx="4101891" cy="35363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EBBBA8-5B19-0E0C-DCE5-B400D476B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10458"/>
            <a:ext cx="4277322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343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A96CB-519F-7B12-F676-BB65C963E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0CE4D9-675E-B19D-A602-5A7523771B95}"/>
              </a:ext>
            </a:extLst>
          </p:cNvPr>
          <p:cNvSpPr txBox="1"/>
          <p:nvPr/>
        </p:nvSpPr>
        <p:spPr>
          <a:xfrm>
            <a:off x="217714" y="255046"/>
            <a:ext cx="11756571" cy="365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2.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composer dump-autoload </a:t>
            </a:r>
            <a:r>
              <a:rPr lang="en-US" altLang="en-US" sz="1300">
                <a:latin typeface="Arial" panose="020B0604020202020204" pitchFamily="34" charset="0"/>
              </a:rPr>
              <a:t>əmri nə üçündür?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📌 Bu əmr nə edir?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Composer sizin composer.json faylını oxuyur və orada qeyd edilən autoload məlumatlarını (psr-4, files və s.) əsas götürərək vendor/autoload.php faylını yenidən qurur.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Bu əmrlə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Yeni əlavə etdiyiniz </a:t>
            </a:r>
            <a:r>
              <a:rPr lang="en-US" altLang="en-US" sz="1300" b="1">
                <a:latin typeface="Arial" panose="020B0604020202020204" pitchFamily="34" charset="0"/>
              </a:rPr>
              <a:t>autoload.files</a:t>
            </a:r>
            <a:r>
              <a:rPr lang="en-US" altLang="en-US" sz="1300">
                <a:latin typeface="Arial" panose="020B0604020202020204" pitchFamily="34" charset="0"/>
              </a:rPr>
              <a:t>-dəki </a:t>
            </a:r>
            <a:r>
              <a:rPr lang="en-US" altLang="en-US" sz="1300" b="1">
                <a:latin typeface="Arial" panose="020B0604020202020204" pitchFamily="34" charset="0"/>
              </a:rPr>
              <a:t>autoloader.php </a:t>
            </a:r>
            <a:r>
              <a:rPr lang="en-US" altLang="en-US" sz="1300">
                <a:latin typeface="Arial" panose="020B0604020202020204" pitchFamily="34" charset="0"/>
              </a:rPr>
              <a:t>aktivləşir.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Laravel və Composer layihəyə daxil edilən yeni </a:t>
            </a:r>
            <a:r>
              <a:rPr lang="en-US" altLang="en-US" sz="1300" b="1">
                <a:latin typeface="Arial" panose="020B0604020202020204" pitchFamily="34" charset="0"/>
              </a:rPr>
              <a:t>class/faylları </a:t>
            </a:r>
            <a:r>
              <a:rPr lang="en-US" altLang="en-US" sz="1300">
                <a:latin typeface="Arial" panose="020B0604020202020204" pitchFamily="34" charset="0"/>
              </a:rPr>
              <a:t>tanıyır.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✅ </a:t>
            </a:r>
            <a:r>
              <a:rPr lang="en-US" altLang="en-US" sz="1300" b="1">
                <a:latin typeface="Arial" panose="020B0604020202020204" pitchFamily="34" charset="0"/>
              </a:rPr>
              <a:t>Niyə istifadə edirik?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Çünki </a:t>
            </a:r>
            <a:r>
              <a:rPr lang="en-US" altLang="en-US" sz="1300" b="1">
                <a:latin typeface="Arial" panose="020B0604020202020204" pitchFamily="34" charset="0"/>
              </a:rPr>
              <a:t>composer.json</a:t>
            </a:r>
            <a:r>
              <a:rPr lang="en-US" altLang="en-US" sz="1300">
                <a:latin typeface="Arial" panose="020B0604020202020204" pitchFamily="34" charset="0"/>
              </a:rPr>
              <a:t>-da dəyişiklik etdiniz və bu dəyişikliklərin Composer tərəfindən tanınması üçün </a:t>
            </a:r>
            <a:r>
              <a:rPr lang="en-US" altLang="en-US" sz="1300" b="1">
                <a:latin typeface="Arial" panose="020B0604020202020204" pitchFamily="34" charset="0"/>
              </a:rPr>
              <a:t>dump-autoload</a:t>
            </a:r>
            <a:r>
              <a:rPr lang="en-US" altLang="en-US" sz="1300">
                <a:latin typeface="Arial" panose="020B0604020202020204" pitchFamily="34" charset="0"/>
              </a:rPr>
              <a:t> əmri vacibdir. Əks halda autoload sisteminiz köhnə məlumatla işləyər.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C6C984-2DC0-14E5-C06B-799843C84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037" y="3805994"/>
            <a:ext cx="8888962" cy="305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752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AF613-5359-8EFE-FF8B-81BFF60F0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4738A3-8F5E-BC87-A0B5-6358EC7754D5}"/>
              </a:ext>
            </a:extLst>
          </p:cNvPr>
          <p:cNvSpPr txBox="1"/>
          <p:nvPr/>
        </p:nvSpPr>
        <p:spPr>
          <a:xfrm>
            <a:off x="217714" y="255046"/>
            <a:ext cx="11756571" cy="455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3.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config/twocheckout.php </a:t>
            </a:r>
            <a:r>
              <a:rPr lang="en-US" altLang="en-US" sz="1300">
                <a:latin typeface="Arial" panose="020B0604020202020204" pitchFamily="34" charset="0"/>
              </a:rPr>
              <a:t>faylının yaradılması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📌 Bu fayl nə üçündür?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Laravel tətbiqlərində konfigurasiya parametrləri config qovluğundakı PHP fayllarında saxlanılır. Bu fayl vasitəsilə: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.env </a:t>
            </a:r>
            <a:r>
              <a:rPr lang="en-US" altLang="en-US" sz="1300">
                <a:latin typeface="Arial" panose="020B0604020202020204" pitchFamily="34" charset="0"/>
              </a:rPr>
              <a:t>faylından oxunan dəyişənləri oxuyub istifadə edə bilərsiniz.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Əlavə payment gateway-lər üçün mərkəzi bir konfiqurasiya faylı olur.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Koda sabitlər (magic values) yazmaq əvəzinə konfiqurasiya faylına yazırsınız.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✅ </a:t>
            </a:r>
            <a:r>
              <a:rPr lang="en-US" altLang="en-US" sz="1300" b="1">
                <a:latin typeface="Arial" panose="020B0604020202020204" pitchFamily="34" charset="0"/>
              </a:rPr>
              <a:t>Bu faylın məqsədi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Lazımi parametrləri rahatlıqla əldə etmək üçün config('twocheckout.secretKey’) 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şəklində çağırmaq.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Ətraf mühitə görə dəyişən dəyərləri təhlükəsiz və dəyişkən şəkildə oxumaq.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8044E0-E91C-B48F-760C-E2ACC27EC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734" y="2601042"/>
            <a:ext cx="5567265" cy="4256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327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30450-3FEF-8BFA-E115-B1A02CA0A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518ACE-29F6-73E8-62AD-20BED2C4776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.env </a:t>
            </a:r>
            <a:r>
              <a:rPr lang="en-US" altLang="en-US" sz="1300">
                <a:latin typeface="Arial" panose="020B0604020202020204" pitchFamily="34" charset="0"/>
              </a:rPr>
              <a:t>faylında əlavə etdiyiniz dəyərlər: </a:t>
            </a:r>
            <a:r>
              <a:rPr lang="az-Latn-AZ" altLang="en-US" sz="1300">
                <a:latin typeface="Arial" panose="020B0604020202020204" pitchFamily="34" charset="0"/>
              </a:rPr>
              <a:t>növbəti slayd....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50D1A4-FA8E-5F94-02B8-18BAA8D8A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6980"/>
            <a:ext cx="12192000" cy="606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7732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C9A82-3606-FCE8-7E16-08204817D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DB9C64-31EB-74D0-2D18-4F0770E40668}"/>
              </a:ext>
            </a:extLst>
          </p:cNvPr>
          <p:cNvSpPr txBox="1"/>
          <p:nvPr/>
        </p:nvSpPr>
        <p:spPr>
          <a:xfrm>
            <a:off x="217714" y="255046"/>
            <a:ext cx="11756571" cy="5156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📌 Bu dəyişənlər nəyə xidmət edir?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.env </a:t>
            </a:r>
            <a:r>
              <a:rPr lang="en-US" altLang="en-US" sz="1300">
                <a:latin typeface="Arial" panose="020B0604020202020204" pitchFamily="34" charset="0"/>
              </a:rPr>
              <a:t>faylı dinamik, gizli və deploy zamanı dəyişə biləcək parametrlər üçün istifadə olunur. Burada siz: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Satıcı ID (merchant ID)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Secret Key (imza və ya token generasiya üçün)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JWT expire time (token neçə dəqiqə etibarlıdır)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SSL doğrulama aktivdir ya yox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məlumatları təyin etmisiniz.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✅ Niyə burada yazılır?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.env </a:t>
            </a:r>
            <a:r>
              <a:rPr lang="en-US" altLang="en-US" sz="1300">
                <a:latin typeface="Arial" panose="020B0604020202020204" pitchFamily="34" charset="0"/>
              </a:rPr>
              <a:t>faylı versiya nəzarətinə (git) daxil edilmir, yəni gizlilik qorunur.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Eyni layihə bir neçə fərqli mühitdə (dev, staging, production) istifadə olunarkən fərqli dəyərlər asanlıqla verilə bilər.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5603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78CB8-7ED5-F4F0-F3E2-74D64E38C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869D1F-34A3-550E-0B37-52D97E75883E}"/>
              </a:ext>
            </a:extLst>
          </p:cNvPr>
          <p:cNvSpPr txBox="1"/>
          <p:nvPr/>
        </p:nvSpPr>
        <p:spPr>
          <a:xfrm>
            <a:off x="217714" y="10575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php artisan make:controller Gateways/TwoCheckoutController</a:t>
            </a:r>
            <a:endParaRPr lang="az-Latn-AZ" altLang="en-US" sz="13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Laravel-in Artisan komandasından istifadə edərək </a:t>
            </a:r>
            <a:r>
              <a:rPr lang="en-US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app/Http/Controllers/Gateways/TwoCheckoutController.php </a:t>
            </a:r>
            <a:r>
              <a:rPr lang="en-US" altLang="en-US" sz="1300">
                <a:latin typeface="Arial" panose="020B0604020202020204" pitchFamily="34" charset="0"/>
              </a:rPr>
              <a:t>adlı bir </a:t>
            </a:r>
            <a:r>
              <a:rPr lang="en-US" altLang="en-US" sz="1300" b="1">
                <a:latin typeface="Arial" panose="020B0604020202020204" pitchFamily="34" charset="0"/>
              </a:rPr>
              <a:t>controller</a:t>
            </a:r>
            <a:r>
              <a:rPr lang="en-US" altLang="en-US" sz="1300">
                <a:latin typeface="Arial" panose="020B0604020202020204" pitchFamily="34" charset="0"/>
              </a:rPr>
              <a:t> faylı yaradır</a:t>
            </a:r>
            <a:r>
              <a:rPr lang="az-Latn-AZ" altLang="en-US" sz="1300">
                <a:latin typeface="Arial" panose="020B0604020202020204" pitchFamily="34" charset="0"/>
              </a:rPr>
              <a:t>ıq</a:t>
            </a:r>
            <a:r>
              <a:rPr lang="en-US" altLang="en-US" sz="1300">
                <a:latin typeface="Arial" panose="020B0604020202020204" pitchFamily="34" charset="0"/>
              </a:rPr>
              <a:t>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E2486F-420A-D8F3-889A-9AE212564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4215"/>
            <a:ext cx="12192000" cy="573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393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89016-186F-EBCB-AA64-043CDAE3B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349FD5-19B2-8C0C-0F95-C57C31F95037}"/>
              </a:ext>
            </a:extLst>
          </p:cNvPr>
          <p:cNvSpPr txBox="1"/>
          <p:nvPr/>
        </p:nvSpPr>
        <p:spPr>
          <a:xfrm>
            <a:off x="217714" y="255046"/>
            <a:ext cx="11756571" cy="3056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Bu Controller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2Checkout ilə əlaqəli bütün backend loqikanı idarə edəcək.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API çağırışlarını qəbul edib cavab verəcək.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Məsələn: payment formu, checkout redirect, response verification, webhook callback və s.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6088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E2535-582A-4DCD-84D5-28BEE65EE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A6A133-D637-AFEB-ADF2-F35F95030D2A}"/>
              </a:ext>
            </a:extLst>
          </p:cNvPr>
          <p:cNvSpPr txBox="1"/>
          <p:nvPr/>
        </p:nvSpPr>
        <p:spPr>
          <a:xfrm>
            <a:off x="217714" y="255046"/>
            <a:ext cx="11856098" cy="4213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200" b="1">
                <a:latin typeface="Arial" panose="020B0604020202020204" pitchFamily="34" charset="0"/>
              </a:rPr>
              <a:t>routes/web.php</a:t>
            </a:r>
            <a:endParaRPr lang="az-Latn-AZ" altLang="en-US" sz="12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 b="1">
                <a:latin typeface="Arial" panose="020B0604020202020204" pitchFamily="34" charset="0"/>
              </a:rPr>
              <a:t>Bu nə edir?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>
                <a:latin typeface="Arial" panose="020B0604020202020204" pitchFamily="34" charset="0"/>
              </a:rPr>
              <a:t>Laravel-ə deyirsiniz ki, istifadəçi </a:t>
            </a:r>
            <a:r>
              <a:rPr lang="en-US" altLang="en-US" sz="1200" b="1">
                <a:latin typeface="Arial" panose="020B0604020202020204" pitchFamily="34" charset="0"/>
              </a:rPr>
              <a:t>/twocheckout/payment </a:t>
            </a:r>
            <a:r>
              <a:rPr lang="en-US" altLang="en-US" sz="1200">
                <a:latin typeface="Arial" panose="020B0604020202020204" pitchFamily="34" charset="0"/>
              </a:rPr>
              <a:t>URL-sinə </a:t>
            </a:r>
            <a:r>
              <a:rPr lang="en-US" altLang="en-US" sz="1200" b="1">
                <a:latin typeface="Arial" panose="020B0604020202020204" pitchFamily="34" charset="0"/>
              </a:rPr>
              <a:t>GET</a:t>
            </a:r>
            <a:r>
              <a:rPr lang="en-US" altLang="en-US" sz="1200">
                <a:latin typeface="Arial" panose="020B0604020202020204" pitchFamily="34" charset="0"/>
              </a:rPr>
              <a:t> sorğusu göndərərsə, bu sorğunu </a:t>
            </a:r>
            <a:r>
              <a:rPr lang="en-US" altLang="en-US" sz="1200" b="1">
                <a:latin typeface="Arial" panose="020B0604020202020204" pitchFamily="34" charset="0"/>
              </a:rPr>
              <a:t>TwoCheckoutController</a:t>
            </a:r>
            <a:r>
              <a:rPr lang="en-US" altLang="en-US" sz="1200">
                <a:latin typeface="Arial" panose="020B0604020202020204" pitchFamily="34" charset="0"/>
              </a:rPr>
              <a:t>-dəki </a:t>
            </a:r>
            <a:r>
              <a:rPr lang="en-US" altLang="en-US" sz="1200" b="1">
                <a:latin typeface="Arial" panose="020B0604020202020204" pitchFamily="34" charset="0"/>
              </a:rPr>
              <a:t>showFrom</a:t>
            </a:r>
            <a:r>
              <a:rPr lang="en-US" altLang="en-US" sz="1200">
                <a:latin typeface="Arial" panose="020B0604020202020204" pitchFamily="34" charset="0"/>
              </a:rPr>
              <a:t> metoduna yönləndir.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 b="1">
                <a:latin typeface="Arial" panose="020B0604020202020204" pitchFamily="34" charset="0"/>
              </a:rPr>
              <a:t>name('twocheckout.payment') </a:t>
            </a:r>
            <a:r>
              <a:rPr lang="en-US" altLang="en-US" sz="1200">
                <a:latin typeface="Arial" panose="020B0604020202020204" pitchFamily="34" charset="0"/>
              </a:rPr>
              <a:t>– bu route üçün ad təyin edir, sonradan bu adla (məsələn, </a:t>
            </a:r>
            <a:r>
              <a:rPr lang="en-US" altLang="en-US" sz="1200" b="1">
                <a:latin typeface="Arial" panose="020B0604020202020204" pitchFamily="34" charset="0"/>
              </a:rPr>
              <a:t>route('twocheckout.payment')</a:t>
            </a:r>
            <a:r>
              <a:rPr lang="en-US" altLang="en-US" sz="1200">
                <a:latin typeface="Arial" panose="020B0604020202020204" pitchFamily="34" charset="0"/>
              </a:rPr>
              <a:t>) çağırıla bilər.</a:t>
            </a: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 b="1">
                <a:latin typeface="Arial" panose="020B0604020202020204" pitchFamily="34" charset="0"/>
              </a:rPr>
              <a:t>Niyə belə yazılır?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>
                <a:latin typeface="Arial" panose="020B0604020202020204" pitchFamily="34" charset="0"/>
              </a:rPr>
              <a:t>Route-ların adlandırılması (</a:t>
            </a:r>
            <a:r>
              <a:rPr lang="en-US" altLang="en-US" sz="1200" b="1">
                <a:latin typeface="Arial" panose="020B0604020202020204" pitchFamily="34" charset="0"/>
              </a:rPr>
              <a:t>name(...)</a:t>
            </a:r>
            <a:r>
              <a:rPr lang="en-US" altLang="en-US" sz="1200">
                <a:latin typeface="Arial" panose="020B0604020202020204" pitchFamily="34" charset="0"/>
              </a:rPr>
              <a:t>) çox rahatlıq gətirir, çünki </a:t>
            </a:r>
            <a:r>
              <a:rPr lang="en-US" altLang="en-US" sz="1200" b="1">
                <a:latin typeface="Arial" panose="020B0604020202020204" pitchFamily="34" charset="0"/>
              </a:rPr>
              <a:t>URL</a:t>
            </a:r>
            <a:r>
              <a:rPr lang="en-US" altLang="en-US" sz="1200">
                <a:latin typeface="Arial" panose="020B0604020202020204" pitchFamily="34" charset="0"/>
              </a:rPr>
              <a:t> dəyişsə də, kodu dəyişmək lazım olmur.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>
                <a:latin typeface="Arial" panose="020B0604020202020204" pitchFamily="34" charset="0"/>
              </a:rPr>
              <a:t>Bu </a:t>
            </a:r>
            <a:r>
              <a:rPr lang="en-US" altLang="en-US" sz="1200" b="1">
                <a:latin typeface="Arial" panose="020B0604020202020204" pitchFamily="34" charset="0"/>
              </a:rPr>
              <a:t>route</a:t>
            </a:r>
            <a:r>
              <a:rPr lang="en-US" altLang="en-US" sz="1200">
                <a:latin typeface="Arial" panose="020B0604020202020204" pitchFamily="34" charset="0"/>
              </a:rPr>
              <a:t> istifadəçini payment form səhifəsinə yönləndirir.</a:t>
            </a: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E977EC-F4A3-316B-1F6C-4B5F20931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4105"/>
            <a:ext cx="10679015" cy="6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333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82DA8-D6AF-5E79-A997-36F2DE0EF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A87D82-F892-6477-71AC-50C7C6E5D621}"/>
              </a:ext>
            </a:extLst>
          </p:cNvPr>
          <p:cNvSpPr txBox="1"/>
          <p:nvPr/>
        </p:nvSpPr>
        <p:spPr>
          <a:xfrm>
            <a:off x="217714" y="255046"/>
            <a:ext cx="11756571" cy="2455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resources/views/welcome.blade.php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Bu nə edir?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a </a:t>
            </a:r>
            <a:r>
              <a:rPr lang="en-US" altLang="en-US" sz="1300">
                <a:latin typeface="Arial" panose="020B0604020202020204" pitchFamily="34" charset="0"/>
              </a:rPr>
              <a:t>etiketi bir düymə kimi göstərilir, içində </a:t>
            </a:r>
            <a:r>
              <a:rPr lang="en-US" altLang="en-US" sz="1300" b="1">
                <a:latin typeface="Arial" panose="020B0604020202020204" pitchFamily="34" charset="0"/>
              </a:rPr>
              <a:t>route('twocheckout.payment') </a:t>
            </a:r>
            <a:r>
              <a:rPr lang="en-US" altLang="en-US" sz="1300">
                <a:latin typeface="Arial" panose="020B0604020202020204" pitchFamily="34" charset="0"/>
              </a:rPr>
              <a:t>ilə Laravel route adından istifadə olunur.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Bu link kliklənəndə istifadəçi </a:t>
            </a:r>
            <a:r>
              <a:rPr lang="en-US" altLang="en-US" sz="1300" b="1">
                <a:latin typeface="Arial" panose="020B0604020202020204" pitchFamily="34" charset="0"/>
              </a:rPr>
              <a:t>/twocheckout/payment </a:t>
            </a:r>
            <a:r>
              <a:rPr lang="en-US" altLang="en-US" sz="1300">
                <a:latin typeface="Arial" panose="020B0604020202020204" pitchFamily="34" charset="0"/>
              </a:rPr>
              <a:t>səhifəsinə gedəcək.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7C4F32-0980-2B78-773E-B5B6B4001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633" y="2955151"/>
            <a:ext cx="6360367" cy="390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8172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2CB81-7A59-DFA0-912C-CB1208B5E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D1294E-CBE3-F252-6496-669D4B6B7E9B}"/>
              </a:ext>
            </a:extLst>
          </p:cNvPr>
          <p:cNvSpPr txBox="1"/>
          <p:nvPr/>
        </p:nvSpPr>
        <p:spPr>
          <a:xfrm>
            <a:off x="217714" y="255046"/>
            <a:ext cx="11756571" cy="2455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app/Http/Controllers/Gateways/TwoCheckoutController.php</a:t>
            </a:r>
            <a:endParaRPr lang="az-Latn-AZ" altLang="en-US" sz="13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Bu nə edir?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showFrom() </a:t>
            </a:r>
            <a:r>
              <a:rPr lang="en-US" altLang="en-US" sz="1300">
                <a:latin typeface="Arial" panose="020B0604020202020204" pitchFamily="34" charset="0"/>
              </a:rPr>
              <a:t>metodu </a:t>
            </a:r>
            <a:r>
              <a:rPr lang="en-US" altLang="en-US" sz="1300" b="1">
                <a:latin typeface="Arial" panose="020B0604020202020204" pitchFamily="34" charset="0"/>
              </a:rPr>
              <a:t>view() </a:t>
            </a:r>
            <a:r>
              <a:rPr lang="en-US" altLang="en-US" sz="1300">
                <a:latin typeface="Arial" panose="020B0604020202020204" pitchFamily="34" charset="0"/>
              </a:rPr>
              <a:t>funksiyası vasitəsilə </a:t>
            </a:r>
            <a:r>
              <a:rPr lang="en-US" altLang="en-US" sz="1300" b="1">
                <a:latin typeface="Arial" panose="020B0604020202020204" pitchFamily="34" charset="0"/>
              </a:rPr>
              <a:t>resources/views/gateways/twocheckout-form.blade.php </a:t>
            </a:r>
            <a:r>
              <a:rPr lang="en-US" altLang="en-US" sz="1300">
                <a:latin typeface="Arial" panose="020B0604020202020204" pitchFamily="34" charset="0"/>
              </a:rPr>
              <a:t>faylını qaytarır.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Bu metod payment form səhifəsini göstərmək üçün məsuliyyət daşıyır.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E4E0A9-0FA4-C72A-6E19-C22D50802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413" y="2409204"/>
            <a:ext cx="5277587" cy="4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8820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7F4FD-025F-B101-C986-2311023D1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0BBD82-A45E-AFD6-9044-E62BB76C610D}"/>
              </a:ext>
            </a:extLst>
          </p:cNvPr>
          <p:cNvSpPr txBox="1"/>
          <p:nvPr/>
        </p:nvSpPr>
        <p:spPr>
          <a:xfrm>
            <a:off x="217714" y="255046"/>
            <a:ext cx="11756571" cy="275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resources/views/gateways/twocheckout-form.blade.php</a:t>
            </a:r>
            <a:endParaRPr lang="az-Latn-AZ" altLang="en-US" sz="13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Bu nə edir?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@extends('layouts.layout') </a:t>
            </a:r>
            <a:r>
              <a:rPr lang="en-US" altLang="en-US" sz="1300">
                <a:latin typeface="Arial" panose="020B0604020202020204" pitchFamily="34" charset="0"/>
              </a:rPr>
              <a:t>→ əsas layout (şablon) faylını miras alır. Bu, başlıq, navbar, footer kimi ümumi hissələri avtomatik daxil edir.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@section('content')</a:t>
            </a:r>
            <a:r>
              <a:rPr lang="en-US" altLang="en-US" sz="1300">
                <a:latin typeface="Arial" panose="020B0604020202020204" pitchFamily="34" charset="0"/>
              </a:rPr>
              <a:t> → əsas layoutda müəyyən edilmiş </a:t>
            </a:r>
            <a:r>
              <a:rPr lang="en-US" altLang="en-US" sz="1300" b="1">
                <a:latin typeface="Arial" panose="020B0604020202020204" pitchFamily="34" charset="0"/>
              </a:rPr>
              <a:t>@yield('content') </a:t>
            </a:r>
            <a:r>
              <a:rPr lang="en-US" altLang="en-US" sz="1300">
                <a:latin typeface="Arial" panose="020B0604020202020204" pitchFamily="34" charset="0"/>
              </a:rPr>
              <a:t>hissəsini doldurur.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525C1D-44DA-8EBD-0C3C-05A012E3C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0730" y="3933417"/>
            <a:ext cx="4801270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620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91514-99B1-125C-6EDD-3CA473264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D7A1E4-61FB-EB88-0DA2-9E70C2F3A52D}"/>
              </a:ext>
            </a:extLst>
          </p:cNvPr>
          <p:cNvSpPr txBox="1"/>
          <p:nvPr/>
        </p:nvSpPr>
        <p:spPr>
          <a:xfrm>
            <a:off x="217714" y="255046"/>
            <a:ext cx="11756571" cy="4256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Prosesin Axını (Flow):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İstifadəçi </a:t>
            </a:r>
            <a:r>
              <a:rPr lang="en-US" altLang="en-US" sz="1300" b="1">
                <a:latin typeface="Arial" panose="020B0604020202020204" pitchFamily="34" charset="0"/>
              </a:rPr>
              <a:t>welcome.blade.php </a:t>
            </a:r>
            <a:r>
              <a:rPr lang="en-US" altLang="en-US" sz="1300">
                <a:latin typeface="Arial" panose="020B0604020202020204" pitchFamily="34" charset="0"/>
              </a:rPr>
              <a:t>səhifəsində </a:t>
            </a:r>
            <a:r>
              <a:rPr lang="en-US" altLang="en-US" sz="1300" b="1">
                <a:latin typeface="Arial" panose="020B0604020202020204" pitchFamily="34" charset="0"/>
              </a:rPr>
              <a:t>Buy Now </a:t>
            </a:r>
            <a:r>
              <a:rPr lang="en-US" altLang="en-US" sz="1300">
                <a:latin typeface="Arial" panose="020B0604020202020204" pitchFamily="34" charset="0"/>
              </a:rPr>
              <a:t>düyməsinə klik edir.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Bu düymə </a:t>
            </a:r>
            <a:r>
              <a:rPr lang="en-US" altLang="en-US" sz="1300" b="1">
                <a:latin typeface="Arial" panose="020B0604020202020204" pitchFamily="34" charset="0"/>
              </a:rPr>
              <a:t>route('twocheckout.payment') </a:t>
            </a:r>
            <a:r>
              <a:rPr lang="en-US" altLang="en-US" sz="1300">
                <a:latin typeface="Arial" panose="020B0604020202020204" pitchFamily="34" charset="0"/>
              </a:rPr>
              <a:t>vasitəsilə GET /twocheckout/payment URL-ə yönləndirir.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Laravel </a:t>
            </a:r>
            <a:r>
              <a:rPr lang="en-US" altLang="en-US" sz="1300" b="1">
                <a:latin typeface="Arial" panose="020B0604020202020204" pitchFamily="34" charset="0"/>
              </a:rPr>
              <a:t>routes/web.php</a:t>
            </a:r>
            <a:r>
              <a:rPr lang="en-US" altLang="en-US" sz="1300">
                <a:latin typeface="Arial" panose="020B0604020202020204" pitchFamily="34" charset="0"/>
              </a:rPr>
              <a:t> daxilində bu route-u </a:t>
            </a:r>
            <a:r>
              <a:rPr lang="en-US" altLang="en-US" sz="1300" b="1">
                <a:latin typeface="Arial" panose="020B0604020202020204" pitchFamily="34" charset="0"/>
              </a:rPr>
              <a:t>TwoCheckoutController@showFrom </a:t>
            </a:r>
            <a:r>
              <a:rPr lang="en-US" altLang="en-US" sz="1300">
                <a:latin typeface="Arial" panose="020B0604020202020204" pitchFamily="34" charset="0"/>
              </a:rPr>
              <a:t>metoduna yönləndirir.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showFrom() </a:t>
            </a:r>
            <a:r>
              <a:rPr lang="en-US" altLang="en-US" sz="1300">
                <a:latin typeface="Arial" panose="020B0604020202020204" pitchFamily="34" charset="0"/>
              </a:rPr>
              <a:t>metodu isə </a:t>
            </a:r>
            <a:r>
              <a:rPr lang="en-US" altLang="en-US" sz="1300" b="1">
                <a:latin typeface="Arial" panose="020B0604020202020204" pitchFamily="34" charset="0"/>
              </a:rPr>
              <a:t>twocheckout-form.blade.php </a:t>
            </a:r>
            <a:r>
              <a:rPr lang="en-US" altLang="en-US" sz="1300">
                <a:latin typeface="Arial" panose="020B0604020202020204" pitchFamily="34" charset="0"/>
              </a:rPr>
              <a:t>faylını yükləyir və istifadəçiyə göstərir.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twocheckout-form.blade.php </a:t>
            </a:r>
            <a:r>
              <a:rPr lang="en-US" altLang="en-US" sz="1300">
                <a:latin typeface="Arial" panose="020B0604020202020204" pitchFamily="34" charset="0"/>
              </a:rPr>
              <a:t>əsas layoutdan miras alır və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hello</a:t>
            </a:r>
            <a:r>
              <a:rPr lang="en-US" altLang="en-US" sz="1300">
                <a:latin typeface="Arial" panose="020B0604020202020204" pitchFamily="34" charset="0"/>
              </a:rPr>
              <a:t> yazısını </a:t>
            </a:r>
            <a:r>
              <a:rPr lang="en-US" altLang="en-US" sz="1300" b="1">
                <a:latin typeface="Arial" panose="020B0604020202020204" pitchFamily="34" charset="0"/>
              </a:rPr>
              <a:t>content</a:t>
            </a:r>
            <a:r>
              <a:rPr lang="en-US" altLang="en-US" sz="1300">
                <a:latin typeface="Arial" panose="020B0604020202020204" pitchFamily="34" charset="0"/>
              </a:rPr>
              <a:t> hissəsinə yerləşdirir.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8118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66C5E-C83B-8CD4-0F0D-35AA54EEC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08F944-B636-F1FC-8428-9B3D39333EA8}"/>
              </a:ext>
            </a:extLst>
          </p:cNvPr>
          <p:cNvSpPr txBox="1"/>
          <p:nvPr/>
        </p:nvSpPr>
        <p:spPr>
          <a:xfrm>
            <a:off x="217714" y="189732"/>
            <a:ext cx="11756571" cy="1509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100" i="1" u="sng">
                <a:solidFill>
                  <a:srgbClr val="0070C0"/>
                </a:solidFill>
                <a:latin typeface="Arial" panose="020B0604020202020204" pitchFamily="34" charset="0"/>
              </a:rPr>
              <a:t>https://verifone.cloud/docs/2checkout/API-Integration/2Pay.js-payments-solution/2Pay.js-Payments-Solution-Integration-Guide/Basic-Implementation-for-2Pay.js-Payments-Solution</a:t>
            </a:r>
            <a:endParaRPr lang="az-Latn-AZ" altLang="en-US" sz="1100" i="1" u="sng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İndi daxil oluruq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2checkout</a:t>
            </a:r>
            <a:r>
              <a:rPr lang="az-Latn-AZ" altLang="en-US" sz="1300">
                <a:latin typeface="Arial" panose="020B0604020202020204" pitchFamily="34" charset="0"/>
              </a:rPr>
              <a:t> saytının </a:t>
            </a:r>
            <a:r>
              <a:rPr lang="az-Latn-AZ" altLang="en-US" sz="1300" b="1">
                <a:latin typeface="Arial" panose="020B0604020202020204" pitchFamily="34" charset="0"/>
              </a:rPr>
              <a:t>AP</a:t>
            </a:r>
            <a:r>
              <a:rPr lang="en-US" altLang="en-US" sz="1300" b="1">
                <a:latin typeface="Arial" panose="020B0604020202020204" pitchFamily="34" charset="0"/>
              </a:rPr>
              <a:t>I</a:t>
            </a:r>
            <a:r>
              <a:rPr lang="az-Latn-AZ" altLang="en-US" sz="1300" b="1">
                <a:latin typeface="Arial" panose="020B0604020202020204" pitchFamily="34" charset="0"/>
              </a:rPr>
              <a:t> inteqrasiya </a:t>
            </a:r>
            <a:r>
              <a:rPr lang="az-Latn-AZ" altLang="en-US" sz="1300">
                <a:latin typeface="Arial" panose="020B0604020202020204" pitchFamily="34" charset="0"/>
              </a:rPr>
              <a:t>səhifəsinə ki, ödənişləri qəbul etmək üçün 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2Pay.js </a:t>
            </a:r>
            <a:r>
              <a:rPr lang="az-Latn-AZ" altLang="en-US" sz="1300">
                <a:latin typeface="Arial" panose="020B0604020202020204" pitchFamily="34" charset="0"/>
              </a:rPr>
              <a:t>Ödəmə Sistemini öz veb saytımıza </a:t>
            </a:r>
            <a:r>
              <a:rPr lang="az-Latn-AZ" altLang="en-US" sz="1300" b="1">
                <a:latin typeface="Arial" panose="020B0604020202020204" pitchFamily="34" charset="0"/>
              </a:rPr>
              <a:t>implementasiya</a:t>
            </a:r>
            <a:r>
              <a:rPr lang="az-Latn-AZ" altLang="en-US" sz="1300">
                <a:latin typeface="Arial" panose="020B0604020202020204" pitchFamily="34" charset="0"/>
              </a:rPr>
              <a:t> edək. Yəni quraşdıraq.  Lazım olan addımlar səhifədə göstərilmişdir. Bəzi kodları buradan götürərək öz kodumuza yazmalıyıq.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B37DCD-EB20-D8A5-E945-ECCDACBA1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862490"/>
            <a:ext cx="9722499" cy="499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7379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19C97-6ADD-E16C-F460-36476695F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54E9BD-DD7F-34D6-612C-4D5174361D64}"/>
              </a:ext>
            </a:extLst>
          </p:cNvPr>
          <p:cNvSpPr txBox="1"/>
          <p:nvPr/>
        </p:nvSpPr>
        <p:spPr>
          <a:xfrm>
            <a:off x="217713" y="124417"/>
            <a:ext cx="11756571" cy="1166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200" u="sng">
                <a:solidFill>
                  <a:srgbClr val="0070C0"/>
                </a:solidFill>
                <a:latin typeface="Arial" panose="020B0604020202020204" pitchFamily="34" charset="0"/>
              </a:rPr>
              <a:t>resources\views\layouts\layout.blade.php</a:t>
            </a:r>
            <a:r>
              <a:rPr lang="az-Latn-AZ" altLang="en-US" sz="1200">
                <a:latin typeface="Arial" panose="020B0604020202020204" pitchFamily="34" charset="0"/>
              </a:rPr>
              <a:t> .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Bu sətir </a:t>
            </a:r>
            <a:r>
              <a:rPr lang="en-US" altLang="en-US" sz="1200" b="1">
                <a:latin typeface="Arial" panose="020B0604020202020204" pitchFamily="34" charset="0"/>
              </a:rPr>
              <a:t>2Checkout JavaScript SDK</a:t>
            </a:r>
            <a:r>
              <a:rPr lang="en-US" altLang="en-US" sz="1200">
                <a:latin typeface="Arial" panose="020B0604020202020204" pitchFamily="34" charset="0"/>
              </a:rPr>
              <a:t>-nı (TwoPayClient) layihəyə əlavə edir.</a:t>
            </a:r>
          </a:p>
          <a:p>
            <a:pPr>
              <a:lnSpc>
                <a:spcPct val="150000"/>
              </a:lnSpc>
              <a:buNone/>
            </a:pPr>
            <a:endParaRPr lang="en-US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Saytda </a:t>
            </a:r>
            <a:r>
              <a:rPr lang="en-US" altLang="en-US" sz="1200" b="1">
                <a:latin typeface="Arial" panose="020B0604020202020204" pitchFamily="34" charset="0"/>
              </a:rPr>
              <a:t>secure ödəniş kartı elementi </a:t>
            </a:r>
            <a:r>
              <a:rPr lang="en-US" altLang="en-US" sz="1200">
                <a:latin typeface="Arial" panose="020B0604020202020204" pitchFamily="34" charset="0"/>
              </a:rPr>
              <a:t>yaratmaq, </a:t>
            </a:r>
            <a:r>
              <a:rPr lang="en-US" altLang="en-US" sz="1200" b="1">
                <a:latin typeface="Arial" panose="020B0604020202020204" pitchFamily="34" charset="0"/>
              </a:rPr>
              <a:t>token generasiya etmək </a:t>
            </a:r>
            <a:r>
              <a:rPr lang="en-US" altLang="en-US" sz="1200">
                <a:latin typeface="Arial" panose="020B0604020202020204" pitchFamily="34" charset="0"/>
              </a:rPr>
              <a:t>və </a:t>
            </a:r>
            <a:r>
              <a:rPr lang="en-US" altLang="en-US" sz="1200" b="1">
                <a:latin typeface="Arial" panose="020B0604020202020204" pitchFamily="34" charset="0"/>
              </a:rPr>
              <a:t>backend-ə göndərmək </a:t>
            </a:r>
            <a:r>
              <a:rPr lang="en-US" altLang="en-US" sz="1200">
                <a:latin typeface="Arial" panose="020B0604020202020204" pitchFamily="34" charset="0"/>
              </a:rPr>
              <a:t>üçün lazımdır.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4B4638-8FA6-63C8-4B32-DF5986491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41029"/>
            <a:ext cx="12192000" cy="541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5045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652A6-0B74-3789-556E-D93E84B3A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B7149E-5429-8867-FDA9-8D12DC0713AA}"/>
              </a:ext>
            </a:extLst>
          </p:cNvPr>
          <p:cNvSpPr txBox="1"/>
          <p:nvPr/>
        </p:nvSpPr>
        <p:spPr>
          <a:xfrm>
            <a:off x="217715" y="255046"/>
            <a:ext cx="5175380" cy="6408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100" u="sng">
                <a:solidFill>
                  <a:srgbClr val="0070C0"/>
                </a:solidFill>
                <a:latin typeface="Arial" panose="020B0604020202020204" pitchFamily="34" charset="0"/>
              </a:rPr>
              <a:t>resources\views\gateways\twocheckout-form.blade.php</a:t>
            </a:r>
            <a:r>
              <a:rPr lang="az-Latn-AZ" altLang="en-US" sz="1100">
                <a:latin typeface="Arial" panose="020B0604020202020204" pitchFamily="34" charset="0"/>
              </a:rPr>
              <a:t> - faylında isə </a:t>
            </a:r>
            <a:r>
              <a:rPr lang="az-Latn-AZ" altLang="en-US" sz="1100" b="1">
                <a:latin typeface="Arial" panose="020B0604020202020204" pitchFamily="34" charset="0"/>
              </a:rPr>
              <a:t>html</a:t>
            </a:r>
            <a:r>
              <a:rPr lang="az-Latn-AZ" altLang="en-US" sz="1100">
                <a:latin typeface="Arial" panose="020B0604020202020204" pitchFamily="34" charset="0"/>
              </a:rPr>
              <a:t> və </a:t>
            </a:r>
            <a:r>
              <a:rPr lang="az-Latn-AZ" altLang="en-US" sz="1100" b="1">
                <a:latin typeface="Arial" panose="020B0604020202020204" pitchFamily="34" charset="0"/>
              </a:rPr>
              <a:t>js</a:t>
            </a:r>
            <a:r>
              <a:rPr lang="az-Latn-AZ" altLang="en-US" sz="1100">
                <a:latin typeface="Arial" panose="020B0604020202020204" pitchFamily="34" charset="0"/>
              </a:rPr>
              <a:t> kodlarını copy-past edirik.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Bu yazdığımız bir-iki kod belə artıq sistemin işləyib işləmədiyini test etməyimiz üçün kifayətdir.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100">
                <a:latin typeface="Arial" panose="020B0604020202020204" pitchFamily="34" charset="0"/>
              </a:rPr>
              <a:t>Ad sahəsi (</a:t>
            </a:r>
            <a:r>
              <a:rPr lang="az-Latn-AZ" altLang="en-US" sz="1100" b="1">
                <a:latin typeface="Arial" panose="020B0604020202020204" pitchFamily="34" charset="0"/>
              </a:rPr>
              <a:t>name</a:t>
            </a:r>
            <a:r>
              <a:rPr lang="az-Latn-AZ" altLang="en-US" sz="1100">
                <a:latin typeface="Arial" panose="020B0604020202020204" pitchFamily="34" charset="0"/>
              </a:rPr>
              <a:t>) istifadəçidən ödəniş kartı sahibi adını almaq üçündür.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100" b="1">
                <a:latin typeface="Arial" panose="020B0604020202020204" pitchFamily="34" charset="0"/>
              </a:rPr>
              <a:t>#card-element </a:t>
            </a:r>
            <a:r>
              <a:rPr lang="az-Latn-AZ" altLang="en-US" sz="1100">
                <a:latin typeface="Arial" panose="020B0604020202020204" pitchFamily="34" charset="0"/>
              </a:rPr>
              <a:t>div-ə 2Checkout-un JS SDK-sı tərəfindən </a:t>
            </a:r>
            <a:r>
              <a:rPr lang="az-Latn-AZ" altLang="en-US" sz="1100" b="1">
                <a:latin typeface="Arial" panose="020B0604020202020204" pitchFamily="34" charset="0"/>
              </a:rPr>
              <a:t>iframe</a:t>
            </a:r>
            <a:r>
              <a:rPr lang="az-Latn-AZ" altLang="en-US" sz="1100">
                <a:latin typeface="Arial" panose="020B0604020202020204" pitchFamily="34" charset="0"/>
              </a:rPr>
              <a:t> ilə ödəniş sahəsi yerləşdiriləcək (kart nömrəsi, CVV və s.).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100" b="1">
                <a:latin typeface="Arial" panose="020B0604020202020204" pitchFamily="34" charset="0"/>
              </a:rPr>
              <a:t>Submit</a:t>
            </a:r>
            <a:r>
              <a:rPr lang="az-Latn-AZ" altLang="en-US" sz="1100">
                <a:latin typeface="Arial" panose="020B0604020202020204" pitchFamily="34" charset="0"/>
              </a:rPr>
              <a:t> düyməsi token generasiyası üçün formu işə salır.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6D76AC-872F-91FC-615A-1E1795707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0870" y="0"/>
            <a:ext cx="673113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28BA25-F772-B55D-3EC4-C42652795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5" y="1784630"/>
            <a:ext cx="4539295" cy="27102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64846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5B66A-A3EF-0D80-9F53-7675B5822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31B003-084F-7F5D-8F77-40D01665CEAD}"/>
              </a:ext>
            </a:extLst>
          </p:cNvPr>
          <p:cNvSpPr txBox="1"/>
          <p:nvPr/>
        </p:nvSpPr>
        <p:spPr>
          <a:xfrm>
            <a:off x="217714" y="97607"/>
            <a:ext cx="11856098" cy="6662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100" b="1">
                <a:latin typeface="Arial" panose="020B0604020202020204" pitchFamily="34" charset="0"/>
              </a:rPr>
              <a:t>twocheckout-form.blade.php</a:t>
            </a:r>
            <a:r>
              <a:rPr lang="az-Latn-AZ" altLang="en-US" sz="1100" b="1">
                <a:latin typeface="Arial" panose="020B0604020202020204" pitchFamily="34" charset="0"/>
              </a:rPr>
              <a:t> </a:t>
            </a:r>
            <a:r>
              <a:rPr lang="en-US" altLang="en-US" sz="1100">
                <a:latin typeface="Arial" panose="020B0604020202020204" pitchFamily="34" charset="0"/>
              </a:rPr>
              <a:t>-də</a:t>
            </a:r>
            <a:r>
              <a:rPr lang="az-Latn-AZ" altLang="en-US" sz="1100">
                <a:latin typeface="Arial" panose="020B0604020202020204" pitchFamily="34" charset="0"/>
              </a:rPr>
              <a:t>,</a:t>
            </a:r>
            <a:r>
              <a:rPr lang="en-US" altLang="en-US" sz="1100">
                <a:latin typeface="Arial" panose="020B0604020202020204" pitchFamily="34" charset="0"/>
              </a:rPr>
              <a:t> script hissəsi</a:t>
            </a:r>
            <a:r>
              <a:rPr lang="az-Latn-AZ" altLang="en-US" sz="1100">
                <a:latin typeface="Arial" panose="020B0604020202020204" pitchFamily="34" charset="0"/>
              </a:rPr>
              <a:t>ndəki </a:t>
            </a:r>
            <a:r>
              <a:rPr lang="az-Latn-AZ" altLang="en-US" sz="1100" b="1">
                <a:solidFill>
                  <a:srgbClr val="FF0000"/>
                </a:solidFill>
                <a:latin typeface="Arial" panose="020B0604020202020204" pitchFamily="34" charset="0"/>
              </a:rPr>
              <a:t>generate() </a:t>
            </a:r>
            <a:r>
              <a:rPr lang="az-Latn-AZ" altLang="en-US" sz="1100">
                <a:latin typeface="Arial" panose="020B0604020202020204" pitchFamily="34" charset="0"/>
              </a:rPr>
              <a:t>funksiyasının izahı: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100">
                <a:latin typeface="Arial" panose="020B0604020202020204" pitchFamily="34" charset="0"/>
              </a:rPr>
              <a:t>Bu metod token yaratmaq üçündür.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100">
                <a:latin typeface="Arial" panose="020B0604020202020204" pitchFamily="34" charset="0"/>
              </a:rPr>
              <a:t>Token kart məlumatını (nömrə, tarix, CVV və s.) əhatə edir, ancaq </a:t>
            </a:r>
            <a:r>
              <a:rPr lang="en-US" altLang="en-US" sz="1100" b="1">
                <a:solidFill>
                  <a:schemeClr val="accent2"/>
                </a:solidFill>
                <a:latin typeface="Arial" panose="020B0604020202020204" pitchFamily="34" charset="0"/>
              </a:rPr>
              <a:t>kart məlumatının özünü göndərmək əvəzinə token </a:t>
            </a:r>
            <a:r>
              <a:rPr lang="en-US" altLang="en-US" sz="1100">
                <a:latin typeface="Arial" panose="020B0604020202020204" pitchFamily="34" charset="0"/>
              </a:rPr>
              <a:t>göndərilir — bu, PCI-DSS uyğunluğu üçün vacibdir.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100">
                <a:latin typeface="Arial" panose="020B0604020202020204" pitchFamily="34" charset="0"/>
              </a:rPr>
              <a:t>Yəni, bu metod </a:t>
            </a:r>
            <a:r>
              <a:rPr lang="en-US" altLang="en-US" sz="1100" b="1">
                <a:latin typeface="Arial" panose="020B0604020202020204" pitchFamily="34" charset="0"/>
              </a:rPr>
              <a:t>2Checkout </a:t>
            </a:r>
            <a:r>
              <a:rPr lang="en-US" altLang="en-US" sz="1100">
                <a:latin typeface="Arial" panose="020B0604020202020204" pitchFamily="34" charset="0"/>
              </a:rPr>
              <a:t>serveri ilə əlaqə saxlayır və kart məlumatı əsasında təhlükəsiz bir token qaytarır.</a:t>
            </a: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100" b="1">
                <a:latin typeface="Arial" panose="020B0604020202020204" pitchFamily="34" charset="0"/>
              </a:rPr>
              <a:t>Parametrlər</a:t>
            </a:r>
            <a:r>
              <a:rPr lang="en-US" altLang="en-US" sz="1100">
                <a:latin typeface="Arial" panose="020B0604020202020204" pitchFamily="34" charset="0"/>
              </a:rPr>
              <a:t>:</a:t>
            </a: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100" b="1">
                <a:solidFill>
                  <a:srgbClr val="00B050"/>
                </a:solidFill>
                <a:latin typeface="Arial" panose="020B0604020202020204" pitchFamily="34" charset="0"/>
              </a:rPr>
              <a:t>component</a:t>
            </a:r>
            <a:r>
              <a:rPr lang="en-US" altLang="en-US" sz="1100">
                <a:latin typeface="Arial" panose="020B0604020202020204" pitchFamily="34" charset="0"/>
              </a:rPr>
              <a:t>: iframe formasında daxil etdiyiniz kart məlumatlarını saxlayan obyekt (2Checkout tərəfindən yaradılıb).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100" b="1">
                <a:solidFill>
                  <a:srgbClr val="00B050"/>
                </a:solidFill>
                <a:latin typeface="Arial" panose="020B0604020202020204" pitchFamily="34" charset="0"/>
              </a:rPr>
              <a:t>billingDetails</a:t>
            </a:r>
            <a:r>
              <a:rPr lang="en-US" altLang="en-US" sz="1100">
                <a:latin typeface="Arial" panose="020B0604020202020204" pitchFamily="34" charset="0"/>
              </a:rPr>
              <a:t>: İstifadəçinin adı, ünvanı və digər müştəri məlumatları. Bu misalda sadəcə </a:t>
            </a:r>
            <a:r>
              <a:rPr lang="en-US" altLang="en-US" sz="1100" b="1">
                <a:latin typeface="Arial" panose="020B0604020202020204" pitchFamily="34" charset="0"/>
              </a:rPr>
              <a:t>name</a:t>
            </a:r>
            <a:r>
              <a:rPr lang="en-US" altLang="en-US" sz="1100">
                <a:latin typeface="Arial" panose="020B0604020202020204" pitchFamily="34" charset="0"/>
              </a:rPr>
              <a:t>.</a:t>
            </a:r>
            <a:endParaRPr lang="az-Latn-AZ" altLang="en-US" sz="1100">
              <a:latin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100" b="1">
                <a:solidFill>
                  <a:srgbClr val="00B050"/>
                </a:solidFill>
                <a:latin typeface="Arial" panose="020B0604020202020204" pitchFamily="34" charset="0"/>
              </a:rPr>
              <a:t>.then((response) =&gt; { ... })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100">
                <a:latin typeface="Arial" panose="020B0604020202020204" pitchFamily="34" charset="0"/>
              </a:rPr>
              <a:t>Əgər token uğurla generasiya olunarsa, response.token daxilində token stringi olur.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100">
                <a:latin typeface="Arial" panose="020B0604020202020204" pitchFamily="34" charset="0"/>
              </a:rPr>
              <a:t>Bu token sonradan serverə (Laravel backend) POST sorğusu ilə göndərilərək ödəniş tamamlanar.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100" b="1">
                <a:solidFill>
                  <a:srgbClr val="00B050"/>
                </a:solidFill>
                <a:latin typeface="Arial" panose="020B0604020202020204" pitchFamily="34" charset="0"/>
              </a:rPr>
              <a:t>.catch((error) =&gt; { ... })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100">
                <a:latin typeface="Arial" panose="020B0604020202020204" pitchFamily="34" charset="0"/>
              </a:rPr>
              <a:t>Əgər token generasiya prosesi uğursuz olarsa (məsələn, kart məlumatı səhvdirsə və ya </a:t>
            </a:r>
            <a:r>
              <a:rPr lang="az-Latn-AZ" altLang="en-US" sz="1100" b="1">
                <a:latin typeface="Arial" panose="020B0604020202020204" pitchFamily="34" charset="0"/>
              </a:rPr>
              <a:t>JS SDK </a:t>
            </a:r>
            <a:r>
              <a:rPr lang="az-Latn-AZ" altLang="en-US" sz="1100">
                <a:latin typeface="Arial" panose="020B0604020202020204" pitchFamily="34" charset="0"/>
              </a:rPr>
              <a:t>serverə qoşula bilmirsə), bu blok işləyir və səhv mesajını göstərir.</a:t>
            </a:r>
            <a:endParaRPr lang="en-US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100">
                <a:latin typeface="Arial" panose="020B0604020202020204" pitchFamily="34" charset="0"/>
              </a:rPr>
              <a:t>30-4</a:t>
            </a:r>
            <a:r>
              <a:rPr lang="az-Latn-AZ" altLang="en-US" sz="1100">
                <a:latin typeface="Arial" panose="020B0604020202020204" pitchFamily="34" charset="0"/>
              </a:rPr>
              <a:t>7</a:t>
            </a:r>
            <a:r>
              <a:rPr lang="en-US" altLang="en-US" sz="1100">
                <a:latin typeface="Arial" panose="020B0604020202020204" pitchFamily="34" charset="0"/>
              </a:rPr>
              <a:t> ci slaydalarda </a:t>
            </a:r>
            <a:r>
              <a:rPr lang="az-Latn-AZ" altLang="en-US" sz="1100">
                <a:latin typeface="Arial" panose="020B0604020202020204" pitchFamily="34" charset="0"/>
              </a:rPr>
              <a:t>ödəmə sisteminin bəzi nüansları haqqında məlumatlar qeyd edilmişdir... 48 cı slayddan kodu yazmağa dəvam edəcəyik.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82C625-27E6-B1BB-3BB9-82923DF78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469134"/>
            <a:ext cx="6087325" cy="12384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B3B727-4DCB-F539-A20A-2D11F34DB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45" y="3456993"/>
            <a:ext cx="2248214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0756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1CEA2-8181-B446-23B1-43E111938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E5A502-18FA-1490-7CA2-688450929045}"/>
              </a:ext>
            </a:extLst>
          </p:cNvPr>
          <p:cNvSpPr txBox="1"/>
          <p:nvPr/>
        </p:nvSpPr>
        <p:spPr>
          <a:xfrm>
            <a:off x="217714" y="255046"/>
            <a:ext cx="11756571" cy="635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Özət</a:t>
            </a:r>
            <a:r>
              <a:rPr lang="az-Latn-AZ" altLang="en-US" sz="1300"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🔐 </a:t>
            </a:r>
            <a:r>
              <a:rPr lang="en-US" altLang="en-US" sz="1300" b="1">
                <a:latin typeface="Arial" panose="020B0604020202020204" pitchFamily="34" charset="0"/>
              </a:rPr>
              <a:t>Niyə bu qədər vacibdir?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Token əsaslı ödəniş emalı sizi PCI DSS-dən qoruyur, çünki kart məlumatını öz serverinizə saxlamırsınız.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Bu tokeni siz Laravel backend-ə POST edirsiniz və orada 2Checkout API ilə ödənişi həyata keçirirsiniz.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PCI DSS </a:t>
            </a:r>
            <a:r>
              <a:rPr lang="en-US" altLang="en-US" sz="1300">
                <a:latin typeface="Arial" panose="020B0604020202020204" pitchFamily="34" charset="0"/>
              </a:rPr>
              <a:t>— tam açılışı ilə </a:t>
            </a:r>
            <a:r>
              <a:rPr lang="en-US" altLang="en-US" sz="1300" b="1">
                <a:latin typeface="Arial" panose="020B0604020202020204" pitchFamily="34" charset="0"/>
              </a:rPr>
              <a:t>Payment Card Industry Data Security Standard </a:t>
            </a:r>
            <a:r>
              <a:rPr lang="en-US" altLang="en-US" sz="1300">
                <a:latin typeface="Arial" panose="020B0604020202020204" pitchFamily="34" charset="0"/>
              </a:rPr>
              <a:t>— ödəniş kartı məlumatlarının təhlükəsizliyini təmin edən beynəlxalq təhlükəsizlik standartıdır.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1251819-E8A2-79DE-5208-2BCAF6D632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446555"/>
              </p:ext>
            </p:extLst>
          </p:nvPr>
        </p:nvGraphicFramePr>
        <p:xfrm>
          <a:off x="217714" y="744909"/>
          <a:ext cx="11756570" cy="3565836"/>
        </p:xfrm>
        <a:graphic>
          <a:graphicData uri="http://schemas.openxmlformats.org/drawingml/2006/table">
            <a:tbl>
              <a:tblPr/>
              <a:tblGrid>
                <a:gridCol w="3236198">
                  <a:extLst>
                    <a:ext uri="{9D8B030D-6E8A-4147-A177-3AD203B41FA5}">
                      <a16:colId xmlns:a16="http://schemas.microsoft.com/office/drawing/2014/main" val="293568156"/>
                    </a:ext>
                  </a:extLst>
                </a:gridCol>
                <a:gridCol w="8520372">
                  <a:extLst>
                    <a:ext uri="{9D8B030D-6E8A-4147-A177-3AD203B41FA5}">
                      <a16:colId xmlns:a16="http://schemas.microsoft.com/office/drawing/2014/main" val="2358387636"/>
                    </a:ext>
                  </a:extLst>
                </a:gridCol>
              </a:tblGrid>
              <a:tr h="5943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Məqsəd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Təsviri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669225"/>
                  </a:ext>
                </a:extLst>
              </a:tr>
              <a:tr h="5943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Token generasiyası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Kart məlumatı əsasında token yaradır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598801"/>
                  </a:ext>
                </a:extLst>
              </a:tr>
              <a:tr h="5943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Secure PCI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Kart məlumatı sizə gəlmir, 2Checkout serverində emal olunur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716604"/>
                  </a:ext>
                </a:extLst>
              </a:tr>
              <a:tr h="5943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Asinxron iş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JS Promise ilə işləyir – .then və .catch metodları nəticəni tutmaq üçündür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5589589"/>
                  </a:ext>
                </a:extLst>
              </a:tr>
              <a:tr h="5943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Uğurlu nəticə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response.token – istifadə ediləcək token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889859"/>
                  </a:ext>
                </a:extLst>
              </a:tr>
              <a:tr h="5943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Xəta halı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error obyektində səhv mesajları, status və s. olur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0354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83579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7359F-A8AC-80D4-62C7-3F9874F4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434097-68BF-F828-8558-15264F4D6300}"/>
              </a:ext>
            </a:extLst>
          </p:cNvPr>
          <p:cNvSpPr txBox="1"/>
          <p:nvPr/>
        </p:nvSpPr>
        <p:spPr>
          <a:xfrm>
            <a:off x="217714" y="255046"/>
            <a:ext cx="11756571" cy="3356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✅ </a:t>
            </a:r>
            <a:r>
              <a:rPr lang="en-US" altLang="en-US" sz="1300" b="1">
                <a:latin typeface="Arial" panose="020B0604020202020204" pitchFamily="34" charset="0"/>
              </a:rPr>
              <a:t>PCI DSS nədir?</a:t>
            </a:r>
            <a:endParaRPr lang="az-Latn-AZ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PCI DSS – Visa, MasterCard, American Express, Discover və JCB kimi beynəlxalq ödəniş kartı şirkətlərinin yaratdığı bir qayda və tələblər toplusudur. </a:t>
            </a:r>
            <a:r>
              <a:rPr lang="en-US" altLang="en-US" sz="1300" b="1">
                <a:latin typeface="Arial" panose="020B0604020202020204" pitchFamily="34" charset="0"/>
              </a:rPr>
              <a:t>Məqsədi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Kredit/debet kartı məlumatlarının qorunması,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Kart sahiblərinin şəxsi və maliyyə məlumatlarının sızmasının qarşısını almaq,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Məlumat oğurluğu, hack və fraud risklərini minimuma endirmək.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🔒 </a:t>
            </a:r>
            <a:r>
              <a:rPr lang="en-US" altLang="en-US" sz="1300" b="1">
                <a:latin typeface="Arial" panose="020B0604020202020204" pitchFamily="34" charset="0"/>
              </a:rPr>
              <a:t>Kimlər PCI DSS-ə uyğun olmalıdır?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Aşağıdakı təşkilatlar mütləq PCI DSS tələblərinə uyğun olmalıdır: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D1B44BD-932D-36A8-CA1F-434FFC9331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347448"/>
              </p:ext>
            </p:extLst>
          </p:nvPr>
        </p:nvGraphicFramePr>
        <p:xfrm>
          <a:off x="348341" y="3796021"/>
          <a:ext cx="7862598" cy="2492810"/>
        </p:xfrm>
        <a:graphic>
          <a:graphicData uri="http://schemas.openxmlformats.org/drawingml/2006/table">
            <a:tbl>
              <a:tblPr/>
              <a:tblGrid>
                <a:gridCol w="3215953">
                  <a:extLst>
                    <a:ext uri="{9D8B030D-6E8A-4147-A177-3AD203B41FA5}">
                      <a16:colId xmlns:a16="http://schemas.microsoft.com/office/drawing/2014/main" val="1719993458"/>
                    </a:ext>
                  </a:extLst>
                </a:gridCol>
                <a:gridCol w="4646645">
                  <a:extLst>
                    <a:ext uri="{9D8B030D-6E8A-4147-A177-3AD203B41FA5}">
                      <a16:colId xmlns:a16="http://schemas.microsoft.com/office/drawing/2014/main" val="364851327"/>
                    </a:ext>
                  </a:extLst>
                </a:gridCol>
              </a:tblGrid>
              <a:tr h="498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Təşkilat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Şərt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699335"/>
                  </a:ext>
                </a:extLst>
              </a:tr>
              <a:tr h="498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E-ticarət saytları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Kartla ödəniş qəbul edən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127833"/>
                  </a:ext>
                </a:extLst>
              </a:tr>
              <a:tr h="498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Bank və PSP-lər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Kart əməliyyatları aparan və saxlayan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276780"/>
                  </a:ext>
                </a:extLst>
              </a:tr>
              <a:tr h="498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POS sistemləri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Kartla satış həyata keçirən sistemlər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63248"/>
                  </a:ext>
                </a:extLst>
              </a:tr>
              <a:tr h="498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3-cü tərəf ödəniş prosessorları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Kart məlumatını yönləndirən sistemlər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3921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42838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87B52-B382-6264-336B-452CFA6C6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97FB9E-F1CF-2B0F-A469-4339A2A566D5}"/>
              </a:ext>
            </a:extLst>
          </p:cNvPr>
          <p:cNvSpPr txBox="1"/>
          <p:nvPr/>
        </p:nvSpPr>
        <p:spPr>
          <a:xfrm>
            <a:off x="217714" y="255046"/>
            <a:ext cx="11756571" cy="635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📋 </a:t>
            </a:r>
            <a:r>
              <a:rPr lang="en-US" altLang="en-US" sz="1300" b="1">
                <a:latin typeface="Arial" panose="020B0604020202020204" pitchFamily="34" charset="0"/>
              </a:rPr>
              <a:t>PCI DSS əsas tələbləri: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PCI DSS 12 əsas tələbdən ibarətdir, aşağıdakı qrup halında bölünə bilər: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🔐 </a:t>
            </a:r>
            <a:r>
              <a:rPr lang="en-US" altLang="en-US" sz="1300" b="1">
                <a:latin typeface="Arial" panose="020B0604020202020204" pitchFamily="34" charset="0"/>
              </a:rPr>
              <a:t>Məlumat təhlükəsizliyi: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Güclü firewall qurmaq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Sistem parollarını və default parametrləri dəyişmək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Kart sahiblərinin məlumatlarını qorumaq (şifrələmə və s.)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📡 </a:t>
            </a:r>
            <a:r>
              <a:rPr lang="en-US" altLang="en-US" sz="1300" b="1">
                <a:latin typeface="Arial" panose="020B0604020202020204" pitchFamily="34" charset="0"/>
              </a:rPr>
              <a:t>Şəbəkə təhlükəsizliyi: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Şifrələnmiş məlumat ötürülməsi (HTTPS və TLS)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Antivirus proqramları tətbiq etmək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Təhlükəsizlik sistemlərini daim yeniləmək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🧑‍💼 </a:t>
            </a:r>
            <a:r>
              <a:rPr lang="en-US" altLang="en-US" sz="1300" b="1">
                <a:latin typeface="Arial" panose="020B0604020202020204" pitchFamily="34" charset="0"/>
              </a:rPr>
              <a:t>İstifadəçi təhlükəsizliyi: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Yalnız ehtiyacı olanlara məlumat çıxışı vermək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İstifadəçi hesablarını fərdiləşdirmək (login/log sistemləri)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Giriş fəaliyyətlərini log-lamaq və izləmək</a:t>
            </a:r>
          </a:p>
          <a:p>
            <a:pPr lvl="1">
              <a:lnSpc>
                <a:spcPct val="150000"/>
              </a:lnSpc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✅ </a:t>
            </a:r>
            <a:r>
              <a:rPr lang="en-US" altLang="en-US" sz="1300" b="1">
                <a:latin typeface="Arial" panose="020B0604020202020204" pitchFamily="34" charset="0"/>
              </a:rPr>
              <a:t>Qaydalara riayət və siyasət: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Sistemlərə mütəmadi testlər (vulnerability scanning)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Məlumat təhlükəsizliyi siyasəti hazırlamaq və tətbiq etmək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5232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BBDC2-B838-F75F-8DF6-940C34276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95E532-744C-B04C-04C1-EDCF4037181F}"/>
              </a:ext>
            </a:extLst>
          </p:cNvPr>
          <p:cNvSpPr txBox="1"/>
          <p:nvPr/>
        </p:nvSpPr>
        <p:spPr>
          <a:xfrm>
            <a:off x="217714" y="255046"/>
            <a:ext cx="11756571" cy="3356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PCI DSS uyğun olmayan saytlar nələr riskə atır?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Maliyyə cərimələri (bəzən minlərlə dollar)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Kredit kartı inteqrasiyasının ləğvi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Hüquqi məsuliyyət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Müştəri etibarının itirilməsi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Data breach riskləri (məlumatların oğurlanması)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Laravel, JS SDK və PCI DSS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2Checkout və ya Stripe, PayPal kimi xidmətlər JS SDK ilə token yaradır. Bu, PCI DSS tələblərinə cavab vermək üçün bir üsuldur, çünki: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Kart məlumatı sizin serverinizə düşmür.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Yalnız token gəlir və bu tokenlə ödəniş aparılır.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3027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2A174-45F4-6DD0-821E-CBC2B6366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DD2D94-B3F8-D6A7-9EF7-D226443D12AC}"/>
              </a:ext>
            </a:extLst>
          </p:cNvPr>
          <p:cNvSpPr txBox="1"/>
          <p:nvPr/>
        </p:nvSpPr>
        <p:spPr>
          <a:xfrm>
            <a:off x="217714" y="255046"/>
            <a:ext cx="11756571" cy="1855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PCI DSS səviyyələri (levels) haqqında</a:t>
            </a:r>
            <a:r>
              <a:rPr lang="az-Latn-AZ" altLang="en-US" sz="1300">
                <a:latin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səviyyələr şirkətin illik kart əməliyyatlarının sayına görə müəyyən olunur və bu səviyyə müəyyən öhdəlikləri də özü ilə gətirir.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PCI DSS Uyğunluq Səviyyələri (Compliance Levels) PCI DSS standartında 4 səviyyə (level) var. Hər səviyyə illik kart əməliyyatı sayına əsaslanır.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6DE9687-9565-5004-E2C9-6D9524EC9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880401"/>
              </p:ext>
            </p:extLst>
          </p:nvPr>
        </p:nvGraphicFramePr>
        <p:xfrm>
          <a:off x="217714" y="2251616"/>
          <a:ext cx="11610392" cy="4351338"/>
        </p:xfrm>
        <a:graphic>
          <a:graphicData uri="http://schemas.openxmlformats.org/drawingml/2006/table">
            <a:tbl>
              <a:tblPr/>
              <a:tblGrid>
                <a:gridCol w="1193462">
                  <a:extLst>
                    <a:ext uri="{9D8B030D-6E8A-4147-A177-3AD203B41FA5}">
                      <a16:colId xmlns:a16="http://schemas.microsoft.com/office/drawing/2014/main" val="469951211"/>
                    </a:ext>
                  </a:extLst>
                </a:gridCol>
                <a:gridCol w="5208465">
                  <a:extLst>
                    <a:ext uri="{9D8B030D-6E8A-4147-A177-3AD203B41FA5}">
                      <a16:colId xmlns:a16="http://schemas.microsoft.com/office/drawing/2014/main" val="2158219800"/>
                    </a:ext>
                  </a:extLst>
                </a:gridCol>
                <a:gridCol w="5208465">
                  <a:extLst>
                    <a:ext uri="{9D8B030D-6E8A-4147-A177-3AD203B41FA5}">
                      <a16:colId xmlns:a16="http://schemas.microsoft.com/office/drawing/2014/main" val="3987747582"/>
                    </a:ext>
                  </a:extLst>
                </a:gridCol>
              </a:tblGrid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Səviyyə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Kimlər üçündür?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Tələblər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105734"/>
                  </a:ext>
                </a:extLst>
              </a:tr>
              <a:tr h="1653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Level 1</a:t>
                      </a:r>
                      <a:endParaRPr lang="en-US" sz="170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İllik </a:t>
                      </a:r>
                      <a:r>
                        <a:rPr lang="en-US" sz="1700" b="1"/>
                        <a:t>6 milyon və daha çox</a:t>
                      </a:r>
                      <a:r>
                        <a:rPr lang="en-US" sz="1700"/>
                        <a:t> Visa, MasterCard və ya digər ödəniş kartı əməliyyatı həyata keçirən şirkətlər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- İllik </a:t>
                      </a:r>
                      <a:r>
                        <a:rPr lang="en-US" sz="1700" b="1"/>
                        <a:t>on-site</a:t>
                      </a:r>
                      <a:r>
                        <a:rPr lang="en-US" sz="1700"/>
                        <a:t> audit (Qualified Security Assessor - QSA tərəfindən)- İllik </a:t>
                      </a:r>
                      <a:r>
                        <a:rPr lang="en-US" sz="1700" b="1"/>
                        <a:t>Report on Compliance (ROC)</a:t>
                      </a:r>
                      <a:r>
                        <a:rPr lang="en-US" sz="1700"/>
                        <a:t> təqdim olunmalıdır- </a:t>
                      </a:r>
                      <a:r>
                        <a:rPr lang="en-US" sz="1700" b="1"/>
                        <a:t>Quarterly network scans</a:t>
                      </a:r>
                      <a:r>
                        <a:rPr lang="en-US" sz="1700"/>
                        <a:t> (ASV ilə)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451184"/>
                  </a:ext>
                </a:extLst>
              </a:tr>
              <a:tr h="870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Level 2</a:t>
                      </a:r>
                      <a:endParaRPr lang="en-US" sz="170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İllik </a:t>
                      </a:r>
                      <a:r>
                        <a:rPr lang="en-US" sz="1700" b="1"/>
                        <a:t>1 milyon – 6 milyon</a:t>
                      </a:r>
                      <a:r>
                        <a:rPr lang="en-US" sz="1700"/>
                        <a:t> əməliyyat edənlər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- </a:t>
                      </a:r>
                      <a:r>
                        <a:rPr lang="en-US" sz="1700" b="1"/>
                        <a:t>Self-Assessment Questionnaire (SAQ)</a:t>
                      </a:r>
                      <a:r>
                        <a:rPr lang="en-US" sz="1700"/>
                        <a:t>- </a:t>
                      </a:r>
                      <a:r>
                        <a:rPr lang="en-US" sz="1700" b="1"/>
                        <a:t>Quarterly network scan</a:t>
                      </a:r>
                      <a:r>
                        <a:rPr lang="en-US" sz="1700"/>
                        <a:t> (ASV ilə)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2987965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Level 3</a:t>
                      </a:r>
                      <a:endParaRPr lang="en-US" sz="170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İllik </a:t>
                      </a:r>
                      <a:r>
                        <a:rPr lang="en-US" sz="1700" b="1"/>
                        <a:t>20,000 – 1 milyon</a:t>
                      </a:r>
                      <a:r>
                        <a:rPr lang="en-US" sz="1700"/>
                        <a:t> </a:t>
                      </a:r>
                      <a:r>
                        <a:rPr lang="en-US" sz="1700" b="1"/>
                        <a:t>e-ticarət</a:t>
                      </a:r>
                      <a:r>
                        <a:rPr lang="en-US" sz="1700"/>
                        <a:t> əməliyyatı edənlər (online)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- SAQ doldurmaq- ASV scan tələb oluna bilər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3696186"/>
                  </a:ext>
                </a:extLst>
              </a:tr>
              <a:tr h="870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Level 4</a:t>
                      </a:r>
                      <a:endParaRPr lang="en-US" sz="170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İllik </a:t>
                      </a:r>
                      <a:r>
                        <a:rPr lang="en-US" sz="1700" b="1"/>
                        <a:t>20,000-dən az</a:t>
                      </a:r>
                      <a:r>
                        <a:rPr lang="en-US" sz="1700"/>
                        <a:t> e-ticarət əməliyyatı və ya digər növ aşağı həcmli ödəniş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- SAQ (sahibkar özü doldurur)- Bəzən scan tələb olunur, bəzən yox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5798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93619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12BAA-37C0-FC55-ADC6-76658C115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F6D54F-A969-DFE5-730B-839C9E747838}"/>
              </a:ext>
            </a:extLst>
          </p:cNvPr>
          <p:cNvSpPr txBox="1"/>
          <p:nvPr/>
        </p:nvSpPr>
        <p:spPr>
          <a:xfrm>
            <a:off x="217714" y="255046"/>
            <a:ext cx="11756571" cy="2455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Qeyd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ASV – Approved Scanning Vendor (PCI DSS tərəfindən tanınan şirkətlərdir).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QSA – Qualified Security Assessor (PCI DSS uyğunluğunu yerində yoxlamaq üçün lisenziyalı mütəxəssis və ya təşkilat).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Hər səviyyənin əsas öhdəlikləri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9EEB595-BE71-DCC7-3988-1D4AB71918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203573"/>
              </p:ext>
            </p:extLst>
          </p:nvPr>
        </p:nvGraphicFramePr>
        <p:xfrm>
          <a:off x="217714" y="2821146"/>
          <a:ext cx="11756569" cy="2637260"/>
        </p:xfrm>
        <a:graphic>
          <a:graphicData uri="http://schemas.openxmlformats.org/drawingml/2006/table">
            <a:tbl>
              <a:tblPr/>
              <a:tblGrid>
                <a:gridCol w="4037045">
                  <a:extLst>
                    <a:ext uri="{9D8B030D-6E8A-4147-A177-3AD203B41FA5}">
                      <a16:colId xmlns:a16="http://schemas.microsoft.com/office/drawing/2014/main" val="229817361"/>
                    </a:ext>
                  </a:extLst>
                </a:gridCol>
                <a:gridCol w="1929881">
                  <a:extLst>
                    <a:ext uri="{9D8B030D-6E8A-4147-A177-3AD203B41FA5}">
                      <a16:colId xmlns:a16="http://schemas.microsoft.com/office/drawing/2014/main" val="3771330014"/>
                    </a:ext>
                  </a:extLst>
                </a:gridCol>
                <a:gridCol w="1929881">
                  <a:extLst>
                    <a:ext uri="{9D8B030D-6E8A-4147-A177-3AD203B41FA5}">
                      <a16:colId xmlns:a16="http://schemas.microsoft.com/office/drawing/2014/main" val="4028777335"/>
                    </a:ext>
                  </a:extLst>
                </a:gridCol>
                <a:gridCol w="1929881">
                  <a:extLst>
                    <a:ext uri="{9D8B030D-6E8A-4147-A177-3AD203B41FA5}">
                      <a16:colId xmlns:a16="http://schemas.microsoft.com/office/drawing/2014/main" val="4247980885"/>
                    </a:ext>
                  </a:extLst>
                </a:gridCol>
                <a:gridCol w="1929881">
                  <a:extLst>
                    <a:ext uri="{9D8B030D-6E8A-4147-A177-3AD203B41FA5}">
                      <a16:colId xmlns:a16="http://schemas.microsoft.com/office/drawing/2014/main" val="1566853887"/>
                    </a:ext>
                  </a:extLst>
                </a:gridCol>
              </a:tblGrid>
              <a:tr h="527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Tələb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Level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Level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Level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Level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88944"/>
                  </a:ext>
                </a:extLst>
              </a:tr>
              <a:tr h="527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QSA tərəfindən audit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2581430"/>
                  </a:ext>
                </a:extLst>
              </a:tr>
              <a:tr h="527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SAQ (özünü qiymətləndirmə)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469992"/>
                  </a:ext>
                </a:extLst>
              </a:tr>
              <a:tr h="527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ROC (audit hesabatı)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9394963"/>
                  </a:ext>
                </a:extLst>
              </a:tr>
              <a:tr h="527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ASV Scan (şəbəkə testi)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Bəzən 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6189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42250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F3765-A7CA-8EED-9D5C-BE07433C8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33955D-614E-E400-B276-88F601E21AA8}"/>
              </a:ext>
            </a:extLst>
          </p:cNvPr>
          <p:cNvSpPr txBox="1"/>
          <p:nvPr/>
        </p:nvSpPr>
        <p:spPr>
          <a:xfrm>
            <a:off x="217714" y="255046"/>
            <a:ext cx="11756571" cy="3356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Laravel və PCI DSS səviyyəsi</a:t>
            </a:r>
            <a:r>
              <a:rPr lang="az-Latn-AZ" altLang="en-US" sz="1300">
                <a:latin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300">
                <a:latin typeface="Arial" panose="020B0604020202020204" pitchFamily="34" charset="0"/>
              </a:rPr>
              <a:t>Əgər sən Laravel ilə online ödəniş qəbul edən kiçik/mid səviyyəli e-ticarət saytısansa, çox güman ki: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Level 3 və ya Level 4 səviyyəsinə düşürsən.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Yəni sadəcə SAQ doldurmaq və bəzən scan keçmək kifayət edir.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Amma kart məlumatını öz serverində saxlamırsansa, məsələn Stripe, 2Checkout kimi tokenization əsaslı xidmətlərdən istifadə edirsənsə – bu səviyyənin təhlükəsizlik öhdəliklərinin çoxunu həmin xidmət öz üzərinə götürür.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975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46869-ACF2-A0BF-13FC-385F7749C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ABC8E3-18D0-00DD-C9E6-D79B85F61EDB}"/>
              </a:ext>
            </a:extLst>
          </p:cNvPr>
          <p:cNvSpPr txBox="1"/>
          <p:nvPr/>
        </p:nvSpPr>
        <p:spPr>
          <a:xfrm>
            <a:off x="217714" y="255046"/>
            <a:ext cx="11756571" cy="1555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1300" b="1">
                <a:latin typeface="Arial" panose="020B0604020202020204" pitchFamily="34" charset="0"/>
              </a:rPr>
              <a:t>SAQ (Self-Assessment Questionnaire) nədir?</a:t>
            </a:r>
            <a:endParaRPr lang="az-Latn-AZ" altLang="en-US" sz="1300" b="1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SAQ – yəni Özünü Qiymətləndirmə Sorğusu – PCI DSS uyğunluğunun formasıdır və onu Level 2, 3 və 4 səviyyəli təşkilatlar özü doldurur.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PCI Security Standards Council müxtəlif SAQ növləri təqdim edir, bunlar içində ən çox rast gəlinənlər: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F97F752-B61E-7C93-A918-AEC0ECFF2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595098"/>
              </p:ext>
            </p:extLst>
          </p:nvPr>
        </p:nvGraphicFramePr>
        <p:xfrm>
          <a:off x="217714" y="2027869"/>
          <a:ext cx="11708080" cy="4298286"/>
        </p:xfrm>
        <a:graphic>
          <a:graphicData uri="http://schemas.openxmlformats.org/drawingml/2006/table">
            <a:tbl>
              <a:tblPr/>
              <a:tblGrid>
                <a:gridCol w="1434656">
                  <a:extLst>
                    <a:ext uri="{9D8B030D-6E8A-4147-A177-3AD203B41FA5}">
                      <a16:colId xmlns:a16="http://schemas.microsoft.com/office/drawing/2014/main" val="1898431100"/>
                    </a:ext>
                  </a:extLst>
                </a:gridCol>
                <a:gridCol w="5136712">
                  <a:extLst>
                    <a:ext uri="{9D8B030D-6E8A-4147-A177-3AD203B41FA5}">
                      <a16:colId xmlns:a16="http://schemas.microsoft.com/office/drawing/2014/main" val="3192852636"/>
                    </a:ext>
                  </a:extLst>
                </a:gridCol>
                <a:gridCol w="5136712">
                  <a:extLst>
                    <a:ext uri="{9D8B030D-6E8A-4147-A177-3AD203B41FA5}">
                      <a16:colId xmlns:a16="http://schemas.microsoft.com/office/drawing/2014/main" val="2324237723"/>
                    </a:ext>
                  </a:extLst>
                </a:gridCol>
              </a:tblGrid>
              <a:tr h="440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SAQ Forması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Kimlər üçündür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Şərt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643166"/>
                  </a:ext>
                </a:extLst>
              </a:tr>
              <a:tr h="1102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SAQ A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Ödəniş səhifəsini </a:t>
                      </a:r>
                      <a:r>
                        <a:rPr lang="en-US" b="1"/>
                        <a:t>tamamilə 3-cü tərəfə yönləndirənlər</a:t>
                      </a:r>
                      <a:r>
                        <a:rPr lang="en-US"/>
                        <a:t> (məsələn: 2Checkout, Stripe Hosted Payment Page)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Kart məlumatı sizin serverə daxil olmur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966127"/>
                  </a:ext>
                </a:extLst>
              </a:tr>
              <a:tr h="7714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SAQ A-EP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Kart məlumatı iframe ilə daxil olur, lakin saytınız JS host edir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Tokenization istifadə olunur, amma JS sizin serverdədir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9747113"/>
                  </a:ext>
                </a:extLst>
              </a:tr>
              <a:tr h="7714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SAQ B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Manual POS və ya imza terminallarından istifadə edənlər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Məsələn: telefonla kart məlumatı yığılır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233120"/>
                  </a:ext>
                </a:extLst>
              </a:tr>
              <a:tr h="7714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SAQ C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Virtual terminal + ödəniş prosessoruna birbaşa bağlantı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Ən sadə forma deyil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4880746"/>
                  </a:ext>
                </a:extLst>
              </a:tr>
              <a:tr h="440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SAQ D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Ən geniş və ağır formadır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Kart məlumatı sizin sistemdə toplanır və ya saxlanılır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187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60517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038A5-715C-C82A-1A28-B6E5D5D09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FB534C-3028-D2B3-E4C8-460570D39FC8}"/>
              </a:ext>
            </a:extLst>
          </p:cNvPr>
          <p:cNvSpPr txBox="1"/>
          <p:nvPr/>
        </p:nvSpPr>
        <p:spPr>
          <a:xfrm>
            <a:off x="217714" y="255046"/>
            <a:ext cx="11756571" cy="2455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Laravel + 2Checkout </a:t>
            </a:r>
            <a:r>
              <a:rPr lang="en-US" altLang="en-US" sz="1300">
                <a:latin typeface="Arial" panose="020B0604020202020204" pitchFamily="34" charset="0"/>
              </a:rPr>
              <a:t>Tokenization vəziyyətində siz </a:t>
            </a:r>
            <a:r>
              <a:rPr lang="en-US" altLang="en-US" sz="1300" b="1">
                <a:latin typeface="Arial" panose="020B0604020202020204" pitchFamily="34" charset="0"/>
              </a:rPr>
              <a:t>SAQ A </a:t>
            </a:r>
            <a:r>
              <a:rPr lang="en-US" altLang="en-US" sz="1300">
                <a:latin typeface="Arial" panose="020B0604020202020204" pitchFamily="34" charset="0"/>
              </a:rPr>
              <a:t>və ya </a:t>
            </a:r>
            <a:r>
              <a:rPr lang="en-US" altLang="en-US" sz="1300" b="1">
                <a:latin typeface="Arial" panose="020B0604020202020204" pitchFamily="34" charset="0"/>
              </a:rPr>
              <a:t>SAQ A-EP</a:t>
            </a:r>
            <a:r>
              <a:rPr lang="en-US" altLang="en-US" sz="1300">
                <a:latin typeface="Arial" panose="020B0604020202020204" pitchFamily="34" charset="0"/>
              </a:rPr>
              <a:t>-yə uyğunsunuz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Niyə?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Kart məlumatları javascriplə iframe-də toplanır → sizin serverə heç bir kart məlumatı daxil olmur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Siz sadəcə token alırsınız və bu tokeni serverə göndərirsiniz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Bu da PCI DSS-ə uyğun tokenization modelidir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halda siz sadəcə </a:t>
            </a:r>
            <a:r>
              <a:rPr lang="en-US" altLang="en-US" sz="1300" b="1">
                <a:latin typeface="Arial" panose="020B0604020202020204" pitchFamily="34" charset="0"/>
              </a:rPr>
              <a:t>SAQ A</a:t>
            </a:r>
            <a:r>
              <a:rPr lang="en-US" altLang="en-US" sz="1300">
                <a:latin typeface="Arial" panose="020B0604020202020204" pitchFamily="34" charset="0"/>
              </a:rPr>
              <a:t> və ya </a:t>
            </a:r>
            <a:r>
              <a:rPr lang="en-US" altLang="en-US" sz="1300" b="1">
                <a:latin typeface="Arial" panose="020B0604020202020204" pitchFamily="34" charset="0"/>
              </a:rPr>
              <a:t>SAQ A-EP </a:t>
            </a:r>
            <a:r>
              <a:rPr lang="en-US" altLang="en-US" sz="1300">
                <a:latin typeface="Arial" panose="020B0604020202020204" pitchFamily="34" charset="0"/>
              </a:rPr>
              <a:t>doldurursunuz, bu da çox sadə formadır (təxminən 15-25 sual).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8309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F76AA-12AD-F3EE-4068-F0002DC92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B501DC-CECB-09C9-9FB9-49264B9FEC4E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SAQ A formunun nümunəsi (sadeləşdirilmiş)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r>
              <a:rPr lang="az-Latn-AZ" altLang="en-US" sz="1300">
                <a:latin typeface="Arial" panose="020B0604020202020204" pitchFamily="34" charset="0"/>
              </a:rPr>
              <a:t> Burada bəzi real suallara bənzər misallar verilir: Bu cür sualları cavablandırıb SAQ A formunu doldurduqda PCI DSS uyğun sayılırsınız.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26E086-B42B-EE27-FFDE-7493A1D14B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571848"/>
              </p:ext>
            </p:extLst>
          </p:nvPr>
        </p:nvGraphicFramePr>
        <p:xfrm>
          <a:off x="217714" y="1140528"/>
          <a:ext cx="11604173" cy="3580759"/>
        </p:xfrm>
        <a:graphic>
          <a:graphicData uri="http://schemas.openxmlformats.org/drawingml/2006/table">
            <a:tbl>
              <a:tblPr/>
              <a:tblGrid>
                <a:gridCol w="9486124">
                  <a:extLst>
                    <a:ext uri="{9D8B030D-6E8A-4147-A177-3AD203B41FA5}">
                      <a16:colId xmlns:a16="http://schemas.microsoft.com/office/drawing/2014/main" val="1559837335"/>
                    </a:ext>
                  </a:extLst>
                </a:gridCol>
                <a:gridCol w="2118049">
                  <a:extLst>
                    <a:ext uri="{9D8B030D-6E8A-4147-A177-3AD203B41FA5}">
                      <a16:colId xmlns:a16="http://schemas.microsoft.com/office/drawing/2014/main" val="3457482480"/>
                    </a:ext>
                  </a:extLst>
                </a:gridCol>
              </a:tblGrid>
              <a:tr h="511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Cavab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761278"/>
                  </a:ext>
                </a:extLst>
              </a:tr>
              <a:tr h="511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Kart məlumatları saytınızda toplanırmı?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 Xeyr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3345387"/>
                  </a:ext>
                </a:extLst>
              </a:tr>
              <a:tr h="511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Bütün ödənişlər üçün 3-cü tərəf PCI DSS uyğun prosessor istifadə edirsiniz?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Bəli (2Checkout)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37911"/>
                  </a:ext>
                </a:extLst>
              </a:tr>
              <a:tr h="511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Serverinizdə kart məlumatı saxlanılırmı?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 Xeyr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7410209"/>
                  </a:ext>
                </a:extLst>
              </a:tr>
              <a:tr h="511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HTTPS istifadə olunurmu?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Bəli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501622"/>
                  </a:ext>
                </a:extLst>
              </a:tr>
              <a:tr h="511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Login və parol siyasətiniz varmı?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Bəli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0720687"/>
                  </a:ext>
                </a:extLst>
              </a:tr>
              <a:tr h="511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JS və iframe vasitəsilə PCI DSS uyğun form istifadə olunurmu?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Bəli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2879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09936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3D34D-80F8-8580-3BA1-1DB33D5F3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42374C-164E-B986-7409-AAB2940D16FA}"/>
              </a:ext>
            </a:extLst>
          </p:cNvPr>
          <p:cNvSpPr txBox="1"/>
          <p:nvPr/>
        </p:nvSpPr>
        <p:spPr>
          <a:xfrm>
            <a:off x="217714" y="255046"/>
            <a:ext cx="11756571" cy="335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2Checkout sizə PCI uyğunluğunu necə təmin edir?</a:t>
            </a:r>
            <a:endParaRPr lang="az-Latn-AZ" altLang="en-US" sz="1300" b="1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2Checkout özü artıq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PCI DSS Level 1 Certified (ən yüksək səviyyə)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Kart məlumatlarını öz serverində şifrələyir və emal edir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Sizə tokenization (2pay.js SDK) təqdim edir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Bu deməkdir ki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altLang="en-US" sz="1300">
                <a:latin typeface="Arial" panose="020B0604020202020204" pitchFamily="34" charset="0"/>
              </a:rPr>
              <a:t>☑ Laravel backend-iniz kart məlumatına toxunmur</a:t>
            </a:r>
          </a:p>
          <a:p>
            <a:pPr lvl="1">
              <a:lnSpc>
                <a:spcPct val="150000"/>
              </a:lnSpc>
            </a:pPr>
            <a:r>
              <a:rPr lang="en-US" altLang="en-US" sz="1300">
                <a:latin typeface="Arial" panose="020B0604020202020204" pitchFamily="34" charset="0"/>
              </a:rPr>
              <a:t>☑ Yalnız tokenlə işləyir → PCI uyğunsuzluğu riski sıfıra enir</a:t>
            </a:r>
          </a:p>
          <a:p>
            <a:pPr lvl="1">
              <a:lnSpc>
                <a:spcPct val="150000"/>
              </a:lnSpc>
            </a:pPr>
            <a:r>
              <a:rPr lang="en-US" altLang="en-US" sz="1300">
                <a:latin typeface="Arial" panose="020B0604020202020204" pitchFamily="34" charset="0"/>
              </a:rPr>
              <a:t>☑ Sizə sadəcə SAQ A doldurmaq qalır</a:t>
            </a:r>
            <a:endParaRPr lang="az-Latn-AZ" altLang="en-US" sz="13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4097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7E8DC-A7AF-ACFF-7C4E-9C771B20B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64FD9A-3468-F8A7-D11F-9C21CA19A5E8}"/>
              </a:ext>
            </a:extLst>
          </p:cNvPr>
          <p:cNvSpPr txBox="1"/>
          <p:nvPr/>
        </p:nvSpPr>
        <p:spPr>
          <a:xfrm>
            <a:off x="217714" y="255046"/>
            <a:ext cx="11756571" cy="575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Əlavə təhlükəsizlik tövsiyələri (Laravel üçün):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Nəticə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en-US" altLang="en-US" sz="1300">
                <a:latin typeface="Arial" panose="020B0604020202020204" pitchFamily="34" charset="0"/>
              </a:rPr>
              <a:t>Laravel + 2Checkout token sistemi istifadə etdikdə: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✅ PCI DSS uyğunluğu çox asan təmin olunur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✅ Siz SAQ A formu ilə uyğunsunuz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✅ 2Checkout sizin əvəzinizə təhlükəsizlik öhdəliklərini daşıyır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✅ Sizə düşən: təhlükəsiz kodlaşdırma və məlumatı qoruma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3D8B47-858D-2736-A383-96F6214294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3017395"/>
              </p:ext>
            </p:extLst>
          </p:nvPr>
        </p:nvGraphicFramePr>
        <p:xfrm>
          <a:off x="217713" y="882845"/>
          <a:ext cx="11688148" cy="3036010"/>
        </p:xfrm>
        <a:graphic>
          <a:graphicData uri="http://schemas.openxmlformats.org/drawingml/2006/table">
            <a:tbl>
              <a:tblPr/>
              <a:tblGrid>
                <a:gridCol w="5228532">
                  <a:extLst>
                    <a:ext uri="{9D8B030D-6E8A-4147-A177-3AD203B41FA5}">
                      <a16:colId xmlns:a16="http://schemas.microsoft.com/office/drawing/2014/main" val="1850440272"/>
                    </a:ext>
                  </a:extLst>
                </a:gridCol>
                <a:gridCol w="6459616">
                  <a:extLst>
                    <a:ext uri="{9D8B030D-6E8A-4147-A177-3AD203B41FA5}">
                      <a16:colId xmlns:a16="http://schemas.microsoft.com/office/drawing/2014/main" val="2567771494"/>
                    </a:ext>
                  </a:extLst>
                </a:gridCol>
              </a:tblGrid>
              <a:tr h="607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Təhlükəsizlik Addımı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Əhəmiyyəti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472263"/>
                  </a:ext>
                </a:extLst>
              </a:tr>
              <a:tr h="607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/>
                        <a:t>HTTPS məcbur et (force https)</a:t>
                      </a:r>
                      <a:endParaRPr lang="fr-F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Bütün məlumat ötürülməsi şifrələnmiş olsun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4535505"/>
                  </a:ext>
                </a:extLst>
              </a:tr>
              <a:tr h="607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CSRF tokenləri aktiv olsun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Formlar üçün Laravel @csrf istifadə edin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1473390"/>
                  </a:ext>
                </a:extLst>
              </a:tr>
              <a:tr h="607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.env-də kartla bağlı heç bir məlumat saxlamayın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Tokenlə işləyin, kart nömrəsi, CVV saxlamayın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8277873"/>
                  </a:ext>
                </a:extLst>
              </a:tr>
              <a:tr h="607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Controller-lərdə heç bir kart məlumatı gəlməsin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Sadəcə token və billing info olsun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72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55900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83550-C64F-90CA-D42D-A491AF389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CC9F0F-49A3-C322-F0D0-B4F72F234DA3}"/>
              </a:ext>
            </a:extLst>
          </p:cNvPr>
          <p:cNvSpPr txBox="1"/>
          <p:nvPr/>
        </p:nvSpPr>
        <p:spPr>
          <a:xfrm>
            <a:off x="217714" y="255046"/>
            <a:ext cx="11756571" cy="365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Gəlin indi isə </a:t>
            </a:r>
            <a:r>
              <a:rPr lang="az-Latn-AZ" altLang="en-US" sz="1300" b="1">
                <a:latin typeface="Arial" panose="020B0604020202020204" pitchFamily="34" charset="0"/>
              </a:rPr>
              <a:t>AzəriCard</a:t>
            </a:r>
            <a:r>
              <a:rPr lang="az-Latn-AZ" altLang="en-US" sz="1300">
                <a:latin typeface="Arial" panose="020B0604020202020204" pitchFamily="34" charset="0"/>
              </a:rPr>
              <a:t> ilə birbaşa online ödəniş sistemi qurmaq istəyən bir Laravel proqramçısı kimi bu mövzu haqqında danışaq: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AzəriCard ilə işləmək üçün 2Checkout-a ehtiyac varmı?</a:t>
            </a:r>
            <a:endParaRPr lang="az-Latn-AZ" altLang="en-US" sz="13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Xeyr</a:t>
            </a:r>
            <a:r>
              <a:rPr lang="en-US" altLang="en-US" sz="1300">
                <a:latin typeface="Arial" panose="020B0604020202020204" pitchFamily="34" charset="0"/>
              </a:rPr>
              <a:t>.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en-US" altLang="en-US" sz="1300">
                <a:latin typeface="Arial" panose="020B0604020202020204" pitchFamily="34" charset="0"/>
              </a:rPr>
              <a:t>Əgər siz birbaşa </a:t>
            </a:r>
            <a:r>
              <a:rPr lang="en-US" altLang="en-US" sz="1300" b="1">
                <a:latin typeface="Arial" panose="020B0604020202020204" pitchFamily="34" charset="0"/>
              </a:rPr>
              <a:t>AzəriCard</a:t>
            </a:r>
            <a:r>
              <a:rPr lang="en-US" altLang="en-US" sz="1300">
                <a:latin typeface="Arial" panose="020B0604020202020204" pitchFamily="34" charset="0"/>
              </a:rPr>
              <a:t>-dan merchant hesabı açırsınızsa və onların sizə verdiyi </a:t>
            </a:r>
            <a:r>
              <a:rPr lang="en-US" altLang="en-US" sz="1300" b="1">
                <a:latin typeface="Arial" panose="020B0604020202020204" pitchFamily="34" charset="0"/>
              </a:rPr>
              <a:t>API</a:t>
            </a:r>
            <a:r>
              <a:rPr lang="en-US" altLang="en-US" sz="1300">
                <a:latin typeface="Arial" panose="020B0604020202020204" pitchFamily="34" charset="0"/>
              </a:rPr>
              <a:t> və ya </a:t>
            </a:r>
            <a:r>
              <a:rPr lang="en-US" altLang="en-US" sz="1300" b="1">
                <a:latin typeface="Arial" panose="020B0604020202020204" pitchFamily="34" charset="0"/>
              </a:rPr>
              <a:t>Payment Gateway </a:t>
            </a:r>
            <a:r>
              <a:rPr lang="en-US" altLang="en-US" sz="1300">
                <a:latin typeface="Arial" panose="020B0604020202020204" pitchFamily="34" charset="0"/>
              </a:rPr>
              <a:t>sənədləri varsa, 2Checkout, Stripe və s. istifadə etməyə ehtiyac yoxdur.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Yəni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AzəriCard</a:t>
            </a:r>
            <a:r>
              <a:rPr lang="en-US" altLang="en-US" sz="1300">
                <a:latin typeface="Arial" panose="020B0604020202020204" pitchFamily="34" charset="0"/>
              </a:rPr>
              <a:t> sizin bank infrastrukturu ilə birbaşa işləyir.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Siz onların </a:t>
            </a:r>
            <a:r>
              <a:rPr lang="en-US" altLang="en-US" sz="1300" b="1">
                <a:latin typeface="Arial" panose="020B0604020202020204" pitchFamily="34" charset="0"/>
              </a:rPr>
              <a:t>API</a:t>
            </a:r>
            <a:r>
              <a:rPr lang="en-US" altLang="en-US" sz="1300">
                <a:latin typeface="Arial" panose="020B0604020202020204" pitchFamily="34" charset="0"/>
              </a:rPr>
              <a:t>-sindən və ya </a:t>
            </a:r>
            <a:r>
              <a:rPr lang="en-US" altLang="en-US" sz="1300" b="1">
                <a:latin typeface="Arial" panose="020B0604020202020204" pitchFamily="34" charset="0"/>
              </a:rPr>
              <a:t>POST-based Payment Gateway </a:t>
            </a:r>
            <a:r>
              <a:rPr lang="en-US" altLang="en-US" sz="1300">
                <a:latin typeface="Arial" panose="020B0604020202020204" pitchFamily="34" charset="0"/>
              </a:rPr>
              <a:t>sistemindən istifadə edirsiniz.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Siz öz </a:t>
            </a:r>
            <a:r>
              <a:rPr lang="en-US" altLang="en-US" sz="1300" b="1">
                <a:latin typeface="Arial" panose="020B0604020202020204" pitchFamily="34" charset="0"/>
              </a:rPr>
              <a:t>input</a:t>
            </a:r>
            <a:r>
              <a:rPr lang="en-US" altLang="en-US" sz="1300">
                <a:latin typeface="Arial" panose="020B0604020202020204" pitchFamily="34" charset="0"/>
              </a:rPr>
              <a:t> sahələrinizi və frontend formunuzu yaradırsınız.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5426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BEFBB-873A-554A-D7B3-3370CB4DB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1AFF5E-1806-F723-B4A4-2B4358968521}"/>
              </a:ext>
            </a:extLst>
          </p:cNvPr>
          <p:cNvSpPr txBox="1"/>
          <p:nvPr/>
        </p:nvSpPr>
        <p:spPr>
          <a:xfrm>
            <a:off x="217714" y="255046"/>
            <a:ext cx="11756571" cy="6056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AzəriCard hansı texnologiyanı təqdim edir?</a:t>
            </a:r>
            <a:endParaRPr lang="az-Latn-AZ" altLang="en-US" sz="1300" b="1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 b="1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AzəriCard tipik olaraq bu iki üsuldan birini (və ya hər ikisini) təqdim edir: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Nə vaxt PCI DSS tələbləri vacib olur?</a:t>
            </a:r>
            <a:endParaRPr lang="az-Latn-AZ" altLang="en-US" sz="1300" b="1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300">
                <a:latin typeface="Arial" panose="020B0604020202020204" pitchFamily="34" charset="0"/>
              </a:rPr>
              <a:t>Əgər siz </a:t>
            </a:r>
            <a:r>
              <a:rPr lang="az-Latn-AZ" altLang="en-US" sz="1300" b="1">
                <a:solidFill>
                  <a:schemeClr val="accent2"/>
                </a:solidFill>
                <a:latin typeface="Arial" panose="020B0604020202020204" pitchFamily="34" charset="0"/>
              </a:rPr>
              <a:t>Direct API </a:t>
            </a:r>
            <a:r>
              <a:rPr lang="az-Latn-AZ" altLang="en-US" sz="1300">
                <a:latin typeface="Arial" panose="020B0604020202020204" pitchFamily="34" charset="0"/>
              </a:rPr>
              <a:t>istifadə edirsinizsə və kart məlumatı sizin serverə gəlirsə, </a:t>
            </a:r>
            <a:r>
              <a:rPr lang="az-Latn-AZ" altLang="en-US" sz="1300" b="1">
                <a:latin typeface="Arial" panose="020B0604020202020204" pitchFamily="34" charset="0"/>
              </a:rPr>
              <a:t>PCI DSS </a:t>
            </a:r>
            <a:r>
              <a:rPr lang="az-Latn-AZ" altLang="en-US" sz="1300">
                <a:latin typeface="Arial" panose="020B0604020202020204" pitchFamily="34" charset="0"/>
              </a:rPr>
              <a:t>uyğunluğu mütləqdir.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300">
                <a:latin typeface="Arial" panose="020B0604020202020204" pitchFamily="34" charset="0"/>
              </a:rPr>
              <a:t>Əgər siz </a:t>
            </a:r>
            <a:r>
              <a:rPr lang="az-Latn-AZ" altLang="en-US" sz="1300" b="1">
                <a:solidFill>
                  <a:srgbClr val="7030A0"/>
                </a:solidFill>
                <a:latin typeface="Arial" panose="020B0604020202020204" pitchFamily="34" charset="0"/>
              </a:rPr>
              <a:t>Hosted Page </a:t>
            </a:r>
            <a:r>
              <a:rPr lang="az-Latn-AZ" altLang="en-US" sz="1300">
                <a:latin typeface="Arial" panose="020B0604020202020204" pitchFamily="34" charset="0"/>
              </a:rPr>
              <a:t>istifadə edirsinizsə, bu zaman kart məlumatı sizin serverdən keçmir və siz </a:t>
            </a:r>
            <a:r>
              <a:rPr lang="az-Latn-AZ" altLang="en-US" sz="1300" b="1">
                <a:latin typeface="Arial" panose="020B0604020202020204" pitchFamily="34" charset="0"/>
              </a:rPr>
              <a:t>SAQ A</a:t>
            </a:r>
            <a:r>
              <a:rPr lang="az-Latn-AZ" altLang="en-US" sz="1300">
                <a:latin typeface="Arial" panose="020B0604020202020204" pitchFamily="34" charset="0"/>
              </a:rPr>
              <a:t> səviyyəsində uyğunluqla kifayətlənə bilərsiniz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8161C8-BB7F-A60A-1AD5-BC768122C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980023"/>
              </p:ext>
            </p:extLst>
          </p:nvPr>
        </p:nvGraphicFramePr>
        <p:xfrm>
          <a:off x="217714" y="1520284"/>
          <a:ext cx="11756571" cy="3023725"/>
        </p:xfrm>
        <a:graphic>
          <a:graphicData uri="http://schemas.openxmlformats.org/drawingml/2006/table">
            <a:tbl>
              <a:tblPr/>
              <a:tblGrid>
                <a:gridCol w="3227865">
                  <a:extLst>
                    <a:ext uri="{9D8B030D-6E8A-4147-A177-3AD203B41FA5}">
                      <a16:colId xmlns:a16="http://schemas.microsoft.com/office/drawing/2014/main" val="1664554846"/>
                    </a:ext>
                  </a:extLst>
                </a:gridCol>
                <a:gridCol w="8528706">
                  <a:extLst>
                    <a:ext uri="{9D8B030D-6E8A-4147-A177-3AD203B41FA5}">
                      <a16:colId xmlns:a16="http://schemas.microsoft.com/office/drawing/2014/main" val="3547608904"/>
                    </a:ext>
                  </a:extLst>
                </a:gridCol>
              </a:tblGrid>
              <a:tr h="671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Sistem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İzah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235125"/>
                  </a:ext>
                </a:extLst>
              </a:tr>
              <a:tr h="1175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7030A0"/>
                          </a:solidFill>
                        </a:rPr>
                        <a:t>Hosted Payment Page (HPP)</a:t>
                      </a:r>
                      <a:endParaRPr lang="en-US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İstifadəçi sizin saytdan AzəriCard səhifəsinə yönləndirilir və orada kart məlumatını daxil edir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007711"/>
                  </a:ext>
                </a:extLst>
              </a:tr>
              <a:tr h="1175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2"/>
                          </a:solidFill>
                        </a:rPr>
                        <a:t>Direct API / JSON Gateway</a:t>
                      </a:r>
                      <a:endParaRPr lang="en-US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Siz öz saytınızda input (kart nömrəsi, tarix, CVV) yaradırsınız və AzəriCard serverlərinə sorğu göndərirsiniz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362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32697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67083-1A5F-9E47-C6E3-ABE26DDB0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9BB863-AFF6-C5B5-3F0D-151BA763E270}"/>
              </a:ext>
            </a:extLst>
          </p:cNvPr>
          <p:cNvSpPr txBox="1"/>
          <p:nvPr/>
        </p:nvSpPr>
        <p:spPr>
          <a:xfrm>
            <a:off x="217714" y="255046"/>
            <a:ext cx="1175657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PCI DSS və digər standartların bu vaxtdakı rolu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Aşağıdakı cədvəldə göstərilmişdir ki, AzəriCard ödəniş forması və məlumatların hansı sistemlə göndərilməsinə görə sizə hansı təhlükəsizlik tələbləri aiddir: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105B16-15B2-6A5F-538B-FAE4E5601A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128771"/>
              </p:ext>
            </p:extLst>
          </p:nvPr>
        </p:nvGraphicFramePr>
        <p:xfrm>
          <a:off x="217714" y="1143000"/>
          <a:ext cx="11756571" cy="3270379"/>
        </p:xfrm>
        <a:graphic>
          <a:graphicData uri="http://schemas.openxmlformats.org/drawingml/2006/table">
            <a:tbl>
              <a:tblPr/>
              <a:tblGrid>
                <a:gridCol w="4223657">
                  <a:extLst>
                    <a:ext uri="{9D8B030D-6E8A-4147-A177-3AD203B41FA5}">
                      <a16:colId xmlns:a16="http://schemas.microsoft.com/office/drawing/2014/main" val="4050741957"/>
                    </a:ext>
                  </a:extLst>
                </a:gridCol>
                <a:gridCol w="3614057">
                  <a:extLst>
                    <a:ext uri="{9D8B030D-6E8A-4147-A177-3AD203B41FA5}">
                      <a16:colId xmlns:a16="http://schemas.microsoft.com/office/drawing/2014/main" val="3526827366"/>
                    </a:ext>
                  </a:extLst>
                </a:gridCol>
                <a:gridCol w="3918857">
                  <a:extLst>
                    <a:ext uri="{9D8B030D-6E8A-4147-A177-3AD203B41FA5}">
                      <a16:colId xmlns:a16="http://schemas.microsoft.com/office/drawing/2014/main" val="2762619000"/>
                    </a:ext>
                  </a:extLst>
                </a:gridCol>
              </a:tblGrid>
              <a:tr h="523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Ssenari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PCI DSS səviyyəsi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Nə etməlisiniz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327493"/>
                  </a:ext>
                </a:extLst>
              </a:tr>
              <a:tr h="915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</a:t>
                      </a:r>
                      <a:r>
                        <a:rPr lang="en-US" b="1"/>
                        <a:t>Hosted Payment Page (AzəriCard səhifəsinə yönləndirmə)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SAQ A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HTTPS istifadə edin, məlumat saxlamayın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751137"/>
                  </a:ext>
                </a:extLst>
              </a:tr>
              <a:tr h="915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</a:t>
                      </a:r>
                      <a:r>
                        <a:rPr lang="en-US" b="1"/>
                        <a:t>Iframe-based ödəniş forması (AzəriCard təqdim edirsə)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SAQ A-EP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HTTPS + JS təhlükəsizliyi qorunmalıdır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264917"/>
                  </a:ext>
                </a:extLst>
              </a:tr>
              <a:tr h="915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 </a:t>
                      </a:r>
                      <a:r>
                        <a:rPr lang="en-US" b="1"/>
                        <a:t>Direct API ilə kart məlumatı sizin backend-ə gəlir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Level 4 və ya 3</a:t>
                      </a:r>
                      <a:r>
                        <a:rPr lang="en-US"/>
                        <a:t>, SAQ D tələb olunur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PCI DSS sertifikatı, server auditi (QSA), ASV scan və 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909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51546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32E4E-DFFC-2A2B-841A-238A08363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657538-44A3-628B-ABBA-38BD6A514934}"/>
              </a:ext>
            </a:extLst>
          </p:cNvPr>
          <p:cNvSpPr txBox="1"/>
          <p:nvPr/>
        </p:nvSpPr>
        <p:spPr>
          <a:xfrm>
            <a:off x="217714" y="255046"/>
            <a:ext cx="11756571" cy="3056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AzəriCard sizə nə verir?</a:t>
            </a:r>
            <a:endParaRPr lang="az-Latn-AZ" altLang="en-US" sz="1300" b="1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 b="1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AzəriCard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ilə müqavilə bağladıqdan sonra sizə təqdim ediləcək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Merchant ID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Terminal ID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API URL-ləri və test sandbox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İntegrasiya sənədləri (PDF, JSON, SOAP və ya HTML)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Sənəd növündən asılı olaraq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159EB57-1A3B-B6E0-639E-D66D9E823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115369"/>
              </p:ext>
            </p:extLst>
          </p:nvPr>
        </p:nvGraphicFramePr>
        <p:xfrm>
          <a:off x="287694" y="3546861"/>
          <a:ext cx="11599506" cy="2648664"/>
        </p:xfrm>
        <a:graphic>
          <a:graphicData uri="http://schemas.openxmlformats.org/drawingml/2006/table">
            <a:tbl>
              <a:tblPr/>
              <a:tblGrid>
                <a:gridCol w="3080657">
                  <a:extLst>
                    <a:ext uri="{9D8B030D-6E8A-4147-A177-3AD203B41FA5}">
                      <a16:colId xmlns:a16="http://schemas.microsoft.com/office/drawing/2014/main" val="2480081954"/>
                    </a:ext>
                  </a:extLst>
                </a:gridCol>
                <a:gridCol w="8518849">
                  <a:extLst>
                    <a:ext uri="{9D8B030D-6E8A-4147-A177-3AD203B41FA5}">
                      <a16:colId xmlns:a16="http://schemas.microsoft.com/office/drawing/2014/main" val="2541414544"/>
                    </a:ext>
                  </a:extLst>
                </a:gridCol>
              </a:tblGrid>
              <a:tr h="481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Növ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Form istifadə qaydası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853937"/>
                  </a:ext>
                </a:extLst>
              </a:tr>
              <a:tr h="722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HTML form və POST gateway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Sizin form action olaraq AzəriCard-ın URL-sinə yönləndirilir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383853"/>
                  </a:ext>
                </a:extLst>
              </a:tr>
              <a:tr h="722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JSON / REST API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Siz backend-dən kart məlumatlarını göndərirsiniz → təhlükəli, PCI uyğunluğu </a:t>
                      </a:r>
                      <a:r>
                        <a:rPr lang="en-US" b="1"/>
                        <a:t>şərtdir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821144"/>
                  </a:ext>
                </a:extLst>
              </a:tr>
              <a:tr h="722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Iframe çözüm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Form daxilində kart sahələri yerləşir, kart məlumatı sizə gəlmir → daha təhlükəsiz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643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86085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A87C5-34BF-6A6D-7F69-ACD7D2B88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8B5EC3-5795-AF23-18F6-B726FE436A72}"/>
              </a:ext>
            </a:extLst>
          </p:cNvPr>
          <p:cNvSpPr txBox="1"/>
          <p:nvPr/>
        </p:nvSpPr>
        <p:spPr>
          <a:xfrm>
            <a:off x="217714" y="255046"/>
            <a:ext cx="11756571" cy="545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Laravel-də real tətbiq ssenarisi (AzəriCard üçün)</a:t>
            </a:r>
            <a:endParaRPr lang="az-Latn-AZ" altLang="en-US" sz="1300" b="1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A. Hosted Page ilə yönləndirmə (sadə və təhlükəsiz)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Siz Laravel-də bir ödəniş düyməsi yerləşdirirsiniz.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İstifadəçi düyməyə klik etdikdə AzəriCard-a yönləndirilir.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Ödəniş AzəriCard serverində tamamlanır.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Callback (success/error URL) ilə sizə nəticə gəlir.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Bu zaman sizə PCI DSS-in ağır qaydaları lazım olmur.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B. Öz formunuzu yaratsanız və kart məlumatı sizin serverə gəlsə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HTTPS şərtdir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PCI DSS SAQ D doldurmalısınız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ASV scan keçirməlisiniz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QSA auditi tələb oluna bilər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Sizin serverlərinizdə firewall, antivirus, şəbəkə loglama, şifrələmə sistemi olmalıdır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Bu çox ağır və bahalıdır – tövsiyə edilmir!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0445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5E441-FAC2-5C95-33D4-C5F4B0099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6A11CF-6F46-0F69-CAE6-7747B07601D8}"/>
              </a:ext>
            </a:extLst>
          </p:cNvPr>
          <p:cNvSpPr txBox="1"/>
          <p:nvPr/>
        </p:nvSpPr>
        <p:spPr>
          <a:xfrm>
            <a:off x="217715" y="161281"/>
            <a:ext cx="7629330" cy="6154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100" u="sng">
                <a:solidFill>
                  <a:srgbClr val="0070C0"/>
                </a:solidFill>
                <a:latin typeface="Arial" panose="020B0604020202020204" pitchFamily="34" charset="0"/>
              </a:rPr>
              <a:t>https://verifone.cloud/docs/2checkout/Documentation/09Test_ordering_system/01Test_payment_methods</a:t>
            </a: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Yuxarıdakı sayta daxil olaraq test məqsədli `</a:t>
            </a:r>
            <a:r>
              <a:rPr lang="az-Latn-AZ" altLang="en-US" sz="1100" b="1">
                <a:latin typeface="Arial" panose="020B0604020202020204" pitchFamily="34" charset="0"/>
              </a:rPr>
              <a:t>card kodu</a:t>
            </a:r>
            <a:r>
              <a:rPr lang="az-Latn-AZ" altLang="en-US" sz="1100">
                <a:latin typeface="Arial" panose="020B0604020202020204" pitchFamily="34" charset="0"/>
              </a:rPr>
              <a:t>` və `</a:t>
            </a:r>
            <a:r>
              <a:rPr lang="az-Latn-AZ" altLang="en-US" sz="1100" b="1">
                <a:latin typeface="Arial" panose="020B0604020202020204" pitchFamily="34" charset="0"/>
              </a:rPr>
              <a:t>ad</a:t>
            </a:r>
            <a:r>
              <a:rPr lang="az-Latn-AZ" altLang="en-US" sz="1100">
                <a:latin typeface="Arial" panose="020B0604020202020204" pitchFamily="34" charset="0"/>
              </a:rPr>
              <a:t>` götürürük. Həmin </a:t>
            </a:r>
            <a:r>
              <a:rPr lang="az-Latn-AZ" altLang="en-US" sz="1100" b="1">
                <a:latin typeface="Arial" panose="020B0604020202020204" pitchFamily="34" charset="0"/>
              </a:rPr>
              <a:t>card kodunu </a:t>
            </a:r>
            <a:r>
              <a:rPr lang="az-Latn-AZ" altLang="en-US" sz="1100">
                <a:latin typeface="Arial" panose="020B0604020202020204" pitchFamily="34" charset="0"/>
              </a:rPr>
              <a:t>və </a:t>
            </a:r>
            <a:r>
              <a:rPr lang="az-Latn-AZ" altLang="en-US" sz="1100" b="1">
                <a:latin typeface="Arial" panose="020B0604020202020204" pitchFamily="34" charset="0"/>
              </a:rPr>
              <a:t>adı,</a:t>
            </a:r>
            <a:r>
              <a:rPr lang="az-Latn-AZ" altLang="en-US" sz="1100">
                <a:latin typeface="Arial" panose="020B0604020202020204" pitchFamily="34" charset="0"/>
              </a:rPr>
              <a:t> şablonumuzdakı </a:t>
            </a:r>
            <a:r>
              <a:rPr lang="az-Latn-AZ" altLang="en-US" sz="1100" b="1">
                <a:latin typeface="Arial" panose="020B0604020202020204" pitchFamily="34" charset="0"/>
              </a:rPr>
              <a:t>input</a:t>
            </a:r>
            <a:r>
              <a:rPr lang="az-Latn-AZ" altLang="en-US" sz="1100">
                <a:latin typeface="Arial" panose="020B0604020202020204" pitchFamily="34" charset="0"/>
              </a:rPr>
              <a:t> sahələrinə yerləşdiririk. `</a:t>
            </a:r>
            <a:r>
              <a:rPr lang="az-Latn-AZ" altLang="en-US" sz="1100" b="1">
                <a:latin typeface="Arial" panose="020B0604020202020204" pitchFamily="34" charset="0"/>
              </a:rPr>
              <a:t>Expiration date</a:t>
            </a:r>
            <a:r>
              <a:rPr lang="az-Latn-AZ" altLang="en-US" sz="1100">
                <a:latin typeface="Arial" panose="020B0604020202020204" pitchFamily="34" charset="0"/>
              </a:rPr>
              <a:t>` və `</a:t>
            </a:r>
            <a:r>
              <a:rPr lang="az-Latn-AZ" altLang="en-US" sz="1100" b="1">
                <a:latin typeface="Arial" panose="020B0604020202020204" pitchFamily="34" charset="0"/>
              </a:rPr>
              <a:t>Security code</a:t>
            </a:r>
            <a:r>
              <a:rPr lang="az-Latn-AZ" altLang="en-US" sz="1100">
                <a:latin typeface="Arial" panose="020B0604020202020204" pitchFamily="34" charset="0"/>
              </a:rPr>
              <a:t>` olan sahələrə isə nə istəsəz yaza bilərsiz. 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Sahələri doldurduqdan sonra `</a:t>
            </a:r>
            <a:r>
              <a:rPr lang="az-Latn-AZ" altLang="en-US" sz="1100" b="1">
                <a:latin typeface="Arial" panose="020B0604020202020204" pitchFamily="34" charset="0"/>
              </a:rPr>
              <a:t>Generate token</a:t>
            </a:r>
            <a:r>
              <a:rPr lang="az-Latn-AZ" altLang="en-US" sz="1100">
                <a:latin typeface="Arial" panose="020B0604020202020204" pitchFamily="34" charset="0"/>
              </a:rPr>
              <a:t>` düyməsini kliklədikdə, aşağı şəkildəki kimi </a:t>
            </a:r>
            <a:r>
              <a:rPr lang="az-Latn-AZ" altLang="en-US" sz="1100" b="1">
                <a:latin typeface="Arial" panose="020B0604020202020204" pitchFamily="34" charset="0"/>
              </a:rPr>
              <a:t>RESPONSE</a:t>
            </a:r>
            <a:r>
              <a:rPr lang="az-Latn-AZ" altLang="en-US" sz="1100">
                <a:latin typeface="Arial" panose="020B0604020202020204" pitchFamily="34" charset="0"/>
              </a:rPr>
              <a:t> daxil olacaq. Bu uğursuz Response -dur.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Uğursuz </a:t>
            </a:r>
            <a:r>
              <a:rPr lang="az-Latn-AZ" altLang="en-US" sz="1100" b="1">
                <a:latin typeface="Arial" panose="020B0604020202020204" pitchFamily="34" charset="0"/>
              </a:rPr>
              <a:t>RESPONSE</a:t>
            </a:r>
            <a:r>
              <a:rPr lang="az-Latn-AZ" altLang="en-US" sz="1100">
                <a:latin typeface="Arial" panose="020B0604020202020204" pitchFamily="34" charset="0"/>
              </a:rPr>
              <a:t> daxil olmasının səbəbi isə, `</a:t>
            </a:r>
            <a:r>
              <a:rPr lang="en-US" altLang="en-US" sz="1100" b="1">
                <a:latin typeface="Arial" panose="020B0604020202020204" pitchFamily="34" charset="0"/>
              </a:rPr>
              <a:t>resources\views\gateways\twocheckout-form.blade.php</a:t>
            </a:r>
            <a:r>
              <a:rPr lang="az-Latn-AZ" altLang="en-US" sz="1100">
                <a:latin typeface="Arial" panose="020B0604020202020204" pitchFamily="34" charset="0"/>
              </a:rPr>
              <a:t>` faylındakı, </a:t>
            </a:r>
            <a:r>
              <a:rPr lang="az-Latn-AZ" altLang="en-US" sz="1100" b="1">
                <a:latin typeface="Arial" panose="020B0604020202020204" pitchFamily="34" charset="0"/>
              </a:rPr>
              <a:t>new TwoPayClient() </a:t>
            </a:r>
            <a:r>
              <a:rPr lang="az-Latn-AZ" altLang="en-US" sz="1100">
                <a:latin typeface="Arial" panose="020B0604020202020204" pitchFamily="34" charset="0"/>
              </a:rPr>
              <a:t>obyektinə düzgün `</a:t>
            </a:r>
            <a:r>
              <a:rPr lang="az-Latn-AZ" altLang="en-US" sz="1100" b="1">
                <a:solidFill>
                  <a:srgbClr val="FF0000"/>
                </a:solidFill>
                <a:latin typeface="Arial" panose="020B0604020202020204" pitchFamily="34" charset="0"/>
              </a:rPr>
              <a:t>sellerId</a:t>
            </a:r>
            <a:r>
              <a:rPr lang="az-Latn-AZ" altLang="en-US" sz="1100">
                <a:latin typeface="Arial" panose="020B0604020202020204" pitchFamily="34" charset="0"/>
              </a:rPr>
              <a:t>` verməməyimizdən qaynaqlanır. Növbəti slaydda, </a:t>
            </a:r>
            <a:r>
              <a:rPr lang="az-Latn-AZ" altLang="en-US" sz="1100" b="1">
                <a:solidFill>
                  <a:srgbClr val="00B050"/>
                </a:solidFill>
                <a:latin typeface="Arial" panose="020B0604020202020204" pitchFamily="34" charset="0"/>
              </a:rPr>
              <a:t>config() </a:t>
            </a:r>
            <a:r>
              <a:rPr lang="az-Latn-AZ" altLang="en-US" sz="1100">
                <a:latin typeface="Arial" panose="020B0604020202020204" pitchFamily="34" charset="0"/>
              </a:rPr>
              <a:t>funksiyasından istifadə edərək, `</a:t>
            </a:r>
            <a:r>
              <a:rPr lang="az-Latn-AZ" altLang="en-US" sz="1100" b="1">
                <a:solidFill>
                  <a:srgbClr val="0070C0"/>
                </a:solidFill>
                <a:latin typeface="Arial" panose="020B0604020202020204" pitchFamily="34" charset="0"/>
              </a:rPr>
              <a:t>config\twocheckout.php</a:t>
            </a:r>
            <a:r>
              <a:rPr lang="az-Latn-AZ" altLang="en-US" sz="1100">
                <a:latin typeface="Arial" panose="020B0604020202020204" pitchFamily="34" charset="0"/>
              </a:rPr>
              <a:t>` faylından `</a:t>
            </a:r>
            <a:r>
              <a:rPr lang="az-Latn-AZ" altLang="en-US" sz="1100" b="1">
                <a:solidFill>
                  <a:srgbClr val="FF0000"/>
                </a:solidFill>
                <a:latin typeface="Arial" panose="020B0604020202020204" pitchFamily="34" charset="0"/>
              </a:rPr>
              <a:t>sellerId</a:t>
            </a:r>
            <a:r>
              <a:rPr lang="az-Latn-AZ" altLang="en-US" sz="1100">
                <a:latin typeface="Arial" panose="020B0604020202020204" pitchFamily="34" charset="0"/>
              </a:rPr>
              <a:t>`  xassəsini çağırasıyıq. Bu zaman isə düzgün </a:t>
            </a:r>
            <a:r>
              <a:rPr lang="az-Latn-AZ" altLang="en-US" sz="1100" b="1">
                <a:solidFill>
                  <a:srgbClr val="7030A0"/>
                </a:solidFill>
                <a:latin typeface="Arial" panose="020B0604020202020204" pitchFamily="34" charset="0"/>
              </a:rPr>
              <a:t>TOKEN</a:t>
            </a:r>
            <a:r>
              <a:rPr lang="az-Latn-AZ" altLang="en-US" sz="1100">
                <a:latin typeface="Arial" panose="020B0604020202020204" pitchFamily="34" charset="0"/>
              </a:rPr>
              <a:t> generasiya ediləcək.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FCEDF7-EF8B-39DA-C980-833D6B9A1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8442" y="0"/>
            <a:ext cx="4133555" cy="17541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52BEDB-F1DB-C5EA-EF92-22F12CBA51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8443" y="2038025"/>
            <a:ext cx="4133555" cy="21475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E02D92-BB0D-EB1C-AA3A-B61C281405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8441" y="4455955"/>
            <a:ext cx="4133556" cy="24020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D1D11E-93D9-B9AD-2538-E2E78E5D85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7059" y="2112670"/>
            <a:ext cx="7215061" cy="28575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825B514-1DA4-AB75-54A3-7D24069121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171670"/>
            <a:ext cx="3590472" cy="686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6525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AACDD-EBF4-7686-A047-813BD2CB1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168C86-1193-984E-B377-3B5BDD80F545}"/>
              </a:ext>
            </a:extLst>
          </p:cNvPr>
          <p:cNvSpPr txBox="1"/>
          <p:nvPr/>
        </p:nvSpPr>
        <p:spPr>
          <a:xfrm>
            <a:off x="217714" y="87095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Nəticə....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CEE23F-5BD4-C6E9-2518-751A62184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2495"/>
            <a:ext cx="12192000" cy="62955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301470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1003F-FF8F-271D-C85C-9E45E9F29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5A0A9B-5F5E-0848-CD17-CF5E3832E58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Həmin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tokeni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 b="1">
                <a:latin typeface="Arial" panose="020B0604020202020204" pitchFamily="34" charset="0"/>
              </a:rPr>
              <a:t>CONSOLE</a:t>
            </a:r>
            <a:r>
              <a:rPr lang="az-Latn-AZ" altLang="en-US" sz="1300">
                <a:latin typeface="Arial" panose="020B0604020202020204" pitchFamily="34" charset="0"/>
              </a:rPr>
              <a:t> pəncərəsində də, görə bilərik.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AAC84F-0736-EE47-5C1B-373A7903C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3149"/>
            <a:ext cx="8888065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3400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98380-F7F2-0827-A505-F4B06E754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DF7502-A699-EC24-2A30-4B3955927ECC}"/>
              </a:ext>
            </a:extLst>
          </p:cNvPr>
          <p:cNvSpPr txBox="1"/>
          <p:nvPr/>
        </p:nvSpPr>
        <p:spPr>
          <a:xfrm>
            <a:off x="121298" y="255046"/>
            <a:ext cx="5877597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u="sng">
                <a:solidFill>
                  <a:srgbClr val="0070C0"/>
                </a:solidFill>
                <a:latin typeface="Arial" panose="020B0604020202020204" pitchFamily="34" charset="0"/>
              </a:rPr>
              <a:t>https://releases.jquery.com/jquery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İndi isə, bu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-i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AJAX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sorğusu ilə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Controllerə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göndərəcəyik.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 b="1">
                <a:latin typeface="Arial" panose="020B0604020202020204" pitchFamily="34" charset="0"/>
              </a:rPr>
              <a:t>AJAX</a:t>
            </a:r>
            <a:r>
              <a:rPr lang="az-Latn-AZ" altLang="en-US" sz="1300">
                <a:latin typeface="Arial" panose="020B0604020202020204" pitchFamily="34" charset="0"/>
              </a:rPr>
              <a:t> sorğusu üçün </a:t>
            </a:r>
            <a:r>
              <a:rPr lang="az-Latn-AZ" altLang="en-US" sz="1300" b="1">
                <a:latin typeface="Arial" panose="020B0604020202020204" pitchFamily="34" charset="0"/>
              </a:rPr>
              <a:t>JS</a:t>
            </a:r>
            <a:r>
              <a:rPr lang="az-Latn-AZ" altLang="en-US" sz="1300">
                <a:latin typeface="Arial" panose="020B0604020202020204" pitchFamily="34" charset="0"/>
              </a:rPr>
              <a:t> yaxud </a:t>
            </a:r>
            <a:r>
              <a:rPr lang="az-Latn-AZ" altLang="en-US" sz="1300" b="1">
                <a:latin typeface="Arial" panose="020B0604020202020204" pitchFamily="34" charset="0"/>
              </a:rPr>
              <a:t>JS -in JQUERY </a:t>
            </a:r>
            <a:r>
              <a:rPr lang="az-Latn-AZ" altLang="en-US" sz="1300">
                <a:latin typeface="Arial" panose="020B0604020202020204" pitchFamily="34" charset="0"/>
              </a:rPr>
              <a:t>kitabxanasından istifadə edə bilərik.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JQUERY</a:t>
            </a:r>
            <a:r>
              <a:rPr lang="az-Latn-AZ" altLang="en-US" sz="1300">
                <a:latin typeface="Arial" panose="020B0604020202020204" pitchFamily="34" charset="0"/>
              </a:rPr>
              <a:t> kitabxanasından istifadə edə bilmək üçün, sağ şəkildəki kimi rəsmi veb saytına daxil olaraq </a:t>
            </a:r>
            <a:r>
              <a:rPr lang="az-Latn-AZ" altLang="en-US" sz="1300" b="1">
                <a:latin typeface="Arial" panose="020B0604020202020204" pitchFamily="34" charset="0"/>
              </a:rPr>
              <a:t>CDN</a:t>
            </a:r>
            <a:r>
              <a:rPr lang="az-Latn-AZ" altLang="en-US" sz="1300">
                <a:latin typeface="Arial" panose="020B0604020202020204" pitchFamily="34" charset="0"/>
              </a:rPr>
              <a:t> linkini götürə və bu linki </a:t>
            </a:r>
            <a:r>
              <a:rPr lang="az-Latn-AZ" altLang="en-US" sz="1300" b="1">
                <a:latin typeface="Arial" panose="020B0604020202020204" pitchFamily="34" charset="0"/>
              </a:rPr>
              <a:t>LAYOUT</a:t>
            </a:r>
            <a:r>
              <a:rPr lang="az-Latn-AZ" altLang="en-US" sz="1300">
                <a:latin typeface="Arial" panose="020B0604020202020204" pitchFamily="34" charset="0"/>
              </a:rPr>
              <a:t> şablonuna yerləşdirmək lazımdır: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`</a:t>
            </a:r>
            <a:r>
              <a:rPr lang="en-US" altLang="en-US" sz="1300" u="sng">
                <a:solidFill>
                  <a:srgbClr val="0070C0"/>
                </a:solidFill>
                <a:latin typeface="Arial" panose="020B0604020202020204" pitchFamily="34" charset="0"/>
              </a:rPr>
              <a:t>resources\views\layouts\layout.blade.php</a:t>
            </a:r>
            <a:r>
              <a:rPr lang="az-Latn-AZ" altLang="en-US" sz="1300">
                <a:latin typeface="Arial" panose="020B0604020202020204" pitchFamily="34" charset="0"/>
              </a:rPr>
              <a:t>`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79387-964C-B92D-F52C-6E9DDF45B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3106" y="0"/>
            <a:ext cx="5998894" cy="38369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D5DF0D-87C3-5AB1-A3CB-9BF4F94A8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106" y="4182774"/>
            <a:ext cx="5998894" cy="2650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DE7524-B42E-BC54-6FE1-4AB4D51686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38733"/>
            <a:ext cx="5803149" cy="157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1472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AADCD-0D23-9298-E262-050903444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C7950A-AF9E-7C07-D08F-12F4E58D3784}"/>
              </a:ext>
            </a:extLst>
          </p:cNvPr>
          <p:cNvSpPr txBox="1"/>
          <p:nvPr/>
        </p:nvSpPr>
        <p:spPr>
          <a:xfrm>
            <a:off x="133738" y="152409"/>
            <a:ext cx="6369697" cy="455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JQUERY CDN </a:t>
            </a:r>
            <a:r>
              <a:rPr lang="az-Latn-AZ" altLang="en-US" sz="1300">
                <a:latin typeface="Arial" panose="020B0604020202020204" pitchFamily="34" charset="0"/>
              </a:rPr>
              <a:t>linkini çağırdıqdan sonra `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u="sng">
                <a:solidFill>
                  <a:srgbClr val="0070C0"/>
                </a:solidFill>
                <a:latin typeface="Arial" panose="020B0604020202020204" pitchFamily="34" charset="0"/>
              </a:rPr>
              <a:t>resources\views\gateways\twocheckout-form.blade.php </a:t>
            </a:r>
            <a:r>
              <a:rPr lang="az-Latn-AZ" altLang="en-US" sz="1300">
                <a:latin typeface="Arial" panose="020B0604020202020204" pitchFamily="34" charset="0"/>
              </a:rPr>
              <a:t>` faylına daxil oluruq və öz </a:t>
            </a:r>
            <a:r>
              <a:rPr lang="az-Latn-AZ" altLang="en-US" sz="1300" b="1">
                <a:latin typeface="Arial" panose="020B0604020202020204" pitchFamily="34" charset="0"/>
              </a:rPr>
              <a:t>JQUERY</a:t>
            </a:r>
            <a:r>
              <a:rPr lang="az-Latn-AZ" altLang="en-US" sz="1300">
                <a:latin typeface="Arial" panose="020B0604020202020204" pitchFamily="34" charset="0"/>
              </a:rPr>
              <a:t> kodumuzu yazıb, </a:t>
            </a:r>
            <a:r>
              <a:rPr lang="az-Latn-AZ" altLang="en-US" sz="1300" b="1">
                <a:latin typeface="Arial" panose="020B0604020202020204" pitchFamily="34" charset="0"/>
              </a:rPr>
              <a:t>TOKEN</a:t>
            </a:r>
            <a:r>
              <a:rPr lang="az-Latn-AZ" altLang="en-US" sz="1300">
                <a:latin typeface="Arial" panose="020B0604020202020204" pitchFamily="34" charset="0"/>
              </a:rPr>
              <a:t> -i əldə edərək </a:t>
            </a:r>
            <a:r>
              <a:rPr lang="az-Latn-AZ" altLang="en-US" sz="1300" b="1">
                <a:latin typeface="Arial" panose="020B0604020202020204" pitchFamily="34" charset="0"/>
              </a:rPr>
              <a:t>POST</a:t>
            </a:r>
            <a:r>
              <a:rPr lang="az-Latn-AZ" altLang="en-US" sz="1300">
                <a:latin typeface="Arial" panose="020B0604020202020204" pitchFamily="34" charset="0"/>
              </a:rPr>
              <a:t> metodu ilə </a:t>
            </a:r>
            <a:r>
              <a:rPr lang="az-Latn-AZ" altLang="en-US" sz="1300" b="1">
                <a:latin typeface="Arial" panose="020B0604020202020204" pitchFamily="34" charset="0"/>
              </a:rPr>
              <a:t>CONTROLLER</a:t>
            </a:r>
            <a:r>
              <a:rPr lang="az-Latn-AZ" altLang="en-US" sz="1300">
                <a:latin typeface="Arial" panose="020B0604020202020204" pitchFamily="34" charset="0"/>
              </a:rPr>
              <a:t> -ə göndəririk. Həmin kodun ətraflı açıqlamasını verək: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A)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doAjaxRequest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funksiyası</a:t>
            </a:r>
            <a:endParaRPr lang="az-Latn-AZ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funksiya kart tokeni yaradıldıqdan sonra onu serverə (Laravel backend) POST etmək üçün AJAX sorğusunu icra edir.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Özümüzün yaratdığı</a:t>
            </a:r>
            <a:r>
              <a:rPr lang="en-US" altLang="en-US" sz="1300">
                <a:latin typeface="Arial" panose="020B0604020202020204" pitchFamily="34" charset="0"/>
              </a:rPr>
              <a:t> bir funksiyadır. Parametr kimi </a:t>
            </a: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fparams</a:t>
            </a:r>
            <a:r>
              <a:rPr lang="en-US" altLang="en-US" sz="1300">
                <a:latin typeface="Arial" panose="020B0604020202020204" pitchFamily="34" charset="0"/>
              </a:rPr>
              <a:t> obyektini qəbul edir, bu obyektdə </a:t>
            </a:r>
            <a:r>
              <a:rPr lang="en-US" altLang="en-US" sz="1300" b="1">
                <a:solidFill>
                  <a:srgbClr val="7030A0"/>
                </a:solidFill>
                <a:latin typeface="Arial" panose="020B0604020202020204" pitchFamily="34" charset="0"/>
              </a:rPr>
              <a:t>token</a:t>
            </a:r>
            <a:r>
              <a:rPr lang="en-US" altLang="en-US" sz="1300">
                <a:latin typeface="Arial" panose="020B0604020202020204" pitchFamily="34" charset="0"/>
              </a:rPr>
              <a:t> və </a:t>
            </a:r>
            <a:r>
              <a:rPr lang="en-US" altLang="en-US" sz="1300" b="1">
                <a:solidFill>
                  <a:srgbClr val="7030A0"/>
                </a:solidFill>
                <a:latin typeface="Arial" panose="020B0604020202020204" pitchFamily="34" charset="0"/>
              </a:rPr>
              <a:t>formAction</a:t>
            </a:r>
            <a:r>
              <a:rPr lang="en-US" altLang="en-US" sz="1300">
                <a:latin typeface="Arial" panose="020B0604020202020204" pitchFamily="34" charset="0"/>
              </a:rPr>
              <a:t> (yəni POST atılacaq URL) olacaq.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0B8A62-7203-C8F3-0D67-F62706D94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477" y="0"/>
            <a:ext cx="552952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CCB012-E35D-06A9-E731-01CFF50AC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38" y="3429000"/>
            <a:ext cx="3248478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4208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6657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bir </a:t>
            </a:r>
            <a:r>
              <a:rPr lang="en-US" altLang="en-US" sz="1300" b="1">
                <a:latin typeface="Arial" panose="020B0604020202020204" pitchFamily="34" charset="0"/>
              </a:rPr>
              <a:t>POST</a:t>
            </a:r>
            <a:r>
              <a:rPr lang="en-US" altLang="en-US" sz="1300">
                <a:latin typeface="Arial" panose="020B0604020202020204" pitchFamily="34" charset="0"/>
              </a:rPr>
              <a:t> metodu ilə </a:t>
            </a:r>
            <a:r>
              <a:rPr lang="en-US" altLang="en-US" sz="1300" b="1">
                <a:latin typeface="Arial" panose="020B0604020202020204" pitchFamily="34" charset="0"/>
              </a:rPr>
              <a:t>HTTP AJAX </a:t>
            </a:r>
            <a:r>
              <a:rPr lang="en-US" altLang="en-US" sz="1300">
                <a:latin typeface="Arial" panose="020B0604020202020204" pitchFamily="34" charset="0"/>
              </a:rPr>
              <a:t>sorğusudur. Çünki biz tokeni və məlumatları serverə göndəririk.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formAction</a:t>
            </a:r>
            <a:r>
              <a:rPr lang="en-US" altLang="en-US" sz="1300">
                <a:latin typeface="Arial" panose="020B0604020202020204" pitchFamily="34" charset="0"/>
              </a:rPr>
              <a:t> dəyişəni </a:t>
            </a:r>
            <a:r>
              <a:rPr lang="en-US" altLang="en-US" sz="1300" b="1">
                <a:latin typeface="Arial" panose="020B0604020202020204" pitchFamily="34" charset="0"/>
              </a:rPr>
              <a:t>handle-payment</a:t>
            </a:r>
            <a:r>
              <a:rPr lang="en-US" altLang="en-US" sz="1300">
                <a:latin typeface="Arial" panose="020B0604020202020204" pitchFamily="34" charset="0"/>
              </a:rPr>
              <a:t> adlı </a:t>
            </a:r>
            <a:r>
              <a:rPr lang="en-US" altLang="en-US" sz="1300" b="1">
                <a:latin typeface="Arial" panose="020B0604020202020204" pitchFamily="34" charset="0"/>
              </a:rPr>
              <a:t>route</a:t>
            </a:r>
            <a:r>
              <a:rPr lang="en-US" altLang="en-US" sz="1300">
                <a:latin typeface="Arial" panose="020B0604020202020204" pitchFamily="34" charset="0"/>
              </a:rPr>
              <a:t>-un </a:t>
            </a:r>
            <a:r>
              <a:rPr lang="en-US" altLang="en-US" sz="1300" b="1">
                <a:latin typeface="Arial" panose="020B0604020202020204" pitchFamily="34" charset="0"/>
              </a:rPr>
              <a:t>URL</a:t>
            </a:r>
            <a:r>
              <a:rPr lang="en-US" altLang="en-US" sz="1300">
                <a:latin typeface="Arial" panose="020B0604020202020204" pitchFamily="34" charset="0"/>
              </a:rPr>
              <a:t>-ni saxlayır. Bu serverdəki</a:t>
            </a:r>
            <a:r>
              <a:rPr lang="az-Latn-AZ" altLang="en-US" sz="1300">
                <a:latin typeface="Arial" panose="020B0604020202020204" pitchFamily="34" charset="0"/>
              </a:rPr>
              <a:t> (Laravel)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controller</a:t>
            </a:r>
            <a:r>
              <a:rPr lang="en-US" altLang="en-US" sz="1300">
                <a:latin typeface="Arial" panose="020B0604020202020204" pitchFamily="34" charset="0"/>
              </a:rPr>
              <a:t> metoduna yönəlir.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Serverə göndərilən məlumatlar: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ess_token</a:t>
            </a:r>
            <a:r>
              <a:rPr lang="en-US" altLang="en-US" sz="1300">
                <a:latin typeface="Arial" panose="020B0604020202020204" pitchFamily="34" charset="0"/>
              </a:rPr>
              <a:t>: TwoCheckout tokeni (yəni müştərinin kartı üçün yaradılmış təhlükəsiz təmsilçi token)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_token</a:t>
            </a:r>
            <a:r>
              <a:rPr lang="en-US" altLang="en-US" sz="1300">
                <a:latin typeface="Arial" panose="020B0604020202020204" pitchFamily="34" charset="0"/>
              </a:rPr>
              <a:t>: Laravel-in CSRF mühafizə sistemi üçün lazımdır (formdan gələn məlumatların orijinal olduğunu yoxlayır)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115689-97C6-3B23-3D7E-2D830D21E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5130"/>
            <a:ext cx="2619741" cy="647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B09DB1-46D5-43F2-C0B7-7F2B80502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30688"/>
            <a:ext cx="2038635" cy="5144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AED00D-7CF0-66C0-5706-758133A5F1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98755"/>
            <a:ext cx="2791215" cy="10574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E78629-C42D-5C2F-FD19-BB6E90CE5B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0574" y="2574762"/>
            <a:ext cx="4861425" cy="170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635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Serverdən cavab olaraq </a:t>
            </a:r>
            <a:r>
              <a:rPr lang="en-US" altLang="en-US" sz="1300" b="1">
                <a:latin typeface="Arial" panose="020B0604020202020204" pitchFamily="34" charset="0"/>
              </a:rPr>
              <a:t>JSON</a:t>
            </a:r>
            <a:r>
              <a:rPr lang="en-US" altLang="en-US" sz="1300">
                <a:latin typeface="Arial" panose="020B0604020202020204" pitchFamily="34" charset="0"/>
              </a:rPr>
              <a:t> formatında məlumat gözləyirik (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en-US" altLang="en-US" sz="1300">
                <a:latin typeface="Arial" panose="020B0604020202020204" pitchFamily="34" charset="0"/>
              </a:rPr>
              <a:t>məsələn: </a:t>
            </a:r>
            <a:r>
              <a:rPr lang="en-US" altLang="en-US" sz="1300" b="1">
                <a:latin typeface="Arial" panose="020B0604020202020204" pitchFamily="34" charset="0"/>
              </a:rPr>
              <a:t>{ success: true, msg: "Paid", redirect: "/thanks" }</a:t>
            </a:r>
            <a:r>
              <a:rPr lang="az-Latn-AZ" altLang="en-US" sz="1300" b="1">
                <a:latin typeface="Arial" panose="020B0604020202020204" pitchFamily="34" charset="0"/>
              </a:rPr>
              <a:t> </a:t>
            </a:r>
            <a:r>
              <a:rPr lang="en-US" altLang="en-US" sz="1300">
                <a:latin typeface="Arial" panose="020B0604020202020204" pitchFamily="34" charset="0"/>
              </a:rPr>
              <a:t>).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Əgər serverdə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cross-origin </a:t>
            </a:r>
            <a:r>
              <a:rPr lang="en-US" altLang="en-US" sz="1300">
                <a:latin typeface="Arial" panose="020B0604020202020204" pitchFamily="34" charset="0"/>
              </a:rPr>
              <a:t>siyasət varsa, </a:t>
            </a:r>
            <a:r>
              <a:rPr lang="en-US" altLang="en-US" sz="1300" b="1">
                <a:latin typeface="Arial" panose="020B0604020202020204" pitchFamily="34" charset="0"/>
              </a:rPr>
              <a:t>cookie</a:t>
            </a:r>
            <a:r>
              <a:rPr lang="en-US" altLang="en-US" sz="1300">
                <a:latin typeface="Arial" panose="020B0604020202020204" pitchFamily="34" charset="0"/>
              </a:rPr>
              <a:t>, </a:t>
            </a:r>
            <a:r>
              <a:rPr lang="en-US" altLang="en-US" sz="1300" b="1">
                <a:latin typeface="Arial" panose="020B0604020202020204" pitchFamily="34" charset="0"/>
              </a:rPr>
              <a:t>session</a:t>
            </a:r>
            <a:r>
              <a:rPr lang="en-US" altLang="en-US" sz="1300">
                <a:latin typeface="Arial" panose="020B0604020202020204" pitchFamily="34" charset="0"/>
              </a:rPr>
              <a:t> və </a:t>
            </a:r>
            <a:r>
              <a:rPr lang="en-US" altLang="en-US" sz="1300" b="1">
                <a:latin typeface="Arial" panose="020B0604020202020204" pitchFamily="34" charset="0"/>
              </a:rPr>
              <a:t>authentication tokenlərinin </a:t>
            </a:r>
            <a:r>
              <a:rPr lang="en-US" altLang="en-US" sz="1300">
                <a:latin typeface="Arial" panose="020B0604020202020204" pitchFamily="34" charset="0"/>
              </a:rPr>
              <a:t>göndərilməsi üçün </a:t>
            </a:r>
            <a:r>
              <a:rPr lang="en-US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withCredentials</a:t>
            </a:r>
            <a:r>
              <a:rPr lang="en-US" altLang="en-US" sz="1300">
                <a:latin typeface="Arial" panose="020B0604020202020204" pitchFamily="34" charset="0"/>
              </a:rPr>
              <a:t> lazım olur. Əks halda bəzi brauzerlər cookie-ləri göndərmir.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Cross-Origin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   -    </a:t>
            </a:r>
            <a:r>
              <a:rPr lang="en-US" altLang="en-US" sz="1300">
                <a:latin typeface="Arial" panose="020B0604020202020204" pitchFamily="34" charset="0"/>
              </a:rPr>
              <a:t>"</a:t>
            </a:r>
            <a:r>
              <a:rPr lang="en-US" altLang="en-US" sz="1300" b="1">
                <a:latin typeface="Arial" panose="020B0604020202020204" pitchFamily="34" charset="0"/>
              </a:rPr>
              <a:t>Origin</a:t>
            </a:r>
            <a:r>
              <a:rPr lang="en-US" altLang="en-US" sz="1300">
                <a:latin typeface="Arial" panose="020B0604020202020204" pitchFamily="34" charset="0"/>
              </a:rPr>
              <a:t>"</a:t>
            </a:r>
            <a:r>
              <a:rPr lang="az-Latn-AZ" altLang="en-US" sz="1300">
                <a:latin typeface="Arial" panose="020B0604020202020204" pitchFamily="34" charset="0"/>
              </a:rPr>
              <a:t>,</a:t>
            </a:r>
            <a:r>
              <a:rPr lang="en-US" altLang="en-US" sz="1300">
                <a:latin typeface="Arial" panose="020B0604020202020204" pitchFamily="34" charset="0"/>
              </a:rPr>
              <a:t> veb proqramlaşdırmada saytın mənşəyini ifadə edir — yəni saytın domen (domain), port, və protokol dəyərlərinin birlikdə yaratdığı kimlikdir.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✅ </a:t>
            </a:r>
            <a:r>
              <a:rPr lang="en-US" altLang="en-US" sz="1300" b="1">
                <a:latin typeface="Arial" panose="020B0604020202020204" pitchFamily="34" charset="0"/>
              </a:rPr>
              <a:t>Eyni origin dedikdə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en-US" altLang="en-US" sz="1300">
                <a:latin typeface="Arial" panose="020B0604020202020204" pitchFamily="34" charset="0"/>
              </a:rPr>
              <a:t>İki saytın protokol, domain, və port dəyərləri eyni olmalıdır.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Məsələn: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https://example.com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https://example.com/index.html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ikisi eyni origin sayılır.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208F0F-CBD2-6381-E6EC-77F8FFDD1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0398"/>
            <a:ext cx="1762371" cy="5239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76774C-00BD-CF1B-707B-261BB5C8D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53908"/>
            <a:ext cx="2324424" cy="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67C06-9D0C-D524-0F31-ADB5B6825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D09308-23AC-BFE0-841D-1CC5C103F40B}"/>
              </a:ext>
            </a:extLst>
          </p:cNvPr>
          <p:cNvSpPr txBox="1"/>
          <p:nvPr/>
        </p:nvSpPr>
        <p:spPr>
          <a:xfrm>
            <a:off x="217714" y="255046"/>
            <a:ext cx="11756571" cy="5156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❌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Cross-Origin</a:t>
            </a:r>
            <a:r>
              <a:rPr lang="en-US" altLang="en-US" sz="1300">
                <a:latin typeface="Arial" panose="020B0604020202020204" pitchFamily="34" charset="0"/>
              </a:rPr>
              <a:t> (fərqli mənşə):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Əgər bu 3 komponentdən hər hansı biri fərqlidirsə, bu artıq cross-origin olur.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Misal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https://example.com ilə https://api.example.com → fərqli subdomain → Cross-Origin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https://example.com ilə http://example.com → fərqli protokol → Cross-Origin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https://example.com:443 ilə https://example.com:8080 → fərqli port → Cross-Origin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Niyə vacibdir?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Brauzerlər təhlükəsizlik səbəbilə </a:t>
            </a:r>
            <a:r>
              <a:rPr lang="en-US" altLang="en-US" sz="1300" b="1">
                <a:latin typeface="Arial" panose="020B0604020202020204" pitchFamily="34" charset="0"/>
              </a:rPr>
              <a:t>Cross-Origin AJAX </a:t>
            </a:r>
            <a:r>
              <a:rPr lang="en-US" altLang="en-US" sz="1300">
                <a:latin typeface="Arial" panose="020B0604020202020204" pitchFamily="34" charset="0"/>
              </a:rPr>
              <a:t>sorğularına məhdudiyyətlər qoyur. Bu siyasətə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CORS</a:t>
            </a:r>
            <a:r>
              <a:rPr lang="en-US" altLang="en-US" sz="1300">
                <a:latin typeface="Arial" panose="020B0604020202020204" pitchFamily="34" charset="0"/>
              </a:rPr>
              <a:t> (Cross-Origin Resource Sharing) deyilir.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Nəticə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Cross-Origin – fərqli domenlər arasında sorğu göndərməkdir.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en-US" altLang="en-US" sz="1300">
                <a:latin typeface="Arial" panose="020B0604020202020204" pitchFamily="34" charset="0"/>
              </a:rPr>
              <a:t>Brauzer bunu təhlükəli hesab etdiyinə görə əlavə icazələr tələb edir.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en-US" altLang="en-US" sz="1300">
                <a:latin typeface="Arial" panose="020B0604020202020204" pitchFamily="34" charset="0"/>
              </a:rPr>
              <a:t>Buna görə</a:t>
            </a:r>
            <a:r>
              <a:rPr lang="az-Latn-AZ" altLang="en-US" sz="1300">
                <a:latin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xhrFields: { withCredentials: true } </a:t>
            </a:r>
            <a:r>
              <a:rPr lang="en-US" altLang="en-US" sz="1300">
                <a:latin typeface="Arial" panose="020B0604020202020204" pitchFamily="34" charset="0"/>
              </a:rPr>
              <a:t>və CORS </a:t>
            </a:r>
            <a:r>
              <a:rPr lang="az-Latn-AZ" altLang="en-US" sz="1300">
                <a:latin typeface="Arial" panose="020B0604020202020204" pitchFamily="34" charset="0"/>
              </a:rPr>
              <a:t>parmetrləri</a:t>
            </a:r>
            <a:r>
              <a:rPr lang="en-US" altLang="en-US" sz="1300">
                <a:latin typeface="Arial" panose="020B0604020202020204" pitchFamily="34" charset="0"/>
              </a:rPr>
              <a:t> lazım olur.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5655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E13F8-D88F-8577-0D8E-3BF4E00C0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892B4D-A01D-C7EB-CD07-A96841F54417}"/>
              </a:ext>
            </a:extLst>
          </p:cNvPr>
          <p:cNvSpPr txBox="1"/>
          <p:nvPr/>
        </p:nvSpPr>
        <p:spPr>
          <a:xfrm>
            <a:off x="217714" y="255046"/>
            <a:ext cx="11756571" cy="4256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AJAX</a:t>
            </a:r>
            <a:r>
              <a:rPr lang="en-US" altLang="en-US" sz="1300">
                <a:latin typeface="Arial" panose="020B0604020202020204" pitchFamily="34" charset="0"/>
              </a:rPr>
              <a:t> uğurla başa çatdıqda bu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done() </a:t>
            </a:r>
            <a:r>
              <a:rPr lang="en-US" altLang="en-US" sz="1300">
                <a:latin typeface="Arial" panose="020B0604020202020204" pitchFamily="34" charset="0"/>
              </a:rPr>
              <a:t>bloku işə düşür.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Konsola cavabı çıxarırıq (debug məqsədi ilə).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🔹 Əgər cavabda </a:t>
            </a:r>
            <a:r>
              <a:rPr lang="en-US" altLang="en-US" sz="1300" b="1">
                <a:latin typeface="Arial" panose="020B0604020202020204" pitchFamily="34" charset="0"/>
              </a:rPr>
              <a:t>redirect</a:t>
            </a:r>
            <a:r>
              <a:rPr lang="en-US" altLang="en-US" sz="1300">
                <a:latin typeface="Arial" panose="020B0604020202020204" pitchFamily="34" charset="0"/>
              </a:rPr>
              <a:t> adlı açar varsa, istifadəçini həmin </a:t>
            </a:r>
            <a:r>
              <a:rPr lang="en-US" altLang="en-US" sz="1300" b="1">
                <a:latin typeface="Arial" panose="020B0604020202020204" pitchFamily="34" charset="0"/>
              </a:rPr>
              <a:t>URL</a:t>
            </a:r>
            <a:r>
              <a:rPr lang="en-US" altLang="en-US" sz="1300">
                <a:latin typeface="Arial" panose="020B0604020202020204" pitchFamily="34" charset="0"/>
              </a:rPr>
              <a:t>-ə yönləndirir.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Bu, ödəniş uğurla tamamlandıqdan sonra "Təşəkkürlər" səhifəsinə keçmək üçündür.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E93021-F11E-0087-B762-DF49A7576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4290"/>
            <a:ext cx="2400635" cy="466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7B2B8C-4E6C-DC93-8B13-E783365ED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62536"/>
            <a:ext cx="3439005" cy="4858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4A9F2E-F998-EE7B-FDB3-270B060F06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46790"/>
            <a:ext cx="3600953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6599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D5BA6-1470-1083-0E76-BE87B6CD6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E2C52A-B798-375B-0C10-AE39E43E7BD1}"/>
              </a:ext>
            </a:extLst>
          </p:cNvPr>
          <p:cNvSpPr txBox="1"/>
          <p:nvPr/>
        </p:nvSpPr>
        <p:spPr>
          <a:xfrm>
            <a:off x="217714" y="68434"/>
            <a:ext cx="11756571" cy="575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🔹 Əgər cavab success: </a:t>
            </a:r>
            <a:r>
              <a:rPr lang="en-US" altLang="en-US" sz="1300" b="1">
                <a:latin typeface="Arial" panose="020B0604020202020204" pitchFamily="34" charset="0"/>
              </a:rPr>
              <a:t>true</a:t>
            </a:r>
            <a:r>
              <a:rPr lang="en-US" altLang="en-US" sz="1300">
                <a:latin typeface="Arial" panose="020B0604020202020204" pitchFamily="34" charset="0"/>
              </a:rPr>
              <a:t> isə, cavabın msg hissəsini istifadəçiyə göstərir.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hal AJAX-dan sonra </a:t>
            </a:r>
            <a:r>
              <a:rPr lang="en-US" altLang="en-US" sz="1300" b="1">
                <a:latin typeface="Arial" panose="020B0604020202020204" pitchFamily="34" charset="0"/>
              </a:rPr>
              <a:t>redirect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olmadan</a:t>
            </a:r>
            <a:r>
              <a:rPr lang="en-US" altLang="en-US" sz="1300">
                <a:latin typeface="Arial" panose="020B0604020202020204" pitchFamily="34" charset="0"/>
              </a:rPr>
              <a:t> mesajla yekunlaşmaq üçündür.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🔹 Əgər nə </a:t>
            </a:r>
            <a:r>
              <a:rPr lang="en-US" altLang="en-US" sz="1300" b="1">
                <a:latin typeface="Arial" panose="020B0604020202020204" pitchFamily="34" charset="0"/>
              </a:rPr>
              <a:t>redirect</a:t>
            </a:r>
            <a:r>
              <a:rPr lang="en-US" altLang="en-US" sz="1300">
                <a:latin typeface="Arial" panose="020B0604020202020204" pitchFamily="34" charset="0"/>
              </a:rPr>
              <a:t>, nə də </a:t>
            </a:r>
            <a:r>
              <a:rPr lang="en-US" altLang="en-US" sz="1300" b="1">
                <a:latin typeface="Arial" panose="020B0604020202020204" pitchFamily="34" charset="0"/>
              </a:rPr>
              <a:t>success</a:t>
            </a:r>
            <a:r>
              <a:rPr lang="en-US" altLang="en-US" sz="1300">
                <a:latin typeface="Arial" panose="020B0604020202020204" pitchFamily="34" charset="0"/>
              </a:rPr>
              <a:t> varsa, ehtimal olunan </a:t>
            </a:r>
            <a:r>
              <a:rPr lang="en-US" altLang="en-US" sz="1300" b="1">
                <a:latin typeface="Arial" panose="020B0604020202020204" pitchFamily="34" charset="0"/>
              </a:rPr>
              <a:t>error</a:t>
            </a:r>
            <a:r>
              <a:rPr lang="en-US" altLang="en-US" sz="1300">
                <a:latin typeface="Arial" panose="020B0604020202020204" pitchFamily="34" charset="0"/>
              </a:rPr>
              <a:t> loglanır.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AJAX sorğusu uğursuz olduqda, bu blok çalışır. Məsələn: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Server 500 error verdi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Network xətası oldu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Token yanlışdır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1136BE-DC13-5B55-859D-C574BF594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4599"/>
            <a:ext cx="2495898" cy="6858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22A003-8DB3-DE84-EF46-20491C112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96809"/>
            <a:ext cx="2619741" cy="9716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4C9DCD-73F4-CB59-AAB4-4662C9FB7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766940"/>
            <a:ext cx="6801799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19952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58AF1-DC0C-87FC-F71A-CD6C312C8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F17866-28AB-BD14-3722-5DA459493594}"/>
              </a:ext>
            </a:extLst>
          </p:cNvPr>
          <p:cNvSpPr txBox="1"/>
          <p:nvPr/>
        </p:nvSpPr>
        <p:spPr>
          <a:xfrm>
            <a:off x="217714" y="255046"/>
            <a:ext cx="11756571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B)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jsPaymentClient.tokens.generate(...).then(...) </a:t>
            </a:r>
            <a:r>
              <a:rPr lang="en-US" altLang="en-US" sz="1300" b="1">
                <a:latin typeface="Arial" panose="020B0604020202020204" pitchFamily="34" charset="0"/>
              </a:rPr>
              <a:t>hissəsi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hissə, 2Checkout SDK vasitəsilə kart məlumatından token (ESS token) yaradılmasını təmin edir.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🔹 Yeni obyekt yaradırıq. </a:t>
            </a:r>
            <a:r>
              <a:rPr lang="en-US" altLang="en-US" sz="1300" b="1">
                <a:latin typeface="Arial" panose="020B0604020202020204" pitchFamily="34" charset="0"/>
              </a:rPr>
              <a:t>Bu obyekt AJAX funksiyasına veriləcək</a:t>
            </a:r>
            <a:r>
              <a:rPr lang="en-US" altLang="en-US" sz="1300">
                <a:latin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Token</a:t>
            </a:r>
            <a:r>
              <a:rPr lang="en-US" altLang="en-US" sz="1300">
                <a:latin typeface="Arial" panose="020B0604020202020204" pitchFamily="34" charset="0"/>
              </a:rPr>
              <a:t> və </a:t>
            </a:r>
            <a:r>
              <a:rPr lang="en-US" altLang="en-US" sz="1300" b="1">
                <a:latin typeface="Arial" panose="020B0604020202020204" pitchFamily="34" charset="0"/>
              </a:rPr>
              <a:t>formAction</a:t>
            </a:r>
            <a:r>
              <a:rPr lang="en-US" altLang="en-US" sz="1300">
                <a:latin typeface="Arial" panose="020B0604020202020204" pitchFamily="34" charset="0"/>
              </a:rPr>
              <a:t> (serverə POST ediləcək route) bu obyektin daxilindədir.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DD8E9B-5E7F-19A5-F885-998AB9307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2678"/>
            <a:ext cx="6868484" cy="3429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5F77EE-590D-6520-EDD6-93C9D272A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11385"/>
            <a:ext cx="5134692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397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1F157-BD76-2DA9-628F-032AF653D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CC9C33-845A-E129-9398-C9C70E39535A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🔹 </a:t>
            </a:r>
            <a:r>
              <a:rPr lang="az-Latn-AZ" altLang="en-US" sz="1300">
                <a:latin typeface="Arial" panose="020B0604020202020204" pitchFamily="34" charset="0"/>
              </a:rPr>
              <a:t>Digər slaydlarda</a:t>
            </a:r>
            <a:r>
              <a:rPr lang="en-US" altLang="en-US" sz="1300">
                <a:latin typeface="Arial" panose="020B0604020202020204" pitchFamily="34" charset="0"/>
              </a:rPr>
              <a:t> izah etdiyimiz </a:t>
            </a:r>
            <a:r>
              <a:rPr lang="en-US" altLang="en-US" sz="1300" b="1">
                <a:latin typeface="Arial" panose="020B0604020202020204" pitchFamily="34" charset="0"/>
              </a:rPr>
              <a:t>doAjaxRequest() </a:t>
            </a:r>
            <a:r>
              <a:rPr lang="en-US" altLang="en-US" sz="1300">
                <a:latin typeface="Arial" panose="020B0604020202020204" pitchFamily="34" charset="0"/>
              </a:rPr>
              <a:t>funksiyasını</a:t>
            </a:r>
            <a:r>
              <a:rPr lang="az-Latn-AZ" altLang="en-US" sz="1300">
                <a:latin typeface="Arial" panose="020B0604020202020204" pitchFamily="34" charset="0"/>
              </a:rPr>
              <a:t>,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`</a:t>
            </a:r>
            <a:r>
              <a:rPr lang="az-Latn-AZ" altLang="en-US" sz="1300" b="1">
                <a:latin typeface="Arial" panose="020B0604020202020204" pitchFamily="34" charset="0"/>
              </a:rPr>
              <a:t>Generate Token</a:t>
            </a:r>
            <a:r>
              <a:rPr lang="az-Latn-AZ" altLang="en-US" sz="1300">
                <a:latin typeface="Arial" panose="020B0604020202020204" pitchFamily="34" charset="0"/>
              </a:rPr>
              <a:t>` düyməsi klikləndikdə </a:t>
            </a:r>
            <a:r>
              <a:rPr lang="en-US" altLang="en-US" sz="1300">
                <a:latin typeface="Arial" panose="020B0604020202020204" pitchFamily="34" charset="0"/>
              </a:rPr>
              <a:t>çağırırıq.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Yəni: Tokeni serverə göndəririk → Ödənişi başa çatdırırıq.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FA3E3D-9376-360D-B87A-F677BAAD7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8616"/>
            <a:ext cx="2229161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40789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A705D-E41B-DA6F-CB63-06D3E2AB0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1F4DEF-D18A-3F7B-50E4-9BE2849A5DF6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`</a:t>
            </a:r>
            <a:r>
              <a:rPr lang="az-Latn-AZ" altLang="en-US" sz="1300" b="1">
                <a:latin typeface="Arial" panose="020B0604020202020204" pitchFamily="34" charset="0"/>
              </a:rPr>
              <a:t>Generate Token</a:t>
            </a:r>
            <a:r>
              <a:rPr lang="az-Latn-AZ" altLang="en-US" sz="1300">
                <a:latin typeface="Arial" panose="020B0604020202020204" pitchFamily="34" charset="0"/>
              </a:rPr>
              <a:t>` düyməsi klikləndikdə</a:t>
            </a:r>
            <a:r>
              <a:rPr lang="en-US" altLang="en-US" sz="1300">
                <a:latin typeface="Arial" panose="020B0604020202020204" pitchFamily="34" charset="0"/>
              </a:rPr>
              <a:t>, </a:t>
            </a:r>
            <a:r>
              <a:rPr lang="az-Latn-AZ" altLang="en-US" sz="1300">
                <a:latin typeface="Arial" panose="020B0604020202020204" pitchFamily="34" charset="0"/>
              </a:rPr>
              <a:t>aşağıdakı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çağrılacaq və `</a:t>
            </a:r>
            <a:r>
              <a:rPr lang="az-Latn-AZ" altLang="en-US" sz="1300" b="1">
                <a:latin typeface="Arial" panose="020B0604020202020204" pitchFamily="34" charset="0"/>
              </a:rPr>
              <a:t>TwoCheckoutController</a:t>
            </a:r>
            <a:r>
              <a:rPr lang="az-Latn-AZ" altLang="en-US" sz="1300">
                <a:latin typeface="Arial" panose="020B0604020202020204" pitchFamily="34" charset="0"/>
              </a:rPr>
              <a:t>` kontrollerinin `</a:t>
            </a:r>
            <a:r>
              <a:rPr lang="az-Latn-AZ" altLang="en-US" sz="1300" b="1">
                <a:latin typeface="Arial" panose="020B0604020202020204" pitchFamily="34" charset="0"/>
              </a:rPr>
              <a:t>handlePayment()</a:t>
            </a:r>
            <a:r>
              <a:rPr lang="az-Latn-AZ" altLang="en-US" sz="1300">
                <a:latin typeface="Arial" panose="020B0604020202020204" pitchFamily="34" charset="0"/>
              </a:rPr>
              <a:t>` funksiyasının </a:t>
            </a:r>
            <a:r>
              <a:rPr lang="en-US" altLang="en-US" sz="1300" b="1">
                <a:latin typeface="Arial" panose="020B0604020202020204" pitchFamily="34" charset="0"/>
              </a:rPr>
              <a:t>$request </a:t>
            </a:r>
            <a:r>
              <a:rPr lang="az-Latn-AZ" altLang="en-US" sz="1300">
                <a:latin typeface="Arial" panose="020B0604020202020204" pitchFamily="34" charset="0"/>
              </a:rPr>
              <a:t>parametrinə `</a:t>
            </a:r>
            <a:r>
              <a:rPr lang="az-Latn-AZ" altLang="en-US" sz="1300" b="1">
                <a:latin typeface="Arial" panose="020B0604020202020204" pitchFamily="34" charset="0"/>
              </a:rPr>
              <a:t>2checkout</a:t>
            </a:r>
            <a:r>
              <a:rPr lang="az-Latn-AZ" altLang="en-US" sz="1300">
                <a:latin typeface="Arial" panose="020B0604020202020204" pitchFamily="34" charset="0"/>
              </a:rPr>
              <a:t>` </a:t>
            </a:r>
            <a:r>
              <a:rPr lang="az-Latn-AZ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tokeni</a:t>
            </a:r>
            <a:r>
              <a:rPr lang="az-Latn-AZ" altLang="en-US" sz="1300">
                <a:latin typeface="Arial" panose="020B0604020202020204" pitchFamily="34" charset="0"/>
              </a:rPr>
              <a:t> iə </a:t>
            </a:r>
            <a:r>
              <a:rPr lang="az-Latn-AZ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csrf</a:t>
            </a:r>
            <a:r>
              <a:rPr lang="az-Latn-AZ" altLang="en-US" sz="1300">
                <a:latin typeface="Arial" panose="020B0604020202020204" pitchFamily="34" charset="0"/>
              </a:rPr>
              <a:t> tokeni göndəriləcək. Həmin məlumatları görmək üçün </a:t>
            </a:r>
            <a:r>
              <a:rPr lang="az-Latn-AZ" altLang="en-US" sz="1300" b="1">
                <a:latin typeface="Arial" panose="020B0604020202020204" pitchFamily="34" charset="0"/>
              </a:rPr>
              <a:t>dd() </a:t>
            </a:r>
            <a:r>
              <a:rPr lang="az-Latn-AZ" altLang="en-US" sz="1300">
                <a:latin typeface="Arial" panose="020B0604020202020204" pitchFamily="34" charset="0"/>
              </a:rPr>
              <a:t>funksiyasından istifadə edə bilərik.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FDD1FD-3DD8-ED94-6BFF-1FC138FBA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7218"/>
            <a:ext cx="6662057" cy="23412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4DF1A3-5DC3-6CA6-CF65-EB9CA0DBD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216" y="1007218"/>
            <a:ext cx="2603241" cy="23395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E9289E-21DA-E311-5BB7-EF3831E27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69567"/>
            <a:ext cx="5014255" cy="308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5353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C628A-B75C-F540-67A1-3477A5596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945CF2-D4AC-047C-4379-2B3DFC993E7E}"/>
              </a:ext>
            </a:extLst>
          </p:cNvPr>
          <p:cNvSpPr txBox="1"/>
          <p:nvPr/>
        </p:nvSpPr>
        <p:spPr>
          <a:xfrm>
            <a:off x="217714" y="255046"/>
            <a:ext cx="7741298" cy="6056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u="sng">
                <a:solidFill>
                  <a:srgbClr val="0070C0"/>
                </a:solidFill>
                <a:latin typeface="Arial" panose="020B0604020202020204" pitchFamily="34" charset="0"/>
              </a:rPr>
              <a:t>https://github.com/2Checkout/2checkout-php-sdk</a:t>
            </a:r>
            <a:endParaRPr lang="az-Latn-AZ" altLang="en-US" sz="1300" u="sng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İndiki addımda isə, yuxarıdakı linkdən bəzi kodları götürərək `</a:t>
            </a:r>
            <a:r>
              <a:rPr lang="az-Latn-AZ" altLang="en-US" sz="1300" b="1">
                <a:latin typeface="Arial" panose="020B0604020202020204" pitchFamily="34" charset="0"/>
              </a:rPr>
              <a:t>TwoCheckoutController</a:t>
            </a:r>
            <a:r>
              <a:rPr lang="az-Latn-AZ" altLang="en-US" sz="1300">
                <a:latin typeface="Arial" panose="020B0604020202020204" pitchFamily="34" charset="0"/>
              </a:rPr>
              <a:t>` kontrollerinə yazasıyıq və bir az hissəsini dəyişdirəcəyik.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Burada isə,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2Checkout</a:t>
            </a:r>
            <a:r>
              <a:rPr lang="en-US" altLang="en-US" sz="1300">
                <a:latin typeface="Arial" panose="020B0604020202020204" pitchFamily="34" charset="0"/>
              </a:rPr>
              <a:t> ödəniş əməliyyatını</a:t>
            </a:r>
            <a:r>
              <a:rPr lang="az-Latn-AZ" altLang="en-US" sz="1300">
                <a:latin typeface="Arial" panose="020B0604020202020204" pitchFamily="34" charset="0"/>
              </a:rPr>
              <a:t>,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test</a:t>
            </a:r>
            <a:r>
              <a:rPr lang="en-US" altLang="en-US" sz="1300">
                <a:latin typeface="Arial" panose="020B0604020202020204" pitchFamily="34" charset="0"/>
              </a:rPr>
              <a:t> və ya </a:t>
            </a:r>
            <a:r>
              <a:rPr lang="en-US" altLang="en-US" sz="1300" b="1">
                <a:latin typeface="Arial" panose="020B0604020202020204" pitchFamily="34" charset="0"/>
              </a:rPr>
              <a:t>real rejimdə </a:t>
            </a:r>
            <a:r>
              <a:rPr lang="en-US" altLang="en-US" sz="1300">
                <a:latin typeface="Arial" panose="020B0604020202020204" pitchFamily="34" charset="0"/>
              </a:rPr>
              <a:t>yaratmaq</a:t>
            </a:r>
            <a:r>
              <a:rPr lang="az-Latn-AZ" altLang="en-US" sz="1300">
                <a:latin typeface="Arial" panose="020B0604020202020204" pitchFamily="34" charset="0"/>
              </a:rPr>
              <a:t> üçün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handlePayment() </a:t>
            </a:r>
            <a:r>
              <a:rPr lang="en-US" altLang="en-US" sz="1300">
                <a:latin typeface="Arial" panose="020B0604020202020204" pitchFamily="34" charset="0"/>
              </a:rPr>
              <a:t>metodu</a:t>
            </a:r>
            <a:r>
              <a:rPr lang="az-Latn-AZ" altLang="en-US" sz="1300">
                <a:latin typeface="Arial" panose="020B0604020202020204" pitchFamily="34" charset="0"/>
              </a:rPr>
              <a:t>nda sağ tərəfdəki kimi bir kod yazırıq.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hissədə </a:t>
            </a:r>
            <a:r>
              <a:rPr lang="en-US" altLang="en-US" sz="1300" b="1">
                <a:latin typeface="Arial" panose="020B0604020202020204" pitchFamily="34" charset="0"/>
              </a:rPr>
              <a:t>config/twocheckout.php</a:t>
            </a:r>
            <a:r>
              <a:rPr lang="en-US" altLang="en-US" sz="1300">
                <a:latin typeface="Arial" panose="020B0604020202020204" pitchFamily="34" charset="0"/>
              </a:rPr>
              <a:t> faylından lazımi məlumatlar (satıcı ID-si, gizli açar və s.) yüklənir və </a:t>
            </a:r>
            <a:r>
              <a:rPr lang="en-US" altLang="en-US" sz="1300" b="1">
                <a:latin typeface="Arial" panose="020B0604020202020204" pitchFamily="34" charset="0"/>
              </a:rPr>
              <a:t>2Checkout API </a:t>
            </a:r>
            <a:r>
              <a:rPr lang="en-US" altLang="en-US" sz="1300">
                <a:latin typeface="Arial" panose="020B0604020202020204" pitchFamily="34" charset="0"/>
              </a:rPr>
              <a:t>üçün istifadə olunur.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Ardı növbəti slaydlarda.....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E7E966-B6A3-DD5F-AEDF-9D9392DA6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1303" y="0"/>
            <a:ext cx="422301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F23F28-B57C-CDD9-6FA1-6372A8296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3302353"/>
            <a:ext cx="4544059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8215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32E2E-6036-22AB-59A8-274185503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3506F9-273F-9531-5B39-43C9A09BF880}"/>
              </a:ext>
            </a:extLst>
          </p:cNvPr>
          <p:cNvSpPr txBox="1"/>
          <p:nvPr/>
        </p:nvSpPr>
        <p:spPr>
          <a:xfrm>
            <a:off x="217714" y="255046"/>
            <a:ext cx="11756571" cy="635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Facade obyektinin yaradılması</a:t>
            </a:r>
            <a:r>
              <a:rPr lang="az-Latn-AZ" altLang="en-US" sz="1300"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Twocheckout</a:t>
            </a:r>
            <a:r>
              <a:rPr lang="az-Latn-AZ" altLang="en-US" sz="1300">
                <a:latin typeface="Arial" panose="020B0604020202020204" pitchFamily="34" charset="0"/>
              </a:rPr>
              <a:t> kitabxanasının </a:t>
            </a:r>
            <a:r>
              <a:rPr lang="az-Latn-AZ" altLang="en-US" sz="1300" b="1">
                <a:latin typeface="Arial" panose="020B0604020202020204" pitchFamily="34" charset="0"/>
              </a:rPr>
              <a:t>Facade</a:t>
            </a:r>
            <a:r>
              <a:rPr lang="az-Latn-AZ" altLang="en-US" sz="1300">
                <a:latin typeface="Arial" panose="020B0604020202020204" pitchFamily="34" charset="0"/>
              </a:rPr>
              <a:t>-i çağırılır ki, bu vasitə ilə </a:t>
            </a:r>
            <a:r>
              <a:rPr lang="az-Latn-AZ" altLang="en-US" sz="1300" b="1">
                <a:latin typeface="Arial" panose="020B0604020202020204" pitchFamily="34" charset="0"/>
              </a:rPr>
              <a:t>API</a:t>
            </a:r>
            <a:r>
              <a:rPr lang="az-Latn-AZ" altLang="en-US" sz="1300">
                <a:latin typeface="Arial" panose="020B0604020202020204" pitchFamily="34" charset="0"/>
              </a:rPr>
              <a:t> metodlarını işlədə bilək (  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apiCore()-&gt;call(...)   </a:t>
            </a:r>
            <a:r>
              <a:rPr lang="az-Latn-AZ" altLang="en-US" sz="1300">
                <a:latin typeface="Arial" panose="020B0604020202020204" pitchFamily="34" charset="0"/>
              </a:rPr>
              <a:t>).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Sifariş (order) məlumatlarının hazırlanması</a:t>
            </a:r>
            <a:r>
              <a:rPr lang="az-Latn-AZ" altLang="en-US" sz="1300">
                <a:latin typeface="Arial" panose="020B0604020202020204" pitchFamily="34" charset="0"/>
              </a:rPr>
              <a:t>: Bu massiv </a:t>
            </a:r>
            <a:r>
              <a:rPr lang="az-Latn-AZ" altLang="en-US" sz="1300" b="1">
                <a:latin typeface="Arial" panose="020B0604020202020204" pitchFamily="34" charset="0"/>
              </a:rPr>
              <a:t>2Checkout API</a:t>
            </a:r>
            <a:r>
              <a:rPr lang="az-Latn-AZ" altLang="en-US" sz="1300">
                <a:latin typeface="Arial" panose="020B0604020202020204" pitchFamily="34" charset="0"/>
              </a:rPr>
              <a:t>-yə göndəriləcək sifarişin detallarıdır: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Sifarişin API vasitəsilə göndərilməsi</a:t>
            </a:r>
            <a:r>
              <a:rPr lang="az-Latn-AZ" altLang="en-US" sz="1300">
                <a:latin typeface="Arial" panose="020B0604020202020204" pitchFamily="34" charset="0"/>
              </a:rPr>
              <a:t>: 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POST /orders/ </a:t>
            </a:r>
            <a:r>
              <a:rPr lang="en-US" altLang="en-US" sz="1300">
                <a:latin typeface="Arial" panose="020B0604020202020204" pitchFamily="34" charset="0"/>
              </a:rPr>
              <a:t>çağırışı edilir və </a:t>
            </a: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$orderParams </a:t>
            </a:r>
            <a:r>
              <a:rPr lang="en-US" altLang="en-US" sz="1300" b="1">
                <a:latin typeface="Arial" panose="020B0604020202020204" pitchFamily="34" charset="0"/>
              </a:rPr>
              <a:t>2Checkout API</a:t>
            </a:r>
            <a:r>
              <a:rPr lang="en-US" altLang="en-US" sz="1300">
                <a:latin typeface="Arial" panose="020B0604020202020204" pitchFamily="34" charset="0"/>
              </a:rPr>
              <a:t>-yə göndərilir. Nəticə </a:t>
            </a:r>
            <a:r>
              <a:rPr lang="en-US" altLang="en-US" sz="1300" b="1">
                <a:latin typeface="Arial" panose="020B0604020202020204" pitchFamily="34" charset="0"/>
              </a:rPr>
              <a:t>dd() </a:t>
            </a:r>
            <a:r>
              <a:rPr lang="en-US" altLang="en-US" sz="1300">
                <a:latin typeface="Arial" panose="020B0604020202020204" pitchFamily="34" charset="0"/>
              </a:rPr>
              <a:t>ilə göstərilir (debug üçün).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0AD1BD-A5C7-93BB-DA22-5BFF741A2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657874"/>
            <a:ext cx="3343742" cy="4477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562E3C-AE44-97EB-6A3C-E62B40CFC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3005078"/>
            <a:ext cx="2210108" cy="8478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48EAC9-94ED-6634-0536-D5CFE3A1D6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14" y="5433022"/>
            <a:ext cx="5591955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39486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1A600-B2E2-A9DA-6569-611882CB9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07D279-FBCA-8875-55A4-ACB5694033C0}"/>
              </a:ext>
            </a:extLst>
          </p:cNvPr>
          <p:cNvSpPr txBox="1"/>
          <p:nvPr/>
        </p:nvSpPr>
        <p:spPr>
          <a:xfrm>
            <a:off x="217714" y="255046"/>
            <a:ext cx="11756571" cy="635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Xəta halı (Exception Handling)</a:t>
            </a:r>
            <a:r>
              <a:rPr lang="az-Latn-AZ" altLang="en-US" sz="1300">
                <a:latin typeface="Arial" panose="020B0604020202020204" pitchFamily="34" charset="0"/>
              </a:rPr>
              <a:t>: Əgər istənilən bir xəta baş verərsə (API bağlantısı, token səhvi, parametrlər düzgün deyil və s.), o zaman bu blok işləyəcək və xətanı göstərəcək.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Nəticə</a:t>
            </a:r>
            <a:r>
              <a:rPr lang="az-Latn-AZ" altLang="en-US" sz="1300" b="1">
                <a:latin typeface="Arial" panose="020B0604020202020204" pitchFamily="34" charset="0"/>
              </a:rPr>
              <a:t> olaraq b</a:t>
            </a:r>
            <a:r>
              <a:rPr lang="en-US" altLang="en-US" sz="1300" b="1">
                <a:latin typeface="Arial" panose="020B0604020202020204" pitchFamily="34" charset="0"/>
              </a:rPr>
              <a:t>u metodun məqsədi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Müştəri məlumatlarını və məhsulu yığıb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2Checkout API vasitəsilə ödənişi test rejimində göndərmək və nəticəni əldə etməkdir.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Bu kodun düzgün işləməsi üçün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$request-&gt;ess_token </a:t>
            </a:r>
            <a:r>
              <a:rPr lang="en-US" altLang="en-US" sz="1300">
                <a:latin typeface="Arial" panose="020B0604020202020204" pitchFamily="34" charset="0"/>
              </a:rPr>
              <a:t>dəyəri </a:t>
            </a:r>
            <a:r>
              <a:rPr lang="en-US" altLang="en-US" sz="1300" b="1">
                <a:latin typeface="Arial" panose="020B0604020202020204" pitchFamily="34" charset="0"/>
              </a:rPr>
              <a:t>front-end</a:t>
            </a:r>
            <a:r>
              <a:rPr lang="en-US" altLang="en-US" sz="1300">
                <a:latin typeface="Arial" panose="020B0604020202020204" pitchFamily="34" charset="0"/>
              </a:rPr>
              <a:t>-dən düzgün şəkildə gəlməlidir.</a:t>
            </a:r>
            <a:r>
              <a:rPr lang="az-Latn-AZ" altLang="en-US" sz="1300">
                <a:latin typeface="Arial" panose="020B0604020202020204" pitchFamily="34" charset="0"/>
              </a:rPr>
              <a:t>  </a:t>
            </a:r>
            <a:r>
              <a:rPr lang="az-Latn-AZ" altLang="en-US" sz="1300" b="1">
                <a:latin typeface="Arial" panose="020B0604020202020204" pitchFamily="34" charset="0"/>
              </a:rPr>
              <a:t>50-52ci</a:t>
            </a:r>
            <a:r>
              <a:rPr lang="az-Latn-AZ" altLang="en-US" sz="1300">
                <a:latin typeface="Arial" panose="020B0604020202020204" pitchFamily="34" charset="0"/>
              </a:rPr>
              <a:t> slaydlarda tokeni əldə edərək </a:t>
            </a:r>
            <a:r>
              <a:rPr lang="az-Latn-AZ" altLang="en-US" sz="1300" b="1">
                <a:latin typeface="Arial" panose="020B0604020202020204" pitchFamily="34" charset="0"/>
              </a:rPr>
              <a:t>ess_token </a:t>
            </a:r>
            <a:r>
              <a:rPr lang="az-Latn-AZ" altLang="en-US" sz="1300">
                <a:latin typeface="Arial" panose="020B0604020202020204" pitchFamily="34" charset="0"/>
              </a:rPr>
              <a:t>adı ilə göndərmişik.</a:t>
            </a:r>
            <a:endParaRPr lang="en-US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API açarlarınız </a:t>
            </a:r>
            <a:r>
              <a:rPr lang="en-US" altLang="en-US" sz="1300">
                <a:latin typeface="Arial" panose="020B0604020202020204" pitchFamily="34" charset="0"/>
              </a:rPr>
              <a:t>(sellerId, secretKey) və test rejimi üçün düzgün konfiqurasiya edilmiş olmalıdır.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dd()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funksiyasının nəticə növbəti slaydda.....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8581CC-735E-EB0D-1B58-194BE3223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998017"/>
            <a:ext cx="2619741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1545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B55DB-4418-CC15-FC55-8EF8BBA10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C28C5A-E1EB-0D7E-0CC8-62881BB19DD2}"/>
              </a:ext>
            </a:extLst>
          </p:cNvPr>
          <p:cNvSpPr txBox="1"/>
          <p:nvPr/>
        </p:nvSpPr>
        <p:spPr>
          <a:xfrm>
            <a:off x="217714" y="255046"/>
            <a:ext cx="11756571" cy="1555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</a:t>
            </a:r>
            <a:r>
              <a:rPr lang="en-US" altLang="en-US" sz="1300" b="1">
                <a:latin typeface="Arial" panose="020B0604020202020204" pitchFamily="34" charset="0"/>
              </a:rPr>
              <a:t>2Checkout</a:t>
            </a:r>
            <a:r>
              <a:rPr lang="en-US" altLang="en-US" sz="1300">
                <a:latin typeface="Arial" panose="020B0604020202020204" pitchFamily="34" charset="0"/>
              </a:rPr>
              <a:t> hesab konfiqurasiyası ilə bağlıdır.</a:t>
            </a:r>
            <a:r>
              <a:rPr lang="az-Latn-AZ" altLang="en-US" sz="1300">
                <a:latin typeface="Arial" panose="020B0604020202020204" pitchFamily="34" charset="0"/>
              </a:rPr>
              <a:t> Əvvəllər bu şirkət, ödənişsiz </a:t>
            </a:r>
            <a:r>
              <a:rPr lang="az-Latn-AZ" altLang="en-US" sz="1300" b="1">
                <a:latin typeface="Arial" panose="020B0604020202020204" pitchFamily="34" charset="0"/>
              </a:rPr>
              <a:t>TEST</a:t>
            </a:r>
            <a:r>
              <a:rPr lang="az-Latn-AZ" altLang="en-US" sz="1300">
                <a:latin typeface="Arial" panose="020B0604020202020204" pitchFamily="34" charset="0"/>
              </a:rPr>
              <a:t> mod təqdim edirdi. Ancaq artıq </a:t>
            </a:r>
            <a:r>
              <a:rPr lang="az-Latn-AZ" altLang="en-US" sz="1300" b="1">
                <a:latin typeface="Arial" panose="020B0604020202020204" pitchFamily="34" charset="0"/>
              </a:rPr>
              <a:t>DEMO</a:t>
            </a:r>
            <a:r>
              <a:rPr lang="az-Latn-AZ" altLang="en-US" sz="1300">
                <a:latin typeface="Arial" panose="020B0604020202020204" pitchFamily="34" charset="0"/>
              </a:rPr>
              <a:t> modu aktiv etmək lazımdır ki, ödəniş sistemini test edə bilək. Ancaq </a:t>
            </a:r>
            <a:r>
              <a:rPr lang="az-Latn-AZ" altLang="en-US" sz="1300" b="1">
                <a:latin typeface="Arial" panose="020B0604020202020204" pitchFamily="34" charset="0"/>
              </a:rPr>
              <a:t>DEMO</a:t>
            </a:r>
            <a:r>
              <a:rPr lang="az-Latn-AZ" altLang="en-US" sz="1300">
                <a:latin typeface="Arial" panose="020B0604020202020204" pitchFamily="34" charset="0"/>
              </a:rPr>
              <a:t> modu aktiv etmək üçün </a:t>
            </a:r>
            <a:r>
              <a:rPr lang="az-Latn-AZ" altLang="en-US" sz="1300" b="1">
                <a:latin typeface="Arial" panose="020B0604020202020204" pitchFamily="34" charset="0"/>
              </a:rPr>
              <a:t>LİVE</a:t>
            </a:r>
            <a:r>
              <a:rPr lang="az-Latn-AZ" altLang="en-US" sz="1300">
                <a:latin typeface="Arial" panose="020B0604020202020204" pitchFamily="34" charset="0"/>
              </a:rPr>
              <a:t> formada xidmət göstərən bir veb saytımız olmalıdır. Əks halda şirkət tərəfindən ban edilərik və yeni gmail ilə qeydiyyat məcburiyyəti yaranacaq.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Test mod mövcud olmadığı üçün burdan sonra olan hissəni özümüz dəvam etdirə bilməyəcəyik. Ancaq başqqa bir dərslikdın slaydlar paylaşacam...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E21FD4-3F5C-9E69-157F-1795F5391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5002"/>
            <a:ext cx="12192000" cy="487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25378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B55CF-ADEF-2AE3-516C-CCCDC4D01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045F05-3ABF-C699-F80B-27A4BEAA49A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Aşağıdakı kimi məlumatlar əldə etməli idik.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A0AD01-335C-CB3C-0DA1-3299B83867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712"/>
            <a:ext cx="12192000" cy="5818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13798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63BCC-CC94-CC98-C4AD-5011F8A6A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FF2A05-0DD7-B789-EB55-FB96481B996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Biz `</a:t>
            </a:r>
            <a:r>
              <a:rPr lang="az-Latn-AZ" altLang="en-US" sz="1300" b="1">
                <a:latin typeface="Arial" panose="020B0604020202020204" pitchFamily="34" charset="0"/>
              </a:rPr>
              <a:t>Generate token</a:t>
            </a:r>
            <a:r>
              <a:rPr lang="az-Latn-AZ" altLang="en-US" sz="1300">
                <a:latin typeface="Arial" panose="020B0604020202020204" pitchFamily="34" charset="0"/>
              </a:rPr>
              <a:t>` düyməsini kliklədikdə gedən </a:t>
            </a:r>
            <a:r>
              <a:rPr lang="az-Latn-AZ" altLang="en-US" sz="1300" b="1">
                <a:latin typeface="Arial" panose="020B0604020202020204" pitchFamily="34" charset="0"/>
              </a:rPr>
              <a:t>REQUEST</a:t>
            </a:r>
            <a:r>
              <a:rPr lang="az-Latn-AZ" altLang="en-US" sz="1300">
                <a:latin typeface="Arial" panose="020B0604020202020204" pitchFamily="34" charset="0"/>
              </a:rPr>
              <a:t> və daxil olan </a:t>
            </a:r>
            <a:r>
              <a:rPr lang="az-Latn-AZ" altLang="en-US" sz="1300" b="1">
                <a:latin typeface="Arial" panose="020B0604020202020204" pitchFamily="34" charset="0"/>
              </a:rPr>
              <a:t>RESPONSE</a:t>
            </a:r>
            <a:r>
              <a:rPr lang="az-Latn-AZ" altLang="en-US" sz="1300">
                <a:latin typeface="Arial" panose="020B0604020202020204" pitchFamily="34" charset="0"/>
              </a:rPr>
              <a:t> -ları aşağıdakı səhifədən izləyə bilərik.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D943C1-3B9E-5B94-41D1-9130D5C60D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5"/>
          <a:stretch>
            <a:fillRect/>
          </a:stretch>
        </p:blipFill>
        <p:spPr>
          <a:xfrm>
            <a:off x="-1" y="1017037"/>
            <a:ext cx="12192000" cy="584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3434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27DCD-1C10-5B82-3577-E858A517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650D18-1332-936B-160F-E03FF9D0F81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Müştəri sifarişlərini isə Customer səhifəsindən izləyirik.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9AADBB-E603-6770-6E5E-73742F97E6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0269"/>
            <a:ext cx="12192000" cy="598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55546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B7839-2144-E623-10F9-8318D1709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D66EAF-7730-AE89-8DB7-C630EC14E4B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View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sözünə basdıqda sonra açılan </a:t>
            </a:r>
            <a:r>
              <a:rPr lang="az-Latn-AZ" altLang="en-US" sz="1300" b="1">
                <a:latin typeface="Arial" panose="020B0604020202020204" pitchFamily="34" charset="0"/>
              </a:rPr>
              <a:t>Product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 b="1">
                <a:latin typeface="Arial" panose="020B0604020202020204" pitchFamily="34" charset="0"/>
              </a:rPr>
              <a:t>identifikatoruna</a:t>
            </a:r>
            <a:r>
              <a:rPr lang="az-Latn-AZ" altLang="en-US" sz="1300">
                <a:latin typeface="Arial" panose="020B0604020202020204" pitchFamily="34" charset="0"/>
              </a:rPr>
              <a:t> klikləyərək həmin məhsul haqqında olan məlumatları görməkdə mümkündür.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8F8DBF-F888-BF53-C54B-747BB3F18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5596"/>
            <a:ext cx="12192000" cy="574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75580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04E0A-C2B6-ADAD-712D-D313DC35E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5F3C6C-9998-D7BA-B3B8-F15316839AF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Həmin məlumatlar aşağıdakı kimi görünür.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753604-CC20-7FCF-E406-EEBEA44D42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2185"/>
            <a:ext cx="12192000" cy="501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96228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CE9C8-FCB2-E75E-46BE-4E4731655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AE6EDD-8E7A-AD11-7513-9F1D52F840F5}"/>
              </a:ext>
            </a:extLst>
          </p:cNvPr>
          <p:cNvSpPr txBox="1"/>
          <p:nvPr/>
        </p:nvSpPr>
        <p:spPr>
          <a:xfrm>
            <a:off x="217714" y="255046"/>
            <a:ext cx="11756571" cy="2530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  <a:cs typeface="Arial" panose="020B0604020202020204" pitchFamily="34" charset="0"/>
              </a:rPr>
              <a:t>İndi </a:t>
            </a:r>
            <a:r>
              <a:rPr lang="az-Latn-AZ" altLang="en-US" sz="1300" b="1">
                <a:latin typeface="Arial" panose="020B0604020202020204" pitchFamily="34" charset="0"/>
                <a:cs typeface="Arial" panose="020B0604020202020204" pitchFamily="34" charset="0"/>
              </a:rPr>
              <a:t>CONTROLLER</a:t>
            </a:r>
            <a:r>
              <a:rPr lang="az-Latn-AZ" altLang="en-US" sz="1300">
                <a:latin typeface="Arial" panose="020B0604020202020204" pitchFamily="34" charset="0"/>
                <a:cs typeface="Arial" panose="020B0604020202020204" pitchFamily="34" charset="0"/>
              </a:rPr>
              <a:t> -dəki kodumuzu tamamlayaq və bununla bitirək. Controlleri tamamlamadan öncə şablonu bir balaca səliqəyə salaq. </a:t>
            </a:r>
          </a:p>
          <a:p>
            <a:pPr>
              <a:lnSpc>
                <a:spcPct val="150000"/>
              </a:lnSpc>
              <a:buNone/>
            </a:pPr>
            <a:b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Aşağıdakı elementləri əlavə etdim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&lt;div class="container my-5"&gt;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&lt;h3&gt;Pay with 2CHECKOUT&lt;/h3&gt;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&lt;div class="col-md-5"&gt;</a:t>
            </a:r>
            <a:endParaRPr lang="az-Latn-AZ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az-Latn-AZ" altLang="en-US" sz="1300">
                <a:latin typeface="Arial" panose="020B0604020202020204" pitchFamily="34" charset="0"/>
                <a:cs typeface="Arial" panose="020B0604020202020204" pitchFamily="34" charset="0"/>
              </a:rPr>
              <a:t>Düymənin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adını `Pay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now!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`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qoydum.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E040F6-8CAC-7287-4DAC-26906CC5F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2305" y="1589940"/>
            <a:ext cx="7849695" cy="526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09541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88B92-CE02-CBD9-CDFD-9BEC1B6CA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F88A6A-1160-F0E7-1CD2-EBC3AA22055E}"/>
              </a:ext>
            </a:extLst>
          </p:cNvPr>
          <p:cNvSpPr txBox="1"/>
          <p:nvPr/>
        </p:nvSpPr>
        <p:spPr>
          <a:xfrm>
            <a:off x="217714" y="46655"/>
            <a:ext cx="11756571" cy="335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200" b="1">
                <a:latin typeface="Arial" panose="020B0604020202020204" pitchFamily="34" charset="0"/>
              </a:rPr>
              <a:t>app\Http\Controllers\Gateways\TwoCheckoutController.php</a:t>
            </a:r>
            <a:r>
              <a:rPr lang="az-Latn-AZ" altLang="en-US" sz="1200" b="1">
                <a:latin typeface="Arial" panose="020B0604020202020204" pitchFamily="34" charset="0"/>
              </a:rPr>
              <a:t>   </a:t>
            </a:r>
            <a:r>
              <a:rPr lang="az-Latn-AZ" altLang="en-US" sz="1200">
                <a:latin typeface="Arial" panose="020B0604020202020204" pitchFamily="34" charset="0"/>
              </a:rPr>
              <a:t>və   </a:t>
            </a:r>
            <a:r>
              <a:rPr lang="az-Latn-AZ" altLang="en-US" sz="1200" b="1">
                <a:latin typeface="Arial" panose="020B0604020202020204" pitchFamily="34" charset="0"/>
              </a:rPr>
              <a:t>routes\web.php   </a:t>
            </a:r>
            <a:r>
              <a:rPr lang="az-Latn-AZ" altLang="en-US" sz="1200">
                <a:latin typeface="Arial" panose="020B0604020202020204" pitchFamily="34" charset="0"/>
              </a:rPr>
              <a:t>fayllarına əlavə etdiyim kodlar bunlardır. Növbəti slaydda işə açıqlaması var.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01CE03-873E-33A5-66ED-4B237ABEB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3537"/>
            <a:ext cx="12192000" cy="637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85608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CB618-A75C-239C-6367-A433D706F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728496-DF90-DB6C-79BF-1F157E17447A}"/>
              </a:ext>
            </a:extLst>
          </p:cNvPr>
          <p:cNvSpPr txBox="1"/>
          <p:nvPr/>
        </p:nvSpPr>
        <p:spPr>
          <a:xfrm>
            <a:off x="217714" y="255046"/>
            <a:ext cx="11756571" cy="6056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1. routes/web.php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Sətir-sətir izah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'twocheckout/success</a:t>
            </a:r>
            <a:r>
              <a:rPr lang="en-US" altLang="en-US" sz="1300">
                <a:latin typeface="Arial" panose="020B0604020202020204" pitchFamily="34" charset="0"/>
              </a:rPr>
              <a:t>' – </a:t>
            </a:r>
            <a:r>
              <a:rPr lang="en-US" altLang="en-US" sz="1300" b="1">
                <a:latin typeface="Arial" panose="020B0604020202020204" pitchFamily="34" charset="0"/>
              </a:rPr>
              <a:t>/twocheckout/success URL</a:t>
            </a:r>
            <a:r>
              <a:rPr lang="en-US" altLang="en-US" sz="1300">
                <a:latin typeface="Arial" panose="020B0604020202020204" pitchFamily="34" charset="0"/>
              </a:rPr>
              <a:t>-si browser-dən daxil edildikdə, bu route işə düşür.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[TwoCheckoutController::class, 'success']</a:t>
            </a:r>
            <a:r>
              <a:rPr lang="en-US" altLang="en-US" sz="1300">
                <a:latin typeface="Arial" panose="020B0604020202020204" pitchFamily="34" charset="0"/>
              </a:rPr>
              <a:t> – </a:t>
            </a:r>
            <a:r>
              <a:rPr lang="az-Latn-AZ" altLang="en-US" sz="1300">
                <a:latin typeface="Arial" panose="020B0604020202020204" pitchFamily="34" charset="0"/>
              </a:rPr>
              <a:t>həmin</a:t>
            </a:r>
            <a:r>
              <a:rPr lang="en-US" altLang="en-US" sz="1300">
                <a:latin typeface="Arial" panose="020B0604020202020204" pitchFamily="34" charset="0"/>
              </a:rPr>
              <a:t> URL çağırıldıqda </a:t>
            </a:r>
            <a:r>
              <a:rPr lang="en-US" altLang="en-US" sz="1300" b="1">
                <a:latin typeface="Arial" panose="020B0604020202020204" pitchFamily="34" charset="0"/>
              </a:rPr>
              <a:t>TwoCheckoutController</a:t>
            </a:r>
            <a:r>
              <a:rPr lang="en-US" altLang="en-US" sz="1300">
                <a:latin typeface="Arial" panose="020B0604020202020204" pitchFamily="34" charset="0"/>
              </a:rPr>
              <a:t> class-ındakı </a:t>
            </a:r>
            <a:r>
              <a:rPr lang="en-US" altLang="en-US" sz="1300" b="1">
                <a:latin typeface="Arial" panose="020B0604020202020204" pitchFamily="34" charset="0"/>
              </a:rPr>
              <a:t>success() </a:t>
            </a:r>
            <a:r>
              <a:rPr lang="en-US" altLang="en-US" sz="1300">
                <a:latin typeface="Arial" panose="020B0604020202020204" pitchFamily="34" charset="0"/>
              </a:rPr>
              <a:t>metodu icra olunur.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-&gt;name('twocheckout.success') </a:t>
            </a:r>
            <a:r>
              <a:rPr lang="en-US" altLang="en-US" sz="1300">
                <a:latin typeface="Arial" panose="020B0604020202020204" pitchFamily="34" charset="0"/>
              </a:rPr>
              <a:t>– bu route üçün bir ad təyin edilir ki, Laravel daxilində </a:t>
            </a:r>
            <a:r>
              <a:rPr lang="en-US" altLang="en-US" sz="1300" b="1">
                <a:latin typeface="Arial" panose="020B0604020202020204" pitchFamily="34" charset="0"/>
              </a:rPr>
              <a:t>route('twocheckout.success') </a:t>
            </a:r>
            <a:r>
              <a:rPr lang="en-US" altLang="en-US" sz="1300">
                <a:latin typeface="Arial" panose="020B0604020202020204" pitchFamily="34" charset="0"/>
              </a:rPr>
              <a:t>kimi istifadə oluna bilsin.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2. handlePayment() funksiyasındakı hissə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İzah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$tco-&gt;apiCore()-&gt;call(...) </a:t>
            </a:r>
            <a:r>
              <a:rPr lang="en-US" altLang="en-US" sz="1300">
                <a:latin typeface="Arial" panose="020B0604020202020204" pitchFamily="34" charset="0"/>
              </a:rPr>
              <a:t>– bu metod vasitəsilə </a:t>
            </a:r>
            <a:r>
              <a:rPr lang="en-US" altLang="en-US" sz="1300" b="1">
                <a:latin typeface="Arial" panose="020B0604020202020204" pitchFamily="34" charset="0"/>
              </a:rPr>
              <a:t>2Checkout API</a:t>
            </a:r>
            <a:r>
              <a:rPr lang="en-US" altLang="en-US" sz="1300">
                <a:latin typeface="Arial" panose="020B0604020202020204" pitchFamily="34" charset="0"/>
              </a:rPr>
              <a:t>-yə </a:t>
            </a:r>
            <a:r>
              <a:rPr lang="en-US" altLang="en-US" sz="1300" b="1">
                <a:latin typeface="Arial" panose="020B0604020202020204" pitchFamily="34" charset="0"/>
              </a:rPr>
              <a:t>POST</a:t>
            </a:r>
            <a:r>
              <a:rPr lang="en-US" altLang="en-US" sz="1300">
                <a:latin typeface="Arial" panose="020B0604020202020204" pitchFamily="34" charset="0"/>
              </a:rPr>
              <a:t> istəyi göndərilir.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'/orders/' </a:t>
            </a:r>
            <a:r>
              <a:rPr lang="en-US" altLang="en-US" sz="1300">
                <a:latin typeface="Arial" panose="020B0604020202020204" pitchFamily="34" charset="0"/>
              </a:rPr>
              <a:t>– bu, </a:t>
            </a:r>
            <a:r>
              <a:rPr lang="en-US" altLang="en-US" sz="1300" b="1">
                <a:latin typeface="Arial" panose="020B0604020202020204" pitchFamily="34" charset="0"/>
              </a:rPr>
              <a:t>2Checkout</a:t>
            </a:r>
            <a:r>
              <a:rPr lang="en-US" altLang="en-US" sz="1300">
                <a:latin typeface="Arial" panose="020B0604020202020204" pitchFamily="34" charset="0"/>
              </a:rPr>
              <a:t>-un sifariş yaratma endpoint-dir</a:t>
            </a:r>
            <a:r>
              <a:rPr lang="az-Latn-AZ" altLang="en-US" sz="1300">
                <a:latin typeface="Arial" panose="020B0604020202020204" pitchFamily="34" charset="0"/>
              </a:rPr>
              <a:t> (kənar mənbə ilə əlaqə qurmaq üçün istifadə olunan bir əlaqə nöqtəsidir)</a:t>
            </a:r>
            <a:r>
              <a:rPr lang="en-US" altLang="en-US" sz="1300">
                <a:latin typeface="Arial" panose="020B060402020202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$orderParams </a:t>
            </a:r>
            <a:r>
              <a:rPr lang="en-US" altLang="en-US" sz="1300">
                <a:latin typeface="Arial" panose="020B0604020202020204" pitchFamily="34" charset="0"/>
              </a:rPr>
              <a:t>– ödəniş üçün lazım olan müştəri, məhsul və kart məlumatlarını saxlayan massivdir.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'POST</a:t>
            </a:r>
            <a:r>
              <a:rPr lang="en-US" altLang="en-US" sz="1300">
                <a:latin typeface="Arial" panose="020B0604020202020204" pitchFamily="34" charset="0"/>
              </a:rPr>
              <a:t>' – HTTP metodu, yəni bu məlumatları serverə göndərmək üçündür.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$result </a:t>
            </a:r>
            <a:r>
              <a:rPr lang="en-US" altLang="en-US" sz="1300">
                <a:latin typeface="Arial" panose="020B0604020202020204" pitchFamily="34" charset="0"/>
              </a:rPr>
              <a:t>– 2Checkout-dan </a:t>
            </a:r>
            <a:r>
              <a:rPr lang="en-US" altLang="en-US" sz="1300" b="1">
                <a:latin typeface="Arial" panose="020B0604020202020204" pitchFamily="34" charset="0"/>
              </a:rPr>
              <a:t>gələn</a:t>
            </a:r>
            <a:r>
              <a:rPr lang="en-US" altLang="en-US" sz="1300">
                <a:latin typeface="Arial" panose="020B0604020202020204" pitchFamily="34" charset="0"/>
              </a:rPr>
              <a:t> cavab</a:t>
            </a:r>
            <a:r>
              <a:rPr lang="az-Latn-AZ" altLang="en-US" sz="1300">
                <a:latin typeface="Arial" panose="020B0604020202020204" pitchFamily="34" charset="0"/>
              </a:rPr>
              <a:t> (response)</a:t>
            </a:r>
            <a:r>
              <a:rPr lang="en-US" altLang="en-US" sz="1300">
                <a:latin typeface="Arial" panose="020B0604020202020204" pitchFamily="34" charset="0"/>
              </a:rPr>
              <a:t> burada saxlanır.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991CCA-0CBD-D031-1EC9-616DA9C65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6138"/>
            <a:ext cx="9107171" cy="466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48418A-8F9D-37A5-4E1B-E4376E103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09691"/>
            <a:ext cx="5115639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23880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3805F-6167-1A1A-5844-D99F4F598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B1FAA3-D999-62F3-511F-0F1358701E43}"/>
              </a:ext>
            </a:extLst>
          </p:cNvPr>
          <p:cNvSpPr txBox="1"/>
          <p:nvPr/>
        </p:nvSpPr>
        <p:spPr>
          <a:xfrm>
            <a:off x="217714" y="255046"/>
            <a:ext cx="11756571" cy="6056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İzah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isset($result) </a:t>
            </a:r>
            <a:r>
              <a:rPr lang="en-US" altLang="en-US" sz="1300">
                <a:latin typeface="Arial" panose="020B0604020202020204" pitchFamily="34" charset="0"/>
              </a:rPr>
              <a:t>– cavabın boş olmadığını yoxlayır.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$result['Status'] == 'AUTHRECEIVED' </a:t>
            </a:r>
            <a:r>
              <a:rPr lang="en-US" altLang="en-US" sz="1300">
                <a:latin typeface="Arial" panose="020B0604020202020204" pitchFamily="34" charset="0"/>
              </a:rPr>
              <a:t>– bu status o deməkdir ki, ödəniş müvəffəqiyyətlə qəbul olunub, lakin hələ tam icra edilməyib. Bu status ödəmə icazəsi alınıb mənasına gəlir.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İzah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return response([...]) </a:t>
            </a:r>
            <a:r>
              <a:rPr lang="en-US" altLang="en-US" sz="1300">
                <a:latin typeface="Arial" panose="020B0604020202020204" pitchFamily="34" charset="0"/>
              </a:rPr>
              <a:t>– bu Laravel-də</a:t>
            </a:r>
            <a:r>
              <a:rPr lang="az-Latn-AZ" altLang="en-US" sz="1300">
                <a:latin typeface="Arial" panose="020B0604020202020204" pitchFamily="34" charset="0"/>
              </a:rPr>
              <a:t>, harasa</a:t>
            </a:r>
            <a:r>
              <a:rPr lang="en-US" altLang="en-US" sz="1300">
                <a:latin typeface="Arial" panose="020B0604020202020204" pitchFamily="34" charset="0"/>
              </a:rPr>
              <a:t> JSON tipli cavab döndərmək üçündür.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success =&gt; true </a:t>
            </a:r>
            <a:r>
              <a:rPr lang="en-US" altLang="en-US" sz="1300">
                <a:latin typeface="Arial" panose="020B0604020202020204" pitchFamily="34" charset="0"/>
              </a:rPr>
              <a:t>– frontend-ə bildirir ki, əməliyyat uğurludur.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redirect =&gt; route('twocheckout.success') </a:t>
            </a:r>
            <a:r>
              <a:rPr lang="en-US" altLang="en-US" sz="1300">
                <a:latin typeface="Arial" panose="020B0604020202020204" pitchFamily="34" charset="0"/>
              </a:rPr>
              <a:t>– bu sahədə </a:t>
            </a:r>
            <a:r>
              <a:rPr lang="en-US" altLang="en-US" sz="1300" b="1">
                <a:latin typeface="Arial" panose="020B0604020202020204" pitchFamily="34" charset="0"/>
              </a:rPr>
              <a:t>/twocheckout/success </a:t>
            </a:r>
            <a:r>
              <a:rPr lang="en-US" altLang="en-US" sz="1300">
                <a:latin typeface="Arial" panose="020B0604020202020204" pitchFamily="34" charset="0"/>
              </a:rPr>
              <a:t>URL-</a:t>
            </a:r>
            <a:r>
              <a:rPr lang="az-Latn-AZ" altLang="en-US" sz="1300">
                <a:latin typeface="Arial" panose="020B0604020202020204" pitchFamily="34" charset="0"/>
              </a:rPr>
              <a:t>n</a:t>
            </a:r>
            <a:r>
              <a:rPr lang="en-US" altLang="en-US" sz="1300">
                <a:latin typeface="Arial" panose="020B0604020202020204" pitchFamily="34" charset="0"/>
              </a:rPr>
              <a:t>i qaytarılır ki, frontend həmin URL-ə yönləndirilsin</a:t>
            </a:r>
            <a:endParaRPr lang="az-Latn-AZ" altLang="en-US" sz="1300"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en-US" altLang="en-US" sz="1300" b="1">
                <a:latin typeface="Arial" panose="020B0604020202020204" pitchFamily="34" charset="0"/>
              </a:rPr>
              <a:t>Niyə response() istifadə olunur?</a:t>
            </a:r>
          </a:p>
          <a:p>
            <a:pPr marL="0" lvl="1">
              <a:lnSpc>
                <a:spcPct val="150000"/>
              </a:lnSpc>
            </a:pPr>
            <a:r>
              <a:rPr lang="en-US" altLang="en-US" sz="1300">
                <a:latin typeface="Arial" panose="020B0604020202020204" pitchFamily="34" charset="0"/>
              </a:rPr>
              <a:t>Çünki bu </a:t>
            </a:r>
            <a:r>
              <a:rPr lang="en-US" altLang="en-US" sz="1300" b="1">
                <a:latin typeface="Arial" panose="020B0604020202020204" pitchFamily="34" charset="0"/>
              </a:rPr>
              <a:t>handlePayment() </a:t>
            </a:r>
            <a:r>
              <a:rPr lang="en-US" altLang="en-US" sz="1300">
                <a:latin typeface="Arial" panose="020B0604020202020204" pitchFamily="34" charset="0"/>
              </a:rPr>
              <a:t>funksiyası</a:t>
            </a:r>
            <a:r>
              <a:rPr lang="az-Latn-AZ" altLang="en-US" sz="1300">
                <a:latin typeface="Arial" panose="020B0604020202020204" pitchFamily="34" charset="0"/>
              </a:rPr>
              <a:t>, </a:t>
            </a:r>
            <a:r>
              <a:rPr lang="en-US" altLang="en-US" sz="1300" b="1">
                <a:latin typeface="Arial" panose="020B0604020202020204" pitchFamily="34" charset="0"/>
              </a:rPr>
              <a:t>AJAX</a:t>
            </a:r>
            <a:r>
              <a:rPr lang="en-US" altLang="en-US" sz="1300">
                <a:latin typeface="Arial" panose="020B0604020202020204" pitchFamily="34" charset="0"/>
              </a:rPr>
              <a:t> vasitəsilə çağırılır (JavaScript ilə), və JavaScript-ə JSON cavabı qaytarmaq üçün </a:t>
            </a:r>
            <a:r>
              <a:rPr lang="en-US" altLang="en-US" sz="1300" b="1">
                <a:latin typeface="Arial" panose="020B0604020202020204" pitchFamily="34" charset="0"/>
              </a:rPr>
              <a:t>response([...]) </a:t>
            </a:r>
            <a:r>
              <a:rPr lang="en-US" altLang="en-US" sz="1300">
                <a:latin typeface="Arial" panose="020B0604020202020204" pitchFamily="34" charset="0"/>
              </a:rPr>
              <a:t>istifadə edilir.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586D4E-1BB2-3C72-66EE-C2DBC16C8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680"/>
            <a:ext cx="4982270" cy="5144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177303-84D6-AA2E-6F88-11562F59D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45341"/>
            <a:ext cx="3810532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6876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EB959-6A77-3DF0-44E0-43712BFA4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4CEDCE-14D5-81B8-2FE9-7A93F87C7F3B}"/>
              </a:ext>
            </a:extLst>
          </p:cNvPr>
          <p:cNvSpPr txBox="1"/>
          <p:nvPr/>
        </p:nvSpPr>
        <p:spPr>
          <a:xfrm>
            <a:off x="217714" y="255046"/>
            <a:ext cx="11756571" cy="485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3. </a:t>
            </a:r>
            <a:r>
              <a:rPr lang="en-US" altLang="en-US" sz="1300" b="1">
                <a:latin typeface="Arial" panose="020B0604020202020204" pitchFamily="34" charset="0"/>
              </a:rPr>
              <a:t>twocheckout-form.blade.php </a:t>
            </a:r>
            <a:r>
              <a:rPr lang="en-US" altLang="en-US" sz="1300">
                <a:latin typeface="Arial" panose="020B0604020202020204" pitchFamily="34" charset="0"/>
              </a:rPr>
              <a:t>içindəki bu </a:t>
            </a:r>
            <a:r>
              <a:rPr lang="en-US" altLang="en-US" sz="1300" b="1">
                <a:latin typeface="Arial" panose="020B0604020202020204" pitchFamily="34" charset="0"/>
              </a:rPr>
              <a:t>JavaScript</a:t>
            </a:r>
            <a:r>
              <a:rPr lang="en-US" altLang="en-US" sz="1300">
                <a:latin typeface="Arial" panose="020B0604020202020204" pitchFamily="34" charset="0"/>
              </a:rPr>
              <a:t> kod: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Əlaqə və izah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JavaScript kodu, </a:t>
            </a:r>
            <a:r>
              <a:rPr lang="en-US" altLang="en-US" sz="1300" b="1">
                <a:latin typeface="Arial" panose="020B0604020202020204" pitchFamily="34" charset="0"/>
              </a:rPr>
              <a:t>handlePayment()</a:t>
            </a:r>
            <a:r>
              <a:rPr lang="en-US" altLang="en-US" sz="1300">
                <a:latin typeface="Arial" panose="020B0604020202020204" pitchFamily="34" charset="0"/>
              </a:rPr>
              <a:t> metodundan gələn </a:t>
            </a:r>
            <a:r>
              <a:rPr lang="en-US" altLang="en-US" sz="1300" b="1">
                <a:latin typeface="Arial" panose="020B0604020202020204" pitchFamily="34" charset="0"/>
              </a:rPr>
              <a:t>JSON</a:t>
            </a:r>
            <a:r>
              <a:rPr lang="en-US" altLang="en-US" sz="1300">
                <a:latin typeface="Arial" panose="020B0604020202020204" pitchFamily="34" charset="0"/>
              </a:rPr>
              <a:t> cavabını qarşılayır.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JavaScript vasitəsilə han</a:t>
            </a:r>
            <a:r>
              <a:rPr lang="en-US" altLang="en-US" sz="1300" b="1">
                <a:latin typeface="Arial" panose="020B0604020202020204" pitchFamily="34" charset="0"/>
              </a:rPr>
              <a:t>dlePayment</a:t>
            </a:r>
            <a:r>
              <a:rPr lang="en-US" altLang="en-US" sz="1300">
                <a:latin typeface="Arial" panose="020B0604020202020204" pitchFamily="34" charset="0"/>
              </a:rPr>
              <a:t> funksiyasına</a:t>
            </a:r>
            <a:r>
              <a:rPr lang="az-Latn-AZ" altLang="en-US" sz="1300">
                <a:latin typeface="Arial" panose="020B0604020202020204" pitchFamily="34" charset="0"/>
              </a:rPr>
              <a:t> (backend)</a:t>
            </a:r>
            <a:r>
              <a:rPr lang="en-US" altLang="en-US" sz="1300">
                <a:latin typeface="Arial" panose="020B0604020202020204" pitchFamily="34" charset="0"/>
              </a:rPr>
              <a:t> istək göndərilir.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PHP server cavabında bu kodu göndərir: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652429-7E23-6B4E-8EE4-A293239E8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854144"/>
            <a:ext cx="3515216" cy="13241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EA45DC-ACBA-C3B7-D4B3-DB1032B38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22" y="3648270"/>
            <a:ext cx="839506" cy="9517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E8C8CE-729A-8AB7-B3BF-488E79050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14" y="5279798"/>
            <a:ext cx="4439270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0566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9D4C2-707E-C623-7211-B8A68CAC7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2984F5-7C86-E787-7759-D8B5EA9D3031}"/>
              </a:ext>
            </a:extLst>
          </p:cNvPr>
          <p:cNvSpPr txBox="1"/>
          <p:nvPr/>
        </p:nvSpPr>
        <p:spPr>
          <a:xfrm>
            <a:off x="217714" y="255046"/>
            <a:ext cx="11756571" cy="1555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JavaScript cavabı alır və yoxlayır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Əgər redirect sahəsi varsa, </a:t>
            </a:r>
            <a:r>
              <a:rPr lang="en-US" altLang="en-US" sz="1300" b="1">
                <a:latin typeface="Arial" panose="020B0604020202020204" pitchFamily="34" charset="0"/>
              </a:rPr>
              <a:t>window.location.href = result.redirect; </a:t>
            </a:r>
            <a:r>
              <a:rPr lang="en-US" altLang="en-US" sz="1300">
                <a:latin typeface="Arial" panose="020B0604020202020204" pitchFamily="34" charset="0"/>
              </a:rPr>
              <a:t>– istifadəçi avtomatik həmin URL-ə yönləndirilir.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Əks halda (səhv olsa), məsələn </a:t>
            </a:r>
            <a:r>
              <a:rPr lang="en-US" altLang="en-US" sz="1300" b="1">
                <a:latin typeface="Arial" panose="020B0604020202020204" pitchFamily="34" charset="0"/>
              </a:rPr>
              <a:t>result.success </a:t>
            </a:r>
            <a:r>
              <a:rPr lang="en-US" altLang="en-US" sz="1300">
                <a:latin typeface="Arial" panose="020B0604020202020204" pitchFamily="34" charset="0"/>
              </a:rPr>
              <a:t>varsa, </a:t>
            </a:r>
            <a:r>
              <a:rPr lang="en-US" altLang="en-US" sz="1300" b="1">
                <a:latin typeface="Arial" panose="020B0604020202020204" pitchFamily="34" charset="0"/>
              </a:rPr>
              <a:t>alert(result.msg) </a:t>
            </a:r>
            <a:r>
              <a:rPr lang="en-US" altLang="en-US" sz="1300">
                <a:latin typeface="Arial" panose="020B0604020202020204" pitchFamily="34" charset="0"/>
              </a:rPr>
              <a:t>ilə istifadəçiyə xəbərdarlıq göstərilir.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06141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D6944-D1F0-41A8-6FAA-F31D20F88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C344CF-B419-21EA-BF0A-18916B56A04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7481322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774BE-7A20-18FE-EB28-997B06A7D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12B10C-08DD-E7BF-002E-CA34F778FDE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1276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9865</TotalTime>
  <Words>5041</Words>
  <Application>Microsoft Office PowerPoint</Application>
  <PresentationFormat>Widescreen</PresentationFormat>
  <Paragraphs>811</Paragraphs>
  <Slides>77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2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422</cp:revision>
  <dcterms:created xsi:type="dcterms:W3CDTF">2025-04-12T11:00:44Z</dcterms:created>
  <dcterms:modified xsi:type="dcterms:W3CDTF">2025-07-20T04:56:37Z</dcterms:modified>
</cp:coreProperties>
</file>