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401" r:id="rId2"/>
    <p:sldId id="402" r:id="rId3"/>
    <p:sldId id="403" r:id="rId4"/>
    <p:sldId id="404" r:id="rId5"/>
    <p:sldId id="405" r:id="rId6"/>
    <p:sldId id="400" r:id="rId7"/>
    <p:sldId id="406" r:id="rId8"/>
    <p:sldId id="407" r:id="rId9"/>
    <p:sldId id="408" r:id="rId10"/>
    <p:sldId id="409" r:id="rId11"/>
    <p:sldId id="41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87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F19D45-CC9C-474B-8969-F06E32B918DE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3E5EC4-FCE7-409E-9043-F353E3074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4787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E5EC4-FCE7-409E-9043-F353E3074E5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090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63835-1EEE-8069-B190-F3BCAF2CF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9B7921F-1407-B2A4-3C32-A383E2851470}"/>
              </a:ext>
            </a:extLst>
          </p:cNvPr>
          <p:cNvSpPr txBox="1"/>
          <p:nvPr/>
        </p:nvSpPr>
        <p:spPr>
          <a:xfrm>
            <a:off x="217714" y="255046"/>
            <a:ext cx="11756571" cy="24559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Bu d</a:t>
            </a:r>
            <a:r>
              <a:rPr lang="az-Latn-AZ" altLang="en-US" sz="1300">
                <a:latin typeface="Arial" panose="020B0604020202020204" pitchFamily="34" charset="0"/>
              </a:rPr>
              <a:t>ərs aşağıdakı </a:t>
            </a:r>
            <a:r>
              <a:rPr lang="az-Latn-AZ" altLang="en-US" sz="1300" b="1">
                <a:latin typeface="Arial" panose="020B0604020202020204" pitchFamily="34" charset="0"/>
              </a:rPr>
              <a:t>return</a:t>
            </a:r>
            <a:r>
              <a:rPr lang="az-Latn-AZ" altLang="en-US" sz="1300">
                <a:latin typeface="Arial" panose="020B0604020202020204" pitchFamily="34" charset="0"/>
              </a:rPr>
              <a:t> ifadələrinin fərqini izah edəcəyik.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1) 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2) 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70B5A2-4BED-5AAB-389B-0C3DB48384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714" y="969485"/>
            <a:ext cx="2886478" cy="5811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7DC3E55-776F-577F-BDBC-2D40E59268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714" y="2434711"/>
            <a:ext cx="2162477" cy="552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944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1AB92-A397-BC65-20DF-C145E2744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21A0AE-1D66-0150-514C-CE1A6B8F7766}"/>
              </a:ext>
            </a:extLst>
          </p:cNvPr>
          <p:cNvSpPr txBox="1"/>
          <p:nvPr/>
        </p:nvSpPr>
        <p:spPr>
          <a:xfrm>
            <a:off x="217714" y="255046"/>
            <a:ext cx="11756571" cy="3656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response()-&gt;json($posts)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–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JSON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cavabı</a:t>
            </a:r>
            <a:r>
              <a:rPr lang="az-Latn-AZ" altLang="en-US" sz="1300">
                <a:latin typeface="Arial" panose="020B0604020202020204" pitchFamily="34" charset="0"/>
              </a:rPr>
              <a:t>: b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 kod Laravel-in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json()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metodundan istifadə edərək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$posts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dəyişənini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JSON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formatında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HTTP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cavabı kimi göndərir.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Xüsusiyyətləri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Content-Type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başlığı avtomatik olaraq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application/json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olur.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$posts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obyekt və ya massivdirsə, bu,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JSON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-a çevrilir.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Ən çox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API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və ya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AJAX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cavablarında istifadə olunur.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Nəticə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JSON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A0FC9F-7118-0C6F-EF62-1E5D69E3CB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4" y="3712557"/>
            <a:ext cx="1905266" cy="2562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611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13FCC-E5C4-2350-20C6-89DF22D1F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782941-0DB4-B0DA-A36A-31CA5EC69992}"/>
              </a:ext>
            </a:extLst>
          </p:cNvPr>
          <p:cNvSpPr txBox="1"/>
          <p:nvPr/>
        </p:nvSpPr>
        <p:spPr>
          <a:xfrm>
            <a:off x="217714" y="255046"/>
            <a:ext cx="11756571" cy="3656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response($posts)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– Geniş məqsədli cavab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daha ümumi bir cavabdır və Laravel burada $posts-u necə cavablandırmaq lazım olduğunu məzmunun tipinə görə avtomatik qərar verir.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Nə baş verir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Əgər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$posts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massivdirsə, Laravel bunu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HTML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kimi qaytarmağa çalışa bilər (çox vaxt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text/html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Əgər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$posts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bir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string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-dirsə, sadəcə həmin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string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qaytarılır.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üsul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JSON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cavabı üçün etibarlı deyil əgər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Content-Type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təyin edilməyibsə.</a:t>
            </a: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76073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263D1-9314-2CC8-297E-02BAF807A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9CAE702-12CE-5DE2-B942-AA313C8A0412}"/>
              </a:ext>
            </a:extLst>
          </p:cNvPr>
          <p:cNvSpPr txBox="1"/>
          <p:nvPr/>
        </p:nvSpPr>
        <p:spPr>
          <a:xfrm>
            <a:off x="217714" y="255046"/>
            <a:ext cx="11756571" cy="33561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Problemlər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AJAX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və ya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REST API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çağırışlarında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JSON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başlıq tələb olunduqda düzgün nəticə verməyə bilər.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Brauzer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JSON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yox, düz mətn kimi göstərə bilər.</a:t>
            </a: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Müqayisə cədvəli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9E91F01-BFF4-9475-D7BA-B0AF370CA6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0913507"/>
              </p:ext>
            </p:extLst>
          </p:nvPr>
        </p:nvGraphicFramePr>
        <p:xfrm>
          <a:off x="217715" y="3611220"/>
          <a:ext cx="11245281" cy="2535055"/>
        </p:xfrm>
        <a:graphic>
          <a:graphicData uri="http://schemas.openxmlformats.org/drawingml/2006/table">
            <a:tbl>
              <a:tblPr/>
              <a:tblGrid>
                <a:gridCol w="3484752">
                  <a:extLst>
                    <a:ext uri="{9D8B030D-6E8A-4147-A177-3AD203B41FA5}">
                      <a16:colId xmlns:a16="http://schemas.microsoft.com/office/drawing/2014/main" val="3250781923"/>
                    </a:ext>
                  </a:extLst>
                </a:gridCol>
                <a:gridCol w="3484752">
                  <a:extLst>
                    <a:ext uri="{9D8B030D-6E8A-4147-A177-3AD203B41FA5}">
                      <a16:colId xmlns:a16="http://schemas.microsoft.com/office/drawing/2014/main" val="1952811289"/>
                    </a:ext>
                  </a:extLst>
                </a:gridCol>
                <a:gridCol w="4275777">
                  <a:extLst>
                    <a:ext uri="{9D8B030D-6E8A-4147-A177-3AD203B41FA5}">
                      <a16:colId xmlns:a16="http://schemas.microsoft.com/office/drawing/2014/main" val="1115711336"/>
                    </a:ext>
                  </a:extLst>
                </a:gridCol>
              </a:tblGrid>
              <a:tr h="507011">
                <a:tc>
                  <a:txBody>
                    <a:bodyPr/>
                    <a:lstStyle/>
                    <a:p>
                      <a:r>
                        <a:rPr lang="en-US" b="1"/>
                        <a:t>Xüsusiyyət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response()-&gt;json($posts)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response($posts)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1055644"/>
                  </a:ext>
                </a:extLst>
              </a:tr>
              <a:tr h="507011">
                <a:tc>
                  <a:txBody>
                    <a:bodyPr/>
                    <a:lstStyle/>
                    <a:p>
                      <a:r>
                        <a:rPr lang="en-US"/>
                        <a:t>JSON başlıq (Content-Type)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✅ application/json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❌ Default text/html və ya başqa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9202314"/>
                  </a:ext>
                </a:extLst>
              </a:tr>
              <a:tr h="507011">
                <a:tc>
                  <a:txBody>
                    <a:bodyPr/>
                    <a:lstStyle/>
                    <a:p>
                      <a:r>
                        <a:rPr lang="en-US"/>
                        <a:t>API üçün uyğundur?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✅ Bəli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❌ Əksər hallarda uyğun deyil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5385806"/>
                  </a:ext>
                </a:extLst>
              </a:tr>
              <a:tr h="507011">
                <a:tc>
                  <a:txBody>
                    <a:bodyPr/>
                    <a:lstStyle/>
                    <a:p>
                      <a:r>
                        <a:rPr lang="en-US"/>
                        <a:t>Massiv və obyektlərdə təhlükəsizlik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✅ Serialize edilir, düzgün işləyir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⚠️ Riskli, yanlış serialize ola bilər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0920488"/>
                  </a:ext>
                </a:extLst>
              </a:tr>
              <a:tr h="507011">
                <a:tc>
                  <a:txBody>
                    <a:bodyPr/>
                    <a:lstStyle/>
                    <a:p>
                      <a:r>
                        <a:rPr lang="en-US"/>
                        <a:t>Brauzer cavabı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JSON olaraq göstərilir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Sadə mətn kimi çıxar (əgər JSON deyilsə)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41914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18026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20D02-F008-4417-E278-2F6899506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966A6FF-BF4E-E92C-9D57-86F23C3C62DA}"/>
              </a:ext>
            </a:extLst>
          </p:cNvPr>
          <p:cNvSpPr txBox="1"/>
          <p:nvPr/>
        </p:nvSpPr>
        <p:spPr>
          <a:xfrm>
            <a:off x="217714" y="255046"/>
            <a:ext cx="11756571" cy="655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“Əgər siz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API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düzəldirsinizsə və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JSON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cavabı qaytarmaq istəyirsinizsə, mütləq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response()-&gt;json($data)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istifadə edin.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response($data)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isə yalnız adi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HTTP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cavablar üçün, məsələn, sadə mətn və ya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HTML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üçün uyğundur.”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19833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4256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API nədir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? (Application Programming Interface)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API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tətbiqlərin bir-biri ilə əlaqə qurması üçün hazırlanmış vasitədir. Bir növ müqavilədir (contract) ki, bir proqram digər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proqrama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necə sorğu göndərə bilər və cavab alar.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Sadə izahla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API, proqramların bir-biri ilə “danışması” üçün funksiya və protokollar toplusudur.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Məsələn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Siz veb tətbiq yazırsınız və hava proqnozu göstərmək istəyirsiniz.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Bunun üçün "hava proqnozu"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API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-sin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ə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sorğu göndərirsiniz.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Cavabda havanın temperaturu, rütubət, külək və s. məlumatlar gəlir.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362C68-4B2B-EB17-D410-0775B7C86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1ACEA85-CF7A-B5D7-9E4A-E547068FF9F8}"/>
              </a:ext>
            </a:extLst>
          </p:cNvPr>
          <p:cNvSpPr txBox="1"/>
          <p:nvPr/>
        </p:nvSpPr>
        <p:spPr>
          <a:xfrm>
            <a:off x="217714" y="255046"/>
            <a:ext cx="11756571" cy="4556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1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REST API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nədir?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REST API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— API qurmaq üçün istifadə olunan bir standart (arxitektura modelidir).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🔍 REST (Representational State Transfer) nədir?</a:t>
            </a: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REST, HTTP protokoluna əsaslanan, resurslara URL-lərlə çıxış edən, və standart HTTP metodları (GET, POST, PUT, DELETE) istifadə edən bir API dizayn üslubudur.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🌐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REST API-lər necə işləyir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GET /posts → Bütün postları al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GET /posts/1 → ID-si 1 olan postu al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POST /posts → Yeni post yarat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PUT /posts/1 → ID-si 1 olan postu yenilə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DELETE /posts/1 → ID-si 1 olan postu sil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51569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079E38-56D1-63DD-6969-055DC8877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15B6746-7126-002F-B599-0455DD7FF091}"/>
              </a:ext>
            </a:extLst>
          </p:cNvPr>
          <p:cNvSpPr txBox="1"/>
          <p:nvPr/>
        </p:nvSpPr>
        <p:spPr>
          <a:xfrm>
            <a:off x="217714" y="255046"/>
            <a:ext cx="11756571" cy="3956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Məsələn Laravel REST API (praktiki nümunə)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artıq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RESTful API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-dir çünki: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URL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resursları təmsil edir (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/posts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HTTP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metodları ilə əməliyyatlar həyata keçirilir (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GET, POST, PUT, DELETE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AF69A0-F572-3DCC-07B9-63E68F6BAB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4" y="1007079"/>
            <a:ext cx="7011378" cy="1657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3731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CDE27-AF3D-0029-E521-D602AF2C1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8821F88-BE4E-153A-CAC0-8C5ECAD4B7A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728402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6D81A-AA2E-E5B6-5449-9A9658CF9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316897E-F4A4-EC97-3548-12E300021997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01255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6E797-D04C-B1C8-0D4F-0AFF6D439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E165F46-7CF5-CD16-9818-FEDB591808B5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141400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2612</TotalTime>
  <Words>544</Words>
  <Application>Microsoft Office PowerPoint</Application>
  <PresentationFormat>Widescreen</PresentationFormat>
  <Paragraphs>95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332</cp:revision>
  <dcterms:created xsi:type="dcterms:W3CDTF">2025-04-12T11:00:44Z</dcterms:created>
  <dcterms:modified xsi:type="dcterms:W3CDTF">2025-05-13T10:05:10Z</dcterms:modified>
</cp:coreProperties>
</file>