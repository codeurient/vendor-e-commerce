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00" r:id="rId6"/>
    <p:sldId id="418" r:id="rId7"/>
    <p:sldId id="417" r:id="rId8"/>
    <p:sldId id="419" r:id="rId9"/>
    <p:sldId id="42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5" y="255046"/>
            <a:ext cx="11893420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2400">
                <a:latin typeface="Arial" panose="020B0604020202020204" pitchFamily="34" charset="0"/>
              </a:rPr>
              <a:t>İndi isə, `</a:t>
            </a:r>
            <a:r>
              <a:rPr lang="en-US" altLang="en-US" sz="2000" b="1">
                <a:latin typeface="Arial" panose="020B0604020202020204" pitchFamily="34" charset="0"/>
              </a:rPr>
              <a:t>resources\views\frontend\dashboard\</a:t>
            </a:r>
            <a:r>
              <a:rPr lang="en-US" altLang="en-US" sz="2000" b="1" u="sng">
                <a:latin typeface="Arial" panose="020B0604020202020204" pitchFamily="34" charset="0"/>
              </a:rPr>
              <a:t>profile.blade.php</a:t>
            </a:r>
            <a:r>
              <a:rPr lang="az-Latn-AZ" altLang="en-US" sz="2400">
                <a:latin typeface="Arial" panose="020B0604020202020204" pitchFamily="34" charset="0"/>
              </a:rPr>
              <a:t>` faylındakı, şifrə yeniləmək üçün istifadə edilən elementləri konfiqurasiya edirik.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9F92C-631F-68C3-6DC6-256ADE1A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922" y="1667048"/>
            <a:ext cx="6211078" cy="519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4479-0B1D-A100-C277-8B7CE71F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D82F0-622E-BAB7-1EE7-383AEA7E9901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-umuzu yaradırıq.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Qeyd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PUT</a:t>
            </a:r>
            <a:r>
              <a:rPr lang="en-US" altLang="en-US" sz="1300">
                <a:latin typeface="Arial" panose="020B0604020202020204" pitchFamily="34" charset="0"/>
              </a:rPr>
              <a:t> metodu profile üçün updateProfile() metodunu çağırır.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 metodu profile üçün updatePassword() metodunu çağırır.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Hər iki route eyni URL-yə (</a:t>
            </a:r>
            <a:r>
              <a:rPr lang="en-US" altLang="en-US" sz="1300" b="1">
                <a:latin typeface="Arial" panose="020B0604020202020204" pitchFamily="34" charset="0"/>
              </a:rPr>
              <a:t>user/profile</a:t>
            </a:r>
            <a:r>
              <a:rPr lang="en-US" altLang="en-US" sz="1300">
                <a:latin typeface="Arial" panose="020B0604020202020204" pitchFamily="34" charset="0"/>
              </a:rPr>
              <a:t>) yönəldiyi üçün, HTTP methodlarına görə </a:t>
            </a:r>
            <a:r>
              <a:rPr lang="en-US" altLang="en-US" sz="1300" b="1">
                <a:latin typeface="Arial" panose="020B0604020202020204" pitchFamily="34" charset="0"/>
              </a:rPr>
              <a:t>fərqli funksiyalar </a:t>
            </a:r>
            <a:r>
              <a:rPr lang="en-US" altLang="en-US" sz="1300">
                <a:latin typeface="Arial" panose="020B0604020202020204" pitchFamily="34" charset="0"/>
              </a:rPr>
              <a:t>çağırılır.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788C6-AA34-3B8C-97CA-2241DBE79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5523"/>
            <a:ext cx="9507277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550FB-2990-C3F7-C1EA-1B510B7D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ECDAD-2724-E539-6108-4AE941F075D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POST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PUT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PATCH</a:t>
            </a:r>
            <a:r>
              <a:rPr lang="en-US" altLang="en-US" sz="1300">
                <a:latin typeface="Arial" panose="020B0604020202020204" pitchFamily="34" charset="0"/>
              </a:rPr>
              <a:t> metodlarının fərqləri nədir?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B9A3B0-8FA9-BA3F-84FF-D2F4180DB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545410"/>
              </p:ext>
            </p:extLst>
          </p:nvPr>
        </p:nvGraphicFramePr>
        <p:xfrm>
          <a:off x="217714" y="997769"/>
          <a:ext cx="11822990" cy="4050091"/>
        </p:xfrm>
        <a:graphic>
          <a:graphicData uri="http://schemas.openxmlformats.org/drawingml/2006/table">
            <a:tbl>
              <a:tblPr/>
              <a:tblGrid>
                <a:gridCol w="1416939">
                  <a:extLst>
                    <a:ext uri="{9D8B030D-6E8A-4147-A177-3AD203B41FA5}">
                      <a16:colId xmlns:a16="http://schemas.microsoft.com/office/drawing/2014/main" val="1796316123"/>
                    </a:ext>
                  </a:extLst>
                </a:gridCol>
                <a:gridCol w="3907731">
                  <a:extLst>
                    <a:ext uri="{9D8B030D-6E8A-4147-A177-3AD203B41FA5}">
                      <a16:colId xmlns:a16="http://schemas.microsoft.com/office/drawing/2014/main" val="2597035172"/>
                    </a:ext>
                  </a:extLst>
                </a:gridCol>
                <a:gridCol w="6498320">
                  <a:extLst>
                    <a:ext uri="{9D8B030D-6E8A-4147-A177-3AD203B41FA5}">
                      <a16:colId xmlns:a16="http://schemas.microsoft.com/office/drawing/2014/main" val="2532067129"/>
                    </a:ext>
                  </a:extLst>
                </a:gridCol>
              </a:tblGrid>
              <a:tr h="578584">
                <a:tc>
                  <a:txBody>
                    <a:bodyPr/>
                    <a:lstStyle/>
                    <a:p>
                      <a:r>
                        <a:rPr lang="en-US" b="1"/>
                        <a:t>HTTP 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Məqsəd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Təsvir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306091"/>
                  </a:ext>
                </a:extLst>
              </a:tr>
              <a:tr h="1446461">
                <a:tc>
                  <a:txBody>
                    <a:bodyPr/>
                    <a:lstStyle/>
                    <a:p>
                      <a:r>
                        <a:rPr lang="en-US" b="1"/>
                        <a:t>POST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Yeni bir resurs yaratmaq</a:t>
                      </a:r>
                      <a:r>
                        <a:rPr lang="en-US"/>
                        <a:t> və ya qeyri-standart dəyişikliklər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Dinamik fəaliyyətlər üçün istifadə olunur, məsələn: parol dəyişmək, form göndərmək, mesaj yazmaq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29491"/>
                  </a:ext>
                </a:extLst>
              </a:tr>
              <a:tr h="1012523">
                <a:tc>
                  <a:txBody>
                    <a:bodyPr/>
                    <a:lstStyle/>
                    <a:p>
                      <a:r>
                        <a:rPr lang="en-US" b="1"/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Var olan bir resursu tam olaraq dəyişdirmək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user modelini bütünlükdə güncəlləmək üçün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468133"/>
                  </a:ext>
                </a:extLst>
              </a:tr>
              <a:tr h="1012523">
                <a:tc>
                  <a:txBody>
                    <a:bodyPr/>
                    <a:lstStyle/>
                    <a:p>
                      <a:r>
                        <a:rPr lang="en-US" b="1"/>
                        <a:t>PATCH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Var olan resursun bir hissəsini dəyişmək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Tək sahənin dəyişdirilməsi üçün daha uyğundur (məs: sadəcə name və ya image)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75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4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Form 1 – Profil məlumatlarını dəyişmək (PUT)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formada istifadəçi name, email, image kimi resursun əsas sahələrini dəyişir – yəni tam profili yeniləyir. Laravel və REST standartlarına görə, bu PUT metoduna uyğundur.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Form 2 – Şifrə dəyişmək (POST)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formada isə current_password, new_password, confirmation kimi sahələr parolu dəyişmək üçün xüsusi bir əməliyyat icra edir. Burada məqsəd user obyektini tam güncəlləmək deyil, əlavə bir aksiya yerinə yetirməkdir. </a:t>
            </a:r>
            <a:r>
              <a:rPr lang="az-Latn-AZ" altLang="en-US" sz="1300">
                <a:latin typeface="Arial" panose="020B0604020202020204" pitchFamily="34" charset="0"/>
              </a:rPr>
              <a:t>Laravel və HTTP konvensiyalarına görə bu, POST metodu ilə daha məntiqli olur, çünki bu bir "custom action" (xüsusi əməliyyatdır).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90E87-338A-FB8C-A84A-BE989CAE4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92387"/>
            <a:ext cx="5020376" cy="638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2B765-8D15-3A17-1BF0-39886A418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063547"/>
            <a:ext cx="572532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Niyə ikisi də </a:t>
            </a:r>
            <a:r>
              <a:rPr lang="en-US" altLang="en-US" sz="1300" b="1">
                <a:latin typeface="Arial" panose="020B0604020202020204" pitchFamily="34" charset="0"/>
              </a:rPr>
              <a:t>PUT</a:t>
            </a:r>
            <a:r>
              <a:rPr lang="en-US" altLang="en-US" sz="1300">
                <a:latin typeface="Arial" panose="020B0604020202020204" pitchFamily="34" charset="0"/>
              </a:rPr>
              <a:t> olmasın?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hər ikisini </a:t>
            </a:r>
            <a:r>
              <a:rPr lang="en-US" altLang="en-US" sz="1300" b="1">
                <a:latin typeface="Arial" panose="020B0604020202020204" pitchFamily="34" charset="0"/>
              </a:rPr>
              <a:t>PUT</a:t>
            </a:r>
            <a:r>
              <a:rPr lang="en-US" altLang="en-US" sz="1300">
                <a:latin typeface="Arial" panose="020B0604020202020204" pitchFamily="34" charset="0"/>
              </a:rPr>
              <a:t> etsən, eyni </a:t>
            </a:r>
            <a:r>
              <a:rPr lang="en-US" altLang="en-US" sz="1300" b="1">
                <a:latin typeface="Arial" panose="020B0604020202020204" pitchFamily="34" charset="0"/>
              </a:rPr>
              <a:t>URI</a:t>
            </a:r>
            <a:r>
              <a:rPr lang="en-US" altLang="en-US" sz="1300">
                <a:latin typeface="Arial" panose="020B0604020202020204" pitchFamily="34" charset="0"/>
              </a:rPr>
              <a:t> (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/user/profile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) üzərində fərqli metodlara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vermiş olasıyıq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Laravel-də mümkün deyil, çünki eyni HTTP method + URI bir yerdə yalnız bir route tanıya bilər.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Buna görə əgər fərqli əməliyyat edirsənsə (məsələn: profili yenilə, şifrəni dəyiş), bu zaman fərqli </a:t>
            </a:r>
            <a:r>
              <a:rPr lang="en-US" altLang="en-US" sz="1300" b="1">
                <a:latin typeface="Arial" panose="020B0604020202020204" pitchFamily="34" charset="0"/>
              </a:rPr>
              <a:t>HTTP</a:t>
            </a:r>
            <a:r>
              <a:rPr lang="en-US" altLang="en-US" sz="1300">
                <a:latin typeface="Arial" panose="020B0604020202020204" pitchFamily="34" charset="0"/>
              </a:rPr>
              <a:t> metodları və ya fərqli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-lər istifadə etmək vacibdir.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Alternativ olaraq şifrə üçün bu da ola bilərdi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Amma POST seçimi də tam doğrudur və daha semantic sayılır.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503D3B-7AA5-5609-E7BE-49CADC4F3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03148"/>
            <a:ext cx="7973538" cy="562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2D308C-8BFA-29AF-7402-DCD155EF2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5195620"/>
            <a:ext cx="895475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1183-933A-A364-5ACB-2EBE022D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ED250-657F-651B-CF6B-83C770553AA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Controller -imizi </a:t>
            </a:r>
            <a:r>
              <a:rPr lang="az-Latn-AZ" altLang="en-US" sz="1300">
                <a:latin typeface="Arial" panose="020B0604020202020204" pitchFamily="34" charset="0"/>
              </a:rPr>
              <a:t>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DFBFD-C0C0-CDDA-4CE1-30757F749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680" y="0"/>
            <a:ext cx="5317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2A837-8656-3126-16ED-ACC3FCA8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2FF10A-23FE-4297-574F-1B9179DE36BB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Tətbiqi test edirik.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Şifrə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edildi. Köhnə şifrə 11111111 idi və 22222222 ilə əvəz edildi.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82DA4-260A-C09D-696D-4A044F30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03555"/>
            <a:ext cx="12192000" cy="56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38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9599-BCF3-B711-76EA-093B215A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9AFE9-8DCA-48E2-BA74-6DD37707A1B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660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4E5F-D4C2-E812-9B9E-7AEA066A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35CB87-5ED2-0590-ED7B-F6CB1851366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878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4573</TotalTime>
  <Words>379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2025-08-03T20:17:14Z</dcterms:modified>
</cp:coreProperties>
</file>