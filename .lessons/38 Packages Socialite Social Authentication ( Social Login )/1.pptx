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8" r:id="rId2"/>
    <p:sldId id="422" r:id="rId3"/>
    <p:sldId id="413" r:id="rId4"/>
    <p:sldId id="415" r:id="rId5"/>
    <p:sldId id="416" r:id="rId6"/>
    <p:sldId id="419" r:id="rId7"/>
    <p:sldId id="420" r:id="rId8"/>
    <p:sldId id="414" r:id="rId9"/>
    <p:sldId id="421" r:id="rId10"/>
    <p:sldId id="417" r:id="rId11"/>
    <p:sldId id="400" r:id="rId12"/>
    <p:sldId id="423" r:id="rId13"/>
    <p:sldId id="424" r:id="rId14"/>
    <p:sldId id="427" r:id="rId15"/>
    <p:sldId id="425" r:id="rId16"/>
    <p:sldId id="426" r:id="rId17"/>
    <p:sldId id="428" r:id="rId18"/>
    <p:sldId id="429" r:id="rId19"/>
    <p:sldId id="430" r:id="rId20"/>
    <p:sldId id="432" r:id="rId21"/>
    <p:sldId id="436" r:id="rId22"/>
    <p:sldId id="431" r:id="rId23"/>
    <p:sldId id="437" r:id="rId24"/>
    <p:sldId id="438" r:id="rId25"/>
    <p:sldId id="439" r:id="rId26"/>
    <p:sldId id="440" r:id="rId27"/>
    <p:sldId id="441" r:id="rId28"/>
    <p:sldId id="442" r:id="rId29"/>
    <p:sldId id="443" r:id="rId30"/>
    <p:sldId id="444" r:id="rId31"/>
    <p:sldId id="433" r:id="rId32"/>
    <p:sldId id="434" r:id="rId33"/>
    <p:sldId id="435" r:id="rId34"/>
    <p:sldId id="445" r:id="rId35"/>
    <p:sldId id="446" r:id="rId36"/>
    <p:sldId id="447" r:id="rId37"/>
    <p:sldId id="448" r:id="rId38"/>
    <p:sldId id="44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0B6B4-D8BD-979F-4A56-586A43ACA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A6B9D6-EE09-FE5D-D261-C60D429A4D40}"/>
              </a:ext>
            </a:extLst>
          </p:cNvPr>
          <p:cNvSpPr txBox="1"/>
          <p:nvPr/>
        </p:nvSpPr>
        <p:spPr>
          <a:xfrm>
            <a:off x="217714" y="255046"/>
            <a:ext cx="11756571" cy="5918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Laravel Socialite</a:t>
            </a:r>
            <a:r>
              <a:rPr lang="az-Latn-AZ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 haqqında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Laravel Socialite nədir və nə üçün istifadə olunur?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lang="en-US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 Socialite, Laravel tərəfindən hazırlanmış bir </a:t>
            </a:r>
            <a:r>
              <a:rPr lang="en-US" altLang="en-US" sz="1300" b="1">
                <a:latin typeface="Arial" panose="020B0604020202020204" pitchFamily="34" charset="0"/>
              </a:rPr>
              <a:t>OAuth</a:t>
            </a:r>
            <a:r>
              <a:rPr lang="en-US" altLang="en-US" sz="1300">
                <a:latin typeface="Arial" panose="020B0604020202020204" pitchFamily="34" charset="0"/>
              </a:rPr>
              <a:t> (</a:t>
            </a:r>
            <a:r>
              <a:rPr lang="en-US" altLang="en-US" sz="1300" b="1">
                <a:latin typeface="Arial" panose="020B0604020202020204" pitchFamily="34" charset="0"/>
              </a:rPr>
              <a:t>Open Authorization</a:t>
            </a:r>
            <a:r>
              <a:rPr lang="en-US" altLang="en-US" sz="1300">
                <a:latin typeface="Arial" panose="020B0604020202020204" pitchFamily="34" charset="0"/>
              </a:rPr>
              <a:t>) kitabxanasıdır. Bu kitabxana sayəsində istifadəçilər veb saytımıza və ya tətbiqimizə aşağıdakı platformalardan daxil ola bilər: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GitHub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Google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Facebook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Twitter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LinkedIn və s.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Yəni istifadəçi artıq qeydiyyatdan keçməyə və şifrə yadda saxlamağa ehtiyac duymur. Məsələn, "</a:t>
            </a:r>
            <a:r>
              <a:rPr lang="en-US" altLang="en-US" sz="1300" b="1">
                <a:latin typeface="Arial" panose="020B0604020202020204" pitchFamily="34" charset="0"/>
              </a:rPr>
              <a:t>GitHub ilə daxil ol</a:t>
            </a:r>
            <a:r>
              <a:rPr lang="en-US" altLang="en-US" sz="1300">
                <a:latin typeface="Arial" panose="020B0604020202020204" pitchFamily="34" charset="0"/>
              </a:rPr>
              <a:t>" düyməsinə klik etdikdə, istifadəçi GitHub üzərindən login olur və biz onun əsas məlumatlarını (ad, email, id və s.) əldə edirik.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Nümunə İstifadə</a:t>
            </a:r>
            <a:r>
              <a:rPr lang="en-US" altLang="en-US" sz="1300">
                <a:latin typeface="Arial" panose="020B0604020202020204" pitchFamily="34" charset="0"/>
              </a:rPr>
              <a:t>: Əgər sənin saytında "</a:t>
            </a:r>
            <a:r>
              <a:rPr lang="en-US" altLang="en-US" sz="1300" b="1">
                <a:latin typeface="Arial" panose="020B0604020202020204" pitchFamily="34" charset="0"/>
              </a:rPr>
              <a:t>GitHub ilə daxil ol</a:t>
            </a:r>
            <a:r>
              <a:rPr lang="en-US" altLang="en-US" sz="1300">
                <a:latin typeface="Arial" panose="020B0604020202020204" pitchFamily="34" charset="0"/>
              </a:rPr>
              <a:t>" funksiyası varsa, artıq istifadəçinin qeydiyyatdan keçməsi lazım deyil. O, </a:t>
            </a:r>
            <a:r>
              <a:rPr lang="en-US" altLang="en-US" sz="1300" b="1">
                <a:latin typeface="Arial" panose="020B0604020202020204" pitchFamily="34" charset="0"/>
              </a:rPr>
              <a:t>GitHub</a:t>
            </a:r>
            <a:r>
              <a:rPr lang="en-US" altLang="en-US" sz="1300">
                <a:latin typeface="Arial" panose="020B0604020202020204" pitchFamily="34" charset="0"/>
              </a:rPr>
              <a:t> hesabı ilə daxil ola bilər.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502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61A5D-844C-BA22-7EC2-8C8F385C3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0E6D53-CED3-CC3E-9F69-7CD1D5E078A3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2) GitHub'da Yeni OAuth Tətbiqi Yaratmaq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Github</a:t>
            </a:r>
            <a:r>
              <a:rPr lang="en-US" altLang="en-US" sz="1300">
                <a:latin typeface="Arial" panose="020B0604020202020204" pitchFamily="34" charset="0"/>
              </a:rPr>
              <a:t> il</a:t>
            </a:r>
            <a:r>
              <a:rPr lang="az-Latn-AZ" altLang="en-US" sz="1300">
                <a:latin typeface="Arial" panose="020B0604020202020204" pitchFamily="34" charset="0"/>
              </a:rPr>
              <a:t>ə giriş edə bilmək üçün ilk öncə, </a:t>
            </a:r>
            <a:r>
              <a:rPr lang="az-Latn-AZ" altLang="en-US" sz="1300" b="1">
                <a:latin typeface="Arial" panose="020B0604020202020204" pitchFamily="34" charset="0"/>
              </a:rPr>
              <a:t>APİ</a:t>
            </a:r>
            <a:r>
              <a:rPr lang="az-Latn-AZ" altLang="en-US" sz="1300">
                <a:latin typeface="Arial" panose="020B0604020202020204" pitchFamily="34" charset="0"/>
              </a:rPr>
              <a:t> yaratmalıyıq. </a:t>
            </a:r>
            <a:r>
              <a:rPr lang="az-Latn-AZ" altLang="en-US" sz="1300" b="1">
                <a:latin typeface="Arial" panose="020B0604020202020204" pitchFamily="34" charset="0"/>
              </a:rPr>
              <a:t>APİ</a:t>
            </a:r>
            <a:r>
              <a:rPr lang="az-Latn-AZ" altLang="en-US" sz="1300">
                <a:latin typeface="Arial" panose="020B0604020202020204" pitchFamily="34" charset="0"/>
              </a:rPr>
              <a:t> yaratmaq üçün lazım gələn addımlar növbəti slaydlarda qeyd edilmişdir.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https://github.com/settings/applications/new</a:t>
            </a:r>
            <a:endParaRPr lang="az-Latn-AZ" altLang="en-US" sz="1300" u="sng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səhifə vasitəsilə </a:t>
            </a:r>
            <a:r>
              <a:rPr lang="en-US" altLang="en-US" sz="1300" b="1">
                <a:latin typeface="Arial" panose="020B0604020202020204" pitchFamily="34" charset="0"/>
              </a:rPr>
              <a:t>GitHub OAuth API </a:t>
            </a:r>
            <a:r>
              <a:rPr lang="en-US" altLang="en-US" sz="1300">
                <a:latin typeface="Arial" panose="020B0604020202020204" pitchFamily="34" charset="0"/>
              </a:rPr>
              <a:t>sisteminə öz tətbiqimizi tanıdırıq.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019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DD41EE-41CD-0EF4-6D86-F0EED2628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104"/>
            <a:ext cx="12192000" cy="632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7A6A-0D9D-7F39-2F3F-928F0168C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7B1162-71D2-BD9A-C429-28AB8A11C52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962541-1A71-FC17-F8C1-3A6F47928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6034"/>
            <a:ext cx="12192000" cy="454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8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69FD6-3514-A87F-13A3-5CC620762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83DC57-FB7B-1D72-1E74-BDBC0D24B0F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86E22D-A036-0F9E-5228-FEA22A40C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598752"/>
            <a:ext cx="12192000" cy="325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95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7AF5D-A2DF-287A-7F81-4E26F28AA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6FB30-6714-862F-59B5-96DE1A454D2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C4D54B-DB71-48F4-FC2D-804E45418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020601"/>
            <a:ext cx="12192000" cy="383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2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9B07-FF63-12D0-B381-0D11523D0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346F48-FF61-CD45-C08C-A9541416BC96}"/>
              </a:ext>
            </a:extLst>
          </p:cNvPr>
          <p:cNvSpPr txBox="1"/>
          <p:nvPr/>
        </p:nvSpPr>
        <p:spPr>
          <a:xfrm>
            <a:off x="217714" y="255046"/>
            <a:ext cx="1405813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Buradakı sahələrin izahı növbəti slaydda qeyd edilmişdir.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CEEF0-CC2E-52E7-8431-F032ECE9B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55" y="290550"/>
            <a:ext cx="10437845" cy="65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8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D916B1-DE9C-FD0E-54C3-3FEBEE4E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892502"/>
              </p:ext>
            </p:extLst>
          </p:nvPr>
        </p:nvGraphicFramePr>
        <p:xfrm>
          <a:off x="217713" y="1022962"/>
          <a:ext cx="11688147" cy="4220843"/>
        </p:xfrm>
        <a:graphic>
          <a:graphicData uri="http://schemas.openxmlformats.org/drawingml/2006/table">
            <a:tbl>
              <a:tblPr/>
              <a:tblGrid>
                <a:gridCol w="2936034">
                  <a:extLst>
                    <a:ext uri="{9D8B030D-6E8A-4147-A177-3AD203B41FA5}">
                      <a16:colId xmlns:a16="http://schemas.microsoft.com/office/drawing/2014/main" val="916637576"/>
                    </a:ext>
                  </a:extLst>
                </a:gridCol>
                <a:gridCol w="8752113">
                  <a:extLst>
                    <a:ext uri="{9D8B030D-6E8A-4147-A177-3AD203B41FA5}">
                      <a16:colId xmlns:a16="http://schemas.microsoft.com/office/drawing/2014/main" val="248883337"/>
                    </a:ext>
                  </a:extLst>
                </a:gridCol>
              </a:tblGrid>
              <a:tr h="767426">
                <a:tc>
                  <a:txBody>
                    <a:bodyPr/>
                    <a:lstStyle/>
                    <a:p>
                      <a:r>
                        <a:rPr lang="en-US" b="1"/>
                        <a:t>Sahə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24570"/>
                  </a:ext>
                </a:extLst>
              </a:tr>
              <a:tr h="767426">
                <a:tc>
                  <a:txBody>
                    <a:bodyPr/>
                    <a:lstStyle/>
                    <a:p>
                      <a:r>
                        <a:rPr lang="en-US" b="1"/>
                        <a:t>Application name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Tətbiqin adıdır. İstənilən ad ola bilər. (Məs: </a:t>
                      </a:r>
                      <a:r>
                        <a:rPr lang="en-US" b="1">
                          <a:solidFill>
                            <a:srgbClr val="00B0F0"/>
                          </a:solidFill>
                        </a:rPr>
                        <a:t>laravel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9220"/>
                  </a:ext>
                </a:extLst>
              </a:tr>
              <a:tr h="767426">
                <a:tc>
                  <a:txBody>
                    <a:bodyPr/>
                    <a:lstStyle/>
                    <a:p>
                      <a:r>
                        <a:rPr lang="en-US" b="1"/>
                        <a:t>Homepage URL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Sənin </a:t>
                      </a:r>
                      <a:r>
                        <a:rPr lang="en-US" b="1"/>
                        <a:t>lokal</a:t>
                      </a:r>
                      <a:r>
                        <a:rPr lang="en-US"/>
                        <a:t> və ya </a:t>
                      </a:r>
                      <a:r>
                        <a:rPr lang="en-US" b="1"/>
                        <a:t>canlı</a:t>
                      </a:r>
                      <a:r>
                        <a:rPr lang="en-US"/>
                        <a:t> saytının əsas URL-</a:t>
                      </a:r>
                      <a:r>
                        <a:rPr lang="az-Latn-AZ"/>
                        <a:t>s</a:t>
                      </a:r>
                      <a:r>
                        <a:rPr lang="en-US"/>
                        <a:t>i. Məs: </a:t>
                      </a:r>
                      <a:r>
                        <a:rPr lang="en-US" b="1">
                          <a:solidFill>
                            <a:srgbClr val="00B0F0"/>
                          </a:solidFill>
                        </a:rPr>
                        <a:t>http://vendor-e-commerce.test/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710839"/>
                  </a:ext>
                </a:extLst>
              </a:tr>
              <a:tr h="1918565">
                <a:tc>
                  <a:txBody>
                    <a:bodyPr/>
                    <a:lstStyle/>
                    <a:p>
                      <a:r>
                        <a:rPr lang="en-US" b="1"/>
                        <a:t>Authorization callback URL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GitHub istifadəçini uğurla </a:t>
                      </a:r>
                      <a:r>
                        <a:rPr lang="en-US" b="1"/>
                        <a:t>login</a:t>
                      </a:r>
                      <a:r>
                        <a:rPr lang="en-US"/>
                        <a:t> etdikdən sonra hara geri yönləndirəcəyini göstərir. Laravel kodlarımızda bu </a:t>
                      </a:r>
                      <a:r>
                        <a:rPr lang="en-US" b="1"/>
                        <a:t>URL</a:t>
                      </a:r>
                      <a:r>
                        <a:rPr lang="en-US"/>
                        <a:t> vasitəsilə istifadəçi məlumatını alırıq. </a:t>
                      </a:r>
                      <a:endParaRPr lang="az-Latn-AZ"/>
                    </a:p>
                    <a:p>
                      <a:endParaRPr lang="az-Latn-AZ"/>
                    </a:p>
                    <a:p>
                      <a:r>
                        <a:rPr lang="en-US"/>
                        <a:t>Məs: </a:t>
                      </a:r>
                      <a:r>
                        <a:rPr lang="en-US" u="sng">
                          <a:solidFill>
                            <a:srgbClr val="00B0F0"/>
                          </a:solidFill>
                        </a:rPr>
                        <a:t>http://vendor-e-commerce.test/auth/callback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01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2BFA3-22BB-78F4-7CEE-00EA3BA3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D35BCB-3AAB-9844-8885-6CDE8E6174F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10cu</a:t>
            </a:r>
            <a:r>
              <a:rPr lang="en-US" altLang="en-US" sz="1300">
                <a:latin typeface="Arial" panose="020B0604020202020204" pitchFamily="34" charset="0"/>
              </a:rPr>
              <a:t> slayddan son</a:t>
            </a:r>
            <a:r>
              <a:rPr lang="az-Latn-AZ" altLang="en-US" sz="1300">
                <a:latin typeface="Arial" panose="020B0604020202020204" pitchFamily="34" charset="0"/>
              </a:rPr>
              <a:t>r</a:t>
            </a:r>
            <a:r>
              <a:rPr lang="en-US" altLang="en-US" sz="1300">
                <a:latin typeface="Arial" panose="020B0604020202020204" pitchFamily="34" charset="0"/>
              </a:rPr>
              <a:t>a</a:t>
            </a:r>
            <a:r>
              <a:rPr lang="az-Latn-AZ" altLang="en-US" sz="1300">
                <a:latin typeface="Arial" panose="020B0604020202020204" pitchFamily="34" charset="0"/>
              </a:rPr>
              <a:t>, axıra</a:t>
            </a:r>
            <a:r>
              <a:rPr lang="en-US" altLang="en-US" sz="1300">
                <a:latin typeface="Arial" panose="020B0604020202020204" pitchFamily="34" charset="0"/>
              </a:rPr>
              <a:t> q</a:t>
            </a:r>
            <a:r>
              <a:rPr lang="az-Latn-AZ" altLang="en-US" sz="1300">
                <a:latin typeface="Arial" panose="020B0604020202020204" pitchFamily="34" charset="0"/>
              </a:rPr>
              <a:t>ədər bütün addımları tamamladıqda, sistemə giriş edə biləcəyik.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2DEF32-0873-76DD-30D2-2D07EF68A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351" y="1750297"/>
            <a:ext cx="8823649" cy="51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91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A69E-718A-4A5D-5C3A-37A73CEE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E48317-BDB1-869A-6067-963902F9AA5B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3) composer require laravel/socialite – nə üçündür?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altLang="en-US" sz="1300">
                <a:latin typeface="Arial" panose="020B0604020202020204" pitchFamily="34" charset="0"/>
              </a:rPr>
              <a:t>Bu əmr Laravel Socialite paketini layihəyə əlavə edir: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Bu, Laravelin orijinal </a:t>
            </a:r>
            <a:r>
              <a:rPr lang="en-US" altLang="en-US" sz="1300" b="1">
                <a:latin typeface="Arial" panose="020B0604020202020204" pitchFamily="34" charset="0"/>
              </a:rPr>
              <a:t>Socialite</a:t>
            </a:r>
            <a:r>
              <a:rPr lang="en-US" altLang="en-US" sz="1300">
                <a:latin typeface="Arial" panose="020B0604020202020204" pitchFamily="34" charset="0"/>
              </a:rPr>
              <a:t> paketidir və </a:t>
            </a:r>
            <a:r>
              <a:rPr lang="en-US" altLang="en-US" sz="1300" b="1">
                <a:latin typeface="Arial" panose="020B0604020202020204" pitchFamily="34" charset="0"/>
              </a:rPr>
              <a:t>OAuth</a:t>
            </a:r>
            <a:r>
              <a:rPr lang="en-US" altLang="en-US" sz="1300">
                <a:latin typeface="Arial" panose="020B0604020202020204" pitchFamily="34" charset="0"/>
              </a:rPr>
              <a:t> girişləri (GitHub, Google və s.) ilə 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işləməyi asanlaşdırır.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1F389A-42A7-0CA9-1E4F-8FDCB141C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729" y="0"/>
            <a:ext cx="5344271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73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6132025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4) login.blade.php faylında &lt;a&gt; tagı nə üçün istifadə edilir? 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E13A1-9652-1A7F-DDDA-8B74B4EBB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6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6F274-8C7E-9299-9000-E380C420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A5EB79-E0E7-EC21-BD95-846C5B346460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link aşağıdakı </a:t>
            </a:r>
            <a:r>
              <a:rPr lang="en-US" altLang="en-US" sz="1300" b="1">
                <a:latin typeface="Arial" panose="020B0604020202020204" pitchFamily="34" charset="0"/>
              </a:rPr>
              <a:t>route</a:t>
            </a:r>
            <a:r>
              <a:rPr lang="en-US" altLang="en-US" sz="1300">
                <a:latin typeface="Arial" panose="020B0604020202020204" pitchFamily="34" charset="0"/>
              </a:rPr>
              <a:t>-u işə salır: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Məqsədi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Bu linkə klik edəndə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github.login </a:t>
            </a:r>
            <a:r>
              <a:rPr lang="en-US" altLang="en-US" sz="1300">
                <a:latin typeface="Arial" panose="020B0604020202020204" pitchFamily="34" charset="0"/>
              </a:rPr>
              <a:t>adlı route-a</a:t>
            </a:r>
            <a:r>
              <a:rPr lang="az-Latn-AZ" altLang="en-US" sz="1300">
                <a:latin typeface="Arial" panose="020B0604020202020204" pitchFamily="34" charset="0"/>
              </a:rPr>
              <a:t> ( </a:t>
            </a:r>
            <a:r>
              <a:rPr lang="az-Latn-AZ" altLang="en-US" sz="1300" b="1">
                <a:latin typeface="Arial" panose="020B0604020202020204" pitchFamily="34" charset="0"/>
              </a:rPr>
              <a:t>routes/web.php </a:t>
            </a:r>
            <a:r>
              <a:rPr lang="az-Latn-AZ" altLang="en-US" sz="1300">
                <a:latin typeface="Arial" panose="020B0604020202020204" pitchFamily="34" charset="0"/>
              </a:rPr>
              <a:t>faylındadır həmin kod. Növbəti slayd... )</a:t>
            </a:r>
            <a:r>
              <a:rPr lang="en-US" altLang="en-US" sz="1300">
                <a:latin typeface="Arial" panose="020B0604020202020204" pitchFamily="34" charset="0"/>
              </a:rPr>
              <a:t> gedilir (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/auth/redirect </a:t>
            </a:r>
            <a:r>
              <a:rPr lang="en-US" altLang="en-US" sz="1300">
                <a:latin typeface="Arial" panose="020B0604020202020204" pitchFamily="34" charset="0"/>
              </a:rPr>
              <a:t>ünvanına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). Bu route isə istifadəçini </a:t>
            </a:r>
            <a:r>
              <a:rPr lang="en-US" altLang="en-US" sz="1300" b="1">
                <a:latin typeface="Arial" panose="020B0604020202020204" pitchFamily="34" charset="0"/>
              </a:rPr>
              <a:t>GitHub login </a:t>
            </a:r>
            <a:r>
              <a:rPr lang="en-US" altLang="en-US" sz="1300">
                <a:latin typeface="Arial" panose="020B0604020202020204" pitchFamily="34" charset="0"/>
              </a:rPr>
              <a:t>səhifəsinə yönləndirir.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Yəni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İstifadəçi bu düyməyə klik edir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Socialite::driver('github')-&gt;redirect() </a:t>
            </a:r>
            <a:r>
              <a:rPr lang="en-US" altLang="en-US" sz="1300">
                <a:latin typeface="Arial" panose="020B0604020202020204" pitchFamily="34" charset="0"/>
              </a:rPr>
              <a:t>işə düşür</a:t>
            </a:r>
            <a:r>
              <a:rPr lang="az-Latn-AZ" altLang="en-US" sz="1300">
                <a:latin typeface="Arial" panose="020B0604020202020204" pitchFamily="34" charset="0"/>
              </a:rPr>
              <a:t>. ( </a:t>
            </a:r>
            <a:r>
              <a:rPr lang="az-Latn-AZ" altLang="en-US" sz="1300" b="1">
                <a:latin typeface="Arial" panose="020B0604020202020204" pitchFamily="34" charset="0"/>
              </a:rPr>
              <a:t>routes/web.php </a:t>
            </a:r>
            <a:r>
              <a:rPr lang="az-Latn-AZ" altLang="en-US" sz="1300">
                <a:latin typeface="Arial" panose="020B0604020202020204" pitchFamily="34" charset="0"/>
              </a:rPr>
              <a:t>faylındadır həmin kod. Növbəti slayd... )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İstifadəçi </a:t>
            </a:r>
            <a:r>
              <a:rPr lang="en-US" altLang="en-US" sz="1300" b="1">
                <a:latin typeface="Arial" panose="020B0604020202020204" pitchFamily="34" charset="0"/>
              </a:rPr>
              <a:t>GitHub login </a:t>
            </a:r>
            <a:r>
              <a:rPr lang="en-US" altLang="en-US" sz="1300">
                <a:latin typeface="Arial" panose="020B0604020202020204" pitchFamily="34" charset="0"/>
              </a:rPr>
              <a:t>səhifəsinə yönləndirilir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düymə istifadəçini </a:t>
            </a:r>
            <a:r>
              <a:rPr lang="en-US" altLang="en-US" sz="1300" b="1">
                <a:latin typeface="Arial" panose="020B0604020202020204" pitchFamily="34" charset="0"/>
              </a:rPr>
              <a:t>GitHub</a:t>
            </a:r>
            <a:r>
              <a:rPr lang="en-US" altLang="en-US" sz="1300">
                <a:latin typeface="Arial" panose="020B0604020202020204" pitchFamily="34" charset="0"/>
              </a:rPr>
              <a:t> ilə girişə başlatmaq üçün istifadə olunur.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34E39D-BDEE-148D-4D98-05F7F9C7F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43023"/>
            <a:ext cx="4258269" cy="333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774720-D8C1-9A42-0225-A4E2A836E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732979"/>
            <a:ext cx="6096000" cy="231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080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73C79-5C2C-D01E-1841-7AAFA921C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F450D0-FF50-5D6A-D6AE-DC79BAE81A3B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5) routes/web.php faylındakı route-ların izahı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a</a:t>
            </a:r>
            <a:r>
              <a:rPr lang="az-Latn-AZ" altLang="en-US" sz="1300">
                <a:latin typeface="Arial" panose="020B0604020202020204" pitchFamily="34" charset="0"/>
              </a:rPr>
              <a:t>. Route: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/auth/redirect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route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istifadəçini </a:t>
            </a:r>
            <a:r>
              <a:rPr lang="en-US" altLang="en-US" sz="1300" b="1">
                <a:latin typeface="Arial" panose="020B0604020202020204" pitchFamily="34" charset="0"/>
              </a:rPr>
              <a:t>GitHub</a:t>
            </a:r>
            <a:r>
              <a:rPr lang="en-US" altLang="en-US" sz="1300">
                <a:latin typeface="Arial" panose="020B0604020202020204" pitchFamily="34" charset="0"/>
              </a:rPr>
              <a:t>-a yönləndirir.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Socialite::driver('github') </a:t>
            </a:r>
            <a:r>
              <a:rPr lang="en-US" altLang="en-US" sz="1300">
                <a:latin typeface="Arial" panose="020B0604020202020204" pitchFamily="34" charset="0"/>
              </a:rPr>
              <a:t>→ GitHub login </a:t>
            </a:r>
            <a:r>
              <a:rPr lang="en-US" altLang="en-US" sz="1300" b="1">
                <a:latin typeface="Arial" panose="020B0604020202020204" pitchFamily="34" charset="0"/>
              </a:rPr>
              <a:t>xidmətinə</a:t>
            </a:r>
            <a:r>
              <a:rPr lang="en-US" altLang="en-US" sz="1300">
                <a:latin typeface="Arial" panose="020B0604020202020204" pitchFamily="34" charset="0"/>
              </a:rPr>
              <a:t> qoşulur.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redirect() </a:t>
            </a:r>
            <a:r>
              <a:rPr lang="en-US" altLang="en-US" sz="1300">
                <a:latin typeface="Arial" panose="020B0604020202020204" pitchFamily="34" charset="0"/>
              </a:rPr>
              <a:t>→ İstifadəçini GitHub login </a:t>
            </a:r>
            <a:r>
              <a:rPr lang="en-US" altLang="en-US" sz="1300" b="1">
                <a:latin typeface="Arial" panose="020B0604020202020204" pitchFamily="34" charset="0"/>
              </a:rPr>
              <a:t>səhifəsinə</a:t>
            </a:r>
            <a:r>
              <a:rPr lang="en-US" altLang="en-US" sz="1300">
                <a:latin typeface="Arial" panose="020B0604020202020204" pitchFamily="34" charset="0"/>
              </a:rPr>
              <a:t> göndərir.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F8C7E-84B1-92D2-7842-F5F5CAABE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2813"/>
            <a:ext cx="3982006" cy="857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B8E4CF-3760-57AF-1489-F99BD84DD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6096000" cy="231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0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A6D63-4E05-0A93-98C8-6DE0E607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158B6D-30CE-45E5-21E8-32F0090550E4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b</a:t>
            </a:r>
            <a:r>
              <a:rPr lang="en-US" altLang="en-US" sz="1300">
                <a:latin typeface="Arial" panose="020B0604020202020204" pitchFamily="34" charset="0"/>
              </a:rPr>
              <a:t>. Route: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/auth/callback</a:t>
            </a:r>
            <a:endParaRPr lang="az-Latn-AZ" altLang="en-US" sz="1300" b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GitHub login</a:t>
            </a:r>
            <a:r>
              <a:rPr lang="en-US" altLang="en-US" sz="1300">
                <a:latin typeface="Arial" panose="020B0604020202020204" pitchFamily="34" charset="0"/>
              </a:rPr>
              <a:t>-dən sonra bu </a:t>
            </a:r>
            <a:r>
              <a:rPr lang="en-US" altLang="en-US" sz="1300" b="1">
                <a:latin typeface="Arial" panose="020B0604020202020204" pitchFamily="34" charset="0"/>
              </a:rPr>
              <a:t>route</a:t>
            </a:r>
            <a:r>
              <a:rPr lang="en-US" altLang="en-US" sz="1300">
                <a:latin typeface="Arial" panose="020B0604020202020204" pitchFamily="34" charset="0"/>
              </a:rPr>
              <a:t> işə düşür.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user() </a:t>
            </a:r>
            <a:r>
              <a:rPr lang="en-US" altLang="en-US" sz="1300">
                <a:latin typeface="Arial" panose="020B0604020202020204" pitchFamily="34" charset="0"/>
              </a:rPr>
              <a:t>metodu ilə </a:t>
            </a:r>
            <a:r>
              <a:rPr lang="en-US" altLang="en-US" sz="1300" b="1">
                <a:latin typeface="Arial" panose="020B0604020202020204" pitchFamily="34" charset="0"/>
              </a:rPr>
              <a:t>GitHub</a:t>
            </a:r>
            <a:r>
              <a:rPr lang="en-US" altLang="en-US" sz="1300">
                <a:latin typeface="Arial" panose="020B0604020202020204" pitchFamily="34" charset="0"/>
              </a:rPr>
              <a:t> istifadəçi məlumatları alınır: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Ad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Email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ID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Access token və s.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 b="1">
                <a:latin typeface="Arial" panose="020B0604020202020204" pitchFamily="34" charset="0"/>
              </a:rPr>
              <a:t>dd( </a:t>
            </a:r>
            <a:r>
              <a:rPr lang="en-US" altLang="en-US" sz="1300" b="1">
                <a:latin typeface="Arial" panose="020B0604020202020204" pitchFamily="34" charset="0"/>
              </a:rPr>
              <a:t>$user </a:t>
            </a:r>
            <a:r>
              <a:rPr lang="az-Latn-AZ" altLang="en-US" sz="1300" b="1">
                <a:latin typeface="Arial" panose="020B0604020202020204" pitchFamily="34" charset="0"/>
              </a:rPr>
              <a:t>)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vasitəsilə biz bu məlumatları ekranda görə bilərik (test məqsədli).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3A45BE-5612-677B-D172-17AFD062B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954"/>
          <a:stretch>
            <a:fillRect/>
          </a:stretch>
        </p:blipFill>
        <p:spPr>
          <a:xfrm>
            <a:off x="0" y="2409319"/>
            <a:ext cx="4419601" cy="8952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69C7E3-8D13-45AA-F6E7-4D32F1B37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4650"/>
            <a:ext cx="4486901" cy="943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4E1A13-330B-5E04-F63C-65D47ECF6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419" y="4441371"/>
            <a:ext cx="3525174" cy="241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368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6EF38-0FC5-CFA2-B83A-9F3B52149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EE1135-6493-680D-E6D7-9D63EFA2363B}"/>
              </a:ext>
            </a:extLst>
          </p:cNvPr>
          <p:cNvSpPr txBox="1"/>
          <p:nvPr/>
        </p:nvSpPr>
        <p:spPr>
          <a:xfrm>
            <a:off x="217714" y="255046"/>
            <a:ext cx="11756571" cy="5556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6) .env faylındakı dəyişənlərin izahı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dəyişənlər nə üçün vacibdir?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GITHUB_CLIENT_ID</a:t>
            </a:r>
            <a:r>
              <a:rPr lang="en-US" altLang="en-US" sz="1300">
                <a:latin typeface="Arial" panose="020B0604020202020204" pitchFamily="34" charset="0"/>
              </a:rPr>
              <a:t>: GitHub-un OAuth tətbiqi üçün verdiyi unikal ID.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GITHUB_CLIENT_SECRET</a:t>
            </a:r>
            <a:r>
              <a:rPr lang="en-US" altLang="en-US" sz="1300">
                <a:latin typeface="Arial" panose="020B0604020202020204" pitchFamily="34" charset="0"/>
              </a:rPr>
              <a:t>: GitHub-un verdiyi gizli açar (şifrəli kimlik).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GITHUB_REDIRECT_URL</a:t>
            </a:r>
            <a:r>
              <a:rPr lang="en-US" altLang="en-US" sz="1300">
                <a:latin typeface="Arial" panose="020B0604020202020204" pitchFamily="34" charset="0"/>
              </a:rPr>
              <a:t>: İstifadəçi GitHub-da daxil olduqdan sonra bu URL-ə geri yönləndiriləcək.</a:t>
            </a:r>
            <a:r>
              <a:rPr lang="az-Latn-AZ" altLang="en-US" sz="1300">
                <a:latin typeface="Arial" panose="020B0604020202020204" pitchFamily="34" charset="0"/>
              </a:rPr>
              <a:t> Bu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vasitəsi ilə əgər istifadəçi </a:t>
            </a:r>
            <a:r>
              <a:rPr lang="az-Latn-AZ" altLang="en-US" sz="1300" b="1">
                <a:latin typeface="Arial" panose="020B0604020202020204" pitchFamily="34" charset="0"/>
              </a:rPr>
              <a:t>login</a:t>
            </a:r>
            <a:r>
              <a:rPr lang="az-Latn-AZ" altLang="en-US" sz="1300">
                <a:latin typeface="Arial" panose="020B0604020202020204" pitchFamily="34" charset="0"/>
              </a:rPr>
              <a:t> oldusa, o zaman həmin istifadəçinin məlumatlarını əldə edərək onu sistemə qeyd edə bilirik.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dəyişənlər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config/services.php </a:t>
            </a:r>
            <a:r>
              <a:rPr lang="en-US" altLang="en-US" sz="1300">
                <a:latin typeface="Arial" panose="020B0604020202020204" pitchFamily="34" charset="0"/>
              </a:rPr>
              <a:t>faylı vasitəsilə sistemə inteqrasiya olunur.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E70F6-98DC-1791-FEE2-F252E5505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2846"/>
            <a:ext cx="6677957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68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29051-1FCD-343B-A565-7B87B242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8018D7-23B0-A54E-E2DC-4117F9491AB9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7) config/services.php faylının izahı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Burada </a:t>
            </a:r>
            <a:r>
              <a:rPr lang="en-US" altLang="en-US" sz="1300" b="1">
                <a:latin typeface="Arial" panose="020B0604020202020204" pitchFamily="34" charset="0"/>
              </a:rPr>
              <a:t>env() </a:t>
            </a:r>
            <a:r>
              <a:rPr lang="en-US" altLang="en-US" sz="1300">
                <a:latin typeface="Arial" panose="020B0604020202020204" pitchFamily="34" charset="0"/>
              </a:rPr>
              <a:t>funksiyası ilə </a:t>
            </a:r>
            <a:r>
              <a:rPr lang="en-US" altLang="en-US" sz="1300" b="1">
                <a:latin typeface="Arial" panose="020B0604020202020204" pitchFamily="34" charset="0"/>
              </a:rPr>
              <a:t>.env </a:t>
            </a:r>
            <a:r>
              <a:rPr lang="en-US" altLang="en-US" sz="1300">
                <a:latin typeface="Arial" panose="020B0604020202020204" pitchFamily="34" charset="0"/>
              </a:rPr>
              <a:t>faylındakı dəyərlər oxunur.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konfiqurasiya </a:t>
            </a:r>
            <a:r>
              <a:rPr lang="en-US" altLang="en-US" sz="1300" b="1">
                <a:latin typeface="Arial" panose="020B0604020202020204" pitchFamily="34" charset="0"/>
              </a:rPr>
              <a:t>Socialite</a:t>
            </a:r>
            <a:r>
              <a:rPr lang="en-US" altLang="en-US" sz="1300">
                <a:latin typeface="Arial" panose="020B0604020202020204" pitchFamily="34" charset="0"/>
              </a:rPr>
              <a:t>-in </a:t>
            </a:r>
            <a:r>
              <a:rPr lang="en-US" altLang="en-US" sz="1300" b="1">
                <a:latin typeface="Arial" panose="020B0604020202020204" pitchFamily="34" charset="0"/>
              </a:rPr>
              <a:t>GitHub API</a:t>
            </a:r>
            <a:r>
              <a:rPr lang="en-US" altLang="en-US" sz="1300">
                <a:latin typeface="Arial" panose="020B0604020202020204" pitchFamily="34" charset="0"/>
              </a:rPr>
              <a:t>-lə işləyə bilməsi üçün lazımdır.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Yəni </a:t>
            </a:r>
            <a:r>
              <a:rPr lang="en-US" altLang="en-US" sz="1300" b="1">
                <a:latin typeface="Arial" panose="020B0604020202020204" pitchFamily="34" charset="0"/>
              </a:rPr>
              <a:t>Socialite::driver('github') </a:t>
            </a:r>
            <a:r>
              <a:rPr lang="en-US" altLang="en-US" sz="1300">
                <a:latin typeface="Arial" panose="020B0604020202020204" pitchFamily="34" charset="0"/>
              </a:rPr>
              <a:t>bu konfiqurasiyaya əsasən </a:t>
            </a:r>
            <a:r>
              <a:rPr lang="en-US" altLang="en-US" sz="1300" b="1">
                <a:latin typeface="Arial" panose="020B0604020202020204" pitchFamily="34" charset="0"/>
              </a:rPr>
              <a:t>GitHub</a:t>
            </a:r>
            <a:r>
              <a:rPr lang="en-US" altLang="en-US" sz="1300">
                <a:latin typeface="Arial" panose="020B0604020202020204" pitchFamily="34" charset="0"/>
              </a:rPr>
              <a:t> ilə əlaqə yaradır.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FDAC19-92DD-AD82-5737-630AF4AF2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3546"/>
            <a:ext cx="4363059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722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F6C20-A376-1602-D65D-EC929C88C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FDC58D-7832-35B8-DB14-0A5E2AB16CA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LOGİN oluruq.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18EAB-B2D3-A1D2-5931-6C33FB034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0053"/>
            <a:ext cx="12192000" cy="517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96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A5B6D-DE9D-CBA0-A62E-572AB026A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AE4DA5-97A6-FD62-AE58-F55ED9B7E14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Sistemə giriş edildi və </a:t>
            </a:r>
            <a:r>
              <a:rPr lang="az-Latn-AZ" altLang="en-US" sz="1300" b="1">
                <a:latin typeface="Arial" panose="020B0604020202020204" pitchFamily="34" charset="0"/>
              </a:rPr>
              <a:t>GİTHUB</a:t>
            </a:r>
            <a:r>
              <a:rPr lang="az-Latn-AZ" altLang="en-US" sz="1300">
                <a:latin typeface="Arial" panose="020B0604020202020204" pitchFamily="34" charset="0"/>
              </a:rPr>
              <a:t> adı əks olunur.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8F5384-F8EE-5A92-009F-492FC1E7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63842"/>
            <a:ext cx="12192000" cy="309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1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DA990-654B-66D6-95B6-16C4751AE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172CDA-829C-C099-EBD7-9EB1D61F8B5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Datalar</a:t>
            </a:r>
            <a:r>
              <a:rPr lang="az-Latn-AZ" altLang="en-US" sz="1300">
                <a:latin typeface="Arial" panose="020B0604020202020204" pitchFamily="34" charset="0"/>
              </a:rPr>
              <a:t> cədvələ yazıldı.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E47B97-66E9-7AE1-549D-D86B7EA09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6191"/>
            <a:ext cx="12192000" cy="280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650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109E4-F35F-590B-021F-2BE264F1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8C0A38-A64D-8FDB-4BB0-664CD09BA94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0948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8EE1C-3096-705D-E6B4-441F684DB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6B5A33-E6DE-3D38-B685-584E50940A6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9245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EA712-69DF-F929-829A-71B32BC40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C82D46-CE17-E577-103C-F0D98752C06B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Mən indi </a:t>
            </a:r>
            <a:r>
              <a:rPr lang="en-US" altLang="en-US" sz="1300" b="1">
                <a:latin typeface="Arial" panose="020B0604020202020204" pitchFamily="34" charset="0"/>
              </a:rPr>
              <a:t>codeurient@gmail.com </a:t>
            </a:r>
            <a:r>
              <a:rPr lang="en-US" altLang="en-US" sz="1300">
                <a:latin typeface="Arial" panose="020B0604020202020204" pitchFamily="34" charset="0"/>
              </a:rPr>
              <a:t>github hesabı ilə giriş etdim</a:t>
            </a:r>
            <a:r>
              <a:rPr lang="az-Latn-AZ" altLang="en-US" sz="1300">
                <a:latin typeface="Arial" panose="020B0604020202020204" pitchFamily="34" charset="0"/>
              </a:rPr>
              <a:t> (</a:t>
            </a:r>
            <a:r>
              <a:rPr lang="az-Latn-AZ" altLang="en-US" sz="1300" b="1">
                <a:latin typeface="Arial" panose="020B0604020202020204" pitchFamily="34" charset="0"/>
              </a:rPr>
              <a:t>development mühitdə</a:t>
            </a:r>
            <a:r>
              <a:rPr lang="az-Latn-AZ" altLang="en-US" sz="1300">
                <a:latin typeface="Arial" panose="020B0604020202020204" pitchFamily="34" charset="0"/>
              </a:rPr>
              <a:t>)</a:t>
            </a:r>
            <a:r>
              <a:rPr lang="en-US" altLang="en-US" sz="1300">
                <a:latin typeface="Arial" panose="020B0604020202020204" pitchFamily="34" charset="0"/>
              </a:rPr>
              <a:t> bəs bu proyekt serverə yerləşdirildikdən</a:t>
            </a:r>
            <a:r>
              <a:rPr lang="az-Latn-AZ" altLang="en-US" sz="1300">
                <a:latin typeface="Arial" panose="020B0604020202020204" pitchFamily="34" charset="0"/>
              </a:rPr>
              <a:t> (</a:t>
            </a:r>
            <a:r>
              <a:rPr lang="az-Latn-AZ" altLang="en-US" sz="1300" b="1">
                <a:latin typeface="Arial" panose="020B0604020202020204" pitchFamily="34" charset="0"/>
              </a:rPr>
              <a:t>production mühitdə</a:t>
            </a:r>
            <a:r>
              <a:rPr lang="az-Latn-AZ" altLang="en-US" sz="1300">
                <a:latin typeface="Arial" panose="020B0604020202020204" pitchFamily="34" charset="0"/>
              </a:rPr>
              <a:t>)</a:t>
            </a:r>
            <a:r>
              <a:rPr lang="en-US" altLang="en-US" sz="1300">
                <a:latin typeface="Arial" panose="020B0604020202020204" pitchFamily="34" charset="0"/>
              </a:rPr>
              <a:t> sonra digər şəxslərdə öz github hesabları ilə giriş etmək istəsələr onda necə olacaq ? </a:t>
            </a:r>
            <a:r>
              <a:rPr lang="az-Latn-AZ" altLang="en-US" sz="1300">
                <a:latin typeface="Arial" panose="020B0604020202020204" pitchFamily="34" charset="0"/>
              </a:rPr>
              <a:t>Ç</a:t>
            </a:r>
            <a:r>
              <a:rPr lang="en-US" altLang="en-US" sz="1300">
                <a:latin typeface="Arial" panose="020B0604020202020204" pitchFamily="34" charset="0"/>
              </a:rPr>
              <a:t>ünki mən öz GİTHUB hesabımın apisini yazdım. F</a:t>
            </a:r>
            <a:r>
              <a:rPr lang="az-Latn-AZ" altLang="en-US" sz="1300">
                <a:latin typeface="Arial" panose="020B0604020202020204" pitchFamily="34" charset="0"/>
              </a:rPr>
              <a:t>ə</a:t>
            </a:r>
            <a:r>
              <a:rPr lang="en-US" altLang="en-US" sz="1300">
                <a:latin typeface="Arial" panose="020B0604020202020204" pitchFamily="34" charset="0"/>
              </a:rPr>
              <a:t>rqli tanımadığım istifadəçilərin apilərini götürə bilmərəm ki.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Production və local (development) mühitlərdə fərqli GitHub OAuth tətbiqləri (Client ID və Secret) istifadə etmək və sistemin APP_ENV-ə əsaslanaraq avtomatik doğru konfiqurasiyanı seçməsini təmin etmək</a:t>
            </a:r>
            <a:r>
              <a:rPr lang="az-Latn-AZ" altLang="en-US" sz="1300">
                <a:latin typeface="Arial" panose="020B0604020202020204" pitchFamily="34" charset="0"/>
              </a:rPr>
              <a:t> lazımdır.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Növbəti slaydda yazılanlar bizə hələki lazım deyildir.....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363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55DBA-78E2-E136-5188-DA702A8A6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1ABD82-08AD-BAC9-D82E-40EA8061A18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4B763-AD94-1952-8770-728AECE8D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659" y="0"/>
            <a:ext cx="6614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62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43ABC-3B29-4FD6-DE20-FCB397B5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E1B6F7-9544-B948-9BA6-F4726A9BE1F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F77C2-63A9-1ECC-6EAD-AC893B73B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68" y="361522"/>
            <a:ext cx="7078063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95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C4DB-B457-355D-AC51-C0745DDB1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095E88-C99E-543B-D47E-8616F030237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CE57D-0890-6C07-7D38-61D533EFB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047" y="0"/>
            <a:ext cx="6893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1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D043-8ABF-8F5D-9B2F-7311EF98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32E848-D0E6-3530-93DB-5232FC19C42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992066-8EF9-47AF-81C7-2F1881984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520" y="1137918"/>
            <a:ext cx="7944959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14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A6E13-E31C-BAF6-DF92-58885933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1F01DC-B223-A45B-92FD-A7F554F566F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962C41-BE3F-94CE-52D3-CB56F548D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6" y="494890"/>
            <a:ext cx="7144747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00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71E86-A04D-3B96-94A3-1FEBEFA89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AE0046-5C2D-0299-BFD5-535AB9316A0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97588-0E33-10A2-F57D-EC634BCEE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784" y="137653"/>
            <a:ext cx="7392432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99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AE259-5F5B-B8C4-C9FF-BBCD06A8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4C054F-EEA9-2DFD-30F1-F748B5D1B58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EA598-6C64-C637-67D7-EFA0E3A44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073" y="771154"/>
            <a:ext cx="7725853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7886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8945-D57F-52B6-029C-E6AC27556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50C506-FAED-65C6-341A-6844113D4C6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29A9ED-3D7F-B271-B948-2618FA5D1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178" y="861654"/>
            <a:ext cx="7649643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26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7F6DE-F667-3CDE-DE48-BFA75970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DBE6D8-F077-EF6B-3EF7-A751B197117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2B8C5C-382D-AA95-B6BE-F3703745D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31" y="494890"/>
            <a:ext cx="7792537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53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08F2-AAF3-B7E7-BB8C-23AF7B195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72C436-1170-A19E-02FB-B710DED70EC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7A77E6-053A-1ADF-E28E-D12E1C06C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109074"/>
            <a:ext cx="7344800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8EA1D-3623-6FE2-0642-A8B894335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14790C-CABE-493F-04D4-08059AB14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38011-B75D-BC2A-1C65-4E4D58320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47" y="32863"/>
            <a:ext cx="7382905" cy="67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891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EDB40-384D-B849-4C86-903DAF8BF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752615-7957-0A39-B657-F6859ADCA11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A4D2C-36E1-FAB6-1392-FA090DA7E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363" y="332943"/>
            <a:ext cx="7697274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38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FC56-061F-D04E-2468-729C6699C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5680B5-6992-4DD4-5D09-E497DFDEFD8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AF594A-48B9-3AC8-15A5-099E35D4F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4284"/>
            <a:ext cx="7563906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86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E713E-B90E-FA36-2382-14C76E48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569C20-EB93-9501-69FD-C7A6199335A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86393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4D3C-0A1D-111F-8A15-E08AFCB32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E2AA67-EC06-8908-4A8B-609019723A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0604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6F8F5-5927-856F-B5F0-1283C5EF1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DC21EB-5B4E-B266-2387-BE69E57AF98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0345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5144</TotalTime>
  <Words>802</Words>
  <Application>Microsoft Office PowerPoint</Application>
  <PresentationFormat>Widescreen</PresentationFormat>
  <Paragraphs>152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386</cp:revision>
  <dcterms:created xsi:type="dcterms:W3CDTF">2025-04-12T11:00:44Z</dcterms:created>
  <dcterms:modified xsi:type="dcterms:W3CDTF">2025-07-06T10:32:12Z</dcterms:modified>
</cp:coreProperties>
</file>