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4" r:id="rId3"/>
    <p:sldId id="415" r:id="rId4"/>
    <p:sldId id="416" r:id="rId5"/>
    <p:sldId id="417" r:id="rId6"/>
    <p:sldId id="418" r:id="rId7"/>
    <p:sldId id="419" r:id="rId8"/>
    <p:sldId id="400" r:id="rId9"/>
    <p:sldId id="420" r:id="rId10"/>
    <p:sldId id="422" r:id="rId11"/>
    <p:sldId id="42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2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46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 dərsdə bəzi ödəmə paketləri haqqında məlumat verəcəm.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6152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200">
                <a:latin typeface="Arial" panose="020B0604020202020204" pitchFamily="34" charset="0"/>
              </a:rPr>
              <a:t>✅ 1. </a:t>
            </a:r>
            <a:r>
              <a:rPr lang="en-US" altLang="en-US" sz="1200" b="1">
                <a:solidFill>
                  <a:srgbClr val="FF0000"/>
                </a:solidFill>
                <a:latin typeface="Arial" panose="020B0604020202020204" pitchFamily="34" charset="0"/>
              </a:rPr>
              <a:t>PayPal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200" b="1">
                <a:latin typeface="Arial" panose="020B0604020202020204" pitchFamily="34" charset="0"/>
              </a:rPr>
              <a:t>Nədir?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200">
                <a:latin typeface="Arial" panose="020B0604020202020204" pitchFamily="34" charset="0"/>
              </a:rPr>
              <a:t>PayPal – onlayn ödəniş sistemidir, istifadəçilərə e-poçt və ya hesab vasitəsilə pul göndərmək və qəbul etmək imkanı verir.</a:t>
            </a:r>
          </a:p>
          <a:p>
            <a:pPr>
              <a:lnSpc>
                <a:spcPct val="150000"/>
              </a:lnSpc>
              <a:buNone/>
            </a:pPr>
            <a:endParaRPr lang="en-US" altLang="en-US" sz="1200" b="1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200" b="1">
                <a:latin typeface="Arial" panose="020B0604020202020204" pitchFamily="34" charset="0"/>
              </a:rPr>
              <a:t>Nə üçün istifadə olunur?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200">
                <a:latin typeface="Arial" panose="020B0604020202020204" pitchFamily="34" charset="0"/>
              </a:rPr>
              <a:t>Beynəlxalq ticarət və xidmət satışlarında geniş istifadə olunur. Ödəniş təhlükəsizliyi, mübahisə çözümü və geri qaytarma sisteminə görə məşhurdur.</a:t>
            </a:r>
          </a:p>
          <a:p>
            <a:pPr>
              <a:lnSpc>
                <a:spcPct val="150000"/>
              </a:lnSpc>
              <a:buNone/>
            </a:pPr>
            <a:endParaRPr lang="en-US" altLang="en-US" sz="1200" b="1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200" b="1">
                <a:latin typeface="Arial" panose="020B0604020202020204" pitchFamily="34" charset="0"/>
              </a:rPr>
              <a:t>Harada istifadə olunur?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200">
                <a:latin typeface="Arial" panose="020B0604020202020204" pitchFamily="34" charset="0"/>
              </a:rPr>
              <a:t>Qlobal – xüsusən ABŞ, Kanada, Avropa ölkələri. Çoxsaylı e-ticarət saytları (Etsy, eBay və s.).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200">
                <a:latin typeface="Arial" panose="020B0604020202020204" pitchFamily="34" charset="0"/>
              </a:rPr>
              <a:t>✅ 2. </a:t>
            </a:r>
            <a:r>
              <a:rPr lang="en-US" altLang="en-US" sz="1200" b="1">
                <a:solidFill>
                  <a:srgbClr val="FF0000"/>
                </a:solidFill>
                <a:latin typeface="Arial" panose="020B0604020202020204" pitchFamily="34" charset="0"/>
              </a:rPr>
              <a:t>Stripe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200" b="1">
                <a:latin typeface="Arial" panose="020B0604020202020204" pitchFamily="34" charset="0"/>
              </a:rPr>
              <a:t>Nədir?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200">
                <a:latin typeface="Arial" panose="020B0604020202020204" pitchFamily="34" charset="0"/>
              </a:rPr>
              <a:t>Stripe – proqramçılar üçün yaradılmış ödəniş platformasıdır. Kart ödənişlərini qəbul etmək və təhlil etmək üçün güclü API-lər təklif edir.</a:t>
            </a:r>
          </a:p>
          <a:p>
            <a:pPr>
              <a:lnSpc>
                <a:spcPct val="150000"/>
              </a:lnSpc>
              <a:buNone/>
            </a:pPr>
            <a:endParaRPr lang="en-US" altLang="en-US" sz="1200" b="1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200" b="1">
                <a:latin typeface="Arial" panose="020B0604020202020204" pitchFamily="34" charset="0"/>
              </a:rPr>
              <a:t>Nə üçün istifadə olunur?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200">
                <a:latin typeface="Arial" panose="020B0604020202020204" pitchFamily="34" charset="0"/>
              </a:rPr>
              <a:t>Onlayn ödəniş, abunəlik sistemi (subscription), birdəfəlik satışlar və mobil tətbiqlər üçün geniş istifadə olunur.</a:t>
            </a:r>
          </a:p>
          <a:p>
            <a:pPr>
              <a:lnSpc>
                <a:spcPct val="150000"/>
              </a:lnSpc>
              <a:buNone/>
            </a:pPr>
            <a:endParaRPr lang="en-US" altLang="en-US" sz="1200" b="1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200" b="1">
                <a:latin typeface="Arial" panose="020B0604020202020204" pitchFamily="34" charset="0"/>
              </a:rPr>
              <a:t>Harada istifadə olunur?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200">
                <a:latin typeface="Arial" panose="020B0604020202020204" pitchFamily="34" charset="0"/>
              </a:rPr>
              <a:t>Qlobal – əsasən ABŞ, Kanada, Avropa və Avstraliya. SaaS layihələrində çox yayğındır (məsələn, Notion, Slack).</a:t>
            </a: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B800B-638C-2B20-E206-42F561CF8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C448B1-98DD-6807-3082-99AEDC581C6A}"/>
              </a:ext>
            </a:extLst>
          </p:cNvPr>
          <p:cNvSpPr txBox="1"/>
          <p:nvPr/>
        </p:nvSpPr>
        <p:spPr>
          <a:xfrm>
            <a:off x="217714" y="250501"/>
            <a:ext cx="11756571" cy="6356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✅ 3. 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Razorpay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Nədir?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Hindistana məxsus ödəniş gateway-dir. Hindistan bankları, UPI, debit/kredit kartlar, EMI və digər yerli metodları dəstəkləyir.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 b="1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Nə üçün istifadə olunur?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Hindistan bazarına yönəlmiş onlayn satışlar üçün idealdır. Yerli alıcılara rahat və sürətli ödəniş imkanı verir.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 b="1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Harada istifadə olunur?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Hindistan daxilində fəaliyyət göstərən şirkətlər, tətbiqlər və e-ticarət saytları.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✅ 4. 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SSLCommerz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Nədir?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Banqladeşdə fəaliyyət göstərən ödəniş platformasıdır. Bank kartları, mobil banking, bKash və s. kimi lokal ödəniş metodlarını dəstəkləyir.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 b="1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Nə üçün istifadə olunur?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Banqladeş bazarına məhsul və xidmət satan bizneslər üçün lokal ödənişləri qəbul etmək üçün istifadə olunur.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 b="1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Harada istifadə olunur?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Banqladeşdə fəaliyyət göstərən onlayn mağazalar, xidmət saytları.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9439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C2BA0-8E11-F0F3-BA16-D4E5F292C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B3A9B9-5060-D05E-4B43-65146F1AC386}"/>
              </a:ext>
            </a:extLst>
          </p:cNvPr>
          <p:cNvSpPr txBox="1"/>
          <p:nvPr/>
        </p:nvSpPr>
        <p:spPr>
          <a:xfrm>
            <a:off x="217714" y="255046"/>
            <a:ext cx="11756571" cy="6356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✅ 5. 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Instamojo</a:t>
            </a:r>
            <a:endParaRPr lang="en-US" altLang="en-US" sz="130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Nədir?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Hindistan mərkəzli mikro-ödəniş və sadə link ilə ödəniş sistemi təklif edən platformadır.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 b="1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Nə üçün istifadə olunur?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Kiçik bizneslər və fərdi sahibkarlar üçün sadə ödəniş üsulu yaratmaq, məhsul linki ilə ödəniş almaq üçün istifadə olunur.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 b="1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Harada istifadə olunur?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Hindistanda freelancerlər, kiçik e-ticarət saytları və təlim xidmətləri.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✅ 6. 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Mollie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Nədir?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Hollandiya mərkəzli Avropa ödəniş platformasıdır. Kredit kartları, iDEAL, Bancontact, Apple Pay və digər Avropa metodlarını dəstəkləyir.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 b="1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Nə üçün istifadə olunur?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Avropada lokal ödəniş metodları ilə satış etmək istəyənlər üçün ideal seçimdir.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 b="1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Harada istifadə olunur?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Niderland, Belçika, Almaniya və digər AB ölkələri daxilində e-ticarət saytları.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6399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713C5-2812-0831-6F66-AC034A2D5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7E4E80D-90B6-7A6C-F179-F4593D9A513D}"/>
              </a:ext>
            </a:extLst>
          </p:cNvPr>
          <p:cNvSpPr txBox="1"/>
          <p:nvPr/>
        </p:nvSpPr>
        <p:spPr>
          <a:xfrm>
            <a:off x="217714" y="255046"/>
            <a:ext cx="11756571" cy="6356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✅ 7. 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2Checkout (Verifone)</a:t>
            </a:r>
            <a:endParaRPr lang="en-US" altLang="en-US" sz="130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Nədir?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Qlobal ödəniş prosessorudur. Kredit kartı, PayPal və lokal ödəniş metodlarını bir arada təqdim edir.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 b="1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Nə üçün istifadə olunur?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Rəqəmsal məhsullar (software, e-book), abunəlik əsaslı xidmətlər üçün əlverişlidir. PCI uyğunluğunu özü təmin edir.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 b="1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Harada istifadə olunur?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Qlobal – 180-dən çox ölkədə. Xüsusilə rəqəmsal xidmətlər və SaaS biznesləri.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✅ 8. 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Paystack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Nədir?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Nigeriyada yaradılmış, Afrikada istifadə üçün optimallaşdırılmış ödəniş gateway-dir.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 b="1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Nə üçün istifadə olunur?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Afrika ölkələrində onlayn ödənişləri qəbul etmək üçün. Mobil ödənişlər, kart ödənişləri və bank transferləri üçün dəstəklər təqdim edir.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 b="1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Harada istifadə olunur?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Nigeriya, Qana, Keniya və digər Afrika ölkələrində lokal ödənişləri qəbul edən layihələr.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7907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31209-E90B-24A7-4C15-E46CC3030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332E95-E21A-8D38-D940-0F163507737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B5F7B0D-F84B-DD65-A0AB-3A29880FCC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1729611"/>
              </p:ext>
            </p:extLst>
          </p:nvPr>
        </p:nvGraphicFramePr>
        <p:xfrm>
          <a:off x="217714" y="965754"/>
          <a:ext cx="11828108" cy="5607696"/>
        </p:xfrm>
        <a:graphic>
          <a:graphicData uri="http://schemas.openxmlformats.org/drawingml/2006/table">
            <a:tbl>
              <a:tblPr/>
              <a:tblGrid>
                <a:gridCol w="2957027">
                  <a:extLst>
                    <a:ext uri="{9D8B030D-6E8A-4147-A177-3AD203B41FA5}">
                      <a16:colId xmlns:a16="http://schemas.microsoft.com/office/drawing/2014/main" val="241174953"/>
                    </a:ext>
                  </a:extLst>
                </a:gridCol>
                <a:gridCol w="2957027">
                  <a:extLst>
                    <a:ext uri="{9D8B030D-6E8A-4147-A177-3AD203B41FA5}">
                      <a16:colId xmlns:a16="http://schemas.microsoft.com/office/drawing/2014/main" val="774280811"/>
                    </a:ext>
                  </a:extLst>
                </a:gridCol>
                <a:gridCol w="2957027">
                  <a:extLst>
                    <a:ext uri="{9D8B030D-6E8A-4147-A177-3AD203B41FA5}">
                      <a16:colId xmlns:a16="http://schemas.microsoft.com/office/drawing/2014/main" val="573439194"/>
                    </a:ext>
                  </a:extLst>
                </a:gridCol>
                <a:gridCol w="2957027">
                  <a:extLst>
                    <a:ext uri="{9D8B030D-6E8A-4147-A177-3AD203B41FA5}">
                      <a16:colId xmlns:a16="http://schemas.microsoft.com/office/drawing/2014/main" val="1589665591"/>
                    </a:ext>
                  </a:extLst>
                </a:gridCol>
              </a:tblGrid>
              <a:tr h="5742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Adı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Yaranma Yeri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Lokal Fokus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Əsas İstifadə Sahəsi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4761152"/>
                  </a:ext>
                </a:extLst>
              </a:tr>
              <a:tr h="6291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i="1"/>
                        <a:t>PayPal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ABŞ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Qlobal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Beynəlxalq satışlar, e-ticarət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7319298"/>
                  </a:ext>
                </a:extLst>
              </a:tr>
              <a:tr h="6291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i="1"/>
                        <a:t>Stripe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ABŞ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Qlobal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Abunəlik, onlayn ödəniş, SaaS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3764203"/>
                  </a:ext>
                </a:extLst>
              </a:tr>
              <a:tr h="6291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i="1"/>
                        <a:t>Razorpay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Hindistan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Hindistan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Lokal ödəniş, e-ticarət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881925"/>
                  </a:ext>
                </a:extLst>
              </a:tr>
              <a:tr h="6291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i="1"/>
                        <a:t>SSLCommerz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Banqladeş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Banqladeş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Lokal bizneslər, xidmət satışı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0181778"/>
                  </a:ext>
                </a:extLst>
              </a:tr>
              <a:tr h="6291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i="1"/>
                        <a:t>Instamojo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Hindistan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Hindistan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Kiçik sahibkarlar, ödəniş linkləri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6247238"/>
                  </a:ext>
                </a:extLst>
              </a:tr>
              <a:tr h="6291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i="1"/>
                        <a:t>Mollie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Hollandiya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AB ölkələri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Avropa lokal ödənişləri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2698219"/>
                  </a:ext>
                </a:extLst>
              </a:tr>
              <a:tr h="6291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i="1"/>
                        <a:t>2Checkout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ABŞ/Qlobal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Qlobal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Rəqəmsal məhsul, SaaS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3380909"/>
                  </a:ext>
                </a:extLst>
              </a:tr>
              <a:tr h="6291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i="1"/>
                        <a:t>Paystack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Nigeriya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Afrika ölkələri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Yerli kart və mobil ödənişlər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7238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48898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3D423-B80B-7B61-DA22-8CD0024E0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15E3C1-1462-8702-8CFB-210605007665}"/>
              </a:ext>
            </a:extLst>
          </p:cNvPr>
          <p:cNvSpPr txBox="1"/>
          <p:nvPr/>
        </p:nvSpPr>
        <p:spPr>
          <a:xfrm>
            <a:off x="217714" y="255046"/>
            <a:ext cx="11756571" cy="3656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SaaS nədir?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SaaS (Software as a Service) – "Xidmət kimi proqram təminatı" deməkdir.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Bu, proqramın istifadəçiyə internet üzərindən, yəni bulud (cloud) infrastrukturu vasitəsilə təqdim olunmasıdır. İstifadəçilər proqramı kompüterə yükləmədən birbaşa veb interfeys üzərindən istifadə edirlər.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SaaS biznesi nədir?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SaaS biznesi, müəyyən bir proqramı və ya xidməti onlayn şəkildə istifadəçilərə abunəlik (subscription) və ya istifadə əsasında ödəniş (pay-as-you-go) modeli ilə təqdim edən bir iş modelidir.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965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SaaS-ın əsas xüsusiyyətləri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021E6A8-287E-89AE-E1C5-C8F6F1D9E4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3756981"/>
              </p:ext>
            </p:extLst>
          </p:nvPr>
        </p:nvGraphicFramePr>
        <p:xfrm>
          <a:off x="217713" y="952050"/>
          <a:ext cx="11756571" cy="3321370"/>
        </p:xfrm>
        <a:graphic>
          <a:graphicData uri="http://schemas.openxmlformats.org/drawingml/2006/table">
            <a:tbl>
              <a:tblPr/>
              <a:tblGrid>
                <a:gridCol w="3963096">
                  <a:extLst>
                    <a:ext uri="{9D8B030D-6E8A-4147-A177-3AD203B41FA5}">
                      <a16:colId xmlns:a16="http://schemas.microsoft.com/office/drawing/2014/main" val="2265634278"/>
                    </a:ext>
                  </a:extLst>
                </a:gridCol>
                <a:gridCol w="7793475">
                  <a:extLst>
                    <a:ext uri="{9D8B030D-6E8A-4147-A177-3AD203B41FA5}">
                      <a16:colId xmlns:a16="http://schemas.microsoft.com/office/drawing/2014/main" val="1987549221"/>
                    </a:ext>
                  </a:extLst>
                </a:gridCol>
              </a:tblGrid>
              <a:tr h="6642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Xüsusiyyət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İzah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8941401"/>
                  </a:ext>
                </a:extLst>
              </a:tr>
              <a:tr h="6642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Bulud əsaslıdır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Proqram serverdə yerləşir, istifadəçi brauzer üzərindən daxil olur.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8150725"/>
                  </a:ext>
                </a:extLst>
              </a:tr>
              <a:tr h="6642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Abunəlik modeli ilə işləyir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İstifadəçilər aylıq və ya illik ödənişlə xidmətlərə çıxış əldə edir.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7549303"/>
                  </a:ext>
                </a:extLst>
              </a:tr>
              <a:tr h="6642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Avtomatik yenilənir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İstifadəçilər proqramın yeni versiyasını yükləməyə ehtiyac duymur.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1462773"/>
                  </a:ext>
                </a:extLst>
              </a:tr>
              <a:tr h="6642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Multi-tenant arxitektura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Bir serverdə bir çox istifadəçi öz müstəqil məlumatları ilə işləyə bilir.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16212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113F5-28B0-6CD5-0688-9757916F3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A6B686-8B12-7463-D13E-F6027F35B4FE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SaaS Biznesinə Nümunələr</a:t>
            </a:r>
            <a:r>
              <a:rPr lang="az-Latn-AZ" altLang="en-US" sz="1300">
                <a:latin typeface="Arial" panose="020B0604020202020204" pitchFamily="34" charset="0"/>
              </a:rPr>
              <a:t>: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EEA827A-2EF6-4EC5-F820-9AD2B03128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3707646"/>
              </p:ext>
            </p:extLst>
          </p:nvPr>
        </p:nvGraphicFramePr>
        <p:xfrm>
          <a:off x="217714" y="1161988"/>
          <a:ext cx="11585511" cy="3867210"/>
        </p:xfrm>
        <a:graphic>
          <a:graphicData uri="http://schemas.openxmlformats.org/drawingml/2006/table">
            <a:tbl>
              <a:tblPr/>
              <a:tblGrid>
                <a:gridCol w="3861837">
                  <a:extLst>
                    <a:ext uri="{9D8B030D-6E8A-4147-A177-3AD203B41FA5}">
                      <a16:colId xmlns:a16="http://schemas.microsoft.com/office/drawing/2014/main" val="2371314212"/>
                    </a:ext>
                  </a:extLst>
                </a:gridCol>
                <a:gridCol w="3861837">
                  <a:extLst>
                    <a:ext uri="{9D8B030D-6E8A-4147-A177-3AD203B41FA5}">
                      <a16:colId xmlns:a16="http://schemas.microsoft.com/office/drawing/2014/main" val="107905213"/>
                    </a:ext>
                  </a:extLst>
                </a:gridCol>
                <a:gridCol w="3861837">
                  <a:extLst>
                    <a:ext uri="{9D8B030D-6E8A-4147-A177-3AD203B41FA5}">
                      <a16:colId xmlns:a16="http://schemas.microsoft.com/office/drawing/2014/main" val="9340152"/>
                    </a:ext>
                  </a:extLst>
                </a:gridCol>
              </a:tblGrid>
              <a:tr h="6445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Adı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Təyinatı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Ödəniş Forması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1587905"/>
                  </a:ext>
                </a:extLst>
              </a:tr>
              <a:tr h="6445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Dropbox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Fayl saxlama və paylaşma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Aylıq abunəlik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7435815"/>
                  </a:ext>
                </a:extLst>
              </a:tr>
              <a:tr h="6445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Google Workspace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Email, sənəd, təqvim xidmətləri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İstifadəçi başına ödəniş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3512653"/>
                  </a:ext>
                </a:extLst>
              </a:tr>
              <a:tr h="6445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Slack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Komanda mesajlaşma və əməkdaşlıq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Abunəlik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6338512"/>
                  </a:ext>
                </a:extLst>
              </a:tr>
              <a:tr h="6445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Notion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Qeydlər, idarəetmə, Wiki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Pulsuz və pullu planlar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0518547"/>
                  </a:ext>
                </a:extLst>
              </a:tr>
              <a:tr h="6445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Trello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Tapşırıq və layihə idarəetməsi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Abunəlik və freemium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92338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1977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8F7AD-B958-788A-6639-82B493B66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DC584E-C148-C308-3B82-43ED370FBBB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3668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2A1C3-CE5B-6829-389E-F080A368C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758095-BCE6-DF73-6DAD-2A440F3603F2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9472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5705</TotalTime>
  <Words>800</Words>
  <Application>Microsoft Office PowerPoint</Application>
  <PresentationFormat>Widescreen</PresentationFormat>
  <Paragraphs>165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360</cp:revision>
  <dcterms:created xsi:type="dcterms:W3CDTF">2025-04-12T11:00:44Z</dcterms:created>
  <dcterms:modified xsi:type="dcterms:W3CDTF">2025-07-14T13:42:21Z</dcterms:modified>
</cp:coreProperties>
</file>