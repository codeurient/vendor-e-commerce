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9" r:id="rId4"/>
    <p:sldId id="415" r:id="rId5"/>
    <p:sldId id="416" r:id="rId6"/>
    <p:sldId id="417" r:id="rId7"/>
    <p:sldId id="418" r:id="rId8"/>
    <p:sldId id="400" r:id="rId9"/>
    <p:sldId id="420" r:id="rId10"/>
    <p:sldId id="421" r:id="rId11"/>
    <p:sldId id="422" r:id="rId12"/>
    <p:sldId id="4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7181461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Bu dərs </a:t>
            </a:r>
            <a:r>
              <a:rPr lang="az-Latn-AZ" altLang="en-US" sz="1200" b="1">
                <a:latin typeface="Arial" panose="020B0604020202020204" pitchFamily="34" charset="0"/>
              </a:rPr>
              <a:t>İNSTAMOJO PAYMENT </a:t>
            </a:r>
            <a:r>
              <a:rPr lang="az-Latn-AZ" altLang="en-US" sz="1200">
                <a:latin typeface="Arial" panose="020B0604020202020204" pitchFamily="34" charset="0"/>
              </a:rPr>
              <a:t>-də </a:t>
            </a:r>
            <a:r>
              <a:rPr lang="az-Latn-AZ" altLang="en-US" sz="1200" b="1">
                <a:latin typeface="Arial" panose="020B0604020202020204" pitchFamily="34" charset="0"/>
              </a:rPr>
              <a:t>POST() </a:t>
            </a:r>
            <a:r>
              <a:rPr lang="az-Latn-AZ" altLang="en-US" sz="1200">
                <a:latin typeface="Arial" panose="020B0604020202020204" pitchFamily="34" charset="0"/>
              </a:rPr>
              <a:t>ilə data göndərdiyimizdə, bizə geri gələn cavabın (RESPONSE),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JSON_DECODE() </a:t>
            </a:r>
            <a:r>
              <a:rPr lang="az-Latn-AZ" altLang="en-US" sz="1200">
                <a:latin typeface="Arial" panose="020B0604020202020204" pitchFamily="34" charset="0"/>
              </a:rPr>
              <a:t>ilə təhlil edilməsi haqqında qısa bir məlumat vermək istəyirəm. </a:t>
            </a:r>
            <a:r>
              <a:rPr lang="az-Latn-AZ" altLang="en-US" sz="1200" b="1">
                <a:latin typeface="Arial" panose="020B0604020202020204" pitchFamily="34" charset="0"/>
              </a:rPr>
              <a:t>İnstomojo</a:t>
            </a:r>
            <a:r>
              <a:rPr lang="az-Latn-AZ" altLang="en-US" sz="1200">
                <a:latin typeface="Arial" panose="020B0604020202020204" pitchFamily="34" charset="0"/>
              </a:rPr>
              <a:t> -nun qurulması barədə deyil bu dərs. Sadəcə əvvəlki dərslərdə ödəmə sistemləri yaratdığımızda məsələn </a:t>
            </a:r>
            <a:r>
              <a:rPr lang="az-Latn-AZ" altLang="en-US" sz="1200" b="1">
                <a:latin typeface="Arial" panose="020B0604020202020204" pitchFamily="34" charset="0"/>
              </a:rPr>
              <a:t>PAYPAL</a:t>
            </a:r>
            <a:r>
              <a:rPr lang="az-Latn-AZ" altLang="en-US" sz="1200">
                <a:latin typeface="Arial" panose="020B0604020202020204" pitchFamily="34" charset="0"/>
              </a:rPr>
              <a:t> yaxud </a:t>
            </a:r>
            <a:r>
              <a:rPr lang="az-Latn-AZ" altLang="en-US" sz="1200" b="1">
                <a:latin typeface="Arial" panose="020B0604020202020204" pitchFamily="34" charset="0"/>
              </a:rPr>
              <a:t>2CHECKOUT</a:t>
            </a:r>
            <a:r>
              <a:rPr lang="az-Latn-AZ" altLang="en-US" sz="1200">
                <a:latin typeface="Arial" panose="020B0604020202020204" pitchFamily="34" charset="0"/>
              </a:rPr>
              <a:t> da fərqli cavablar gəlirdi bizə və bizdə bizə gələn həmin cavablara əsasən bir iş görürdük. Bu cavablar fərqli formalarda gəldikdə, məcbur olaraq fərqli yanaşmaq lazım gəlir. Yəni hər sistemin qurulması aşağı-yuxarı eyni olsada bir o qədərdə bəzən fərqli funksiyalar istifadə etmək lazım gəlir. Bunun isə bir çox fərqli səbəbi ola bilər. Ən çox yayğın olan səbəblərdən biri isə bizə geri gələn </a:t>
            </a:r>
            <a:r>
              <a:rPr lang="az-Latn-AZ" altLang="en-US" sz="1200" b="1">
                <a:latin typeface="Arial" panose="020B0604020202020204" pitchFamily="34" charset="0"/>
              </a:rPr>
              <a:t>RESPONSE</a:t>
            </a:r>
            <a:r>
              <a:rPr lang="az-Latn-AZ" altLang="en-US" sz="1200">
                <a:latin typeface="Arial" panose="020B0604020202020204" pitchFamily="34" charset="0"/>
              </a:rPr>
              <a:t> ilə əlaqəlidir. 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Məsələn sağ şəkildəki kimi ekrana yazdırsaq bizə geri gələn cavab aşağıdakı kimi olacaqdır. </a:t>
            </a:r>
          </a:p>
          <a:p>
            <a:pPr algn="just"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Http::post(...) </a:t>
            </a:r>
            <a:r>
              <a:rPr lang="en-US" altLang="en-US" sz="1200">
                <a:latin typeface="Arial" panose="020B0604020202020204" pitchFamily="34" charset="0"/>
              </a:rPr>
              <a:t>ilə bir 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HTTP</a:t>
            </a:r>
            <a:r>
              <a:rPr lang="en-US" altLang="en-US" sz="1200">
                <a:latin typeface="Arial" panose="020B0604020202020204" pitchFamily="34" charset="0"/>
              </a:rPr>
              <a:t> istəyi etdikdə, </a:t>
            </a:r>
            <a:r>
              <a:rPr lang="az-Latn-AZ" altLang="en-US" sz="1200">
                <a:latin typeface="Arial" panose="020B0604020202020204" pitchFamily="34" charset="0"/>
              </a:rPr>
              <a:t>bizə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en-US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Illuminate\Http\Client\Response </a:t>
            </a:r>
            <a:r>
              <a:rPr lang="en-US" altLang="en-US" sz="1200">
                <a:latin typeface="Arial" panose="020B0604020202020204" pitchFamily="34" charset="0"/>
              </a:rPr>
              <a:t>obyekti qay</a:t>
            </a:r>
            <a:r>
              <a:rPr lang="az-Latn-AZ" altLang="en-US" sz="1200">
                <a:latin typeface="Arial" panose="020B0604020202020204" pitchFamily="34" charset="0"/>
              </a:rPr>
              <a:t>ıd</a:t>
            </a:r>
            <a:r>
              <a:rPr lang="en-US" altLang="en-US" sz="1200">
                <a:latin typeface="Arial" panose="020B0604020202020204" pitchFamily="34" charset="0"/>
              </a:rPr>
              <a:t>ır.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C3B21-3581-FB8B-F4AA-FA27903CE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520" y="0"/>
            <a:ext cx="4696480" cy="4801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704CF4-4341-4175-6D8C-913F74DF8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6862"/>
            <a:ext cx="4414850" cy="331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4923453" cy="64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dd($response) </a:t>
            </a:r>
            <a:r>
              <a:rPr lang="az-Latn-AZ" altLang="en-US" sz="1200">
                <a:latin typeface="Arial" panose="020B0604020202020204" pitchFamily="34" charset="0"/>
              </a:rPr>
              <a:t>bizə</a:t>
            </a:r>
            <a:r>
              <a:rPr lang="en-US" altLang="en-US" sz="1200">
                <a:latin typeface="Arial" panose="020B0604020202020204" pitchFamily="34" charset="0"/>
              </a:rPr>
              <a:t> nə göstərir?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sətir </a:t>
            </a:r>
            <a:r>
              <a:rPr lang="az-Latn-AZ" altLang="en-US" sz="1200">
                <a:latin typeface="Arial" panose="020B0604020202020204" pitchFamily="34" charset="0"/>
              </a:rPr>
              <a:t>bizə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en-US" altLang="en-US" sz="1200" b="1">
                <a:latin typeface="Arial" panose="020B0604020202020204" pitchFamily="34" charset="0"/>
              </a:rPr>
              <a:t>Illuminate\Http\Client\Response </a:t>
            </a:r>
            <a:r>
              <a:rPr lang="en-US" altLang="en-US" sz="1200">
                <a:latin typeface="Arial" panose="020B0604020202020204" pitchFamily="34" charset="0"/>
              </a:rPr>
              <a:t>obyektinin tam strukturunu göstərir: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Şəkildə</a:t>
            </a:r>
            <a:r>
              <a:rPr lang="az-Latn-AZ" altLang="en-US" sz="1200" b="1">
                <a:latin typeface="Arial" panose="020B0604020202020204" pitchFamily="34" charset="0"/>
              </a:rPr>
              <a:t>ndə</a:t>
            </a:r>
            <a:r>
              <a:rPr lang="en-US" altLang="en-US" sz="1200" b="1">
                <a:latin typeface="Arial" panose="020B0604020202020204" pitchFamily="34" charset="0"/>
              </a:rPr>
              <a:t> görürük ki, aşağıdakılar var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statusCode: 201 </a:t>
            </a:r>
            <a:r>
              <a:rPr lang="en-US" altLang="en-US" sz="1200">
                <a:latin typeface="Arial" panose="020B0604020202020204" pitchFamily="34" charset="0"/>
              </a:rPr>
              <a:t>– uğurla yaradılıb (Created)</a:t>
            </a:r>
            <a:endParaRPr lang="az-Latn-AZ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headers</a:t>
            </a:r>
            <a:r>
              <a:rPr lang="en-US" altLang="en-US" sz="1200">
                <a:latin typeface="Arial" panose="020B0604020202020204" pitchFamily="34" charset="0"/>
              </a:rPr>
              <a:t> – serverdən gələn cavab başlıqları</a:t>
            </a:r>
            <a:endParaRPr lang="az-Latn-AZ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cookies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stream</a:t>
            </a:r>
            <a:r>
              <a:rPr lang="en-US" altLang="en-US" sz="1200">
                <a:latin typeface="Arial" panose="020B0604020202020204" pitchFamily="34" charset="0"/>
              </a:rPr>
              <a:t>, </a:t>
            </a:r>
            <a:r>
              <a:rPr lang="en-US" altLang="en-US" sz="1200" b="1">
                <a:latin typeface="Arial" panose="020B0604020202020204" pitchFamily="34" charset="0"/>
              </a:rPr>
              <a:t>transferStats</a:t>
            </a:r>
            <a:r>
              <a:rPr lang="en-US" altLang="en-US" sz="1200">
                <a:latin typeface="Arial" panose="020B0604020202020204" pitchFamily="34" charset="0"/>
              </a:rPr>
              <a:t> – əlavə texniki məlumatlar</a:t>
            </a:r>
            <a:endParaRPr lang="az-Latn-AZ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sz="12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decoded: null </a:t>
            </a:r>
            <a:r>
              <a:rPr lang="en-US" altLang="en-US" sz="1200">
                <a:latin typeface="Arial" panose="020B0604020202020204" pitchFamily="34" charset="0"/>
              </a:rPr>
              <a:t>– ən vacib hissə – bu onu göstərir ki, hələ cavabın gövdəsi (body) </a:t>
            </a:r>
            <a:r>
              <a:rPr lang="en-US" altLang="en-US" sz="1200" b="1">
                <a:latin typeface="Arial" panose="020B0604020202020204" pitchFamily="34" charset="0"/>
              </a:rPr>
              <a:t>json</a:t>
            </a:r>
            <a:r>
              <a:rPr lang="en-US" altLang="en-US" sz="1200">
                <a:latin typeface="Arial" panose="020B0604020202020204" pitchFamily="34" charset="0"/>
              </a:rPr>
              <a:t> olaraq parse edilməyib.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Illuminate\Http\Client\Response </a:t>
            </a:r>
            <a:r>
              <a:rPr lang="en-US" altLang="en-US" sz="1200" b="1">
                <a:latin typeface="Arial" panose="020B0604020202020204" pitchFamily="34" charset="0"/>
              </a:rPr>
              <a:t>obyektini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 JSON </a:t>
            </a:r>
            <a:r>
              <a:rPr lang="en-US" altLang="en-US" sz="1200" b="1">
                <a:latin typeface="Arial" panose="020B0604020202020204" pitchFamily="34" charset="0"/>
              </a:rPr>
              <a:t>olaraq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 parse </a:t>
            </a:r>
            <a:r>
              <a:rPr lang="en-US" altLang="en-US" sz="1200">
                <a:latin typeface="Arial" panose="020B0604020202020204" pitchFamily="34" charset="0"/>
              </a:rPr>
              <a:t>etmək – Laravel-də HTTP request-lərdən gələn cavabı (response) strukturlaşdırılmış şəkildə – massiv və ya obyekt kimi oxunaqlı hala gətirmək deməkdir. Bu, əsasən 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json() </a:t>
            </a:r>
            <a:r>
              <a:rPr lang="en-US" altLang="en-US" sz="1200">
                <a:latin typeface="Arial" panose="020B0604020202020204" pitchFamily="34" charset="0"/>
              </a:rPr>
              <a:t>metodu ilə həyata keçirilir.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$response-&gt;json() </a:t>
            </a:r>
            <a:r>
              <a:rPr lang="en-US" altLang="en-US" sz="1200">
                <a:latin typeface="Arial" panose="020B0604020202020204" pitchFamily="34" charset="0"/>
              </a:rPr>
              <a:t>əslində </a:t>
            </a:r>
            <a:r>
              <a:rPr lang="en-US" altLang="en-US" sz="1200" b="1">
                <a:latin typeface="Arial" panose="020B0604020202020204" pitchFamily="34" charset="0"/>
              </a:rPr>
              <a:t>json_decode</a:t>
            </a:r>
            <a:r>
              <a:rPr lang="az-Latn-AZ" altLang="en-US" sz="1200" b="1">
                <a:latin typeface="Arial" panose="020B0604020202020204" pitchFamily="34" charset="0"/>
              </a:rPr>
              <a:t>(</a:t>
            </a:r>
            <a:r>
              <a:rPr lang="en-US" altLang="en-US" sz="1200" b="1">
                <a:latin typeface="Arial" panose="020B0604020202020204" pitchFamily="34" charset="0"/>
              </a:rPr>
              <a:t>) </a:t>
            </a:r>
            <a:r>
              <a:rPr lang="en-US" altLang="en-US" sz="1200">
                <a:latin typeface="Arial" panose="020B0604020202020204" pitchFamily="34" charset="0"/>
              </a:rPr>
              <a:t>funksiyasını asanlaşdırılmış formadadır.</a:t>
            </a:r>
            <a:r>
              <a:rPr lang="az-Latn-AZ" altLang="en-US" sz="1200">
                <a:latin typeface="Arial" panose="020B0604020202020204" pitchFamily="34" charset="0"/>
              </a:rPr>
              <a:t> Ardı növbəti slaydda....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3C3228-5623-4021-0C7B-BD767D897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617" y="1558212"/>
            <a:ext cx="7066383" cy="529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4568-CEDD-F1CC-877F-60D9AB8D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A3353-17FD-FE08-6994-82D7C3CC244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Laravel-də </a:t>
            </a:r>
            <a:r>
              <a:rPr lang="en-US" altLang="en-US" sz="1300" b="1">
                <a:latin typeface="Arial" panose="020B0604020202020204" pitchFamily="34" charset="0"/>
              </a:rPr>
              <a:t>$response-&gt;json() </a:t>
            </a:r>
            <a:r>
              <a:rPr lang="en-US" altLang="en-US" sz="1300">
                <a:latin typeface="Arial" panose="020B0604020202020204" pitchFamily="34" charset="0"/>
              </a:rPr>
              <a:t>metodunun içi təxminən belədir: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CD8C2-233E-128E-8080-BAB99DF0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04204"/>
            <a:ext cx="3877216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6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FA94-3C9C-BEC3-F059-C415BAB1A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9F6595-41C3-3EC5-123E-7399B494AAD3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Ağlınıza gələ biləcək bir sual daha dour ki, `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Illuminate\Http\Client\Response</a:t>
            </a:r>
            <a:r>
              <a:rPr lang="az-Latn-AZ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 b="1">
                <a:latin typeface="Arial" panose="020B0604020202020204" pitchFamily="34" charset="0"/>
              </a:rPr>
              <a:t>obyektidirsə</a:t>
            </a:r>
            <a:r>
              <a:rPr lang="az-Latn-AZ" altLang="en-US" sz="1300">
                <a:latin typeface="Arial" panose="020B0604020202020204" pitchFamily="34" charset="0"/>
              </a:rPr>
              <a:t>, onda yenidən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json_decode() </a:t>
            </a:r>
            <a:r>
              <a:rPr lang="az-Latn-AZ" altLang="en-US" sz="1300">
                <a:latin typeface="Arial" panose="020B0604020202020204" pitchFamily="34" charset="0"/>
              </a:rPr>
              <a:t>ilə başqa bir </a:t>
            </a:r>
            <a:r>
              <a:rPr lang="az-Latn-AZ" altLang="en-US" sz="1300" b="1">
                <a:latin typeface="Arial" panose="020B0604020202020204" pitchFamily="34" charset="0"/>
              </a:rPr>
              <a:t>obyektə</a:t>
            </a:r>
            <a:r>
              <a:rPr lang="az-Latn-AZ" altLang="en-US" sz="1300">
                <a:latin typeface="Arial" panose="020B0604020202020204" pitchFamily="34" charset="0"/>
              </a:rPr>
              <a:t> çevirmək nəyə lazımdır?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Illuminate\Http\Client\Response </a:t>
            </a:r>
            <a:r>
              <a:rPr lang="en-US" altLang="en-US" sz="1300">
                <a:latin typeface="Arial" panose="020B0604020202020204" pitchFamily="34" charset="0"/>
              </a:rPr>
              <a:t>bir </a:t>
            </a:r>
            <a:r>
              <a:rPr lang="en-US" altLang="en-US" sz="1300" b="1">
                <a:latin typeface="Arial" panose="020B0604020202020204" pitchFamily="34" charset="0"/>
              </a:rPr>
              <a:t>HTTP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Response obyektidir 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obyektin vəzifəsi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HTTP cavabın status kodunu saxlamaq ($response-&gt;status())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Headers-ları saxlamaq ($response-&gt;headers())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Cavabın bədənini saxlamaq ($response-&gt;body() – bu raw JSON string-dir)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JSON bədəni decode etmək imkanı vermək ($response-&gt;json())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Redirect, success, error kimi helper-lərlə təchiz olunmaq ($response-&gt;successful(), $response-&gt;serverError() və s.)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Yəni bu Laravel-in öz Response obyektidir, və bu obyektin özünün </a:t>
            </a:r>
            <a:r>
              <a:rPr lang="en-US" altLang="en-US" sz="1300" b="1">
                <a:latin typeface="Arial" panose="020B0604020202020204" pitchFamily="34" charset="0"/>
              </a:rPr>
              <a:t>JSON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formatlı olan içərisindəki məlumatdan </a:t>
            </a:r>
            <a:r>
              <a:rPr lang="en-US" altLang="en-US" sz="1300">
                <a:latin typeface="Arial" panose="020B0604020202020204" pitchFamily="34" charset="0"/>
              </a:rPr>
              <a:t>fərqi var.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Məsələ nədir?</a:t>
            </a:r>
            <a:endParaRPr kumimoji="0" lang="az-Latn-AZ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Illuminate\Http\Client\Response → Laravel HTTP response wrapper obyekti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$response-&gt;body() → Sadə string, xam (raw) JSON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$response-&gt;json() → json_decode(...) ilə çevrilmiş assosiativ massiv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$response-&gt;object() → json_decode(...) ilə çevrilmiş stdClass obyekt</a:t>
            </a:r>
            <a:r>
              <a:rPr lang="az-Latn-AZ" altLang="en-US" sz="1300">
                <a:latin typeface="Arial" panose="020B0604020202020204" pitchFamily="34" charset="0"/>
              </a:rPr>
              <a:t> bizə qaytarır.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3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211E-C4D8-4771-4C39-9F4A205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0400E-3751-A75F-81C4-98D9BF53BC7B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Niyə parse etməyə ehtiyac var?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Çünki sən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Response obyektindən </a:t>
            </a:r>
            <a:r>
              <a:rPr lang="en-US" altLang="en-US" sz="1300">
                <a:latin typeface="Arial" panose="020B0604020202020204" pitchFamily="34" charset="0"/>
              </a:rPr>
              <a:t>məlumatı almaq istəyirsənsə, onun </a:t>
            </a:r>
            <a:r>
              <a:rPr lang="en-US" altLang="en-US" sz="1300" b="1">
                <a:latin typeface="Arial" panose="020B0604020202020204" pitchFamily="34" charset="0"/>
              </a:rPr>
              <a:t>body() </a:t>
            </a:r>
            <a:r>
              <a:rPr lang="en-US" altLang="en-US" sz="1300">
                <a:latin typeface="Arial" panose="020B0604020202020204" pitchFamily="34" charset="0"/>
              </a:rPr>
              <a:t>hissəsi sadəcə </a:t>
            </a:r>
            <a:r>
              <a:rPr lang="en-US" altLang="en-US" sz="1300" b="1">
                <a:latin typeface="Arial" panose="020B0604020202020204" pitchFamily="34" charset="0"/>
              </a:rPr>
              <a:t>JSON string</a:t>
            </a:r>
            <a:r>
              <a:rPr lang="en-US" altLang="en-US" sz="1300">
                <a:latin typeface="Arial" panose="020B0604020202020204" pitchFamily="34" charset="0"/>
              </a:rPr>
              <a:t>-dir. Onu emal edə bilmək üçün ya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json() </a:t>
            </a:r>
            <a:r>
              <a:rPr lang="en-US" altLang="en-US" sz="1300">
                <a:latin typeface="Arial" panose="020B0604020202020204" pitchFamily="34" charset="0"/>
              </a:rPr>
              <a:t>ya da </a:t>
            </a:r>
            <a:r>
              <a:rPr lang="en-US" altLang="en-US" sz="1300" b="1">
                <a:latin typeface="Arial" panose="020B0604020202020204" pitchFamily="34" charset="0"/>
              </a:rPr>
              <a:t>json_decode() </a:t>
            </a:r>
            <a:r>
              <a:rPr lang="en-US" altLang="en-US" sz="1300">
                <a:latin typeface="Arial" panose="020B0604020202020204" pitchFamily="34" charset="0"/>
              </a:rPr>
              <a:t>ilə parse etməlisən.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Nəticə</a:t>
            </a:r>
            <a:r>
              <a:rPr lang="az-Latn-AZ" altLang="en-US" sz="1300">
                <a:latin typeface="Arial" panose="020B0604020202020204" pitchFamily="34" charset="0"/>
              </a:rPr>
              <a:t> olaraq,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Illuminate\Http\Client\Response obyektini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json_decode() </a:t>
            </a:r>
            <a:r>
              <a:rPr lang="en-US" altLang="en-US" sz="1300">
                <a:latin typeface="Arial" panose="020B0604020202020204" pitchFamily="34" charset="0"/>
              </a:rPr>
              <a:t>ilə </a:t>
            </a:r>
            <a:r>
              <a:rPr lang="en-US" altLang="en-US" sz="1300" b="1">
                <a:latin typeface="Arial" panose="020B0604020202020204" pitchFamily="34" charset="0"/>
              </a:rPr>
              <a:t>parse</a:t>
            </a:r>
            <a:r>
              <a:rPr lang="en-US" altLang="en-US" sz="1300">
                <a:latin typeface="Arial" panose="020B0604020202020204" pitchFamily="34" charset="0"/>
              </a:rPr>
              <a:t> etmək – bu obyektin içindəki </a:t>
            </a:r>
            <a:r>
              <a:rPr lang="en-US" altLang="en-US" sz="1300" b="1">
                <a:latin typeface="Arial" panose="020B0604020202020204" pitchFamily="34" charset="0"/>
              </a:rPr>
              <a:t>JSON formatlı cavabı </a:t>
            </a:r>
            <a:r>
              <a:rPr lang="en-US" altLang="en-US" sz="1300">
                <a:latin typeface="Arial" panose="020B0604020202020204" pitchFamily="34" charset="0"/>
              </a:rPr>
              <a:t>proqram tərəfindən </a:t>
            </a:r>
            <a:r>
              <a:rPr lang="en-US" altLang="en-US" sz="1300" b="1">
                <a:latin typeface="Arial" panose="020B0604020202020204" pitchFamily="34" charset="0"/>
              </a:rPr>
              <a:t>oxunaqlı hala gətirmək üçündür</a:t>
            </a:r>
            <a:r>
              <a:rPr lang="en-US" altLang="en-US" sz="1300">
                <a:latin typeface="Arial" panose="020B0604020202020204" pitchFamily="34" charset="0"/>
              </a:rPr>
              <a:t>. Obyektin </a:t>
            </a:r>
            <a:r>
              <a:rPr lang="en-US" altLang="en-US" sz="1300" i="1">
                <a:latin typeface="Arial" panose="020B0604020202020204" pitchFamily="34" charset="0"/>
              </a:rPr>
              <a:t>özünün məlumat strukturu </a:t>
            </a:r>
            <a:r>
              <a:rPr lang="en-US" altLang="en-US" sz="1300">
                <a:latin typeface="Arial" panose="020B0604020202020204" pitchFamily="34" charset="0"/>
              </a:rPr>
              <a:t>ilə, </a:t>
            </a:r>
            <a:r>
              <a:rPr lang="en-US" altLang="en-US" sz="1300" i="1">
                <a:latin typeface="Arial" panose="020B0604020202020204" pitchFamily="34" charset="0"/>
              </a:rPr>
              <a:t>içində saxladığı xam JSON </a:t>
            </a:r>
            <a:r>
              <a:rPr lang="en-US" altLang="en-US" sz="1300">
                <a:latin typeface="Arial" panose="020B0604020202020204" pitchFamily="34" charset="0"/>
              </a:rPr>
              <a:t>arasındakı fərqi ayırd etmək vacibdir.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FCE6A-9C5B-0092-42DB-387F2DDE8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847629"/>
            <a:ext cx="4944165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1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74D1-D06C-30D8-26DD-F2740C0D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991D55-02B8-BFAE-2A5A-BAF4854E1090}"/>
              </a:ext>
            </a:extLst>
          </p:cNvPr>
          <p:cNvSpPr txBox="1"/>
          <p:nvPr/>
        </p:nvSpPr>
        <p:spPr>
          <a:xfrm>
            <a:off x="217715" y="255046"/>
            <a:ext cx="6612294" cy="3056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Aşağıdakı iki yazılış arasındakı fərq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$response_body = json_decode($response);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$response_body = json_decode($response-&gt;body(), true);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Normalda </a:t>
            </a:r>
            <a:r>
              <a:rPr lang="az-Latn-AZ" altLang="en-US" sz="1300">
                <a:latin typeface="Arial" panose="020B0604020202020204" pitchFamily="34" charset="0"/>
              </a:rPr>
              <a:t>birinci</a:t>
            </a:r>
            <a:r>
              <a:rPr lang="en-US" altLang="en-US" sz="1300">
                <a:latin typeface="Arial" panose="020B0604020202020204" pitchFamily="34" charset="0"/>
              </a:rPr>
              <a:t> sətri yazsa</a:t>
            </a:r>
            <a:r>
              <a:rPr lang="az-Latn-AZ" altLang="en-US" sz="1300">
                <a:latin typeface="Arial" panose="020B0604020202020204" pitchFamily="34" charset="0"/>
              </a:rPr>
              <a:t>q, o işləməməlidir, çünki </a:t>
            </a:r>
            <a:r>
              <a:rPr lang="az-Latn-AZ" altLang="en-US" sz="1300" b="1">
                <a:latin typeface="Arial" panose="020B0604020202020204" pitchFamily="34" charset="0"/>
              </a:rPr>
              <a:t>$response, </a:t>
            </a:r>
            <a:r>
              <a:rPr lang="az-Latn-AZ" altLang="en-US" sz="1300">
                <a:latin typeface="Arial" panose="020B0604020202020204" pitchFamily="34" charset="0"/>
              </a:rPr>
              <a:t>obyekt (Illuminate\Http\Client\Response) tipindədir və </a:t>
            </a:r>
            <a:r>
              <a:rPr lang="az-Latn-AZ" altLang="en-US" sz="1300" b="1">
                <a:latin typeface="Arial" panose="020B0604020202020204" pitchFamily="34" charset="0"/>
              </a:rPr>
              <a:t>json_decode() </a:t>
            </a:r>
            <a:r>
              <a:rPr lang="az-Latn-AZ" altLang="en-US" sz="1300">
                <a:latin typeface="Arial" panose="020B0604020202020204" pitchFamily="34" charset="0"/>
              </a:rPr>
              <a:t>isə string qəbul edir.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Amma </a:t>
            </a:r>
            <a:r>
              <a:rPr lang="az-Latn-AZ" altLang="en-US" sz="1300">
                <a:latin typeface="Arial" panose="020B0604020202020204" pitchFamily="34" charset="0"/>
              </a:rPr>
              <a:t>bizə</a:t>
            </a:r>
            <a:r>
              <a:rPr lang="en-US" altLang="en-US" sz="1300">
                <a:latin typeface="Arial" panose="020B0604020202020204" pitchFamily="34" charset="0"/>
              </a:rPr>
              <a:t> bu nəticəni verir: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446E2-18B2-E281-6F1A-8FAB25707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413" y="0"/>
            <a:ext cx="5277587" cy="56681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E0A23F-9A42-4CF4-1C1D-060509345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6207"/>
            <a:ext cx="3181794" cy="2667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358A58-418A-9550-884F-E2B61DDCD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61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7C89-08E4-4AB3-03F9-A38CEE8E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A14C6-8B92-0914-1B4D-9C21059BD916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Bu necə mümkün olur?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SƏBƏB</a:t>
            </a:r>
            <a:r>
              <a:rPr lang="en-US" altLang="en-US" sz="1300">
                <a:latin typeface="Arial" panose="020B0604020202020204" pitchFamily="34" charset="0"/>
              </a:rPr>
              <a:t>: PHP-nin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__toString() </a:t>
            </a:r>
            <a:r>
              <a:rPr lang="en-US" altLang="en-US" sz="1300">
                <a:latin typeface="Arial" panose="020B0604020202020204" pitchFamily="34" charset="0"/>
              </a:rPr>
              <a:t>metodundan dolayı işləyir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r>
              <a:rPr lang="en-US" altLang="en-US" sz="1300">
                <a:latin typeface="Arial" panose="020B0604020202020204" pitchFamily="34" charset="0"/>
              </a:rPr>
              <a:t> Laravel-in </a:t>
            </a:r>
            <a:r>
              <a:rPr lang="en-US" altLang="en-US" sz="1300" b="1">
                <a:latin typeface="Arial" panose="020B0604020202020204" pitchFamily="34" charset="0"/>
              </a:rPr>
              <a:t>Illuminate\Http\Client\Response </a:t>
            </a:r>
            <a:r>
              <a:rPr lang="az-Latn-AZ" altLang="en-US" sz="1300">
                <a:latin typeface="Arial" panose="020B0604020202020204" pitchFamily="34" charset="0"/>
              </a:rPr>
              <a:t>class -ında</a:t>
            </a:r>
            <a:r>
              <a:rPr lang="en-US" altLang="en-US" sz="1300">
                <a:latin typeface="Arial" panose="020B0604020202020204" pitchFamily="34" charset="0"/>
              </a:rPr>
              <a:t> bu metod var: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o deməkdir ki: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əslində PHP bunu avtomatik bu hala salır: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və bu da:</a:t>
            </a:r>
            <a:r>
              <a:rPr lang="az-Latn-AZ" altLang="en-US" sz="1300">
                <a:latin typeface="Arial" panose="020B0604020202020204" pitchFamily="34" charset="0"/>
              </a:rPr>
              <a:t>   </a:t>
            </a:r>
            <a:r>
              <a:rPr lang="az-Latn-AZ" altLang="en-US" sz="1300" b="1">
                <a:latin typeface="Arial" panose="020B0604020202020204" pitchFamily="34" charset="0"/>
              </a:rPr>
              <a:t>json_decode() </a:t>
            </a:r>
            <a:r>
              <a:rPr lang="az-Latn-AZ" altLang="en-US" sz="1300">
                <a:latin typeface="Arial" panose="020B0604020202020204" pitchFamily="34" charset="0"/>
              </a:rPr>
              <a:t>avtomatik stringə çevirmək üçün </a:t>
            </a:r>
            <a:r>
              <a:rPr lang="az-Latn-AZ" altLang="en-US" sz="1300" b="1">
                <a:latin typeface="Arial" panose="020B0604020202020204" pitchFamily="34" charset="0"/>
              </a:rPr>
              <a:t>__toString() </a:t>
            </a:r>
            <a:r>
              <a:rPr lang="az-Latn-AZ" altLang="en-US" sz="1300">
                <a:latin typeface="Arial" panose="020B0604020202020204" pitchFamily="34" charset="0"/>
              </a:rPr>
              <a:t>metodunu çağırır və o da cavabın gövdəsini (  </a:t>
            </a:r>
            <a:r>
              <a:rPr lang="az-Latn-AZ" altLang="en-US" sz="1300" b="1">
                <a:latin typeface="Arial" panose="020B0604020202020204" pitchFamily="34" charset="0"/>
              </a:rPr>
              <a:t>body()   </a:t>
            </a:r>
            <a:r>
              <a:rPr lang="az-Latn-AZ" altLang="en-US" sz="1300">
                <a:latin typeface="Arial" panose="020B0604020202020204" pitchFamily="34" charset="0"/>
              </a:rPr>
              <a:t>) qaytarır.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EE093-C36D-E48F-C9E1-F73B05F76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78514"/>
            <a:ext cx="2410161" cy="1047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6A18C1-1621-3D27-E077-17C7C7441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011057"/>
            <a:ext cx="1895740" cy="438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034ABB-F75F-DA26-7906-B618147B2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3911303"/>
            <a:ext cx="2915057" cy="409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B91D14-C822-D218-B973-9292DAF27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14" y="5164035"/>
            <a:ext cx="2486372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Belə yazmaq olar, amma...</a:t>
            </a:r>
            <a:r>
              <a:rPr lang="az-Latn-AZ" altLang="en-US" sz="1300">
                <a:latin typeface="Arial" panose="020B0604020202020204" pitchFamily="34" charset="0"/>
              </a:rPr>
              <a:t> json_decode($response); Obyekt (stdClass) qaytarır.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Amma bu daha aydın və təhlükəsizdir: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true</a:t>
            </a:r>
            <a:r>
              <a:rPr lang="en-US" altLang="en-US" sz="1300">
                <a:latin typeface="Arial" panose="020B0604020202020204" pitchFamily="34" charset="0"/>
              </a:rPr>
              <a:t> verilməsinin fərqi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Hansını seçmək istəyirsənsə, koduna uyğun onu yaz. Əgər OOP ilə rahatsansa, </a:t>
            </a:r>
            <a:r>
              <a:rPr lang="az-Latn-AZ" altLang="en-US" sz="1300" b="1">
                <a:latin typeface="Arial" panose="020B0604020202020204" pitchFamily="34" charset="0"/>
              </a:rPr>
              <a:t>obyekt</a:t>
            </a:r>
            <a:r>
              <a:rPr lang="az-Latn-AZ" altLang="en-US" sz="1300">
                <a:latin typeface="Arial" panose="020B0604020202020204" pitchFamily="34" charset="0"/>
              </a:rPr>
              <a:t> strukturu (default) yaxşıdır. Əgər </a:t>
            </a:r>
            <a:r>
              <a:rPr lang="az-Latn-AZ" altLang="en-US" sz="1300" b="1">
                <a:latin typeface="Arial" panose="020B0604020202020204" pitchFamily="34" charset="0"/>
              </a:rPr>
              <a:t>array</a:t>
            </a:r>
            <a:r>
              <a:rPr lang="az-Latn-AZ" altLang="en-US" sz="1300">
                <a:latin typeface="Arial" panose="020B0604020202020204" pitchFamily="34" charset="0"/>
              </a:rPr>
              <a:t>-lərlə işləməyi xoşlayırsansa, </a:t>
            </a:r>
            <a:r>
              <a:rPr lang="az-Latn-AZ" altLang="en-US" sz="1300" b="1">
                <a:latin typeface="Arial" panose="020B0604020202020204" pitchFamily="34" charset="0"/>
              </a:rPr>
              <a:t>true</a:t>
            </a:r>
            <a:r>
              <a:rPr lang="az-Latn-AZ" altLang="en-US" sz="1300">
                <a:latin typeface="Arial" panose="020B0604020202020204" pitchFamily="34" charset="0"/>
              </a:rPr>
              <a:t> ver.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EFED1-68C4-D475-85F1-A91188EE0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09486"/>
            <a:ext cx="3410426" cy="419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31BA3E-21C7-CA40-F269-BDE4E5DEA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165144"/>
            <a:ext cx="4896533" cy="80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530689-3B9F-2BA7-2871-56BE0AEBB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04" y="4246716"/>
            <a:ext cx="3648584" cy="628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CFB705-285C-885A-F09B-089B51EEC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04" y="5738441"/>
            <a:ext cx="3991532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8DAE-2EB3-3A32-A70C-881C1A129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28A4CA-41BF-67E6-B531-BFA5CDE5CA6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80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4B8E9-0D6B-6EA9-3483-BC38E221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F5B7FD-A5C5-AE5F-0E0E-40555B2B3D9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9060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3395-52BC-5783-7FDD-A1B4B03E6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AA3BAC-9ADC-F858-9E6C-B7B6092A768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446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E18E-0F9C-C635-1576-15D67511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F62666-F7B1-666D-AB96-C4F57E2DF82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173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799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2025-07-21T09:40:56Z</dcterms:modified>
</cp:coreProperties>
</file>