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0" r:id="rId4"/>
    <p:sldId id="404" r:id="rId5"/>
    <p:sldId id="405" r:id="rId6"/>
    <p:sldId id="406" r:id="rId7"/>
    <p:sldId id="40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1997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200">
                <a:latin typeface="Arial" panose="020B0604020202020204" pitchFamily="34" charset="0"/>
              </a:rPr>
              <a:t>İndi öz proyektimizdə yaratdığımız bir nümunə ilə, </a:t>
            </a:r>
            <a:r>
              <a:rPr lang="az-Latn-AZ" altLang="en-US" sz="1200" b="1">
                <a:latin typeface="Arial" panose="020B0604020202020204" pitchFamily="34" charset="0"/>
              </a:rPr>
              <a:t>component</a:t>
            </a:r>
            <a:r>
              <a:rPr lang="az-Latn-AZ" altLang="en-US" sz="1200">
                <a:latin typeface="Arial" panose="020B0604020202020204" pitchFamily="34" charset="0"/>
              </a:rPr>
              <a:t> -i necə şablona </a:t>
            </a:r>
            <a:r>
              <a:rPr lang="az-Latn-AZ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RENDER</a:t>
            </a:r>
            <a:r>
              <a:rPr lang="az-Latn-AZ" altLang="en-US" sz="1200">
                <a:latin typeface="Arial" panose="020B0604020202020204" pitchFamily="34" charset="0"/>
              </a:rPr>
              <a:t> ( yəni göndərmək ) edə biləcəyimizi görəcəyik.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Yeni bir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</a:t>
            </a:r>
            <a:r>
              <a:rPr lang="az-Latn-AZ" altLang="en-US" sz="1200">
                <a:latin typeface="Arial" panose="020B0604020202020204" pitchFamily="34" charset="0"/>
              </a:rPr>
              <a:t>yaradırıq (təkrar olsun deyə yeni </a:t>
            </a:r>
            <a:r>
              <a:rPr lang="en-US" altLang="en-US" sz="1200">
                <a:latin typeface="Arial" panose="020B0604020202020204" pitchFamily="34" charset="0"/>
              </a:rPr>
              <a:t>view yara</a:t>
            </a:r>
            <a:r>
              <a:rPr lang="az-Latn-AZ" altLang="en-US" sz="1200">
                <a:latin typeface="Arial" panose="020B0604020202020204" pitchFamily="34" charset="0"/>
              </a:rPr>
              <a:t>dırıq. Əks halda mövcud olanlarada əlavə edə bilərdik).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</a:t>
            </a:r>
            <a:r>
              <a:rPr lang="az-Latn-AZ" altLang="en-US" sz="1200">
                <a:latin typeface="Arial" panose="020B0604020202020204" pitchFamily="34" charset="0"/>
              </a:rPr>
              <a:t>ponentləri</a:t>
            </a:r>
            <a:r>
              <a:rPr lang="en-US" altLang="en-US" sz="1200">
                <a:latin typeface="Arial" panose="020B0604020202020204" pitchFamily="34" charset="0"/>
              </a:rPr>
              <a:t>, </a:t>
            </a:r>
            <a:r>
              <a:rPr lang="en-US" altLang="en-US" sz="1200" b="1">
                <a:latin typeface="Arial" panose="020B0604020202020204" pitchFamily="34" charset="0"/>
              </a:rPr>
              <a:t>CONTACT</a:t>
            </a:r>
            <a:r>
              <a:rPr lang="en-US" altLang="en-US" sz="1200">
                <a:latin typeface="Arial" panose="020B0604020202020204" pitchFamily="34" charset="0"/>
              </a:rPr>
              <a:t> </a:t>
            </a:r>
            <a:r>
              <a:rPr lang="az-Latn-AZ" altLang="en-US" sz="1200">
                <a:latin typeface="Arial" panose="020B0604020202020204" pitchFamily="34" charset="0"/>
              </a:rPr>
              <a:t>adlı şablona render edirik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</a:t>
            </a: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qovluq içində olarsa onda qovluq adından sonra </a:t>
            </a:r>
            <a:r>
              <a:rPr lang="az-Latn-AZ" altLang="en-US" sz="1200" b="1">
                <a:solidFill>
                  <a:srgbClr val="7030A0"/>
                </a:solidFill>
                <a:latin typeface="Arial" panose="020B0604020202020204" pitchFamily="34" charset="0"/>
              </a:rPr>
              <a:t>NÖQTƏ</a:t>
            </a:r>
            <a:r>
              <a:rPr lang="az-Latn-AZ" altLang="en-US" sz="1200">
                <a:latin typeface="Arial" panose="020B0604020202020204" pitchFamily="34" charset="0"/>
              </a:rPr>
              <a:t> qoymaq lazımdır: </a:t>
            </a:r>
            <a:r>
              <a:rPr lang="az-Latn-AZ" altLang="en-US" sz="1200" b="1">
                <a:solidFill>
                  <a:srgbClr val="00B050"/>
                </a:solidFill>
                <a:latin typeface="Arial" panose="020B0604020202020204" pitchFamily="34" charset="0"/>
              </a:rPr>
              <a:t>&lt;x-forms.button /&gt;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az-Latn-AZ" altLang="en-US" sz="1200">
                <a:latin typeface="Arial" panose="020B0604020202020204" pitchFamily="34" charset="0"/>
              </a:rPr>
              <a:t>Əgər </a:t>
            </a:r>
            <a:r>
              <a:rPr lang="az-Latn-AZ" altLang="en-US" sz="1200" b="1">
                <a:latin typeface="Arial" panose="020B0604020202020204" pitchFamily="34" charset="0"/>
              </a:rPr>
              <a:t>forms</a:t>
            </a:r>
            <a:r>
              <a:rPr lang="az-Latn-AZ" altLang="en-US" sz="1200">
                <a:latin typeface="Arial" panose="020B0604020202020204" pitchFamily="34" charset="0"/>
              </a:rPr>
              <a:t> qovluğu içində başqa bir qovluq olsaydı, məsələn, `</a:t>
            </a:r>
            <a:r>
              <a:rPr lang="az-Latn-AZ" altLang="en-US" sz="1200" b="1">
                <a:solidFill>
                  <a:schemeClr val="accent2"/>
                </a:solidFill>
                <a:latin typeface="Arial" panose="020B0604020202020204" pitchFamily="34" charset="0"/>
              </a:rPr>
              <a:t>search</a:t>
            </a:r>
            <a:r>
              <a:rPr lang="az-Latn-AZ" altLang="en-US" sz="1200">
                <a:latin typeface="Arial" panose="020B0604020202020204" pitchFamily="34" charset="0"/>
              </a:rPr>
              <a:t>` onda belə yazacaqdıq: </a:t>
            </a:r>
            <a:r>
              <a:rPr lang="az-Latn-AZ" altLang="en-US" sz="1200" b="1">
                <a:solidFill>
                  <a:srgbClr val="00B050"/>
                </a:solidFill>
                <a:latin typeface="Arial" panose="020B0604020202020204" pitchFamily="34" charset="0"/>
              </a:rPr>
              <a:t>&lt;x-forms.search.button /&gt;</a:t>
            </a:r>
            <a:endParaRPr lang="az-Latn-AZ" altLang="en-US" sz="12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C8E3CD-71FF-EBF0-AE6A-DFF2000D0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380" y="2323479"/>
            <a:ext cx="8892619" cy="4534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485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Əgər </a:t>
            </a:r>
            <a:r>
              <a:rPr lang="az-Latn-AZ" altLang="en-US" sz="1300" b="1">
                <a:latin typeface="Arial" panose="020B0604020202020204" pitchFamily="34" charset="0"/>
              </a:rPr>
              <a:t>component</a:t>
            </a:r>
            <a:r>
              <a:rPr lang="az-Latn-AZ" altLang="en-US" sz="1300">
                <a:latin typeface="Arial" panose="020B0604020202020204" pitchFamily="34" charset="0"/>
              </a:rPr>
              <a:t> -in adını dəyişsək onda həmin </a:t>
            </a:r>
            <a:r>
              <a:rPr lang="az-Latn-AZ" altLang="en-US" sz="1300" b="1">
                <a:latin typeface="Arial" panose="020B0604020202020204" pitchFamily="34" charset="0"/>
              </a:rPr>
              <a:t>component</a:t>
            </a:r>
            <a:r>
              <a:rPr lang="az-Latn-AZ" altLang="en-US" sz="1300">
                <a:latin typeface="Arial" panose="020B0604020202020204" pitchFamily="34" charset="0"/>
              </a:rPr>
              <a:t> ilə əlaqəli digər fayllardada dəyişiklik etmək lazımdır. Bir istisna olmaqla..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Yəni məsələn, 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button.blade.php </a:t>
            </a:r>
            <a:r>
              <a:rPr lang="az-Latn-AZ" altLang="en-US" sz="1300">
                <a:latin typeface="Arial" panose="020B0604020202020204" pitchFamily="34" charset="0"/>
              </a:rPr>
              <a:t>componentinin adını </a:t>
            </a:r>
            <a:r>
              <a:rPr lang="az-Latn-AZ" altLang="en-US" sz="1300" b="1">
                <a:latin typeface="Arial" panose="020B0604020202020204" pitchFamily="34" charset="0"/>
              </a:rPr>
              <a:t>submit.blade.php </a:t>
            </a:r>
            <a:r>
              <a:rPr lang="az-Latn-AZ" altLang="en-US" sz="1300">
                <a:latin typeface="Arial" panose="020B0604020202020204" pitchFamily="34" charset="0"/>
              </a:rPr>
              <a:t>etsək onda `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app\View\Components\Forms\Button.php </a:t>
            </a:r>
            <a:r>
              <a:rPr lang="az-Latn-AZ" altLang="en-US" sz="1300">
                <a:latin typeface="Arial" panose="020B0604020202020204" pitchFamily="34" charset="0"/>
              </a:rPr>
              <a:t>` faylında olan </a:t>
            </a:r>
            <a:r>
              <a:rPr lang="az-Latn-AZ" altLang="en-US" sz="1300" b="1">
                <a:latin typeface="Arial" panose="020B0604020202020204" pitchFamily="34" charset="0"/>
              </a:rPr>
              <a:t>RENDER() </a:t>
            </a:r>
            <a:r>
              <a:rPr lang="az-Latn-AZ" altLang="en-US" sz="1300">
                <a:latin typeface="Arial" panose="020B0604020202020204" pitchFamily="34" charset="0"/>
              </a:rPr>
              <a:t>funksiyasında bunu qeyd etmək lazımdır.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Ancaq, `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app\View\Components\Forms\Button.php </a:t>
            </a:r>
            <a:r>
              <a:rPr lang="az-Latn-AZ" altLang="en-US" sz="1300">
                <a:latin typeface="Arial" panose="020B0604020202020204" pitchFamily="34" charset="0"/>
              </a:rPr>
              <a:t>` bu faylın adını </a:t>
            </a:r>
            <a:r>
              <a:rPr lang="az-Latn-AZ" altLang="en-US" sz="1300" b="1">
                <a:latin typeface="Arial" panose="020B0604020202020204" pitchFamily="34" charset="0"/>
              </a:rPr>
              <a:t>SUBMİT.PHP </a:t>
            </a:r>
            <a:r>
              <a:rPr lang="az-Latn-AZ" altLang="en-US" sz="1300">
                <a:latin typeface="Arial" panose="020B0604020202020204" pitchFamily="34" charset="0"/>
              </a:rPr>
              <a:t>yazmaq o qədərdə vacib deyil. Çünki bu faylın adı bizim componentimizin adını ifadə edir: </a:t>
            </a:r>
            <a:r>
              <a:rPr lang="en-US" altLang="en-US" sz="1300" b="1">
                <a:solidFill>
                  <a:schemeClr val="accent2"/>
                </a:solidFill>
                <a:latin typeface="Arial" panose="020B0604020202020204" pitchFamily="34" charset="0"/>
              </a:rPr>
              <a:t>&lt;x-forms.button /&gt;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Contact </a:t>
            </a:r>
            <a:r>
              <a:rPr lang="az-Latn-AZ" altLang="en-US" sz="1300">
                <a:latin typeface="Arial" panose="020B0604020202020204" pitchFamily="34" charset="0"/>
              </a:rPr>
              <a:t>şablonunda isə, həm </a:t>
            </a:r>
            <a:r>
              <a:rPr lang="en-US" altLang="en-US" sz="1300" b="1">
                <a:solidFill>
                  <a:schemeClr val="accent2"/>
                </a:solidFill>
                <a:latin typeface="Arial" panose="020B0604020202020204" pitchFamily="34" charset="0"/>
              </a:rPr>
              <a:t>&lt;x-forms.button /&gt; </a:t>
            </a:r>
            <a:r>
              <a:rPr lang="az-Latn-AZ" altLang="en-US" sz="1300" b="1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həmdə </a:t>
            </a:r>
            <a:r>
              <a:rPr lang="en-US" altLang="en-US" sz="1300" b="1">
                <a:solidFill>
                  <a:schemeClr val="accent2"/>
                </a:solidFill>
                <a:latin typeface="Arial" panose="020B0604020202020204" pitchFamily="34" charset="0"/>
              </a:rPr>
              <a:t>&lt;x-forms.</a:t>
            </a:r>
            <a:r>
              <a:rPr lang="az-Latn-AZ" altLang="en-US" sz="1300" b="1">
                <a:solidFill>
                  <a:schemeClr val="accent2"/>
                </a:solidFill>
                <a:latin typeface="Arial" panose="020B0604020202020204" pitchFamily="34" charset="0"/>
              </a:rPr>
              <a:t>submit</a:t>
            </a:r>
            <a:r>
              <a:rPr lang="en-US" altLang="en-US" sz="1300" b="1">
                <a:solidFill>
                  <a:schemeClr val="accent2"/>
                </a:solidFill>
                <a:latin typeface="Arial" panose="020B0604020202020204" pitchFamily="34" charset="0"/>
              </a:rPr>
              <a:t> /&gt; </a:t>
            </a:r>
            <a:r>
              <a:rPr lang="az-Latn-AZ" altLang="en-US" sz="1300" b="1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yazaraq çağırmaq olar bu componenti.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Təbii ki, belə bir hal, proyekt böyüdükcə sizdə çaşqınlıq yarada bilər.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Bunun üçün a</a:t>
            </a:r>
            <a:r>
              <a:rPr lang="az-Latn-AZ" altLang="en-US" sz="1300">
                <a:latin typeface="Arial" panose="020B0604020202020204" pitchFamily="34" charset="0"/>
              </a:rPr>
              <a:t>dları fərqli təyin etməmək daha məsləhətdir.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Burada yaxşı olardıki </a:t>
            </a:r>
            <a:r>
              <a:rPr lang="az-Latn-AZ" altLang="en-US" sz="1300" b="1">
                <a:latin typeface="Arial" panose="020B0604020202020204" pitchFamily="34" charset="0"/>
              </a:rPr>
              <a:t>Forms</a:t>
            </a:r>
            <a:r>
              <a:rPr lang="az-Latn-AZ" altLang="en-US" sz="1300">
                <a:latin typeface="Arial" panose="020B0604020202020204" pitchFamily="34" charset="0"/>
              </a:rPr>
              <a:t> içində olan </a:t>
            </a:r>
            <a:r>
              <a:rPr lang="az-Latn-AZ" altLang="en-US" sz="1300" b="1">
                <a:latin typeface="Arial" panose="020B0604020202020204" pitchFamily="34" charset="0"/>
              </a:rPr>
              <a:t>Button.php </a:t>
            </a:r>
            <a:r>
              <a:rPr lang="az-Latn-AZ" altLang="en-US" sz="1300">
                <a:latin typeface="Arial" panose="020B0604020202020204" pitchFamily="34" charset="0"/>
              </a:rPr>
              <a:t>faylının adınıda,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Submit.php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olaraq dəyişəsiz. Ancaq gördüz ki, dəyişməsəzdə işləyəcək.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72B80C-4279-1A32-F70A-DB1A6723F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386" y="3406498"/>
            <a:ext cx="5866614" cy="34515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0E10B5-5149-7882-1614-457273672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90" y="5240508"/>
            <a:ext cx="2612546" cy="14886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VACİB QEYD</a:t>
            </a:r>
            <a:r>
              <a:rPr lang="az-Latn-AZ" altLang="en-US" sz="1300">
                <a:latin typeface="Arial" panose="020B0604020202020204" pitchFamily="34" charset="0"/>
              </a:rPr>
              <a:t>: </a:t>
            </a:r>
            <a:r>
              <a:rPr lang="az-Latn-AZ" altLang="en-US" sz="1300" b="1">
                <a:latin typeface="Arial" panose="020B0604020202020204" pitchFamily="34" charset="0"/>
              </a:rPr>
              <a:t>component</a:t>
            </a:r>
            <a:r>
              <a:rPr lang="az-Latn-AZ" altLang="en-US" sz="1300">
                <a:latin typeface="Arial" panose="020B0604020202020204" pitchFamily="34" charset="0"/>
              </a:rPr>
              <a:t> adlarının fərqli yazılış formalarını bilmək onun üçün vacibdirki, əgər </a:t>
            </a:r>
            <a:r>
              <a:rPr lang="az-Latn-AZ" altLang="en-US" sz="1300" b="1">
                <a:latin typeface="Arial" panose="020B0604020202020204" pitchFamily="34" charset="0"/>
              </a:rPr>
              <a:t>componenti</a:t>
            </a:r>
            <a:r>
              <a:rPr lang="az-Latn-AZ" altLang="en-US" sz="1300">
                <a:latin typeface="Arial" panose="020B0604020202020204" pitchFamily="34" charset="0"/>
              </a:rPr>
              <a:t> aşağı şəkildəki kimi </a:t>
            </a:r>
            <a:r>
              <a:rPr lang="az-Latn-AZ" altLang="en-US" sz="1300" b="1">
                <a:solidFill>
                  <a:schemeClr val="accent2"/>
                </a:solidFill>
                <a:latin typeface="Arial" panose="020B0604020202020204" pitchFamily="34" charset="0"/>
              </a:rPr>
              <a:t>camelCase</a:t>
            </a:r>
            <a:r>
              <a:rPr lang="az-Latn-AZ" altLang="en-US" sz="1300">
                <a:latin typeface="Arial" panose="020B0604020202020204" pitchFamily="34" charset="0"/>
              </a:rPr>
              <a:t> formasında yaratsaq onda, 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faylın adı </a:t>
            </a:r>
            <a:r>
              <a:rPr lang="az-Latn-AZ" altLang="en-US" sz="1300">
                <a:latin typeface="Arial" panose="020B0604020202020204" pitchFamily="34" charset="0"/>
              </a:rPr>
              <a:t>ilə 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render() </a:t>
            </a:r>
            <a:r>
              <a:rPr lang="az-Latn-AZ" altLang="en-US" sz="1300">
                <a:latin typeface="Arial" panose="020B0604020202020204" pitchFamily="34" charset="0"/>
              </a:rPr>
              <a:t>funksiyasında yazılan kodda həmin </a:t>
            </a:r>
            <a:r>
              <a:rPr lang="az-Latn-AZ" altLang="en-US" sz="1300" b="1">
                <a:latin typeface="Arial" panose="020B0604020202020204" pitchFamily="34" charset="0"/>
              </a:rPr>
              <a:t>ad</a:t>
            </a:r>
            <a:r>
              <a:rPr lang="az-Latn-AZ" altLang="en-US" sz="1300">
                <a:latin typeface="Arial" panose="020B0604020202020204" pitchFamily="34" charset="0"/>
              </a:rPr>
              <a:t> fərqli olur. Bu zaman istər </a:t>
            </a:r>
            <a:r>
              <a:rPr lang="az-Latn-AZ" altLang="en-US" sz="1300" b="1">
                <a:latin typeface="Arial" panose="020B0604020202020204" pitchFamily="34" charset="0"/>
              </a:rPr>
              <a:t>faylın adına </a:t>
            </a:r>
            <a:r>
              <a:rPr lang="az-Latn-AZ" altLang="en-US" sz="1300">
                <a:latin typeface="Arial" panose="020B0604020202020204" pitchFamily="34" charset="0"/>
              </a:rPr>
              <a:t>oxşadaraq, istərsədə </a:t>
            </a:r>
            <a:r>
              <a:rPr lang="az-Latn-AZ" altLang="en-US" sz="1300" b="1">
                <a:latin typeface="Arial" panose="020B0604020202020204" pitchFamily="34" charset="0"/>
              </a:rPr>
              <a:t>render() </a:t>
            </a:r>
            <a:r>
              <a:rPr lang="az-Latn-AZ" altLang="en-US" sz="1300">
                <a:latin typeface="Arial" panose="020B0604020202020204" pitchFamily="34" charset="0"/>
              </a:rPr>
              <a:t>də qeyd edilən şəkildə yazaraq çağıra bilərsiz </a:t>
            </a:r>
            <a:r>
              <a:rPr lang="az-Latn-AZ" altLang="en-US" sz="1300" b="1">
                <a:latin typeface="Arial" panose="020B0604020202020204" pitchFamily="34" charset="0"/>
              </a:rPr>
              <a:t>componenti</a:t>
            </a:r>
            <a:r>
              <a:rPr lang="az-Latn-AZ" altLang="en-US" sz="1300">
                <a:latin typeface="Arial" panose="020B0604020202020204" pitchFamily="34" charset="0"/>
              </a:rPr>
              <a:t>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BBFF01-7D96-74EE-7980-4251354B8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194" y="2680375"/>
            <a:ext cx="9037806" cy="41776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C70182-0AA8-ABE7-A8E7-E24986B70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42" y="5055728"/>
            <a:ext cx="2466298" cy="16719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3DF5D-1869-296E-24E8-35E527FC7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0F8723-FDA1-5FCC-F6C9-E2D6386960B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3181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79A6A-552A-D9B0-2AF1-708C84B9E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717F09-3675-2445-ACF8-CBE884CBA0B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7514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D3772-6B25-4545-A6E4-7C49824A4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1D9747-5B6A-BB2C-7B88-9E03922CA03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7198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BC81F-D622-A3A1-EC85-2918EE205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CF5640-1A68-DB96-5E6A-5E2B10F4666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5278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2457</TotalTime>
  <Words>325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338</cp:revision>
  <dcterms:created xsi:type="dcterms:W3CDTF">2025-04-12T11:00:44Z</dcterms:created>
  <dcterms:modified xsi:type="dcterms:W3CDTF">2025-05-25T05:38:48Z</dcterms:modified>
</cp:coreProperties>
</file>