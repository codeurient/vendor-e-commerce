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4" r:id="rId4"/>
    <p:sldId id="405" r:id="rId5"/>
    <p:sldId id="406" r:id="rId6"/>
    <p:sldId id="407" r:id="rId7"/>
    <p:sldId id="400" r:id="rId8"/>
    <p:sldId id="413" r:id="rId9"/>
    <p:sldId id="408" r:id="rId10"/>
    <p:sldId id="409" r:id="rId11"/>
    <p:sldId id="410" r:id="rId12"/>
    <p:sldId id="411" r:id="rId13"/>
    <p:sldId id="412" r:id="rId14"/>
    <p:sldId id="414" r:id="rId15"/>
    <p:sldId id="415" r:id="rId16"/>
    <p:sldId id="416" r:id="rId17"/>
    <p:sldId id="417" r:id="rId18"/>
    <p:sldId id="419" r:id="rId19"/>
    <p:sldId id="420" r:id="rId20"/>
    <p:sldId id="421" r:id="rId21"/>
    <p:sldId id="422" r:id="rId22"/>
    <p:sldId id="423" r:id="rId23"/>
    <p:sldId id="424" r:id="rId24"/>
    <p:sldId id="425" r:id="rId25"/>
    <p:sldId id="41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4T14:02:51.9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781 9991 24575,'-38'0'0,"0"-2"0,0-1 0,0-2 0,-40-11 0,60 11 0,0-1 0,1 0 0,-1-2 0,2 0 0,-1 0 0,1-2 0,0 0 0,1-1 0,0 0 0,-19-20 0,17 13 0,-26-26 0,-58-48 0,81 76 0,0 0 0,1-1 0,1-1 0,1-1 0,-18-26 0,27 33 0,0-1 0,1 0 0,1 0 0,0 0 0,1-1 0,0 0 0,1 0 0,1 0 0,0-1 0,-1-23 0,3-335 0,4 175 0,-4 176 0,0 0 0,2-1 0,1 1 0,1 0 0,1 0 0,1 0 0,12-35 0,-9 33 0,-1-1 0,-2 0 0,6-46 0,-3 15 0,-5 26 0,-1-1 0,-2-41 0,-1 41 0,2 0 0,4-35 0,-2 52 0,1 0 0,0 0 0,8-17 0,-6 18 0,-1 1 0,-1-1 0,0 0 0,3-23 0,-3-31 0,-3 43 0,0 0 0,2 1 0,10-46 0,-4 36 0,-1-1 0,-2 0 0,-1 0 0,-2 0 0,-2-52 0,0 69 0,1 0 0,1-1 0,0 1 0,1 0 0,8-21 0,-5 17 0,-1-2 0,4-25 0,-3-60 0,5-32 0,10 26 0,12-82 0,-25-4 0,-9 125 0,12-85 0,-6 123 0,2-1 0,20-59 0,-16 53 0,-2-1 0,-2 0 0,-2 0 0,1-54 0,-5 45 0,4 1 0,16-77 0,45-228 0,-35 159 0,-10 99 0,-11 55 0,-2 0 0,4-56 0,-10 46 0,2 0 0,15-65 0,-10 66 0,-2 1 0,3-83 0,-13-112 0,-1 87 0,3-2256 0,2 2396 0,0 1 0,1-1 0,1 1 0,11-33 0,-8 30 0,-1 0 0,0 0 0,1-29 0,-5 24 0,-2 9 0,1-1 0,1 1 0,1 0 0,1 0 0,11-33 0,0 8 0,13-66 0,-1 3 0,-6 48 0,-13 39 0,-1-1 0,0 0 0,5-38 0,-7 12 0,2 1 0,19-69 0,-19 94 0,0 0 0,2 1 0,0 0 0,2 0 0,0 1 0,1 1 0,22-28 0,1 3 0,-24 28 0,0 1 0,0 0 0,2 1 0,0 0 0,0 1 0,1 0 0,0 1 0,22-13 0,75-15-1365,-90 32-5461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4T14:02:54.8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24575,'76'-2'0,"-46"0"0,0 1 0,0 1 0,0 2 0,0 1 0,41 9 0,-68-11 0,1 0 0,0 1 0,-1-1 0,1 1 0,0 0 0,-1 0 0,0 0 0,1 0 0,-1 1 0,0-1 0,0 1 0,-1 0 0,1 0 0,-1 0 0,1 0 0,-1 0 0,0 1 0,0-1 0,0 1 0,0-1 0,-1 1 0,0 0 0,1 0 0,-1-1 0,-1 1 0,1 0 0,0 8 0,-1-5 0,0 0 0,-1 1 0,0-1 0,0 0 0,-1 1 0,0-1 0,0 0 0,-1 0 0,1 0 0,-2-1 0,1 1 0,-1-1 0,0 1 0,-5 5 0,-55 76-1365,52-72-5461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4T14:03:04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11052 24575,'66'0'0,"1"3"0,105 19 0,-48 0 0,1-6 0,246 0 0,2271-21 0,-1430 8 0,409-3 0,-818-59 0,-276 9 0,355 22-297,-1 30-211,-372 2 623,1671-2-115,-1341-63 0,-16-72 0,-732 117 0,323-63 0,-4-18 0,613-230 0,-754 222 52,711-293-161,-687 264 483,351-221-1,-85-42-373,-188 111 0,206-172 0,-453 349 0,-6-6 0,152-188 0,-149 134 0,-7-5 0,170-354 0,-21 40 0,-258 479 0,38-71 0,-3-3 0,-5-1 0,-2-1 0,30-134 0,-33 79 0,-7-1 0,5-166 0,-21 183 0,-14-187 0,3 267 0,-2 1 0,-2 1 0,-2-1 0,-2 2 0,-1-1 0,-2 2 0,-40-76 0,18 58 0,-2 2 0,-49-55 0,-103-95 0,53 59 0,62 62 0,-252-267 0,237 264 0,-184-138 0,-636-323 0,171 200 0,656 312 0,-965-393 0,910 376 0,-81-32 0,-291-72 0,-260 8 0,-9 39 0,602 87 0,-223-42 0,-75-9 0,124 31 0,-802-72 0,-164-6 0,-220 0 0,899 96 0,-79-2 0,-431-49 0,953 56 0,-425-33 0,-199-12 0,531 39 0,-223-24 0,-175-15 0,142 40 0,-1515 27 0,1995-6-1365,32-1-5461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4T14:03:05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0 167 24575,'0'-5'0,"5"-1"0,5-4 0,10 0 0,7-3 0,2-4 0,1 1 0,4 4 0,1 3 0,-1 4 0,-2 2 0,-7-7 0,-3-2 0,0 2 0,-1 1 0,-2-1 0,-6 1-8191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4T14:03:07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24575,'5'9'0,"10"11"0,6 7 0,1 4 0,0 0 0,1 0 0,2-1 0,-5-2 0,0 0 0,0-2 0,2 0 0,5 0 0,-2 0 0,-4-5-8191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customXml" Target="../ink/ink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65451"/>
            <a:ext cx="11756571" cy="568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-d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Blade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component 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-ləri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müasir və təmiz görünüşlü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front-end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hazırlamaq üçün çox güclü bir xüsusiyyətdir.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İlk öncə aşağıdakı əmrlə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BUTTON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adında bir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yaradaq və növbəti slaydda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blade komponentləri 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haqqında ətraflı izah edəcəm....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059EE2-435D-B833-8027-5248451B0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9674"/>
            <a:ext cx="12192000" cy="614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Introduction to Blade Components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Blade Komponentlərinə Giriş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)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Blade komponentləri Laravel-in təklif etdiyi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yenidən istifadə oluna bilən HTML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qurğularıdır. Onlar həm "UI" elementləri, həm də funksional kod blokları kimi istifadə olunur.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Niyə istifadə olunur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Təkrarlanan HTML kodlarını azaldır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Kodun strukturunu daha təmiz və oxunaqlı edir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Yenidən istifadə imkanları artır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Nümunə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izdə saytda çox yerdə eyni “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 mesajı göstərilirsə,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yaxud eyni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istifadə edilirsə,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onu komponent kimi yarada və lazım olan yerdə istifadə edə bilər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ik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17436-783D-0B6C-0B97-0595E6FE9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E6CC49-74D7-9E92-9B0F-69D7FCD6C3AF}"/>
              </a:ext>
            </a:extLst>
          </p:cNvPr>
          <p:cNvSpPr txBox="1"/>
          <p:nvPr/>
        </p:nvSpPr>
        <p:spPr>
          <a:xfrm>
            <a:off x="217714" y="255046"/>
            <a:ext cx="1175657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/>
              <a:t>2. </a:t>
            </a:r>
            <a:r>
              <a:rPr lang="en-US" sz="1400" b="1">
                <a:solidFill>
                  <a:srgbClr val="FF0000"/>
                </a:solidFill>
              </a:rPr>
              <a:t>Creating Blade Components</a:t>
            </a:r>
            <a:r>
              <a:rPr lang="az-Latn-AZ" sz="1400" b="1">
                <a:solidFill>
                  <a:srgbClr val="FF0000"/>
                </a:solidFill>
              </a:rPr>
              <a:t> </a:t>
            </a:r>
            <a:r>
              <a:rPr lang="az-Latn-AZ" sz="1400"/>
              <a:t>( </a:t>
            </a:r>
            <a:r>
              <a:rPr lang="en-US" sz="1400"/>
              <a:t>Blade Komponentinin Yaradılması</a:t>
            </a:r>
            <a:r>
              <a:rPr lang="az-Latn-AZ" sz="1400"/>
              <a:t> )</a:t>
            </a:r>
          </a:p>
          <a:p>
            <a:endParaRPr lang="az-Latn-AZ" sz="1400"/>
          </a:p>
          <a:p>
            <a:r>
              <a:rPr lang="en-US" sz="1400"/>
              <a:t>Artisan Əmrindən istifadə</a:t>
            </a:r>
            <a:r>
              <a:rPr lang="az-Latn-AZ" sz="1400"/>
              <a:t> edərək component yaradılır</a:t>
            </a:r>
            <a:r>
              <a:rPr lang="en-US" sz="1400"/>
              <a:t>:</a:t>
            </a:r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r>
              <a:rPr lang="en-US" sz="1400" b="1"/>
              <a:t>Bu əmr aşağıdakı faylları yaradacaq</a:t>
            </a:r>
            <a:r>
              <a:rPr lang="en-US" sz="140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app/View/Components/</a:t>
            </a:r>
            <a:r>
              <a:rPr lang="az-Latn-AZ" sz="1400" b="1">
                <a:solidFill>
                  <a:srgbClr val="00B050"/>
                </a:solidFill>
              </a:rPr>
              <a:t>Button</a:t>
            </a:r>
            <a:r>
              <a:rPr lang="en-US" sz="1400" b="1">
                <a:solidFill>
                  <a:srgbClr val="00B050"/>
                </a:solidFill>
              </a:rPr>
              <a:t>.php</a:t>
            </a:r>
            <a:r>
              <a:rPr lang="en-US" sz="1400"/>
              <a:t> – komponentin PHP </a:t>
            </a:r>
            <a:r>
              <a:rPr lang="az-Latn-AZ" sz="1400"/>
              <a:t>class -ı</a:t>
            </a:r>
            <a:endParaRPr lang="en-US" sz="140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70C0"/>
                </a:solidFill>
              </a:rPr>
              <a:t>resources/views/components/</a:t>
            </a:r>
            <a:r>
              <a:rPr lang="az-Latn-AZ" sz="1400" b="1">
                <a:solidFill>
                  <a:srgbClr val="0070C0"/>
                </a:solidFill>
              </a:rPr>
              <a:t>button</a:t>
            </a:r>
            <a:r>
              <a:rPr lang="en-US" sz="1400" b="1">
                <a:solidFill>
                  <a:srgbClr val="0070C0"/>
                </a:solidFill>
              </a:rPr>
              <a:t>.blade.php </a:t>
            </a:r>
            <a:r>
              <a:rPr lang="en-US" sz="1400"/>
              <a:t>– komponentin görünüş faylı</a:t>
            </a:r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15DF4F-E4D0-8444-8B2A-E43E9F865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3425"/>
            <a:ext cx="3267531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522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06F7A-C3E9-219B-ED29-A4FED56CF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739856-B48D-CEA0-E9F6-25DA7D07B624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Rendering Blade Components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 Blade Komponentini Çağırmaq / İcra Etmək )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Komponenti istifadə etmək çox sadədir. Komponentin adını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&lt;x-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ilə istifadə edirik: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resources/views/components/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button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.blade.php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mövcuddursa, bu kod onu icra edəcək.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komponent bir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-a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sahibdirsə (yəni </a:t>
            </a:r>
            <a:r>
              <a:rPr kumimoji="0" lang="en-US" altLang="en-US" sz="1300" b="1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View/Components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qovluğundadırsa), Laravel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avtomatik onu tapıb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icra edəcək.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15302C-A121-0EA7-17A2-5ABFADDC8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0116"/>
            <a:ext cx="1743318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054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D8384-9D5F-61E6-1B3A-3AAC45A42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B95654-CE7F-8E85-A087-1E967055B890}"/>
              </a:ext>
            </a:extLst>
          </p:cNvPr>
          <p:cNvSpPr txBox="1"/>
          <p:nvPr/>
        </p:nvSpPr>
        <p:spPr>
          <a:xfrm>
            <a:off x="217714" y="255046"/>
            <a:ext cx="11756571" cy="545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Passing Data To Components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 K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omponentlərə Məlumat Göndərmək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)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Komponentə attribute formasında məlumat göndərə bilərsiniz: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.php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-ı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.blade.php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şablonu (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C80D89-5179-E7E8-0C40-7EF568742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3454"/>
            <a:ext cx="4915586" cy="543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1165A1-D866-3FAA-B4B5-889B8BF71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84446"/>
            <a:ext cx="4429743" cy="20862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F2F782-D6A0-39CD-1B19-33D41AE5B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11796"/>
            <a:ext cx="3448531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48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9947B-8725-1D3B-E0E7-0ABC59EFF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7B6CCE-8837-4FB6-7B14-93DACCA9CB5E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Component Slots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 Komponent Slotları (Yəni Daxili Məzmun) )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Bəzən komponentə məzmun ötürmək istəyirik. Bunun üçün slot istifadə olunur.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5.1. Default Slot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button.blade.php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içində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isə yazırıq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8B0BA3-802B-CC52-91A9-FFF577347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39296"/>
            <a:ext cx="3200847" cy="933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C9649A-967C-7C6F-A39D-BBC6DDD91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11"/>
            <a:ext cx="3581900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431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10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200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5.2. Named Slots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(Adlandırılmış slotlar):</a:t>
            </a:r>
            <a:r>
              <a:rPr lang="az-Latn-AZ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az-Latn-AZ" sz="1200" b="1">
                <a:latin typeface="Arial" panose="020B0604020202020204" pitchFamily="34" charset="0"/>
                <a:cs typeface="Arial" panose="020B0604020202020204" pitchFamily="34" charset="0"/>
              </a:rPr>
              <a:t>Button</a:t>
            </a:r>
            <a:r>
              <a:rPr lang="az-Latn-AZ" sz="1200">
                <a:latin typeface="Arial" panose="020B0604020202020204" pitchFamily="34" charset="0"/>
                <a:cs typeface="Arial" panose="020B0604020202020204" pitchFamily="34" charset="0"/>
              </a:rPr>
              <a:t> adlı </a:t>
            </a:r>
            <a:r>
              <a:rPr lang="az-Latn-AZ" sz="1200" b="1"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az-Latn-AZ" sz="1200">
                <a:latin typeface="Arial" panose="020B0604020202020204" pitchFamily="34" charset="0"/>
                <a:cs typeface="Arial" panose="020B0604020202020204" pitchFamily="34" charset="0"/>
              </a:rPr>
              <a:t> yaratmışıqsa, adlandırılmış slotlar (named slots) anlayışını izah edərkən məhz bu nümunə üzərindən gedək ki, daha rahat başa düşək.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 b="1">
                <a:latin typeface="Arial" panose="020B0604020202020204" pitchFamily="34" charset="0"/>
                <a:cs typeface="Arial" panose="020B0604020202020204" pitchFamily="34" charset="0"/>
              </a:rPr>
              <a:t>Nədir Named Slot?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  <a:cs typeface="Arial" panose="020B0604020202020204" pitchFamily="34" charset="0"/>
              </a:rPr>
              <a:t>Named slot – komponentin içində </a:t>
            </a:r>
            <a:r>
              <a:rPr lang="az-Latn-AZ" altLang="en-US" sz="1200" b="1" i="1">
                <a:latin typeface="Arial" panose="020B0604020202020204" pitchFamily="34" charset="0"/>
                <a:cs typeface="Arial" panose="020B0604020202020204" pitchFamily="34" charset="0"/>
              </a:rPr>
              <a:t>fərqli yerlərə fərqli məzmunlar </a:t>
            </a:r>
            <a:r>
              <a:rPr lang="az-Latn-AZ" altLang="en-US" sz="1200">
                <a:latin typeface="Arial" panose="020B0604020202020204" pitchFamily="34" charset="0"/>
                <a:cs typeface="Arial" panose="020B0604020202020204" pitchFamily="34" charset="0"/>
              </a:rPr>
              <a:t>ötürmək üçündür. Yəni siz bir komponent daxilindəki </a:t>
            </a:r>
            <a:r>
              <a:rPr lang="az-Latn-AZ" altLang="en-US" sz="1200" b="1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lang="az-Latn-AZ" altLang="en-US" sz="12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az-Latn-AZ" altLang="en-US" sz="1200" b="1">
                <a:latin typeface="Arial" panose="020B0604020202020204" pitchFamily="34" charset="0"/>
                <a:cs typeface="Arial" panose="020B0604020202020204" pitchFamily="34" charset="0"/>
              </a:rPr>
              <a:t>icon</a:t>
            </a:r>
            <a:r>
              <a:rPr lang="az-Latn-AZ" altLang="en-US" sz="12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az-Latn-AZ" altLang="en-US" sz="1200" b="1">
                <a:latin typeface="Arial" panose="020B0604020202020204" pitchFamily="34" charset="0"/>
                <a:cs typeface="Arial" panose="020B0604020202020204" pitchFamily="34" charset="0"/>
              </a:rPr>
              <a:t>footer</a:t>
            </a:r>
            <a:r>
              <a:rPr lang="az-Latn-AZ" altLang="en-US" sz="1200">
                <a:latin typeface="Arial" panose="020B0604020202020204" pitchFamily="34" charset="0"/>
                <a:cs typeface="Arial" panose="020B0604020202020204" pitchFamily="34" charset="0"/>
              </a:rPr>
              <a:t> və s. kimi ayrı-ayrı hissələrə məzmun göndərə bilərsiniz.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8486D-3E10-1497-63B5-8E494DF82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3463AD-0FDB-75D1-2ADE-E78BFE0121CF}"/>
              </a:ext>
            </a:extLst>
          </p:cNvPr>
          <p:cNvSpPr txBox="1"/>
          <p:nvPr/>
        </p:nvSpPr>
        <p:spPr>
          <a:xfrm>
            <a:off x="217714" y="255046"/>
            <a:ext cx="11756571" cy="5321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Məsələn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Button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Componentinə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Icon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və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göndərmək istəyirsiniz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📁 </a:t>
            </a:r>
            <a:r>
              <a:rPr kumimoji="0" lang="en-US" altLang="en-US" sz="1200" i="0" u="sng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resources/views/components/button.blade.php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Burada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$icon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named slot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-dur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$slot 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isə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default slot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it-IT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İndi bu komponenti belə istifadə edirik</a:t>
            </a:r>
            <a:r>
              <a:rPr kumimoji="0" lang="it-IT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Burada: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&lt;x-slot name="icon"&gt;...&lt;/x-slot&gt; 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 bu məzmun komponentdəki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{{ $icon }} 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yerinə daxil olacaq 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Click Me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bu isə default slotdur, yəni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{{ $slot }} 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yerinə düşəcək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281E26-599F-D475-B682-E9B4F8F530AE}"/>
              </a:ext>
            </a:extLst>
          </p:cNvPr>
          <p:cNvGrpSpPr/>
          <p:nvPr/>
        </p:nvGrpSpPr>
        <p:grpSpPr>
          <a:xfrm>
            <a:off x="-1" y="929245"/>
            <a:ext cx="8781782" cy="5928756"/>
            <a:chOff x="-1" y="929245"/>
            <a:chExt cx="8781782" cy="592875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439A304-0135-FAB4-495E-8FDCF9B97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8875" y="929245"/>
              <a:ext cx="3153681" cy="185127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9B49E7E-C8D5-944E-AE18-DD35988FF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4745187"/>
              <a:ext cx="3292557" cy="211281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AD5519E-ABE5-2586-A7CD-42003FCF9918}"/>
                </a:ext>
              </a:extLst>
            </p:cNvPr>
            <p:cNvGrpSpPr/>
            <p:nvPr/>
          </p:nvGrpSpPr>
          <p:grpSpPr>
            <a:xfrm>
              <a:off x="73381" y="1705158"/>
              <a:ext cx="506160" cy="3641400"/>
              <a:chOff x="73381" y="1705158"/>
              <a:chExt cx="506160" cy="36414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4">
                <p14:nvContentPartPr>
                  <p14:cNvPr id="2" name="Ink 1">
                    <a:extLst>
                      <a:ext uri="{FF2B5EF4-FFF2-40B4-BE49-F238E27FC236}">
                        <a16:creationId xmlns:a16="http://schemas.microsoft.com/office/drawing/2014/main" id="{74E3BA8E-A07A-BE07-BEC3-570767546E9F}"/>
                      </a:ext>
                    </a:extLst>
                  </p14:cNvPr>
                  <p14:cNvContentPartPr/>
                  <p14:nvPr/>
                </p14:nvContentPartPr>
                <p14:xfrm>
                  <a:off x="73381" y="1749798"/>
                  <a:ext cx="466920" cy="3596760"/>
                </p14:xfrm>
              </p:contentPart>
            </mc:Choice>
            <mc:Fallback>
              <p:pic>
                <p:nvPicPr>
                  <p:cNvPr id="2" name="Ink 1">
                    <a:extLst>
                      <a:ext uri="{FF2B5EF4-FFF2-40B4-BE49-F238E27FC236}">
                        <a16:creationId xmlns:a16="http://schemas.microsoft.com/office/drawing/2014/main" id="{74E3BA8E-A07A-BE07-BEC3-570767546E9F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7261" y="1743678"/>
                    <a:ext cx="479160" cy="3609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">
                <p14:nvContentPartPr>
                  <p14:cNvPr id="4" name="Ink 3">
                    <a:extLst>
                      <a:ext uri="{FF2B5EF4-FFF2-40B4-BE49-F238E27FC236}">
                        <a16:creationId xmlns:a16="http://schemas.microsoft.com/office/drawing/2014/main" id="{B153E724-C0E8-908D-BACB-DCCB3145CAC5}"/>
                      </a:ext>
                    </a:extLst>
                  </p14:cNvPr>
                  <p14:cNvContentPartPr/>
                  <p14:nvPr/>
                </p14:nvContentPartPr>
                <p14:xfrm>
                  <a:off x="447781" y="1705158"/>
                  <a:ext cx="131760" cy="114840"/>
                </p14:xfrm>
              </p:contentPart>
            </mc:Choice>
            <mc:Fallback>
              <p:pic>
                <p:nvPicPr>
                  <p:cNvPr id="4" name="Ink 3">
                    <a:extLst>
                      <a:ext uri="{FF2B5EF4-FFF2-40B4-BE49-F238E27FC236}">
                        <a16:creationId xmlns:a16="http://schemas.microsoft.com/office/drawing/2014/main" id="{B153E724-C0E8-908D-BACB-DCCB3145CAC5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441661" y="1699038"/>
                    <a:ext cx="144000" cy="1270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FECC2C9-9916-28D8-3E02-5385F9E7787B}"/>
                </a:ext>
              </a:extLst>
            </p:cNvPr>
            <p:cNvGrpSpPr/>
            <p:nvPr/>
          </p:nvGrpSpPr>
          <p:grpSpPr>
            <a:xfrm>
              <a:off x="1194061" y="2309958"/>
              <a:ext cx="7587720" cy="4082400"/>
              <a:chOff x="1194061" y="2309958"/>
              <a:chExt cx="7587720" cy="40824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8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2733E074-0456-7BFB-0582-2B6FE63462C3}"/>
                      </a:ext>
                    </a:extLst>
                  </p14:cNvPr>
                  <p14:cNvContentPartPr/>
                  <p14:nvPr/>
                </p14:nvContentPartPr>
                <p14:xfrm>
                  <a:off x="1194061" y="2384838"/>
                  <a:ext cx="7587720" cy="4007520"/>
                </p14:xfrm>
              </p:contentPart>
            </mc:Choice>
            <mc:Fallback>
              <p:pic>
                <p:nvPicPr>
                  <p:cNvPr id="9" name="Ink 8">
                    <a:extLst>
                      <a:ext uri="{FF2B5EF4-FFF2-40B4-BE49-F238E27FC236}">
                        <a16:creationId xmlns:a16="http://schemas.microsoft.com/office/drawing/2014/main" id="{2733E074-0456-7BFB-0582-2B6FE63462C3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187941" y="2378718"/>
                    <a:ext cx="7599960" cy="4019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2CC49957-EAF1-8847-B360-49572B0AB14F}"/>
                      </a:ext>
                    </a:extLst>
                  </p14:cNvPr>
                  <p14:cNvContentPartPr/>
                  <p14:nvPr/>
                </p14:nvContentPartPr>
                <p14:xfrm>
                  <a:off x="1427341" y="2309958"/>
                  <a:ext cx="136080" cy="60120"/>
                </p14:xfrm>
              </p:contentPart>
            </mc:Choice>
            <mc:Fallback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2CC49957-EAF1-8847-B360-49572B0AB14F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421221" y="2303838"/>
                    <a:ext cx="148320" cy="72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ABAB3C28-F96D-0A05-4AF3-D257F60F62A7}"/>
                      </a:ext>
                    </a:extLst>
                  </p14:cNvPr>
                  <p14:cNvContentPartPr/>
                  <p14:nvPr/>
                </p14:nvContentPartPr>
                <p14:xfrm>
                  <a:off x="1427341" y="2369718"/>
                  <a:ext cx="103680" cy="129960"/>
                </p14:xfrm>
              </p:contentPart>
            </mc:Choice>
            <mc:Fallback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ABAB3C28-F96D-0A05-4AF3-D257F60F62A7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1421221" y="2363598"/>
                    <a:ext cx="115920" cy="1422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24277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A1F82-0B7E-FFF7-42D7-F111D9246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C8FEB6-60F5-4ABD-0042-2DF2B54EB689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Component üçün Daha Real Bir Nümunə: </a:t>
            </a:r>
            <a:r>
              <a:rPr kumimoji="0" lang="en-US" altLang="en-US" sz="1300" i="0" u="sng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resources/views/components/button.blade.php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İstifadəsi: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halda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 tərəfdə ikon görünəcək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Sağ tərəfdə “Yadda Saxla” yazısı olacaq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BB7494-0A45-48E0-2646-7DB851771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7573"/>
            <a:ext cx="6554115" cy="18576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E908C1-E8C9-11F3-600B-CD33C1C89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69418"/>
            <a:ext cx="5696745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92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BDCE6-312E-284C-0D7E-1484FEEDD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1F6645-82A6-B3F0-A768-F73CC7F6F1AB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Vacib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Qeyd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Named slot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x-slot name="..."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şəklində yazılır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Slot adını komponentin içindəki Blade faylda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{{ $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icon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}}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ilə qəbul edirsiniz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Bu ad</a:t>
            </a:r>
            <a:r>
              <a:rPr lang="az-Latn-AZ" altLang="en-US" sz="1300">
                <a:latin typeface="Arial" panose="020B0604020202020204" pitchFamily="34" charset="0"/>
              </a:rPr>
              <a:t>landırma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atributuna verilən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dəyərdir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Məsələn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name=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icon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adlandırılmış slot göndərilməzsə, o hissə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null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olacaq, ona görə </a:t>
            </a:r>
            <a:r>
              <a:rPr kumimoji="0" lang="en-US" altLang="en-US" sz="1300" b="1" i="1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@isset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istifadə olunur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ki, yəni əgər belə bir slot varsa onu qəbul et.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Yəni, əgər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@isset($icon)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mövcuddursa və boş deyilsə, onu göstər. Əks halda heç nə göstərmə.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Alternativ olaraq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@if($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icon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də işləyir: Əgər bir az daha çevik yanaşma istəyirsənsə: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 da eyni şeyi edir: əgər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$icon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dəyəri varsa, göstər.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1C08B9-F77A-F771-98F9-EB1E5C33B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5948"/>
            <a:ext cx="2572109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958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CAC9A-C7E9-DFFB-33A9-D392173C0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0A375B-8917-B364-5FD0-BBA4313D62B0}"/>
              </a:ext>
            </a:extLst>
          </p:cNvPr>
          <p:cNvSpPr txBox="1"/>
          <p:nvPr/>
        </p:nvSpPr>
        <p:spPr>
          <a:xfrm>
            <a:off x="217714" y="255046"/>
            <a:ext cx="11756571" cy="275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Əlavə Məlumat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Əgər slotun verilməsi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məcburidirsə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yoxlamanı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@isset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 ya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@if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ilə yox,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constructor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-da </a:t>
            </a:r>
            <a:r>
              <a:rPr kumimoji="0" lang="en-US" altLang="en-US" sz="1300" b="0" i="1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required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etmək daha düzgündür: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Amma əgər slot opsional-dırsa (verilməyə də bilər), o zaman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@isset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 ya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@if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istifadə etmək ən düzgün yoldur.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C26DD7-43C7-A9E6-33A7-DB8B99877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5621"/>
            <a:ext cx="5534797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19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FD034-3148-1F01-D1C3-CA2703489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4A985D-B474-5224-381A-34D776E37C0C}"/>
              </a:ext>
            </a:extLst>
          </p:cNvPr>
          <p:cNvSpPr txBox="1"/>
          <p:nvPr/>
        </p:nvSpPr>
        <p:spPr>
          <a:xfrm>
            <a:off x="217714" y="255046"/>
            <a:ext cx="11756571" cy="545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Share Data in Blade Files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 Blade Fayllarında Məlumat Paylaşmaq )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siz istənilən Blade faylında eyni məlumatı paylaşmaq istəyirsinizsə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(məsələn, saytın adı, istifadəçi məlumatları, naviqasiya menyusu və s.)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aşağıdakı üsullardan istifadə edə bilərsiniz: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6.1. View Composer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300" b="0" i="0" u="sng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App</a:t>
            </a:r>
            <a:r>
              <a:rPr kumimoji="0" lang="en-US" altLang="en-US" sz="1300" b="1" i="0" u="sng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\</a:t>
            </a:r>
            <a:r>
              <a:rPr kumimoji="0" lang="en-US" altLang="en-US" sz="1300" b="0" i="0" u="sng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Providers</a:t>
            </a:r>
            <a:r>
              <a:rPr kumimoji="0" lang="en-US" altLang="en-US" sz="1300" b="1" i="0" u="sng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\</a:t>
            </a:r>
            <a:r>
              <a:rPr kumimoji="0" lang="en-US" altLang="en-US" sz="1300" b="0" i="0" u="sng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ViewServiceProvider.php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içində yazılır: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Artıq bütün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blade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fayllarında bu dəyişəni istifadə edə bilərsiniz: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Ancaq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layihəsində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App\Providers\ViewServiceProvider.php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 default olaraq yaradılmır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Artisan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əmri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ilə Provider yara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 bilərsin</a:t>
            </a:r>
            <a:r>
              <a:rPr lang="az-Latn-AZ" altLang="en-US" sz="1300">
                <a:latin typeface="Arial" panose="020B0604020202020204" pitchFamily="34" charset="0"/>
              </a:rPr>
              <a:t>. Bunun üçün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Terminalda aşağıdakı əmr verin: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0B1CC1-15EE-D884-1F37-2EDB88BD8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5920"/>
            <a:ext cx="4058216" cy="9812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087364-C36F-545A-4FB9-3A0500344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72486"/>
            <a:ext cx="2829320" cy="485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7AFD84-955A-33E2-FA41-893B2F6DF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16949"/>
            <a:ext cx="3724795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043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FD1E1-4840-9A0A-13BB-D8AA2F005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08C64B-7370-CBCB-5A71-381687653DDE}"/>
              </a:ext>
            </a:extLst>
          </p:cNvPr>
          <p:cNvSpPr txBox="1"/>
          <p:nvPr/>
        </p:nvSpPr>
        <p:spPr>
          <a:xfrm>
            <a:off x="217714" y="255046"/>
            <a:ext cx="11756571" cy="485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 içini aşağıdakı kimi düzəl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də bilərsiz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Yeni providerin Laravel tərəfindən istifadə olunması üçün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config/app.php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faylında qeyd etməlisiniz: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config/app.php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providers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hissəsinə əlavə et: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FF4B7D-926B-D0AF-D594-021B1DA8C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757190"/>
            <a:ext cx="3990392" cy="32613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A4E772-CAAD-FA13-BF7A-02335255A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5273461"/>
            <a:ext cx="3848637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34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EF6FE-815E-06BB-852A-05D02D51A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B095A8-6426-C1E4-AC04-81041E8CD11C}"/>
              </a:ext>
            </a:extLst>
          </p:cNvPr>
          <p:cNvSpPr txBox="1"/>
          <p:nvPr/>
        </p:nvSpPr>
        <p:spPr>
          <a:xfrm>
            <a:off x="217714" y="255046"/>
            <a:ext cx="11756571" cy="4256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6.2. with() ilə View göndərmək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. Bu nə deməkdir ?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Laravel-də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ya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faylından Blade görünüşünə (view-ya) məlumat ötürmək istədikdə, bir neçə üsuldan istifadə edə bilərik. 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with()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həmin üsullardan biridir və çox sadə və praktikdir.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Nümunə ilə izah: Tutaq ki, bir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ya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faylında belə bir kod var: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Burada nə baş verir?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778B7D-9C26-42B3-DE81-BC955B9F0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4578"/>
            <a:ext cx="4029637" cy="51442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95CE573-448A-1E4D-48C5-21E5C5192B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321817"/>
              </p:ext>
            </p:extLst>
          </p:nvPr>
        </p:nvGraphicFramePr>
        <p:xfrm>
          <a:off x="217714" y="4761737"/>
          <a:ext cx="10503159" cy="1573746"/>
        </p:xfrm>
        <a:graphic>
          <a:graphicData uri="http://schemas.openxmlformats.org/drawingml/2006/table">
            <a:tbl>
              <a:tblPr/>
              <a:tblGrid>
                <a:gridCol w="2485220">
                  <a:extLst>
                    <a:ext uri="{9D8B030D-6E8A-4147-A177-3AD203B41FA5}">
                      <a16:colId xmlns:a16="http://schemas.microsoft.com/office/drawing/2014/main" val="1099023208"/>
                    </a:ext>
                  </a:extLst>
                </a:gridCol>
                <a:gridCol w="8017939">
                  <a:extLst>
                    <a:ext uri="{9D8B030D-6E8A-4147-A177-3AD203B41FA5}">
                      <a16:colId xmlns:a16="http://schemas.microsoft.com/office/drawing/2014/main" val="2093060095"/>
                    </a:ext>
                  </a:extLst>
                </a:gridCol>
              </a:tblGrid>
              <a:tr h="524582">
                <a:tc>
                  <a:txBody>
                    <a:bodyPr/>
                    <a:lstStyle/>
                    <a:p>
                      <a:r>
                        <a:rPr lang="en-US" b="1"/>
                        <a:t>Element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İzah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039791"/>
                  </a:ext>
                </a:extLst>
              </a:tr>
              <a:tr h="524582">
                <a:tc>
                  <a:txBody>
                    <a:bodyPr/>
                    <a:lstStyle/>
                    <a:p>
                      <a:r>
                        <a:rPr lang="en-US"/>
                        <a:t>'home'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resources/views/home.blade.php faylı yüklənir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04785"/>
                  </a:ext>
                </a:extLst>
              </a:tr>
              <a:tr h="524582">
                <a:tc>
                  <a:txBody>
                    <a:bodyPr/>
                    <a:lstStyle/>
                    <a:p>
                      <a:r>
                        <a:rPr lang="en-US"/>
                        <a:t>with('name', 'Elvin')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Bu Blade faylında $name adlı dəyişənə Elvin dəyəri verilir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313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1674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65034-4EFF-EFB8-BF73-23868543E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2C5735-AE53-AB94-13D9-2ABCF10FFBDA}"/>
              </a:ext>
            </a:extLst>
          </p:cNvPr>
          <p:cNvSpPr txBox="1"/>
          <p:nvPr/>
        </p:nvSpPr>
        <p:spPr>
          <a:xfrm>
            <a:off x="217714" y="255046"/>
            <a:ext cx="11756571" cy="545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🟢 İndi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home.blade.php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faylında bu dəyişəni belə istifadə edirik: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Saytda göstəriləcək: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Salam, Elvin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🔄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Alternativ Sintaksis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Mass Data with Array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home.blade.php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içində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çağırırıq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E1405-A25D-F68B-640D-57D9578A1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2086"/>
            <a:ext cx="2391109" cy="4858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16F91F-04B4-1B77-012A-999F046DD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49210"/>
            <a:ext cx="2429214" cy="14003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850F47-BE29-31BE-183C-CE7099EB6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25049"/>
            <a:ext cx="1981477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028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F7811-9D40-3668-3007-B25634BC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99F1C4-9A8C-4076-B126-7EFB1E75BC01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🔁 Alternativ Yazılışlar Laravel-də bunların hamısı eyni işi görür: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Bonus: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compact()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ilə də göndərmək mümkündür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Əgər dəyişənləri əvvəldən təyin etmisinizsə: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compact()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funksiyası PHP-nin öz funksiyasıdır 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'name' =&gt; $name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kimi işləyir.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View faylınıza dəyişən göndərmək üçündür. Blade faylında isə bu dəyişənlər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{{ $deyişen }}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formatında istifadə olunur.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9AE991-4D6F-B98C-FDD8-F6D170E8B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703"/>
            <a:ext cx="5668166" cy="20862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8DA830-565C-E998-33A4-9597BA9F5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4242721"/>
            <a:ext cx="3762900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0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DDD58-3C8A-C56F-6534-E9ADC0982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F46CA0-F9CA-F828-A0C7-0FFD56A0B333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1ci slaydda </a:t>
            </a:r>
            <a:r>
              <a:rPr lang="az-Latn-AZ" altLang="en-US" sz="1300" b="1">
                <a:latin typeface="Arial" panose="020B0604020202020204" pitchFamily="34" charset="0"/>
              </a:rPr>
              <a:t>Button</a:t>
            </a:r>
            <a:r>
              <a:rPr lang="az-Latn-AZ" altLang="en-US" sz="1300">
                <a:latin typeface="Arial" panose="020B0604020202020204" pitchFamily="34" charset="0"/>
              </a:rPr>
              <a:t> adında </a:t>
            </a:r>
            <a:r>
              <a:rPr lang="az-Latn-AZ" altLang="en-US" sz="1300" b="1">
                <a:latin typeface="Arial" panose="020B0604020202020204" pitchFamily="34" charset="0"/>
              </a:rPr>
              <a:t>component</a:t>
            </a:r>
            <a:r>
              <a:rPr lang="az-Latn-AZ" altLang="en-US" sz="1300">
                <a:latin typeface="Arial" panose="020B0604020202020204" pitchFamily="34" charset="0"/>
              </a:rPr>
              <a:t> yaratdıq. Bu zaman avtomatik olaraq </a:t>
            </a:r>
            <a:r>
              <a:rPr lang="az-Latn-AZ" altLang="en-US" sz="1300" b="1">
                <a:latin typeface="Arial" panose="020B0604020202020204" pitchFamily="34" charset="0"/>
              </a:rPr>
              <a:t>RESOURCES</a:t>
            </a:r>
            <a:r>
              <a:rPr lang="az-Latn-AZ" altLang="en-US" sz="1300">
                <a:latin typeface="Arial" panose="020B0604020202020204" pitchFamily="34" charset="0"/>
              </a:rPr>
              <a:t> -un, </a:t>
            </a:r>
            <a:r>
              <a:rPr lang="en-US" altLang="en-US" sz="1300" b="1">
                <a:latin typeface="Arial" panose="020B0604020202020204" pitchFamily="34" charset="0"/>
              </a:rPr>
              <a:t>VIEWS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qovluğunun içində </a:t>
            </a:r>
            <a:r>
              <a:rPr lang="az-Latn-AZ" altLang="en-US" sz="1300" b="1">
                <a:latin typeface="Arial" panose="020B0604020202020204" pitchFamily="34" charset="0"/>
              </a:rPr>
              <a:t>COMPONENTS</a:t>
            </a:r>
            <a:r>
              <a:rPr lang="az-Latn-AZ" altLang="en-US" sz="1300">
                <a:latin typeface="Arial" panose="020B0604020202020204" pitchFamily="34" charset="0"/>
              </a:rPr>
              <a:t> adında qovluq yaradıldı və həmin </a:t>
            </a:r>
            <a:r>
              <a:rPr lang="az-Latn-AZ" altLang="en-US" sz="1300" b="1">
                <a:latin typeface="Arial" panose="020B0604020202020204" pitchFamily="34" charset="0"/>
              </a:rPr>
              <a:t>BUTTON</a:t>
            </a:r>
            <a:r>
              <a:rPr lang="az-Latn-AZ" altLang="en-US" sz="1300">
                <a:latin typeface="Arial" panose="020B0604020202020204" pitchFamily="34" charset="0"/>
              </a:rPr>
              <a:t> komponentidə bu </a:t>
            </a:r>
            <a:r>
              <a:rPr lang="az-Latn-AZ" altLang="en-US" sz="1300" b="1">
                <a:latin typeface="Arial" panose="020B0604020202020204" pitchFamily="34" charset="0"/>
              </a:rPr>
              <a:t>components</a:t>
            </a:r>
            <a:r>
              <a:rPr lang="az-Latn-AZ" altLang="en-US" sz="1300">
                <a:latin typeface="Arial" panose="020B0604020202020204" pitchFamily="34" charset="0"/>
              </a:rPr>
              <a:t> qovluğunda yerləşdirildi.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Həmçinin bu </a:t>
            </a:r>
            <a:r>
              <a:rPr lang="az-Latn-AZ" altLang="en-US" sz="1300" b="1">
                <a:latin typeface="Arial" panose="020B0604020202020204" pitchFamily="34" charset="0"/>
              </a:rPr>
              <a:t>BUTTON</a:t>
            </a:r>
            <a:r>
              <a:rPr lang="az-Latn-AZ" altLang="en-US" sz="1300">
                <a:latin typeface="Arial" panose="020B0604020202020204" pitchFamily="34" charset="0"/>
              </a:rPr>
              <a:t> komponenti üçün, </a:t>
            </a:r>
            <a:r>
              <a:rPr lang="en-US" altLang="en-US" sz="1300" b="1">
                <a:latin typeface="Arial" panose="020B0604020202020204" pitchFamily="34" charset="0"/>
              </a:rPr>
              <a:t>APP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qovluğunda </a:t>
            </a: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app\View\Components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>
                <a:latin typeface="Arial" panose="020B0604020202020204" pitchFamily="34" charset="0"/>
              </a:rPr>
              <a:t>adlı qovluq və bu qovluq içində </a:t>
            </a:r>
            <a:r>
              <a:rPr lang="az-Latn-AZ" altLang="en-US" sz="1300" b="1">
                <a:latin typeface="Arial" panose="020B0604020202020204" pitchFamily="34" charset="0"/>
              </a:rPr>
              <a:t>BUTTON.PHP </a:t>
            </a:r>
            <a:r>
              <a:rPr lang="az-Latn-AZ" altLang="en-US" sz="1300">
                <a:latin typeface="Arial" panose="020B0604020202020204" pitchFamily="34" charset="0"/>
              </a:rPr>
              <a:t>faylı yaradıldı.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hər hansısa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yaradarkən onu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fərqli bir qovluq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içində yerləşdirmək istəsəydik onda aşağıdakı kimi yazmaq lazımdır terminalda</a:t>
            </a:r>
            <a:r>
              <a:rPr lang="az-Latn-AZ" altLang="en-US" sz="1300">
                <a:latin typeface="Arial" panose="020B0604020202020204" pitchFamily="34" charset="0"/>
              </a:rPr>
              <a:t>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441F3E-A771-81BD-C912-B4A10BC49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427"/>
            <a:ext cx="8369559" cy="424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920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93EE4-D9F8-F60A-F640-56C213D3F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0748D9-1E41-7FCF-EC71-9E249513B556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Birdə </a:t>
            </a:r>
            <a:r>
              <a:rPr lang="az-Latn-AZ" altLang="en-US" sz="1300" b="1">
                <a:latin typeface="Arial" panose="020B0604020202020204" pitchFamily="34" charset="0"/>
              </a:rPr>
              <a:t>Blade component -nin    </a:t>
            </a: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--inline</a:t>
            </a:r>
            <a:r>
              <a:rPr lang="az-Latn-AZ" altLang="en-US" sz="1300">
                <a:latin typeface="Arial" panose="020B0604020202020204" pitchFamily="34" charset="0"/>
              </a:rPr>
              <a:t>`     flaqı ilə yaradılması var: </a:t>
            </a:r>
            <a:r>
              <a:rPr lang="az-Latn-AZ" altLang="en-US" sz="1300" b="1">
                <a:solidFill>
                  <a:schemeClr val="accent2"/>
                </a:solidFill>
                <a:latin typeface="Arial" panose="020B0604020202020204" pitchFamily="34" charset="0"/>
              </a:rPr>
              <a:t>php artisan make:component Forms/Link --inline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əmr ilə adi component yaratma əmrinin arasında bəzi önəmli fərqlər var. Gəlin bunları detallı şəkildə və addım-addım izah edək: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Birincisi fikir versək görərik ki, </a:t>
            </a:r>
            <a:r>
              <a:rPr lang="en-US" altLang="en-US" sz="1300" b="1">
                <a:latin typeface="Arial" panose="020B0604020202020204" pitchFamily="34" charset="0"/>
              </a:rPr>
              <a:t>FORMS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qovluğunda </a:t>
            </a:r>
            <a:r>
              <a:rPr lang="az-Latn-AZ" altLang="en-US" sz="1300" b="1">
                <a:latin typeface="Arial" panose="020B0604020202020204" pitchFamily="34" charset="0"/>
              </a:rPr>
              <a:t>LİNKS</a:t>
            </a:r>
            <a:r>
              <a:rPr lang="az-Latn-AZ" altLang="en-US" sz="1300">
                <a:latin typeface="Arial" panose="020B0604020202020204" pitchFamily="34" charset="0"/>
              </a:rPr>
              <a:t> ilə əlaqəli heçnə 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yaranmadı.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Ardı növbəti slaydda....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04CAA8-DCA7-FF32-A6CE-5D839A49A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849" y="1800272"/>
            <a:ext cx="8245151" cy="505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01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99BDF-95D7-2A4F-8CB8-E8C395F8F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EE8F8E-F6F7-C13E-2D91-F6ACB8511289}"/>
              </a:ext>
            </a:extLst>
          </p:cNvPr>
          <p:cNvSpPr txBox="1"/>
          <p:nvPr/>
        </p:nvSpPr>
        <p:spPr>
          <a:xfrm>
            <a:off x="217714" y="255046"/>
            <a:ext cx="11756571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Əmrlərin müqayisəsi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--inline </a:t>
            </a:r>
            <a:r>
              <a:rPr lang="az-Latn-AZ" altLang="en-US" sz="1300">
                <a:latin typeface="Arial" panose="020B0604020202020204" pitchFamily="34" charset="0"/>
              </a:rPr>
              <a:t>flaqı istifadə etdiyimiz zaman, </a:t>
            </a:r>
            <a:r>
              <a:rPr lang="az-Latn-AZ" altLang="en-US" sz="1300" b="1">
                <a:latin typeface="Arial" panose="020B0604020202020204" pitchFamily="34" charset="0"/>
              </a:rPr>
              <a:t>şablon</a:t>
            </a:r>
            <a:r>
              <a:rPr lang="az-Latn-AZ" altLang="en-US" sz="1300">
                <a:latin typeface="Arial" panose="020B0604020202020204" pitchFamily="34" charset="0"/>
              </a:rPr>
              <a:t> (blade) kodu bu faylın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render() </a:t>
            </a:r>
            <a:r>
              <a:rPr lang="az-Latn-AZ" altLang="en-US" sz="1300">
                <a:latin typeface="Arial" panose="020B0604020202020204" pitchFamily="34" charset="0"/>
              </a:rPr>
              <a:t>metodunun içində </a:t>
            </a:r>
            <a:r>
              <a:rPr lang="az-Latn-AZ" altLang="en-US" sz="1300" b="1">
                <a:latin typeface="Arial" panose="020B0604020202020204" pitchFamily="34" charset="0"/>
              </a:rPr>
              <a:t>return</a:t>
            </a:r>
            <a:r>
              <a:rPr lang="az-Latn-AZ" altLang="en-US" sz="1300">
                <a:latin typeface="Arial" panose="020B0604020202020204" pitchFamily="34" charset="0"/>
              </a:rPr>
              <a:t> edilən </a:t>
            </a:r>
            <a:r>
              <a:rPr lang="az-Latn-AZ" altLang="en-US" sz="1300" b="1">
                <a:latin typeface="Arial" panose="020B0604020202020204" pitchFamily="34" charset="0"/>
              </a:rPr>
              <a:t>string</a:t>
            </a:r>
            <a:r>
              <a:rPr lang="az-Latn-AZ" altLang="en-US" sz="1300">
                <a:latin typeface="Arial" panose="020B0604020202020204" pitchFamily="34" charset="0"/>
              </a:rPr>
              <a:t> olaraq yazılır.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F7FA5DF-3898-48B3-5471-C1CD6D06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165425"/>
              </p:ext>
            </p:extLst>
          </p:nvPr>
        </p:nvGraphicFramePr>
        <p:xfrm>
          <a:off x="217711" y="1066816"/>
          <a:ext cx="11756571" cy="1639061"/>
        </p:xfrm>
        <a:graphic>
          <a:graphicData uri="http://schemas.openxmlformats.org/drawingml/2006/table">
            <a:tbl>
              <a:tblPr/>
              <a:tblGrid>
                <a:gridCol w="4811489">
                  <a:extLst>
                    <a:ext uri="{9D8B030D-6E8A-4147-A177-3AD203B41FA5}">
                      <a16:colId xmlns:a16="http://schemas.microsoft.com/office/drawing/2014/main" val="4060316813"/>
                    </a:ext>
                  </a:extLst>
                </a:gridCol>
                <a:gridCol w="6945082">
                  <a:extLst>
                    <a:ext uri="{9D8B030D-6E8A-4147-A177-3AD203B41FA5}">
                      <a16:colId xmlns:a16="http://schemas.microsoft.com/office/drawing/2014/main" val="277736058"/>
                    </a:ext>
                  </a:extLst>
                </a:gridCol>
              </a:tblGrid>
              <a:tr h="437083">
                <a:tc>
                  <a:txBody>
                    <a:bodyPr/>
                    <a:lstStyle/>
                    <a:p>
                      <a:r>
                        <a:rPr lang="en-US" b="1"/>
                        <a:t>Əmrlər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Nəticəsi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783319"/>
                  </a:ext>
                </a:extLst>
              </a:tr>
              <a:tr h="600989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php artisan make:component Forms/Link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/>
                        <a:t>2 ayrı fayl</a:t>
                      </a:r>
                      <a:r>
                        <a:rPr lang="en-US" sz="1800"/>
                        <a:t> yaradır: PHP </a:t>
                      </a:r>
                      <a:r>
                        <a:rPr lang="az-Latn-AZ" sz="1800"/>
                        <a:t>class</a:t>
                      </a:r>
                      <a:r>
                        <a:rPr lang="en-US" sz="1800"/>
                        <a:t> və Blade </a:t>
                      </a:r>
                      <a:r>
                        <a:rPr lang="az-Latn-AZ" sz="1800"/>
                        <a:t>şablonu 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510092"/>
                  </a:ext>
                </a:extLst>
              </a:tr>
              <a:tr h="600989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php artisan make:component Forms/Link --inline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/>
                        <a:t>Tək bir PHP </a:t>
                      </a:r>
                      <a:r>
                        <a:rPr lang="az-Latn-AZ" sz="1800" b="1"/>
                        <a:t>class</a:t>
                      </a:r>
                      <a:r>
                        <a:rPr lang="en-US" sz="1800"/>
                        <a:t> yaradır</a:t>
                      </a:r>
                      <a:r>
                        <a:rPr lang="az-Latn-AZ" sz="1800"/>
                        <a:t>.</a:t>
                      </a:r>
                      <a:r>
                        <a:rPr lang="en-US" sz="1800"/>
                        <a:t> </a:t>
                      </a:r>
                      <a:r>
                        <a:rPr lang="az-Latn-AZ" sz="1800"/>
                        <a:t>Şablon</a:t>
                      </a:r>
                      <a:r>
                        <a:rPr lang="en-US" sz="1800"/>
                        <a:t> (Blade) kodu </a:t>
                      </a:r>
                      <a:r>
                        <a:rPr lang="az-Latn-AZ" sz="1800"/>
                        <a:t>isə </a:t>
                      </a:r>
                      <a:r>
                        <a:rPr lang="en-US" sz="1800"/>
                        <a:t>bu </a:t>
                      </a:r>
                      <a:r>
                        <a:rPr lang="az-Latn-AZ" sz="1800"/>
                        <a:t>class</a:t>
                      </a:r>
                      <a:r>
                        <a:rPr lang="en-US" sz="1800"/>
                        <a:t> içində yerləşir</a:t>
                      </a:r>
                      <a:r>
                        <a:rPr lang="az-Latn-AZ" sz="1800"/>
                        <a:t>.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436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5176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FD841-AB7C-FCB1-EA70-4DF0DCDDB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BDE1E1-605A-CA90-47E8-569FD02AC156}"/>
              </a:ext>
            </a:extLst>
          </p:cNvPr>
          <p:cNvSpPr txBox="1"/>
          <p:nvPr/>
        </p:nvSpPr>
        <p:spPr>
          <a:xfrm>
            <a:off x="217714" y="255046"/>
            <a:ext cx="11756571" cy="455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Hansı Hallarda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--inline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Daha Uyğundur?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B2ECC2-28EA-275E-47E0-492AFFBCF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975627"/>
              </p:ext>
            </p:extLst>
          </p:nvPr>
        </p:nvGraphicFramePr>
        <p:xfrm>
          <a:off x="217713" y="977242"/>
          <a:ext cx="11756572" cy="2857638"/>
        </p:xfrm>
        <a:graphic>
          <a:graphicData uri="http://schemas.openxmlformats.org/drawingml/2006/table">
            <a:tbl>
              <a:tblPr/>
              <a:tblGrid>
                <a:gridCol w="5878286">
                  <a:extLst>
                    <a:ext uri="{9D8B030D-6E8A-4147-A177-3AD203B41FA5}">
                      <a16:colId xmlns:a16="http://schemas.microsoft.com/office/drawing/2014/main" val="306387379"/>
                    </a:ext>
                  </a:extLst>
                </a:gridCol>
                <a:gridCol w="5878286">
                  <a:extLst>
                    <a:ext uri="{9D8B030D-6E8A-4147-A177-3AD203B41FA5}">
                      <a16:colId xmlns:a16="http://schemas.microsoft.com/office/drawing/2014/main" val="3896631189"/>
                    </a:ext>
                  </a:extLst>
                </a:gridCol>
              </a:tblGrid>
              <a:tr h="601608">
                <a:tc>
                  <a:txBody>
                    <a:bodyPr/>
                    <a:lstStyle/>
                    <a:p>
                      <a:r>
                        <a:rPr lang="en-US" b="1"/>
                        <a:t>İstifadə Halları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Tövsiyə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453763"/>
                  </a:ext>
                </a:extLst>
              </a:tr>
              <a:tr h="601608">
                <a:tc>
                  <a:txBody>
                    <a:bodyPr/>
                    <a:lstStyle/>
                    <a:p>
                      <a:r>
                        <a:rPr lang="en-US" sz="1600"/>
                        <a:t>Kiçik, sadə UI parçaları (məs: &lt;x-button&gt;, &lt;x-link&gt;)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✅ --inline yaxşı seçimdir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3588622"/>
                  </a:ext>
                </a:extLst>
              </a:tr>
              <a:tr h="1052814">
                <a:tc>
                  <a:txBody>
                    <a:bodyPr/>
                    <a:lstStyle/>
                    <a:p>
                      <a:r>
                        <a:rPr lang="en-US" sz="1600"/>
                        <a:t>Böyük, çox HTML-lik komponentlər (məs: card, modal, form)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❌ --inline tövsiyə olunmur, çünki görünüş kodu qarışıq görünür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424971"/>
                  </a:ext>
                </a:extLst>
              </a:tr>
              <a:tr h="601608">
                <a:tc>
                  <a:txBody>
                    <a:bodyPr/>
                    <a:lstStyle/>
                    <a:p>
                      <a:r>
                        <a:rPr lang="en-US" sz="1600"/>
                        <a:t>Reusable, lakin sadə komponentlər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✅ inline praktiki və sürətlidir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8288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BAE11D-D14E-48E0-AF66-0D0777B78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424409"/>
              </p:ext>
            </p:extLst>
          </p:nvPr>
        </p:nvGraphicFramePr>
        <p:xfrm>
          <a:off x="217713" y="4935326"/>
          <a:ext cx="11756571" cy="1667628"/>
        </p:xfrm>
        <a:graphic>
          <a:graphicData uri="http://schemas.openxmlformats.org/drawingml/2006/table">
            <a:tbl>
              <a:tblPr/>
              <a:tblGrid>
                <a:gridCol w="3214716">
                  <a:extLst>
                    <a:ext uri="{9D8B030D-6E8A-4147-A177-3AD203B41FA5}">
                      <a16:colId xmlns:a16="http://schemas.microsoft.com/office/drawing/2014/main" val="797682566"/>
                    </a:ext>
                  </a:extLst>
                </a:gridCol>
                <a:gridCol w="8541855">
                  <a:extLst>
                    <a:ext uri="{9D8B030D-6E8A-4147-A177-3AD203B41FA5}">
                      <a16:colId xmlns:a16="http://schemas.microsoft.com/office/drawing/2014/main" val="1415318732"/>
                    </a:ext>
                  </a:extLst>
                </a:gridCol>
              </a:tblGrid>
              <a:tr h="555876">
                <a:tc>
                  <a:txBody>
                    <a:bodyPr/>
                    <a:lstStyle/>
                    <a:p>
                      <a:r>
                        <a:rPr lang="en-US" b="1"/>
                        <a:t>İstifadə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Fayda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655940"/>
                  </a:ext>
                </a:extLst>
              </a:tr>
              <a:tr h="555876">
                <a:tc>
                  <a:txBody>
                    <a:bodyPr/>
                    <a:lstStyle/>
                    <a:p>
                      <a:r>
                        <a:rPr lang="en-US"/>
                        <a:t>make:component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Kodu daha </a:t>
                      </a:r>
                      <a:r>
                        <a:rPr lang="en-US" b="1"/>
                        <a:t>ayrıca və oxunaqlı</a:t>
                      </a:r>
                      <a:r>
                        <a:rPr lang="en-US"/>
                        <a:t> saxlayır (görünüş ayrıca .blade.php faylında olur)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817557"/>
                  </a:ext>
                </a:extLst>
              </a:tr>
              <a:tr h="555876">
                <a:tc>
                  <a:txBody>
                    <a:bodyPr/>
                    <a:lstStyle/>
                    <a:p>
                      <a:r>
                        <a:rPr lang="en-US"/>
                        <a:t>make:component --inline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Daha </a:t>
                      </a:r>
                      <a:r>
                        <a:rPr lang="en-US" b="1"/>
                        <a:t>tez və yığcam</a:t>
                      </a:r>
                      <a:r>
                        <a:rPr lang="en-US"/>
                        <a:t> komponentlər üçün uyğundur (görünüş birbaşa sinfin içində yazılır)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17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4446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BC374-C2DE-6933-7121-877F9A196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CD0B2B-8E66-AB14-6281-D2EC2CE5E87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45297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C7555-87C1-0DF3-046E-6E8C7E04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E3FB9A-83D6-2017-456E-7BD08C10D53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2982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85430-37AC-8294-679D-B2A3313DA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4DA55-BF22-574A-1BB0-C3CB924D83C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74148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007C1-BFA7-DB36-D883-A0A32799E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F595CD-1CC3-6BCB-46E2-824A567CCAD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9160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DBD33-E6D5-09D8-1DDF-1F89A27F9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B9B96D-FD5D-B342-1986-12CFDBEB9E4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9828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2789</TotalTime>
  <Words>1348</Words>
  <Application>Microsoft Office PowerPoint</Application>
  <PresentationFormat>Widescreen</PresentationFormat>
  <Paragraphs>290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354</cp:revision>
  <dcterms:created xsi:type="dcterms:W3CDTF">2025-04-12T11:00:44Z</dcterms:created>
  <dcterms:modified xsi:type="dcterms:W3CDTF">2025-05-24T19:01:12Z</dcterms:modified>
</cp:coreProperties>
</file>