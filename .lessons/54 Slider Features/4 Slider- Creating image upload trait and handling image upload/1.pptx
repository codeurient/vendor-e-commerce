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21" r:id="rId7"/>
    <p:sldId id="422" r:id="rId8"/>
    <p:sldId id="425" r:id="rId9"/>
    <p:sldId id="423" r:id="rId10"/>
    <p:sldId id="424" r:id="rId11"/>
    <p:sldId id="400" r:id="rId12"/>
    <p:sldId id="426" r:id="rId13"/>
    <p:sldId id="427" r:id="rId14"/>
    <p:sldId id="428" r:id="rId15"/>
    <p:sldId id="429" r:id="rId16"/>
    <p:sldId id="43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107264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Şəkil</a:t>
            </a:r>
            <a:r>
              <a:rPr lang="az-Latn-AZ" altLang="en-US" sz="1300">
                <a:latin typeface="Arial" panose="020B0604020202020204" pitchFamily="34" charset="0"/>
              </a:rPr>
              <a:t> əlavə edə bilmək üçün, `</a:t>
            </a:r>
            <a:r>
              <a:rPr lang="az-Latn-AZ" altLang="en-US" sz="1300" b="1">
                <a:latin typeface="Arial" panose="020B0604020202020204" pitchFamily="34" charset="0"/>
              </a:rPr>
              <a:t>ProfileController</a:t>
            </a:r>
            <a:r>
              <a:rPr lang="az-Latn-AZ" altLang="en-US" sz="1300">
                <a:latin typeface="Arial" panose="020B0604020202020204" pitchFamily="34" charset="0"/>
              </a:rPr>
              <a:t>` faylındakı işarələnən kodu, əvvəldə etdiyimiz kimi, `</a:t>
            </a:r>
            <a:r>
              <a:rPr lang="az-Latn-AZ" altLang="en-US" sz="1300" b="1">
                <a:latin typeface="Arial" panose="020B0604020202020204" pitchFamily="34" charset="0"/>
              </a:rPr>
              <a:t>SliderController</a:t>
            </a:r>
            <a:r>
              <a:rPr lang="az-Latn-AZ" altLang="en-US" sz="1300">
                <a:latin typeface="Arial" panose="020B0604020202020204" pitchFamily="34" charset="0"/>
              </a:rPr>
              <a:t>` kontrollerinə daşıya bilərik. Sonra həmin kodun üzərində cüzi dəyişikliklər edəcəyik.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bir neçə kontrollerdə eyni kodu yazaraq fərqli cədvəllərə şəkil əlavə etmə strukturumuz varsa, onda hər dəfə eyni kodu təkrar-təkrar yazmaq məntiqsiz olacaqdır. Bu təkrarı azaltmaq üçün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TRAİTS</a:t>
            </a:r>
            <a:r>
              <a:rPr lang="az-Latn-AZ" altLang="en-US" sz="1300">
                <a:latin typeface="Arial" panose="020B0604020202020204" pitchFamily="34" charset="0"/>
              </a:rPr>
              <a:t> yarada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4C81B-B3D9-6F47-864F-C7CAFA7D4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182" y="1870953"/>
            <a:ext cx="9605818" cy="498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286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ImageUploadTrait.php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` adlı </a:t>
            </a:r>
            <a:r>
              <a:rPr lang="az-Latn-AZ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traits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, `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SliderController.php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` klasında çağrılır və ona 3 dənə </a:t>
            </a:r>
            <a:r>
              <a:rPr lang="az-Latn-AZ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arqument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 göndərilir. Burada bizə yad olan hissə sadəcə: </a:t>
            </a:r>
          </a:p>
          <a:p>
            <a:pPr>
              <a:lnSpc>
                <a:spcPct val="150000"/>
              </a:lnSpc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 </a:t>
            </a:r>
            <a:r>
              <a:rPr lang="en-US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$image = $request-&gt;</a:t>
            </a:r>
            <a:r>
              <a:rPr 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$inputName</a:t>
            </a:r>
            <a:r>
              <a:rPr lang="en-US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n-US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az-Latn-AZ" b="1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b="1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bu hissə ola bilər. Çünki </a:t>
            </a:r>
            <a:r>
              <a:rPr lang="az-Latn-AZ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STRİNG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 göndəririk, acnaq onu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bəzəkli mörtərizə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 içində yazmışıq. Bu sintaksis, PHP-də "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dinamik property əldə edilməsi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" adlanır. Əslində isə, aşağıdakı hər 2 halda da, yazsaq kodumuz düz işləyəcəkdi:</a:t>
            </a: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D88D1-E9C3-AF70-1DD2-412B6A7E4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325" y="2355273"/>
            <a:ext cx="8447673" cy="45027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4291FD-3A70-05DE-8E24-D606954B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130525"/>
            <a:ext cx="2829320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F47B-85C3-AA11-9D71-B9214A1C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39CC21-5EF9-351C-4BB2-6E58BD549D73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hər iki yazılış işləyirsə: Onda nə üçün əlavə olaraq 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{ } </a:t>
            </a:r>
            <a:r>
              <a:rPr lang="az-Latn-AZ" altLang="en-US" sz="1300">
                <a:latin typeface="Arial" panose="020B0604020202020204" pitchFamily="34" charset="0"/>
              </a:rPr>
              <a:t> yazmaq lazımdır?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Hər </a:t>
            </a:r>
            <a:r>
              <a:rPr lang="en-US" altLang="en-US" sz="1300" b="1">
                <a:latin typeface="Arial" panose="020B0604020202020204" pitchFamily="34" charset="0"/>
              </a:rPr>
              <a:t>iki</a:t>
            </a:r>
            <a:r>
              <a:rPr lang="en-US" altLang="en-US" sz="1300">
                <a:latin typeface="Arial" panose="020B0604020202020204" pitchFamily="34" charset="0"/>
              </a:rPr>
              <a:t> yazılış sadə hallarda işləyir. Amma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{ }</a:t>
            </a:r>
            <a:r>
              <a:rPr lang="en-US" altLang="en-US" sz="1300">
                <a:latin typeface="Arial" panose="020B0604020202020204" pitchFamily="34" charset="0"/>
              </a:rPr>
              <a:t> sintaksisi çox daha güclüdür, çünki onu daha </a:t>
            </a:r>
            <a:r>
              <a:rPr lang="en-US" altLang="en-US" sz="1300" b="1">
                <a:latin typeface="Arial" panose="020B0604020202020204" pitchFamily="34" charset="0"/>
              </a:rPr>
              <a:t>kompleks ifadələrdə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array daxilində</a:t>
            </a:r>
            <a:r>
              <a:rPr lang="en-US" altLang="en-US" sz="1300">
                <a:latin typeface="Arial" panose="020B0604020202020204" pitchFamily="34" charset="0"/>
              </a:rPr>
              <a:t>, birlikdə </a:t>
            </a:r>
            <a:r>
              <a:rPr lang="en-US" altLang="en-US" sz="1300" b="1">
                <a:latin typeface="Arial" panose="020B0604020202020204" pitchFamily="34" charset="0"/>
              </a:rPr>
              <a:t>concatenation</a:t>
            </a:r>
            <a:r>
              <a:rPr lang="en-US" altLang="en-US" sz="1300">
                <a:latin typeface="Arial" panose="020B0604020202020204" pitchFamily="34" charset="0"/>
              </a:rPr>
              <a:t> (birləşdirmə) və ya </a:t>
            </a:r>
            <a:r>
              <a:rPr lang="en-US" altLang="en-US" sz="1300" b="1">
                <a:latin typeface="Arial" panose="020B0604020202020204" pitchFamily="34" charset="0"/>
              </a:rPr>
              <a:t>çoxlu səviyyəli property-lər</a:t>
            </a:r>
            <a:r>
              <a:rPr lang="en-US" altLang="en-US" sz="1300">
                <a:latin typeface="Arial" panose="020B0604020202020204" pitchFamily="34" charset="0"/>
              </a:rPr>
              <a:t> olan hallarda PHP qarışdırmır.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Əsas Fərq: PHP-nin parslama (təhlil etmə) davranışın</a:t>
            </a:r>
            <a:r>
              <a:rPr lang="az-Latn-AZ" altLang="en-US" sz="1300">
                <a:latin typeface="Arial" panose="020B0604020202020204" pitchFamily="34" charset="0"/>
              </a:rPr>
              <a:t>dadır. Sadə halda: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Hər ikisi: </a:t>
            </a:r>
            <a:r>
              <a:rPr lang="en-US" altLang="en-US" sz="1300" b="1">
                <a:latin typeface="Arial" panose="020B0604020202020204" pitchFamily="34" charset="0"/>
              </a:rPr>
              <a:t>$request-&gt;banner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bizə verəcək. Yəni bu halda heç bir fərq yoxdur.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Bəs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 bu halda</a:t>
            </a:r>
            <a:r>
              <a:rPr lang="en-US" altLang="en-US" sz="1300">
                <a:latin typeface="Arial" panose="020B0604020202020204" pitchFamily="34" charset="0"/>
              </a:rPr>
              <a:t>?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sətirdə PHP belə düşünür:</a:t>
            </a:r>
            <a:r>
              <a:rPr lang="az-Latn-AZ" altLang="en-US" sz="1300">
                <a:latin typeface="Arial" panose="020B0604020202020204" pitchFamily="34" charset="0"/>
              </a:rPr>
              <a:t> Yəni PHP </a:t>
            </a:r>
            <a:r>
              <a:rPr lang="az-Latn-AZ" altLang="en-US" sz="1300" b="1">
                <a:latin typeface="Arial" panose="020B0604020202020204" pitchFamily="34" charset="0"/>
              </a:rPr>
              <a:t>$inputName . 'ner' </a:t>
            </a:r>
            <a:r>
              <a:rPr lang="az-Latn-AZ" altLang="en-US" sz="1300">
                <a:latin typeface="Arial" panose="020B0604020202020204" pitchFamily="34" charset="0"/>
              </a:rPr>
              <a:t>hissəsini bir </a:t>
            </a:r>
            <a:r>
              <a:rPr lang="az-Latn-AZ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property</a:t>
            </a:r>
            <a:r>
              <a:rPr lang="az-Latn-AZ" altLang="en-US" sz="1300">
                <a:latin typeface="Arial" panose="020B0604020202020204" pitchFamily="34" charset="0"/>
              </a:rPr>
              <a:t> kimi yox, sonradan </a:t>
            </a: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stringə</a:t>
            </a:r>
            <a:r>
              <a:rPr lang="az-Latn-AZ" altLang="en-US" sz="1300">
                <a:latin typeface="Arial" panose="020B0604020202020204" pitchFamily="34" charset="0"/>
              </a:rPr>
              <a:t> çevrilən iki fərqli hissə kimi görür.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FF040-B637-6743-E1C1-ECEC7ADE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482737"/>
            <a:ext cx="4610743" cy="819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33AFCA-4F5A-B748-4E9A-C58AA1B87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811550"/>
            <a:ext cx="4344006" cy="571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0984C4-412A-E947-D152-6E974F644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6011878"/>
            <a:ext cx="2114845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82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8D5E-996D-EB24-ABE3-7492C77D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750A2E-698F-DC1D-5040-706773C773BE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Amma belə yazsaq:</a:t>
            </a:r>
            <a:r>
              <a:rPr lang="az-Latn-AZ" altLang="en-US" sz="1300">
                <a:latin typeface="Arial" panose="020B0604020202020204" pitchFamily="34" charset="0"/>
              </a:rPr>
              <a:t> PHP artıq anlayır ki, burada </a:t>
            </a:r>
            <a:r>
              <a:rPr lang="az-Latn-AZ" altLang="en-US" sz="1300" b="1">
                <a:latin typeface="Arial" panose="020B0604020202020204" pitchFamily="34" charset="0"/>
              </a:rPr>
              <a:t>property</a:t>
            </a:r>
            <a:r>
              <a:rPr lang="az-Latn-AZ" altLang="en-US" sz="1300">
                <a:latin typeface="Arial" panose="020B0604020202020204" pitchFamily="34" charset="0"/>
              </a:rPr>
              <a:t> adı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banner</a:t>
            </a:r>
            <a:r>
              <a:rPr lang="az-Latn-AZ" altLang="en-US" sz="1300">
                <a:latin typeface="Arial" panose="020B0604020202020204" pitchFamily="34" charset="0"/>
              </a:rPr>
              <a:t> olacaq.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EADA2-9923-47B0-D128-CF43E8FBB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26472"/>
            <a:ext cx="4477375" cy="36200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4B13D5-9908-0A59-4149-F8967D3EE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076292"/>
              </p:ext>
            </p:extLst>
          </p:nvPr>
        </p:nvGraphicFramePr>
        <p:xfrm>
          <a:off x="217714" y="1932808"/>
          <a:ext cx="11756571" cy="2851627"/>
        </p:xfrm>
        <a:graphic>
          <a:graphicData uri="http://schemas.openxmlformats.org/drawingml/2006/table">
            <a:tbl>
              <a:tblPr/>
              <a:tblGrid>
                <a:gridCol w="3269519">
                  <a:extLst>
                    <a:ext uri="{9D8B030D-6E8A-4147-A177-3AD203B41FA5}">
                      <a16:colId xmlns:a16="http://schemas.microsoft.com/office/drawing/2014/main" val="4047908089"/>
                    </a:ext>
                  </a:extLst>
                </a:gridCol>
                <a:gridCol w="1705744">
                  <a:extLst>
                    <a:ext uri="{9D8B030D-6E8A-4147-A177-3AD203B41FA5}">
                      <a16:colId xmlns:a16="http://schemas.microsoft.com/office/drawing/2014/main" val="2209708317"/>
                    </a:ext>
                  </a:extLst>
                </a:gridCol>
                <a:gridCol w="3009135">
                  <a:extLst>
                    <a:ext uri="{9D8B030D-6E8A-4147-A177-3AD203B41FA5}">
                      <a16:colId xmlns:a16="http://schemas.microsoft.com/office/drawing/2014/main" val="182049259"/>
                    </a:ext>
                  </a:extLst>
                </a:gridCol>
                <a:gridCol w="3772173">
                  <a:extLst>
                    <a:ext uri="{9D8B030D-6E8A-4147-A177-3AD203B41FA5}">
                      <a16:colId xmlns:a16="http://schemas.microsoft.com/office/drawing/2014/main" val="2642610516"/>
                    </a:ext>
                  </a:extLst>
                </a:gridCol>
              </a:tblGrid>
              <a:tr h="760434">
                <a:tc>
                  <a:txBody>
                    <a:bodyPr/>
                    <a:lstStyle/>
                    <a:p>
                      <a:r>
                        <a:rPr lang="en-US" b="1"/>
                        <a:t>Yazılış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Təhlükəsiz?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Tövsiyə?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Nə vaxt istifadə etməli?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634969"/>
                  </a:ext>
                </a:extLst>
              </a:tr>
              <a:tr h="760434">
                <a:tc>
                  <a:txBody>
                    <a:bodyPr/>
                    <a:lstStyle/>
                    <a:p>
                      <a:r>
                        <a:rPr lang="en-US" b="1"/>
                        <a:t>$request-&gt;$inputName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Sadə hallarda 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Property adı sadəcə bir dəyişəndirsə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516034"/>
                  </a:ext>
                </a:extLst>
              </a:tr>
              <a:tr h="1330759">
                <a:tc>
                  <a:txBody>
                    <a:bodyPr/>
                    <a:lstStyle/>
                    <a:p>
                      <a:r>
                        <a:rPr lang="en-US" b="1"/>
                        <a:t>$request-&gt;{$inputName}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Həmişə tövsiyə olunur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Concatenation, array daxilində, qarışıq property-lərdə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14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042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A6122-FBB6-9DAE-6585-FE1754E8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082856-306F-1125-DC43-70C0B78F55AE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Sadə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Birləşdirmə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Ehtimal varki bu `</a:t>
            </a:r>
            <a:r>
              <a:rPr lang="az-Latn-AZ" altLang="en-US" sz="1300" b="1">
                <a:latin typeface="Arial" panose="020B0604020202020204" pitchFamily="34" charset="0"/>
              </a:rPr>
              <a:t>img</a:t>
            </a:r>
            <a:r>
              <a:rPr lang="az-Latn-AZ" altLang="en-US" sz="1300">
                <a:latin typeface="Arial" panose="020B0604020202020204" pitchFamily="34" charset="0"/>
              </a:rPr>
              <a:t>` olan hissə fərqli ancaq `</a:t>
            </a:r>
            <a:r>
              <a:rPr lang="az-Latn-AZ" altLang="en-US" sz="1300" b="1">
                <a:latin typeface="Arial" panose="020B0604020202020204" pitchFamily="34" charset="0"/>
              </a:rPr>
              <a:t>_banner</a:t>
            </a:r>
            <a:r>
              <a:rPr lang="az-Latn-AZ" altLang="en-US" sz="1300">
                <a:latin typeface="Arial" panose="020B0604020202020204" pitchFamily="34" charset="0"/>
              </a:rPr>
              <a:t>` olan hissə eyni qalsın. Belə olan hallarda, 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dinamik property əldə edilməsi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" sintaksisindən istifadə etmək məsləhətdir.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img_banner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slider_banner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foote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r_banner və.s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Tövsiyə</a:t>
            </a:r>
            <a:r>
              <a:rPr lang="az-Latn-AZ" altLang="en-US" sz="1300" b="1">
                <a:latin typeface="Arial" panose="020B0604020202020204" pitchFamily="34" charset="0"/>
              </a:rPr>
              <a:t> - </a:t>
            </a:r>
            <a:r>
              <a:rPr lang="en-US" altLang="en-US" sz="1300" b="1">
                <a:latin typeface="Arial" panose="020B0604020202020204" pitchFamily="34" charset="0"/>
              </a:rPr>
              <a:t>Laravel və professional PHP developer-lar həmişə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{}</a:t>
            </a:r>
            <a:r>
              <a:rPr lang="en-US" altLang="en-US" sz="1300" b="1">
                <a:latin typeface="Arial" panose="020B0604020202020204" pitchFamily="34" charset="0"/>
              </a:rPr>
              <a:t> istifadə edirlər, çünki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Daha təhlükəsizdir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Daha çevikdir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Gələcəkdə kodun dəyişəcəyi hallara hazırdır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IDE-lər və static analyzer-lər tərəfindən daha dəqiq analiz olunur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A0BC1-1021-B3AA-FF7E-CFD2CB31B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57329"/>
            <a:ext cx="3924848" cy="762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80BF03-8ECA-DD82-753D-C22FA7167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690705"/>
            <a:ext cx="4248743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75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93D78-B525-2833-BF99-B5997F52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F6B4FC-4756-95C9-6F95-B2E78121580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</a:t>
            </a:r>
            <a:r>
              <a:rPr lang="az-Latn-AZ" altLang="en-US" sz="1300">
                <a:latin typeface="Arial" panose="020B0604020202020204" pitchFamily="34" charset="0"/>
              </a:rPr>
              <a:t>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E0D719-57CE-E0F4-1475-A6D9A76B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903"/>
          <a:stretch>
            <a:fillRect/>
          </a:stretch>
        </p:blipFill>
        <p:spPr>
          <a:xfrm>
            <a:off x="0" y="4822185"/>
            <a:ext cx="12192000" cy="20358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5566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D149-7859-80B5-2F41-2CE7FFA4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637005-B782-64D7-2DCA-3583B7B8B77D}"/>
              </a:ext>
            </a:extLst>
          </p:cNvPr>
          <p:cNvSpPr txBox="1"/>
          <p:nvPr/>
        </p:nvSpPr>
        <p:spPr>
          <a:xfrm>
            <a:off x="217714" y="255046"/>
            <a:ext cx="11756571" cy="6287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Kodu bir balaca dəyişdiririk.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b="1">
                <a:latin typeface="Arial" panose="020B0604020202020204" pitchFamily="34" charset="0"/>
              </a:rPr>
              <a:t>Kod 1 – Yeni yazdığımız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Üstünlüklər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uniqid() </a:t>
            </a:r>
            <a:r>
              <a:rPr lang="en-US" altLang="en-US" sz="1300">
                <a:latin typeface="Arial" panose="020B0604020202020204" pitchFamily="34" charset="0"/>
              </a:rPr>
              <a:t>– çox daha </a:t>
            </a:r>
            <a:r>
              <a:rPr lang="en-US" altLang="en-US" sz="1300" b="1">
                <a:latin typeface="Arial" panose="020B0604020202020204" pitchFamily="34" charset="0"/>
              </a:rPr>
              <a:t>sabit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unikal string </a:t>
            </a:r>
            <a:r>
              <a:rPr lang="en-US" altLang="en-US" sz="1300">
                <a:latin typeface="Arial" panose="020B0604020202020204" pitchFamily="34" charset="0"/>
              </a:rPr>
              <a:t>verir. Hər dəfə fərqli və sistem saatına əsaslanan string qaytarır.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getClientOriginalExtension() </a:t>
            </a:r>
            <a:r>
              <a:rPr lang="en-US" altLang="en-US" sz="1300">
                <a:latin typeface="Arial" panose="020B0604020202020204" pitchFamily="34" charset="0"/>
              </a:rPr>
              <a:t>– sadəcə </a:t>
            </a:r>
            <a:r>
              <a:rPr lang="en-US" altLang="en-US" sz="1300" b="1">
                <a:latin typeface="Arial" panose="020B0604020202020204" pitchFamily="34" charset="0"/>
              </a:rPr>
              <a:t>.jpg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.png </a:t>
            </a:r>
            <a:r>
              <a:rPr lang="en-US" altLang="en-US" sz="1300">
                <a:latin typeface="Arial" panose="020B0604020202020204" pitchFamily="34" charset="0"/>
              </a:rPr>
              <a:t>və s. fayl uzantısını verir. Daha təmizdir.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Fayl adında </a:t>
            </a:r>
            <a:r>
              <a:rPr lang="en-US" altLang="en-US" sz="1300" b="1">
                <a:latin typeface="Arial" panose="020B0604020202020204" pitchFamily="34" charset="0"/>
              </a:rPr>
              <a:t>orijinal faylın adı yoxdur </a:t>
            </a:r>
            <a:r>
              <a:rPr lang="en-US" altLang="en-US" sz="1300">
                <a:latin typeface="Arial" panose="020B0604020202020204" pitchFamily="34" charset="0"/>
              </a:rPr>
              <a:t>→ məxfi saxlanma baxımından daha yaxşıdır.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Daha təhlükəsiz və peşəkar üsuldur.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___________________________________________________________________________________________________________________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b="1">
                <a:latin typeface="Arial" panose="020B0604020202020204" pitchFamily="34" charset="0"/>
              </a:rPr>
              <a:t>Kod 2 – Köhnə yazdığı</a:t>
            </a:r>
            <a:r>
              <a:rPr lang="az-Latn-AZ" altLang="en-US" b="1">
                <a:latin typeface="Arial" panose="020B0604020202020204" pitchFamily="34" charset="0"/>
              </a:rPr>
              <a:t>m</a:t>
            </a:r>
            <a:r>
              <a:rPr lang="en-US" altLang="en-US" b="1">
                <a:latin typeface="Arial" panose="020B0604020202020204" pitchFamily="34" charset="0"/>
              </a:rPr>
              <a:t>ız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Mənfi cəhətlər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 b="1">
                <a:latin typeface="Arial" panose="020B0604020202020204" pitchFamily="34" charset="0"/>
              </a:rPr>
              <a:t>rand() </a:t>
            </a:r>
            <a:r>
              <a:rPr lang="az-Latn-AZ" altLang="en-US" sz="1300">
                <a:latin typeface="Arial" panose="020B0604020202020204" pitchFamily="34" charset="0"/>
              </a:rPr>
              <a:t>– təkrarlanma riski var, çünki çox da böyük random sahə yaratmır.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 b="1">
                <a:latin typeface="Arial" panose="020B0604020202020204" pitchFamily="34" charset="0"/>
              </a:rPr>
              <a:t>getClientOriginalName() </a:t>
            </a:r>
            <a:r>
              <a:rPr lang="az-Latn-AZ" altLang="en-US" sz="1300">
                <a:latin typeface="Arial" panose="020B0604020202020204" pitchFamily="34" charset="0"/>
              </a:rPr>
              <a:t>– istifadəçinin göndərdiyi </a:t>
            </a:r>
            <a:r>
              <a:rPr lang="az-Latn-AZ" altLang="en-US" sz="1300" b="1">
                <a:latin typeface="Arial" panose="020B0604020202020204" pitchFamily="34" charset="0"/>
              </a:rPr>
              <a:t>orijinal fayl adını saxlayır</a:t>
            </a:r>
            <a:r>
              <a:rPr lang="az-Latn-AZ" altLang="en-US" sz="1300">
                <a:latin typeface="Arial" panose="020B0604020202020204" pitchFamily="34" charset="0"/>
              </a:rPr>
              <a:t>, məsələn: mehmet.jpg, virus.php.jpg və 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Bu potensial olaraq security risk yaradır (xüsusilə backend-lərdə və ya image preview-lərdə).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Fayl adlarında </a:t>
            </a:r>
            <a:r>
              <a:rPr lang="az-Latn-AZ" altLang="en-US" sz="1300" b="1">
                <a:latin typeface="Arial" panose="020B0604020202020204" pitchFamily="34" charset="0"/>
              </a:rPr>
              <a:t>boşluq, türk/ə,ğ,ü simvolları </a:t>
            </a:r>
            <a:r>
              <a:rPr lang="az-Latn-AZ" altLang="en-US" sz="1300">
                <a:latin typeface="Arial" panose="020B0604020202020204" pitchFamily="34" charset="0"/>
              </a:rPr>
              <a:t>və ya təhlükəli simvollar ola bilər → serverdə problem yarada bilər.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F39DC-2AAB-D5EA-D893-A4747D05F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364" y="1"/>
            <a:ext cx="3463636" cy="2696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CE21B8-53F1-8749-53ED-22E0DA306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1378485"/>
            <a:ext cx="3915321" cy="609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E6A4B4-E9BF-4E90-8043-E715E29D4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4453780"/>
            <a:ext cx="4610743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1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F736-438E-232A-B0BA-76813A32E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CEDF29-C8C5-DDDE-ABC5-FB61D8C124DF}"/>
              </a:ext>
            </a:extLst>
          </p:cNvPr>
          <p:cNvSpPr txBox="1"/>
          <p:nvPr/>
        </p:nvSpPr>
        <p:spPr>
          <a:xfrm>
            <a:off x="217714" y="264282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Daha da Təkmil Versiya (gələcək üçün) Əgər həm təhlükəsizlik, həm də image uzantısı yoxlaması istəsəniz: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C3C4F-E05B-8549-D41C-FDD2A298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25351"/>
            <a:ext cx="4744112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60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40C33-3898-C3C9-A533-C88AFCF3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498F7C-C399-3F7E-9AB4-92C3665772E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Təkrar test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55EFF-2F61-FF87-60DF-6D2C9986D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9287"/>
            <a:ext cx="12192000" cy="610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6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7454-819C-403C-FC6C-CD8A51C5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4B44B2-27F7-1EA2-F87B-88C3030DB54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B77F7B-A144-EC92-B83F-12F6C3A41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0192"/>
            <a:ext cx="12192000" cy="19176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9734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Burda yazılanları etməyəcəyik. Sadəcə bilgimiz olsun deyə qeyd edirəm ki, bəlkə kimsə üçün lazım olar: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Laravel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Intervention Image </a:t>
            </a:r>
            <a:r>
              <a:rPr lang="en-US" altLang="en-US" sz="1300">
                <a:latin typeface="Arial" panose="020B0604020202020204" pitchFamily="34" charset="0"/>
              </a:rPr>
              <a:t>paketi ilə şəkil yükləmə</a:t>
            </a:r>
            <a:r>
              <a:rPr lang="az-Latn-AZ" altLang="en-US" sz="1300">
                <a:latin typeface="Arial" panose="020B0604020202020204" pitchFamily="34" charset="0"/>
              </a:rPr>
              <a:t>. Bu zaman, a</a:t>
            </a:r>
            <a:r>
              <a:rPr lang="en-US" altLang="en-US" sz="1300">
                <a:latin typeface="Arial" panose="020B0604020202020204" pitchFamily="34" charset="0"/>
              </a:rPr>
              <a:t>vtomatik olaraq: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Boyutunu dəyişmək (resize)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Watermark əlavə etmək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Thumbnail (kiçik versiya) yaratmaq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Optimallaşdırmaq və .webp olaraq saxlamaq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Əvvəlcə: Intervention Image Qurulması</a:t>
            </a:r>
            <a:r>
              <a:rPr lang="az-Latn-AZ" altLang="en-US" sz="1300">
                <a:latin typeface="Arial" panose="020B0604020202020204" pitchFamily="34" charset="0"/>
              </a:rPr>
              <a:t>: Əgər Laravel 10/11 istifadə edirsinizsə, config/app.php faylında heç nə dəyişməyə ehtiyac yoxdur.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ImageUploadTrait.php </a:t>
            </a:r>
            <a:r>
              <a:rPr lang="en-US" altLang="en-US" sz="1300">
                <a:latin typeface="Arial" panose="020B0604020202020204" pitchFamily="34" charset="0"/>
              </a:rPr>
              <a:t>Faylını </a:t>
            </a:r>
            <a:r>
              <a:rPr lang="az-Latn-AZ" altLang="en-US" sz="1300">
                <a:latin typeface="Arial" panose="020B0604020202020204" pitchFamily="34" charset="0"/>
              </a:rPr>
              <a:t>Növbəti slayddakı</a:t>
            </a:r>
            <a:r>
              <a:rPr lang="en-US" altLang="en-US" sz="1300">
                <a:latin typeface="Arial" panose="020B0604020202020204" pitchFamily="34" charset="0"/>
              </a:rPr>
              <a:t> Kimi Təkmilləşdir</a:t>
            </a:r>
            <a:r>
              <a:rPr lang="az-Latn-AZ" altLang="en-US" sz="1300">
                <a:latin typeface="Arial" panose="020B0604020202020204" pitchFamily="34" charset="0"/>
              </a:rPr>
              <a:t>mək lazımdır. Bu kodları tək-tək oxumaq lazımdır. Çünki kodları paketin yaxud laravelin versiyasından asılı olaraq dəyişdirmək məcburiyyətində qalaq.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7B059E-49C1-1ED1-72B6-68753487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3050312"/>
            <a:ext cx="2953162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E366-F38C-F885-9078-BAC6E7A3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6456D6-215C-AC5A-E1E3-9B684D605369}"/>
              </a:ext>
            </a:extLst>
          </p:cNvPr>
          <p:cNvSpPr txBox="1"/>
          <p:nvPr/>
        </p:nvSpPr>
        <p:spPr>
          <a:xfrm>
            <a:off x="217714" y="295353"/>
            <a:ext cx="11756571" cy="6267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use Intervention\Image\Facades\Image;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use Illuminate\Support\Str;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trait ImageUploadTrait {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public function uploadImage(Request $request, $inputName, $folder, $resize = [800, 600], $createThumbnail = false)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{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if ($request-&gt;hasFile($inputName)) {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$image = $request-&gt;file($inputName);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$ext = strtolower($image-&gt;getClientOriginalExtension());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$allowed = ['jpg', 'jpeg', 'png', 'webp'];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if (!in_array($ext, $allowed)) {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abort(400, 'Unsupported image type');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}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// Unikal ad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$imageName = 'media_' . uniqid() . '.' . $ext;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// Əsas şəkil boyutunu dəyiş və watermark əlavə et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$mainImage = Image::make($image)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-&gt;resize($resize[0], $resize[1], function ($constraint) {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    $constraint-&gt;aspectRatio();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    $constraint-&gt;upsize();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});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// Su nişanı (watermark) əlavə etmək istəyirsinizsə: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$watermarkPath = public_path('watermarks/logo.png');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if (file_exists($watermarkPath)) {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$mainImage-&gt;insert($watermarkPath, 'bottom-right', 10, 10);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}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// Qovluğu yoxla və yarat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$uploadPath = public_path($folder);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if (!file_exists($uploadPath)) {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mkdir($uploadPath, 0777, true);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}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// Əsas şəkli yadda saxla (webp versiyasını da yarada bilərsən)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$mainImage-&gt;save($uploadPath . '/' . $imageName, 85); // 85 - keyfiyyət %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// Thumbnail yaradırıqsa: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if ($createThumbnail) {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$thumbName = 'thumb_' . $imageName;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$thumbImage = Image::make($image)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    -&gt;resize(250, 250, function ($constraint) {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        $constraint-&gt;aspectRatio();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        $constraint-&gt;upsize();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    });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$thumbPath = $uploadPath . '/thumbs';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if (!file_exists($thumbPath)) {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    mkdir($thumbPath, 0777, true);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}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    $thumbImage-&gt;save($thumbPath . '/' . $thumbName, 80);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}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    return $folder . '/' . $imageName;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}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    return null;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    }</a:t>
            </a:r>
          </a:p>
          <a:p>
            <a:pPr>
              <a:lnSpc>
                <a:spcPct val="150000"/>
              </a:lnSpc>
              <a:buNone/>
            </a:pPr>
            <a:endParaRPr lang="en-US" altLang="en-US" sz="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400">
                <a:latin typeface="Arial" panose="020B0604020202020204" pitchFamily="34" charset="0"/>
              </a:rPr>
              <a:t>}</a:t>
            </a:r>
            <a:endParaRPr kumimoji="0" lang="en-US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148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7D5A-34C4-E303-1E19-A49F5CD3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332B7D-92EB-9FB3-14D2-AA3C147D6EF5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Controller-də istifadə (məsələn SliderController):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Yaradılacaq Struktur (public/ altında):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WebP olaraq yadda saxlamaq istəyirsinizsə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23776-0372-8144-B87B-DC91F845C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621102"/>
            <a:ext cx="7068536" cy="609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9D27DF-FD98-9214-3ED8-1946B54EF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424833"/>
            <a:ext cx="3820058" cy="20291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FE3894-4B39-ED04-4F33-5D3ADE1BF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5411714"/>
            <a:ext cx="5420481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47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0BE3A-06F9-176B-8B7A-46660D8B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3F6849-2F3B-D58D-751D-ABE7FC2F9790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Əlavə Göstərişlər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İstifadəçinin yüklədiyi şəkilləri böyütmək yox, kiçiltmək daha düzgündür.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Watermark png şəklində şəffaflıqla yaradılmalıdır.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Fayl adlarında uniqid() + .webp →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SEO</a:t>
            </a:r>
            <a:r>
              <a:rPr lang="en-US" altLang="en-US" sz="1300">
                <a:latin typeface="Arial" panose="020B0604020202020204" pitchFamily="34" charset="0"/>
              </a:rPr>
              <a:t> və performans üçün yaxşıdır.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98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E1F45-B793-583B-2398-A1709392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29DA6E-433B-7E73-CADF-4AF29CB5C2A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024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287F-5C12-0037-D6EC-8E4F2D06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0106D9-D199-ED58-C4E7-B638047E792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36331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4857</TotalTime>
  <Words>1189</Words>
  <Application>Microsoft Office PowerPoint</Application>
  <PresentationFormat>Widescreen</PresentationFormat>
  <Paragraphs>198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382</cp:revision>
  <dcterms:created xsi:type="dcterms:W3CDTF">2025-04-12T11:00:44Z</dcterms:created>
  <dcterms:modified xsi:type="dcterms:W3CDTF">2025-08-05T16:08:18Z</dcterms:modified>
</cp:coreProperties>
</file>