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5" r:id="rId3"/>
    <p:sldId id="404" r:id="rId4"/>
    <p:sldId id="406" r:id="rId5"/>
    <p:sldId id="407" r:id="rId6"/>
    <p:sldId id="408" r:id="rId7"/>
    <p:sldId id="410" r:id="rId8"/>
    <p:sldId id="403" r:id="rId9"/>
    <p:sldId id="409" r:id="rId10"/>
    <p:sldId id="400" r:id="rId11"/>
    <p:sldId id="411" r:id="rId12"/>
    <p:sldId id="412" r:id="rId13"/>
    <p:sldId id="413" r:id="rId14"/>
    <p:sldId id="414" r:id="rId15"/>
    <p:sldId id="415" r:id="rId16"/>
    <p:sldId id="416" r:id="rId17"/>
    <p:sldId id="417" r:id="rId18"/>
    <p:sldId id="41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5" y="255046"/>
            <a:ext cx="2917372" cy="631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Bu kod parçacığı Laravel və </a:t>
            </a: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Spatie Permission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paketi ilə </a:t>
            </a: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yeni bir rol (role)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yaratmaq üçün istifadə olunur.</a:t>
            </a:r>
            <a:endParaRPr lang="az-Latn-AZ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use Spatie\Permission\Models\Role; </a:t>
            </a:r>
            <a:endParaRPr lang="az-Latn-AZ" altLang="en-US" sz="11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Spatie</a:t>
            </a: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 paketinin </a:t>
            </a:r>
            <a:r>
              <a:rPr lang="en-US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 modelini istifadə etməyə başlayır</a:t>
            </a: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ıq</a:t>
            </a: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. Bu model vasitəsilə rol yaratmaq, silmək, redaktə etmək və icazə vermək mümkün olur.</a:t>
            </a: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Nə baş verir?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GET </a:t>
            </a:r>
            <a:r>
              <a:rPr lang="en-US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/create-role </a:t>
            </a: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URL-i çağırıldıqda:</a:t>
            </a: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Role::create(['name' =&gt; 'writer'])</a:t>
            </a: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 — bu funksiya </a:t>
            </a:r>
            <a:r>
              <a:rPr lang="en-US" altLang="en-US" sz="11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roles</a:t>
            </a: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 cədvəlinə yeni bir </a:t>
            </a:r>
            <a:r>
              <a:rPr lang="en-US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writer</a:t>
            </a: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 adlı rol əlavə edir.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Nəticə olaraq yaradılmış rol obyektini </a:t>
            </a:r>
            <a:r>
              <a:rPr lang="en-US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 formatında geri qaytarır.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F657D-A3BC-C974-B635-2ED29E316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609" y="0"/>
            <a:ext cx="8744391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2C4FE-762D-903A-A8BA-DCF7170D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F58962-A25A-D95F-E867-A3E94E42F07F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guard_name nədir?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guard_name </a:t>
            </a:r>
            <a:r>
              <a:rPr lang="en-US" altLang="en-US" sz="1300">
                <a:latin typeface="Arial" panose="020B0604020202020204" pitchFamily="34" charset="0"/>
              </a:rPr>
              <a:t>sütunu Laravel-in authentication "</a:t>
            </a:r>
            <a:r>
              <a:rPr lang="en-US" altLang="en-US" sz="1300" b="1">
                <a:latin typeface="Arial" panose="020B0604020202020204" pitchFamily="34" charset="0"/>
              </a:rPr>
              <a:t>guard</a:t>
            </a:r>
            <a:r>
              <a:rPr lang="en-US" altLang="en-US" sz="1300">
                <a:latin typeface="Arial" panose="020B0604020202020204" pitchFamily="34" charset="0"/>
              </a:rPr>
              <a:t>" sistemi ilə əlaqəlidir.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Laravel-in </a:t>
            </a:r>
            <a:r>
              <a:rPr lang="en-US" altLang="en-US" sz="1300" b="1">
                <a:latin typeface="Arial" panose="020B0604020202020204" pitchFamily="34" charset="0"/>
              </a:rPr>
              <a:t>config/auth.php </a:t>
            </a:r>
            <a:r>
              <a:rPr lang="en-US" altLang="en-US" sz="1300">
                <a:latin typeface="Arial" panose="020B0604020202020204" pitchFamily="34" charset="0"/>
              </a:rPr>
              <a:t>faylında guards bölməsi olur (</a:t>
            </a:r>
            <a:r>
              <a:rPr lang="en-US" altLang="en-US" sz="1300" b="1">
                <a:latin typeface="Arial" panose="020B0604020202020204" pitchFamily="34" charset="0"/>
              </a:rPr>
              <a:t>web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api</a:t>
            </a:r>
            <a:r>
              <a:rPr lang="en-US" altLang="en-US" sz="1300">
                <a:latin typeface="Arial" panose="020B0604020202020204" pitchFamily="34" charset="0"/>
              </a:rPr>
              <a:t>, və s.).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sütun bu rolun hansı </a:t>
            </a:r>
            <a:r>
              <a:rPr lang="en-US" altLang="en-US" sz="1300" b="1">
                <a:latin typeface="Arial" panose="020B0604020202020204" pitchFamily="34" charset="0"/>
              </a:rPr>
              <a:t>guard</a:t>
            </a:r>
            <a:r>
              <a:rPr lang="en-US" altLang="en-US" sz="1300">
                <a:latin typeface="Arial" panose="020B0604020202020204" pitchFamily="34" charset="0"/>
              </a:rPr>
              <a:t> üçün işlədiyini bildirir.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guard_name =&gt; web </a:t>
            </a:r>
            <a:r>
              <a:rPr lang="en-US" altLang="en-US" sz="1300">
                <a:latin typeface="Arial" panose="020B0604020202020204" pitchFamily="34" charset="0"/>
              </a:rPr>
              <a:t>o deməkdir ki, bu rol </a:t>
            </a:r>
            <a:r>
              <a:rPr lang="en-US" altLang="en-US" sz="1300" b="1">
                <a:latin typeface="Arial" panose="020B0604020202020204" pitchFamily="34" charset="0"/>
              </a:rPr>
              <a:t>web</a:t>
            </a:r>
            <a:r>
              <a:rPr lang="en-US" altLang="en-US" sz="1300">
                <a:latin typeface="Arial" panose="020B0604020202020204" pitchFamily="34" charset="0"/>
              </a:rPr>
              <a:t> guard istifadə edən istifadəçilərə aiddir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67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3ABEF-B06E-FA43-E33A-6F5FFC83F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04BDAE-1B86-08C2-79F5-4BAA23D9B200}"/>
              </a:ext>
            </a:extLst>
          </p:cNvPr>
          <p:cNvSpPr txBox="1"/>
          <p:nvPr/>
        </p:nvSpPr>
        <p:spPr>
          <a:xfrm>
            <a:off x="217714" y="255046"/>
            <a:ext cx="6892213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Yenidən yeni dəyər ə</a:t>
            </a:r>
            <a:r>
              <a:rPr lang="az-Latn-AZ" altLang="en-US" sz="1300">
                <a:latin typeface="Arial" panose="020B0604020202020204" pitchFamily="34" charset="0"/>
              </a:rPr>
              <a:t>lavə etmək istəsəz, təkrar şəkildəki kimi yazıb </a:t>
            </a:r>
            <a:r>
              <a:rPr lang="az-Latn-AZ" altLang="en-US" sz="1300" b="1">
                <a:latin typeface="Arial" panose="020B0604020202020204" pitchFamily="34" charset="0"/>
              </a:rPr>
              <a:t>route-</a:t>
            </a:r>
            <a:r>
              <a:rPr lang="az-Latn-AZ" altLang="en-US" sz="1300">
                <a:latin typeface="Arial" panose="020B0604020202020204" pitchFamily="34" charset="0"/>
              </a:rPr>
              <a:t> u işə sala bilərsiz.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1EC49-9BC0-2BF6-565C-3A5881E16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677" y="0"/>
            <a:ext cx="4820323" cy="2267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E22CD9-42D2-FDA0-08E8-A80853330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1226390"/>
            <a:ext cx="5534797" cy="14194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8887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903FC-8085-BAEA-610A-11BE3E1D8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7308A-6258-5BBA-BBDE-C1745C700110}"/>
              </a:ext>
            </a:extLst>
          </p:cNvPr>
          <p:cNvSpPr txBox="1"/>
          <p:nvPr/>
        </p:nvSpPr>
        <p:spPr>
          <a:xfrm>
            <a:off x="217715" y="255046"/>
            <a:ext cx="5878286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 kod isə, Laravel-də </a:t>
            </a:r>
            <a:r>
              <a:rPr lang="en-US" altLang="en-US" sz="1300" b="1">
                <a:latin typeface="Arial" panose="020B0604020202020204" pitchFamily="34" charset="0"/>
              </a:rPr>
              <a:t>Spatie Permission </a:t>
            </a:r>
            <a:r>
              <a:rPr lang="en-US" altLang="en-US" sz="1300">
                <a:latin typeface="Arial" panose="020B0604020202020204" pitchFamily="34" charset="0"/>
              </a:rPr>
              <a:t>paketi vasitəsilə yeni bir icazə (</a:t>
            </a:r>
            <a:r>
              <a:rPr lang="en-US" altLang="en-US" sz="1300" b="1">
                <a:latin typeface="Arial" panose="020B0604020202020204" pitchFamily="34" charset="0"/>
              </a:rPr>
              <a:t>permission</a:t>
            </a:r>
            <a:r>
              <a:rPr lang="en-US" altLang="en-US" sz="1300">
                <a:latin typeface="Arial" panose="020B0604020202020204" pitchFamily="34" charset="0"/>
              </a:rPr>
              <a:t>) yaratmaq üçün istifadə olunur.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sətir </a:t>
            </a:r>
            <a:r>
              <a:rPr lang="en-US" altLang="en-US" sz="1300" b="1">
                <a:latin typeface="Arial" panose="020B0604020202020204" pitchFamily="34" charset="0"/>
              </a:rPr>
              <a:t>permissions</a:t>
            </a:r>
            <a:r>
              <a:rPr lang="en-US" altLang="en-US" sz="1300">
                <a:latin typeface="Arial" panose="020B0604020202020204" pitchFamily="34" charset="0"/>
              </a:rPr>
              <a:t> adlı cədvələ yeni bir icazə əlavə edir: "</a:t>
            </a:r>
            <a:r>
              <a:rPr lang="en-US" altLang="en-US" sz="1300" b="1">
                <a:latin typeface="Arial" panose="020B0604020202020204" pitchFamily="34" charset="0"/>
              </a:rPr>
              <a:t>edit articles</a:t>
            </a:r>
            <a:r>
              <a:rPr lang="en-US" altLang="en-US" sz="1300">
                <a:latin typeface="Arial" panose="020B0604020202020204" pitchFamily="34" charset="0"/>
              </a:rPr>
              <a:t>" (yəni “məqaləni redaktə etmək” icazəsi).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F4077E-4EF7-766E-B70E-BF66E28E9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992" y="0"/>
            <a:ext cx="5611008" cy="26578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25FC32-6ED5-72DB-EA43-CD1C6D5FF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5" y="1088870"/>
            <a:ext cx="4467849" cy="2133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5007A6-5C6E-7948-257D-E26E83292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6" y="4489770"/>
            <a:ext cx="4830146" cy="22008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2208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F2E3C-A1CB-3D79-1179-146198D2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6338F8-124C-4012-A6CB-E75405FE50F8}"/>
              </a:ext>
            </a:extLst>
          </p:cNvPr>
          <p:cNvSpPr txBox="1"/>
          <p:nvPr/>
        </p:nvSpPr>
        <p:spPr>
          <a:xfrm>
            <a:off x="149290" y="255046"/>
            <a:ext cx="11924522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Yaxud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ROLE</a:t>
            </a:r>
            <a:r>
              <a:rPr lang="az-Latn-AZ" altLang="en-US" sz="1200">
                <a:latin typeface="Arial" panose="020B0604020202020204" pitchFamily="34" charset="0"/>
              </a:rPr>
              <a:t> və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PERMİSSİON</a:t>
            </a:r>
            <a:r>
              <a:rPr lang="az-Latn-AZ" altLang="en-US" sz="1200">
                <a:latin typeface="Arial" panose="020B0604020202020204" pitchFamily="34" charset="0"/>
              </a:rPr>
              <a:t> əlavə etmək üçün `</a:t>
            </a:r>
            <a:r>
              <a:rPr lang="az-Latn-AZ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Artisan Commands</a:t>
            </a:r>
            <a:r>
              <a:rPr lang="az-Latn-AZ" altLang="en-US" sz="1200">
                <a:latin typeface="Arial" panose="020B0604020202020204" pitchFamily="34" charset="0"/>
              </a:rPr>
              <a:t>` -larından istifadə etməkdə olar: </a:t>
            </a:r>
            <a:r>
              <a:rPr lang="az-Latn-AZ" altLang="en-US" sz="1200" u="sng">
                <a:solidFill>
                  <a:srgbClr val="00B0F0"/>
                </a:solidFill>
                <a:latin typeface="Arial" panose="020B0604020202020204" pitchFamily="34" charset="0"/>
              </a:rPr>
              <a:t>https://spatie.be/docs/laravel-permission/v6/basic-usage/artisan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29FF7D-D54C-0A9B-69BB-575CCA5C8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90" y="842787"/>
            <a:ext cx="7421011" cy="17814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0BDF05-58DB-F3E0-3F66-7E8BFC968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90" y="3429000"/>
            <a:ext cx="5029666" cy="13167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34B768-1DF9-33E4-3BFB-849C1315D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90" y="5024302"/>
            <a:ext cx="5029666" cy="17814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514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7F323-E470-E5AE-E257-9B2300A1E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82BA39-7862-C08E-0F52-01F9438427B4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Rol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İcazərələri</a:t>
            </a:r>
            <a:r>
              <a:rPr lang="az-Latn-AZ" altLang="en-US" sz="1300">
                <a:latin typeface="Arial" panose="020B0604020202020204" pitchFamily="34" charset="0"/>
              </a:rPr>
              <a:t> ( permission ) yaratdıqdan sonra, bu </a:t>
            </a:r>
            <a:r>
              <a:rPr lang="az-Latn-AZ" altLang="en-US" sz="1300" b="1">
                <a:latin typeface="Arial" panose="020B0604020202020204" pitchFamily="34" charset="0"/>
              </a:rPr>
              <a:t>rol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icazələri</a:t>
            </a:r>
            <a:r>
              <a:rPr lang="az-Latn-AZ" altLang="en-US" sz="1300">
                <a:latin typeface="Arial" panose="020B0604020202020204" pitchFamily="34" charset="0"/>
              </a:rPr>
              <a:t> istədiyimiz </a:t>
            </a:r>
            <a:r>
              <a:rPr lang="az-Latn-AZ" altLang="en-US" sz="1300" b="1">
                <a:latin typeface="Arial" panose="020B0604020202020204" pitchFamily="34" charset="0"/>
              </a:rPr>
              <a:t>istifadəçiyə</a:t>
            </a:r>
            <a:r>
              <a:rPr lang="az-Latn-AZ" altLang="en-US" sz="1300">
                <a:latin typeface="Arial" panose="020B0604020202020204" pitchFamily="34" charset="0"/>
              </a:rPr>
              <a:t> (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) təyin edə bilərik. Bunun üçün ən sadə formada </a:t>
            </a:r>
            <a:r>
              <a:rPr lang="az-Latn-AZ" altLang="en-US" sz="1300" b="1">
                <a:latin typeface="Arial" panose="020B0604020202020204" pitchFamily="34" charset="0"/>
              </a:rPr>
              <a:t>spatie</a:t>
            </a:r>
            <a:r>
              <a:rPr lang="az-Latn-AZ" altLang="en-US" sz="1300">
                <a:latin typeface="Arial" panose="020B0604020202020204" pitchFamily="34" charset="0"/>
              </a:rPr>
              <a:t> paketinin 2 metodundan istifadə edəcəyik: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1)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assignRole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2)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givePermissionTo()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03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4F5F5-E257-161C-C2AD-2E883BC54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239732-531A-8324-17D6-E99EB26D9901}"/>
              </a:ext>
            </a:extLst>
          </p:cNvPr>
          <p:cNvSpPr txBox="1"/>
          <p:nvPr/>
        </p:nvSpPr>
        <p:spPr>
          <a:xfrm>
            <a:off x="217714" y="255046"/>
            <a:ext cx="11756571" cy="338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1. </a:t>
            </a: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$user-&gt;assignRole('writer');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Bu əmrlə</a:t>
            </a:r>
            <a:r>
              <a:rPr lang="en-US" altLang="en-US" sz="12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writer</a:t>
            </a:r>
            <a:r>
              <a:rPr lang="en-US" altLang="en-US" sz="1200">
                <a:latin typeface="Arial" panose="020B0604020202020204" pitchFamily="34" charset="0"/>
              </a:rPr>
              <a:t> adlı </a:t>
            </a:r>
            <a:r>
              <a:rPr lang="en-US" altLang="en-US" sz="1200" b="1">
                <a:latin typeface="Arial" panose="020B0604020202020204" pitchFamily="34" charset="0"/>
              </a:rPr>
              <a:t>rol</a:t>
            </a:r>
            <a:r>
              <a:rPr lang="en-US" altLang="en-US" sz="1200">
                <a:latin typeface="Arial" panose="020B0604020202020204" pitchFamily="34" charset="0"/>
              </a:rPr>
              <a:t> istifadəçiyə təyin olunur.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Verilənlər bazasında bu əmrin nəticəsində </a:t>
            </a:r>
            <a:r>
              <a:rPr lang="en-US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model_has_roles </a:t>
            </a:r>
            <a:r>
              <a:rPr lang="en-US" altLang="en-US" sz="1200">
                <a:latin typeface="Arial" panose="020B0604020202020204" pitchFamily="34" charset="0"/>
              </a:rPr>
              <a:t>cədvəlinə yeni sətir əlavə olunur: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5A10F-ADEE-DE58-C8F3-1829373A8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974196"/>
            <a:ext cx="3581900" cy="1362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C5973E-9C35-CF7A-3F62-5C14BA908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100" y="0"/>
            <a:ext cx="3581900" cy="1790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249194-B0D0-7295-0738-EF04A9D94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3564726"/>
            <a:ext cx="4874026" cy="15433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953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nə deməkdir?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A0D8FA-3E2D-6908-4012-69E8764D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564075"/>
              </p:ext>
            </p:extLst>
          </p:nvPr>
        </p:nvGraphicFramePr>
        <p:xfrm>
          <a:off x="217714" y="1765691"/>
          <a:ext cx="11756571" cy="2796976"/>
        </p:xfrm>
        <a:graphic>
          <a:graphicData uri="http://schemas.openxmlformats.org/drawingml/2006/table">
            <a:tbl>
              <a:tblPr/>
              <a:tblGrid>
                <a:gridCol w="2435072">
                  <a:extLst>
                    <a:ext uri="{9D8B030D-6E8A-4147-A177-3AD203B41FA5}">
                      <a16:colId xmlns:a16="http://schemas.microsoft.com/office/drawing/2014/main" val="2069736885"/>
                    </a:ext>
                  </a:extLst>
                </a:gridCol>
                <a:gridCol w="9321499">
                  <a:extLst>
                    <a:ext uri="{9D8B030D-6E8A-4147-A177-3AD203B41FA5}">
                      <a16:colId xmlns:a16="http://schemas.microsoft.com/office/drawing/2014/main" val="2941852764"/>
                    </a:ext>
                  </a:extLst>
                </a:gridCol>
              </a:tblGrid>
              <a:tr h="699244">
                <a:tc>
                  <a:txBody>
                    <a:bodyPr/>
                    <a:lstStyle/>
                    <a:p>
                      <a:r>
                        <a:rPr lang="en-US" b="1"/>
                        <a:t>Sütun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204568"/>
                  </a:ext>
                </a:extLst>
              </a:tr>
              <a:tr h="699244">
                <a:tc>
                  <a:txBody>
                    <a:bodyPr/>
                    <a:lstStyle/>
                    <a:p>
                      <a:r>
                        <a:rPr lang="en-US" b="1"/>
                        <a:t>role_id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roles</a:t>
                      </a:r>
                      <a:r>
                        <a:rPr lang="en-US"/>
                        <a:t> cədvəlindəki </a:t>
                      </a:r>
                      <a:r>
                        <a:rPr lang="en-US" b="1"/>
                        <a:t>writer</a:t>
                      </a:r>
                      <a:r>
                        <a:rPr lang="en-US"/>
                        <a:t> rolunun </a:t>
                      </a:r>
                      <a:r>
                        <a:rPr lang="en-US" b="1"/>
                        <a:t>ID</a:t>
                      </a:r>
                      <a:r>
                        <a:rPr lang="en-US"/>
                        <a:t>-si (bu misalda: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770648"/>
                  </a:ext>
                </a:extLst>
              </a:tr>
              <a:tr h="699244">
                <a:tc>
                  <a:txBody>
                    <a:bodyPr/>
                    <a:lstStyle/>
                    <a:p>
                      <a:r>
                        <a:rPr lang="en-US" b="1"/>
                        <a:t>model_type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Bu rolun hansı modelə aid olduğunu göstərir (məsələn: </a:t>
                      </a:r>
                      <a:r>
                        <a:rPr lang="en-US" b="1"/>
                        <a:t>User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316342"/>
                  </a:ext>
                </a:extLst>
              </a:tr>
              <a:tr h="699244">
                <a:tc>
                  <a:txBody>
                    <a:bodyPr/>
                    <a:lstStyle/>
                    <a:p>
                      <a:r>
                        <a:rPr lang="en-US" b="1"/>
                        <a:t>model_id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Rolun təyin edildiyi modelin ID-si (bu halda </a:t>
                      </a:r>
                      <a:r>
                        <a:rPr lang="en-US" b="1"/>
                        <a:t>istifadəçi ID-si = 1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3824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69FB8E6-5705-A1EA-63DA-CF258E904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16274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0AA9-3911-32DF-A0AF-B9258613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49D545-351C-206A-07A1-2B85A177D999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$user-&gt;givePermissionTo('edit articles’);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əmrlə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İstifadəçiyə birbaşa </a:t>
            </a:r>
            <a:r>
              <a:rPr lang="en-US" altLang="en-US" sz="1300" b="1">
                <a:latin typeface="Arial" panose="020B0604020202020204" pitchFamily="34" charset="0"/>
              </a:rPr>
              <a:t>edit articles </a:t>
            </a:r>
            <a:r>
              <a:rPr lang="en-US" altLang="en-US" sz="1300">
                <a:latin typeface="Arial" panose="020B0604020202020204" pitchFamily="34" charset="0"/>
              </a:rPr>
              <a:t>icazəsi verilir. (</a:t>
            </a:r>
            <a:r>
              <a:rPr lang="en-US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rol vasitəsilə deyil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birbaşa istifadəçiyə</a:t>
            </a:r>
            <a:r>
              <a:rPr lang="en-US" altLang="en-US" sz="1300">
                <a:latin typeface="Arial" panose="020B0604020202020204" pitchFamily="34" charset="0"/>
              </a:rPr>
              <a:t>).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Verilənlər bazasında bu əmrin nəticəsində </a:t>
            </a:r>
            <a:r>
              <a:rPr lang="en-US" altLang="en-US" sz="1300" b="1">
                <a:latin typeface="Arial" panose="020B0604020202020204" pitchFamily="34" charset="0"/>
              </a:rPr>
              <a:t>model_has_permissions </a:t>
            </a:r>
            <a:r>
              <a:rPr lang="en-US" altLang="en-US" sz="1300">
                <a:latin typeface="Arial" panose="020B0604020202020204" pitchFamily="34" charset="0"/>
              </a:rPr>
              <a:t>cədvəlinə yeni sətir əlavə olunur: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5563B-A808-9DEE-94B9-D592A344A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285703"/>
            <a:ext cx="4001058" cy="1333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A1B628-DE0D-0525-9A6A-CDE0641C3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415" y="0"/>
            <a:ext cx="4372585" cy="21338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7B4909-26D4-F6F6-BAB6-F5D0F6F70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31" y="4336552"/>
            <a:ext cx="6773220" cy="20291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9380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nə deməkdir?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B2BB8-470A-4AA8-DC8E-60FCFFC34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21011" cy="68589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54C51D-D622-EF8E-5F2E-545819DCC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719703"/>
              </p:ext>
            </p:extLst>
          </p:nvPr>
        </p:nvGraphicFramePr>
        <p:xfrm>
          <a:off x="217713" y="1765692"/>
          <a:ext cx="11756571" cy="2563712"/>
        </p:xfrm>
        <a:graphic>
          <a:graphicData uri="http://schemas.openxmlformats.org/drawingml/2006/table">
            <a:tbl>
              <a:tblPr/>
              <a:tblGrid>
                <a:gridCol w="2667882">
                  <a:extLst>
                    <a:ext uri="{9D8B030D-6E8A-4147-A177-3AD203B41FA5}">
                      <a16:colId xmlns:a16="http://schemas.microsoft.com/office/drawing/2014/main" val="2856834414"/>
                    </a:ext>
                  </a:extLst>
                </a:gridCol>
                <a:gridCol w="9088689">
                  <a:extLst>
                    <a:ext uri="{9D8B030D-6E8A-4147-A177-3AD203B41FA5}">
                      <a16:colId xmlns:a16="http://schemas.microsoft.com/office/drawing/2014/main" val="54930740"/>
                    </a:ext>
                  </a:extLst>
                </a:gridCol>
              </a:tblGrid>
              <a:tr h="640928">
                <a:tc>
                  <a:txBody>
                    <a:bodyPr/>
                    <a:lstStyle/>
                    <a:p>
                      <a:r>
                        <a:rPr lang="en-US" b="1"/>
                        <a:t>Sütun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59826"/>
                  </a:ext>
                </a:extLst>
              </a:tr>
              <a:tr h="640928">
                <a:tc>
                  <a:txBody>
                    <a:bodyPr/>
                    <a:lstStyle/>
                    <a:p>
                      <a:r>
                        <a:rPr lang="en-US" b="1"/>
                        <a:t>permission_id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permissions</a:t>
                      </a:r>
                      <a:r>
                        <a:rPr lang="en-US"/>
                        <a:t> cədvəlindəki </a:t>
                      </a:r>
                      <a:r>
                        <a:rPr lang="en-US" b="1"/>
                        <a:t>edit articles </a:t>
                      </a:r>
                      <a:r>
                        <a:rPr lang="en-US"/>
                        <a:t>icazəsinin </a:t>
                      </a:r>
                      <a:r>
                        <a:rPr lang="en-US" b="1"/>
                        <a:t>ID</a:t>
                      </a:r>
                      <a:r>
                        <a:rPr lang="en-US"/>
                        <a:t>-si (bu misalda: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878637"/>
                  </a:ext>
                </a:extLst>
              </a:tr>
              <a:tr h="640928">
                <a:tc>
                  <a:txBody>
                    <a:bodyPr/>
                    <a:lstStyle/>
                    <a:p>
                      <a:r>
                        <a:rPr lang="en-US" b="1"/>
                        <a:t>model_type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İcazənin hansı modelə aid olduğunu göstərir (burada </a:t>
                      </a:r>
                      <a:r>
                        <a:rPr lang="en-US" b="1"/>
                        <a:t>User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362191"/>
                  </a:ext>
                </a:extLst>
              </a:tr>
              <a:tr h="640928">
                <a:tc>
                  <a:txBody>
                    <a:bodyPr/>
                    <a:lstStyle/>
                    <a:p>
                      <a:r>
                        <a:rPr lang="en-US" b="1"/>
                        <a:t>model_id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İcazənin verildiyi istifadəçi </a:t>
                      </a:r>
                      <a:r>
                        <a:rPr lang="en-US" b="1"/>
                        <a:t>ID</a:t>
                      </a:r>
                      <a:r>
                        <a:rPr lang="en-US"/>
                        <a:t>-si (burada </a:t>
                      </a:r>
                      <a:r>
                        <a:rPr lang="en-US" b="1"/>
                        <a:t>1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67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2D88-CF53-24BC-9D4B-02C926B3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C89C7C-E921-9980-6F8E-0FDC6C9D6D7A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model_id nədir?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model_id =</a:t>
            </a:r>
            <a:r>
              <a:rPr lang="en-US" altLang="en-US" sz="1300">
                <a:latin typeface="Arial" panose="020B0604020202020204" pitchFamily="34" charset="0"/>
              </a:rPr>
              <a:t> istifadəçinin </a:t>
            </a:r>
            <a:r>
              <a:rPr lang="en-US" altLang="en-US" sz="1300" b="1">
                <a:latin typeface="Arial" panose="020B0604020202020204" pitchFamily="34" charset="0"/>
              </a:rPr>
              <a:t>id</a:t>
            </a:r>
            <a:r>
              <a:rPr lang="en-US" altLang="en-US" sz="1300">
                <a:latin typeface="Arial" panose="020B0604020202020204" pitchFamily="34" charset="0"/>
              </a:rPr>
              <a:t>-sidir.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Yəni bu </a:t>
            </a:r>
            <a:r>
              <a:rPr lang="en-US" altLang="en-US" sz="1300" b="1">
                <a:latin typeface="Arial" panose="020B0604020202020204" pitchFamily="34" charset="0"/>
              </a:rPr>
              <a:t>rolu</a:t>
            </a:r>
            <a:r>
              <a:rPr lang="en-US" altLang="en-US" sz="1300">
                <a:latin typeface="Arial" panose="020B0604020202020204" pitchFamily="34" charset="0"/>
              </a:rPr>
              <a:t> və ya icazəni (</a:t>
            </a:r>
            <a:r>
              <a:rPr lang="en-US" altLang="en-US" sz="1300" b="1">
                <a:latin typeface="Arial" panose="020B0604020202020204" pitchFamily="34" charset="0"/>
              </a:rPr>
              <a:t>permission</a:t>
            </a:r>
            <a:r>
              <a:rPr lang="en-US" altLang="en-US" sz="1300">
                <a:latin typeface="Arial" panose="020B0604020202020204" pitchFamily="34" charset="0"/>
              </a:rPr>
              <a:t>) hansı istifadəçiyə aid etmək lazım olduğunu müəyyənləşdirir.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model_type </a:t>
            </a:r>
            <a:r>
              <a:rPr lang="en-US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model_id </a:t>
            </a:r>
            <a:r>
              <a:rPr lang="en-US" altLang="en-US" sz="1300">
                <a:latin typeface="Arial" panose="020B0604020202020204" pitchFamily="34" charset="0"/>
              </a:rPr>
              <a:t>birlikdə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morph relation </a:t>
            </a:r>
            <a:r>
              <a:rPr lang="en-US" altLang="en-US" sz="1300">
                <a:latin typeface="Arial" panose="020B0604020202020204" pitchFamily="34" charset="0"/>
              </a:rPr>
              <a:t>(Laravel-in </a:t>
            </a:r>
            <a:r>
              <a:rPr lang="en-US" altLang="en-US" sz="1300" b="1">
                <a:latin typeface="Arial" panose="020B0604020202020204" pitchFamily="34" charset="0"/>
              </a:rPr>
              <a:t>morphTo() </a:t>
            </a:r>
            <a:r>
              <a:rPr lang="en-US" altLang="en-US" sz="1300">
                <a:latin typeface="Arial" panose="020B0604020202020204" pitchFamily="34" charset="0"/>
              </a:rPr>
              <a:t>əlaqəsi) üçün istifadə olunur ki, bu icazə və rol istifadəçiyə aiddir, yoxsa başqa bir modelə (məsələn Admin, Manager və s.).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Laravel Relationship Arxitekturası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Spatie</a:t>
            </a:r>
            <a:r>
              <a:rPr lang="en-US" altLang="en-US" sz="1300">
                <a:latin typeface="Arial" panose="020B0604020202020204" pitchFamily="34" charset="0"/>
              </a:rPr>
              <a:t> paketi bu </a:t>
            </a:r>
            <a:r>
              <a:rPr lang="en-US" altLang="en-US" sz="1300" b="1">
                <a:latin typeface="Arial" panose="020B0604020202020204" pitchFamily="34" charset="0"/>
              </a:rPr>
              <a:t>model_type + model_id </a:t>
            </a:r>
            <a:r>
              <a:rPr lang="en-US" altLang="en-US" sz="1300">
                <a:latin typeface="Arial" panose="020B0604020202020204" pitchFamily="34" charset="0"/>
              </a:rPr>
              <a:t>strukturu ilə bir neçə </a:t>
            </a:r>
            <a:r>
              <a:rPr lang="en-US" altLang="en-US" sz="1300" b="1">
                <a:latin typeface="Arial" panose="020B0604020202020204" pitchFamily="34" charset="0"/>
              </a:rPr>
              <a:t>fərqli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model</a:t>
            </a:r>
            <a:r>
              <a:rPr lang="en-US" altLang="en-US" sz="1300">
                <a:latin typeface="Arial" panose="020B0604020202020204" pitchFamily="34" charset="0"/>
              </a:rPr>
              <a:t> növü üçün </a:t>
            </a:r>
            <a:r>
              <a:rPr lang="en-US" altLang="en-US" sz="1300" b="1">
                <a:latin typeface="Arial" panose="020B0604020202020204" pitchFamily="34" charset="0"/>
              </a:rPr>
              <a:t>permission/rol </a:t>
            </a:r>
            <a:r>
              <a:rPr lang="en-US" altLang="en-US" sz="1300">
                <a:latin typeface="Arial" panose="020B0604020202020204" pitchFamily="34" charset="0"/>
              </a:rPr>
              <a:t>verməyə imkan yaradır: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App\Models\User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App\Models\Admin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App\Models\Team</a:t>
            </a:r>
            <a:r>
              <a:rPr lang="en-US" altLang="en-US" sz="1300">
                <a:latin typeface="Arial" panose="020B0604020202020204" pitchFamily="34" charset="0"/>
              </a:rPr>
              <a:t> və s.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Beləliklə, təkcə </a:t>
            </a:r>
            <a:r>
              <a:rPr lang="en-US" altLang="en-US" sz="1300" b="1">
                <a:latin typeface="Arial" panose="020B0604020202020204" pitchFamily="34" charset="0"/>
              </a:rPr>
              <a:t>users</a:t>
            </a:r>
            <a:r>
              <a:rPr lang="en-US" altLang="en-US" sz="1300">
                <a:latin typeface="Arial" panose="020B0604020202020204" pitchFamily="34" charset="0"/>
              </a:rPr>
              <a:t> üçün deyil, istədiyin hər hansı </a:t>
            </a:r>
            <a:r>
              <a:rPr lang="en-US" altLang="en-US" sz="1300" b="1">
                <a:latin typeface="Arial" panose="020B0604020202020204" pitchFamily="34" charset="0"/>
              </a:rPr>
              <a:t>Eloquent model </a:t>
            </a:r>
            <a:r>
              <a:rPr lang="en-US" altLang="en-US" sz="1300">
                <a:latin typeface="Arial" panose="020B0604020202020204" pitchFamily="34" charset="0"/>
              </a:rPr>
              <a:t>üçün </a:t>
            </a:r>
            <a:r>
              <a:rPr lang="en-US" altLang="en-US" sz="1300" b="1">
                <a:latin typeface="Arial" panose="020B0604020202020204" pitchFamily="34" charset="0"/>
              </a:rPr>
              <a:t>permission/rol </a:t>
            </a:r>
            <a:r>
              <a:rPr lang="en-US" altLang="en-US" sz="1300">
                <a:latin typeface="Arial" panose="020B0604020202020204" pitchFamily="34" charset="0"/>
              </a:rPr>
              <a:t>verə bilərsən.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10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A0F2D-8679-AEDA-9A31-B4CA66B71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C69921-4444-7B49-586C-0E4062C78F93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getPermissionNames() </a:t>
            </a:r>
            <a:r>
              <a:rPr lang="en-US" altLang="en-US" sz="1300">
                <a:latin typeface="Arial" panose="020B0604020202020204" pitchFamily="34" charset="0"/>
              </a:rPr>
              <a:t>metodu il</a:t>
            </a:r>
            <a:r>
              <a:rPr lang="az-Latn-AZ" altLang="en-US" sz="1300">
                <a:latin typeface="Arial" panose="020B0604020202020204" pitchFamily="34" charset="0"/>
              </a:rPr>
              <a:t>ə də, mövcud icazələrin adını əldə edə bilirik.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get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Role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Names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()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 ilə də, rol -ların adlarını əldə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7CD755-6FDD-3DD0-DA23-E11B27D58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935314"/>
            <a:ext cx="3791479" cy="1143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7B1362-821F-47BA-E2AD-BD5F4A9E5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836" y="0"/>
            <a:ext cx="4401164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59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36DEE-AE0D-44A6-33B7-F4D300C4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453755-2A80-680D-21B0-1784CF75C88E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can() </a:t>
            </a:r>
            <a:r>
              <a:rPr lang="az-Latn-AZ" altLang="en-US" sz="1300">
                <a:latin typeface="Arial" panose="020B0604020202020204" pitchFamily="34" charset="0"/>
              </a:rPr>
              <a:t>- Laravel-də </a:t>
            </a:r>
            <a:r>
              <a:rPr lang="az-Latn-AZ" altLang="en-US" sz="1300" b="1">
                <a:latin typeface="Arial" panose="020B0604020202020204" pitchFamily="34" charset="0"/>
              </a:rPr>
              <a:t>Spatie Permission </a:t>
            </a:r>
            <a:r>
              <a:rPr lang="az-Latn-AZ" altLang="en-US" sz="1300">
                <a:latin typeface="Arial" panose="020B0604020202020204" pitchFamily="34" charset="0"/>
              </a:rPr>
              <a:t>paketi ilə istifadəçinin müəyyən bir icazəyə (permission) sahib olub-olmadığını yoxlamaq üçün </a:t>
            </a:r>
            <a:r>
              <a:rPr lang="az-Latn-AZ" altLang="en-US" sz="1300" b="1">
                <a:latin typeface="Arial" panose="020B0604020202020204" pitchFamily="34" charset="0"/>
              </a:rPr>
              <a:t>can() </a:t>
            </a:r>
            <a:r>
              <a:rPr lang="az-Latn-AZ" altLang="en-US" sz="1300">
                <a:latin typeface="Arial" panose="020B0604020202020204" pitchFamily="34" charset="0"/>
              </a:rPr>
              <a:t>metodundan istifadə edilir.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return $checkPermission;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Geri qaytarılan nəticə </a:t>
            </a:r>
            <a:r>
              <a:rPr lang="en-US" altLang="en-US" sz="1300" b="1">
                <a:latin typeface="Arial" panose="020B0604020202020204" pitchFamily="34" charset="0"/>
              </a:rPr>
              <a:t>Boolean</a:t>
            </a:r>
            <a:r>
              <a:rPr lang="en-US" altLang="en-US" sz="1300">
                <a:latin typeface="Arial" panose="020B0604020202020204" pitchFamily="34" charset="0"/>
              </a:rPr>
              <a:t> olacaq</a:t>
            </a:r>
            <a:r>
              <a:rPr lang="az-Latn-AZ" altLang="en-US" sz="1300">
                <a:latin typeface="Arial" panose="020B0604020202020204" pitchFamily="34" charset="0"/>
              </a:rPr>
              <a:t> ( Yaxud 1 ədədi )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true → icazə var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false → icazə yoxdur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FFDA1-DA42-361D-0B65-F13C23737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272260"/>
            <a:ext cx="4601217" cy="14956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C49D33-B2CB-EC78-D6EB-EDF87EB5D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887905"/>
            <a:ext cx="4477375" cy="10383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6720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B0E25-99CD-1D92-E21D-A6E7E766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3BB6AC-7811-E464-BBEA-15751231E85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Bel</a:t>
            </a:r>
            <a:r>
              <a:rPr lang="az-Latn-AZ" altLang="en-US" sz="1300">
                <a:latin typeface="Arial" panose="020B0604020202020204" pitchFamily="34" charset="0"/>
              </a:rPr>
              <a:t>ə bir şərt qoşaraq deyə bilərik ki, əgər istifadəçinin `</a:t>
            </a:r>
            <a:r>
              <a:rPr lang="az-Latn-AZ" altLang="en-US" sz="1300" b="1">
                <a:latin typeface="Arial" panose="020B0604020202020204" pitchFamily="34" charset="0"/>
              </a:rPr>
              <a:t>edit articles</a:t>
            </a:r>
            <a:r>
              <a:rPr lang="az-Latn-AZ" altLang="en-US" sz="1300">
                <a:latin typeface="Arial" panose="020B0604020202020204" pitchFamily="34" charset="0"/>
              </a:rPr>
              <a:t>` adlı icazəsi varsa onda `</a:t>
            </a:r>
            <a:r>
              <a:rPr lang="az-Latn-AZ" altLang="en-US" sz="1300" b="1">
                <a:latin typeface="Arial" panose="020B0604020202020204" pitchFamily="34" charset="0"/>
              </a:rPr>
              <a:t>user has permission</a:t>
            </a:r>
            <a:r>
              <a:rPr lang="az-Latn-AZ" altLang="en-US" sz="1300">
                <a:latin typeface="Arial" panose="020B0604020202020204" pitchFamily="34" charset="0"/>
              </a:rPr>
              <a:t>` stringini </a:t>
            </a:r>
            <a:r>
              <a:rPr lang="az-Latn-AZ" altLang="en-US" sz="1300" b="1">
                <a:latin typeface="Arial" panose="020B0604020202020204" pitchFamily="34" charset="0"/>
              </a:rPr>
              <a:t>return</a:t>
            </a:r>
            <a:r>
              <a:rPr lang="az-Latn-AZ" altLang="en-US" sz="1300">
                <a:latin typeface="Arial" panose="020B0604020202020204" pitchFamily="34" charset="0"/>
              </a:rPr>
              <a:t> et.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AEBB55-C2FF-2953-6E60-73B0AD3A8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26676"/>
            <a:ext cx="3896269" cy="21815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BAEFFF-2497-A6D2-E9C5-961286BD9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714466"/>
            <a:ext cx="4382112" cy="12765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5245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771B-D1D5-4913-E17E-FCEF4C90C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E82FD0-5A2A-0B43-9F9A-54B1A41901A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6649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0A76E-2A83-5A7B-B580-4F6CE402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DACA9F-F28B-4B33-7251-0C9416C714F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4421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F589F-6997-8730-077D-16387CBE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FB0F09-9F59-D3C6-03F1-71B491F8A0F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1813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3A22B-B468-A524-4184-DD096A62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2D530A-0D8A-0C63-E347-F89FBA9E24A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0890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4742</TotalTime>
  <Words>712</Words>
  <Application>Microsoft Office PowerPoint</Application>
  <PresentationFormat>Widescreen</PresentationFormat>
  <Paragraphs>132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349</cp:revision>
  <dcterms:created xsi:type="dcterms:W3CDTF">2025-04-12T11:00:44Z</dcterms:created>
  <dcterms:modified xsi:type="dcterms:W3CDTF">2025-06-24T04:30:18Z</dcterms:modified>
</cp:coreProperties>
</file>